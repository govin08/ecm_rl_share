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20"/>
  </p:notesMasterIdLst>
  <p:handoutMasterIdLst>
    <p:handoutMasterId r:id="rId21"/>
  </p:handoutMasterIdLst>
  <p:sldIdLst>
    <p:sldId id="5704" r:id="rId2"/>
    <p:sldId id="9021" r:id="rId3"/>
    <p:sldId id="8936" r:id="rId4"/>
    <p:sldId id="9771" r:id="rId5"/>
    <p:sldId id="9764" r:id="rId6"/>
    <p:sldId id="9765" r:id="rId7"/>
    <p:sldId id="9766" r:id="rId8"/>
    <p:sldId id="9767" r:id="rId9"/>
    <p:sldId id="9768" r:id="rId10"/>
    <p:sldId id="9769" r:id="rId11"/>
    <p:sldId id="9770" r:id="rId12"/>
    <p:sldId id="9760" r:id="rId13"/>
    <p:sldId id="9772" r:id="rId14"/>
    <p:sldId id="9762" r:id="rId15"/>
    <p:sldId id="9761" r:id="rId16"/>
    <p:sldId id="9725" r:id="rId17"/>
    <p:sldId id="9759" r:id="rId18"/>
    <p:sldId id="8796" r:id="rId19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521415D9-36F7-43E2-AB2F-B90AF26B5E84}">
      <p14:sectionLst xmlns:p14="http://schemas.microsoft.com/office/powerpoint/2010/main">
        <p14:section name="기본 구역" id="{2B775552-7DB0-4D4F-B871-D6FF3BB1E486}">
          <p14:sldIdLst>
            <p14:sldId id="5704"/>
          </p14:sldIdLst>
        </p14:section>
        <p14:section name="목차" id="{5E49B5C1-BFC6-4572-A539-731E4DEE6BFE}">
          <p14:sldIdLst>
            <p14:sldId id="9021"/>
          </p14:sldIdLst>
        </p14:section>
        <p14:section name="Ⅰ 강화학습 기초" id="{74337E82-EC53-47AA-AD9E-D01E03BC8C2B}">
          <p14:sldIdLst>
            <p14:sldId id="8936"/>
            <p14:sldId id="9771"/>
            <p14:sldId id="9764"/>
            <p14:sldId id="9765"/>
            <p14:sldId id="9766"/>
            <p14:sldId id="9767"/>
            <p14:sldId id="9768"/>
            <p14:sldId id="9769"/>
            <p14:sldId id="9770"/>
          </p14:sldIdLst>
        </p14:section>
        <p14:section name="Ⅱ 강화학습 알고리즘" id="{DAB419D3-0E42-42D9-B46C-1C3467039D6F}">
          <p14:sldIdLst>
            <p14:sldId id="9760"/>
            <p14:sldId id="9772"/>
            <p14:sldId id="9762"/>
            <p14:sldId id="9761"/>
            <p14:sldId id="9725"/>
            <p14:sldId id="9759"/>
            <p14:sldId id="8796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F6478E-575D-4BA1-51CE-EBD847ADD200}" name="ECM" initials="E" userId="EC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859C"/>
    <a:srgbClr val="3072C2"/>
    <a:srgbClr val="FF8B8B"/>
    <a:srgbClr val="CECECE"/>
    <a:srgbClr val="2F2F2F"/>
    <a:srgbClr val="F38F15"/>
    <a:srgbClr val="0000FF"/>
    <a:srgbClr val="FFFFCC"/>
    <a:srgbClr val="325F96"/>
    <a:srgbClr val="EE54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95152" autoAdjust="0"/>
  </p:normalViewPr>
  <p:slideViewPr>
    <p:cSldViewPr snapToGrid="0" snapToObjects="1" showGuides="1">
      <p:cViewPr>
        <p:scale>
          <a:sx n="75" d="100"/>
          <a:sy n="75" d="100"/>
        </p:scale>
        <p:origin x="2352" y="738"/>
      </p:cViewPr>
      <p:guideLst>
        <p:guide orient="horz" pos="4042"/>
        <p:guide orient="horz" pos="1094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-237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1178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53156" y="9428717"/>
            <a:ext cx="2942905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700" tIns="45347" rIns="90700" bIns="45347" anchor="b"/>
          <a:lstStyle/>
          <a:p>
            <a:pPr algn="r" defTabSz="905785"/>
            <a:fld id="{3C817677-1D2D-4299-AF74-336E1045B5D4}" type="slidenum">
              <a:rPr lang="ko-KR" altLang="en-US" sz="11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defTabSz="905785"/>
              <a:t>1</a:t>
            </a:fld>
            <a:endParaRPr lang="en-US" altLang="ko-KR" sz="11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0725" y="746125"/>
            <a:ext cx="5370513" cy="3717925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74" y="4713569"/>
            <a:ext cx="5433929" cy="4466988"/>
          </a:xfrm>
          <a:noFill/>
          <a:ln/>
        </p:spPr>
        <p:txBody>
          <a:bodyPr lIns="90700" tIns="45347" rIns="90700" bIns="45347"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280431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MDP</a:t>
            </a:r>
            <a:r>
              <a:rPr lang="ko-KR" altLang="en-US" dirty="0"/>
              <a:t>에서의 다음 개념은 </a:t>
            </a:r>
            <a:r>
              <a:rPr lang="en-US" altLang="ko-KR" dirty="0"/>
              <a:t>return</a:t>
            </a:r>
            <a:r>
              <a:rPr lang="ko-KR" altLang="en-US" dirty="0"/>
              <a:t>과 </a:t>
            </a:r>
            <a:r>
              <a:rPr lang="en-US" altLang="ko-KR" dirty="0"/>
              <a:t>policy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이것들까지 소개하고 나면 강화학습의 목적을 설명할 수 있는데요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</a:t>
            </a:r>
            <a:r>
              <a:rPr lang="en-US" altLang="ko-KR" dirty="0"/>
              <a:t>return</a:t>
            </a:r>
            <a:r>
              <a:rPr lang="ko-KR" altLang="en-US" dirty="0"/>
              <a:t>이란</a:t>
            </a:r>
            <a:r>
              <a:rPr lang="en-US" altLang="ko-KR" dirty="0"/>
              <a:t>, </a:t>
            </a:r>
            <a:r>
              <a:rPr lang="ko-KR" altLang="en-US" dirty="0"/>
              <a:t>보상들의 합을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강화학습에서의 목적은 보상이 최대가 되는 것이기보다는 보상들의 합이 최대가 되는 것이어야만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체스나 장기를 두는 것도 </a:t>
            </a:r>
            <a:r>
              <a:rPr lang="en-US" altLang="ko-KR" dirty="0"/>
              <a:t>MDP</a:t>
            </a:r>
            <a:r>
              <a:rPr lang="ko-KR" altLang="en-US" dirty="0"/>
              <a:t>와 강화학습으로 설명될 수 있고 기물을 잡을 때마다 보상을 받는다고 생각할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체스에서 룩을 사용해 폰을 잡는 것</a:t>
            </a:r>
            <a:r>
              <a:rPr lang="en-US" altLang="ko-KR" dirty="0"/>
              <a:t>, </a:t>
            </a:r>
            <a:r>
              <a:rPr lang="ko-KR" altLang="en-US" dirty="0"/>
              <a:t>혹은 장기에서 차를 이용해 졸을 잡는 것은 쉬운 일이고 따라서</a:t>
            </a:r>
            <a:r>
              <a:rPr lang="en-US" altLang="ko-KR" dirty="0"/>
              <a:t>, </a:t>
            </a:r>
            <a:r>
              <a:rPr lang="ko-KR" altLang="en-US" dirty="0"/>
              <a:t>무조건 이번 수에서 </a:t>
            </a:r>
            <a:r>
              <a:rPr lang="ko-KR" altLang="en-US" dirty="0" err="1"/>
              <a:t>뭐라도</a:t>
            </a:r>
            <a:r>
              <a:rPr lang="ko-KR" altLang="en-US" dirty="0"/>
              <a:t> 잡는 것이 효과적일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만약 차가 졸을 잡자마자 다음 수에서 차가 잡히는 것이라면 이것은 큰 손해입니다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전체 대국을 봤을 때 많은 기물을 잡아서 승리하는 것이 장기나 체스의 목적이 되어야지</a:t>
            </a:r>
            <a:r>
              <a:rPr lang="en-US" altLang="ko-KR" dirty="0"/>
              <a:t>, </a:t>
            </a:r>
            <a:r>
              <a:rPr lang="ko-KR" altLang="en-US" dirty="0"/>
              <a:t>바로 지금 스텝의 보상을 위해서 행동해서는 안됩니다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그렇기 때문에 강화학습의 목적은 보상이 최대가 되는 것이 아닌 보상들의 합이 최대가 되도록 되어야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장표에 보시면 </a:t>
            </a:r>
            <a:r>
              <a:rPr lang="en-US" altLang="ko-KR" dirty="0"/>
              <a:t>return </a:t>
            </a:r>
            <a:r>
              <a:rPr lang="en-US" altLang="ko-KR" dirty="0" err="1"/>
              <a:t>G_t</a:t>
            </a:r>
            <a:r>
              <a:rPr lang="ko-KR" altLang="en-US" dirty="0"/>
              <a:t>를 정의할 때 단순히 더하는 것이 아니라 </a:t>
            </a:r>
            <a:r>
              <a:rPr lang="en-US" altLang="ko-KR" dirty="0"/>
              <a:t>gamma</a:t>
            </a:r>
            <a:r>
              <a:rPr lang="ko-KR" altLang="en-US" dirty="0"/>
              <a:t>라는 숫자를 시간이 지날 때마다 곱해서 더하는 것을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때의 </a:t>
            </a:r>
            <a:r>
              <a:rPr lang="en-US" altLang="ko-KR" dirty="0"/>
              <a:t>gamma</a:t>
            </a:r>
            <a:r>
              <a:rPr lang="ko-KR" altLang="en-US" dirty="0"/>
              <a:t>를 </a:t>
            </a:r>
            <a:r>
              <a:rPr lang="en-US" altLang="ko-KR" dirty="0"/>
              <a:t>discount factor </a:t>
            </a:r>
            <a:r>
              <a:rPr lang="ko-KR" altLang="en-US" dirty="0"/>
              <a:t>혹은 한국어로는 감가율이라고 하는데요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gamma</a:t>
            </a:r>
            <a:r>
              <a:rPr lang="ko-KR" altLang="en-US" dirty="0"/>
              <a:t>를 곱하는 데에는 두 가지 정도의 의미가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첫째로는 수학적으로 계산하는 데 안정적입니다</a:t>
            </a:r>
            <a:r>
              <a:rPr lang="en-US" altLang="ko-KR" dirty="0"/>
              <a:t>. </a:t>
            </a:r>
            <a:r>
              <a:rPr lang="ko-KR" altLang="en-US" dirty="0"/>
              <a:t>만약 단순히 보상을 더하는 것이라서 </a:t>
            </a:r>
            <a:r>
              <a:rPr lang="en-US" altLang="ko-KR" dirty="0"/>
              <a:t>gamma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이라면 </a:t>
            </a:r>
            <a:r>
              <a:rPr lang="en-US" altLang="ko-KR" dirty="0" err="1"/>
              <a:t>G_t</a:t>
            </a:r>
            <a:r>
              <a:rPr lang="ko-KR" altLang="en-US" dirty="0"/>
              <a:t>를 계산하는 급수가 발산할 여지가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 </a:t>
            </a:r>
            <a:r>
              <a:rPr lang="en-US" altLang="ko-KR" dirty="0"/>
              <a:t>1</a:t>
            </a:r>
            <a:r>
              <a:rPr lang="ko-KR" altLang="en-US" dirty="0"/>
              <a:t>보다 작은 </a:t>
            </a:r>
            <a:r>
              <a:rPr lang="en-US" altLang="ko-KR" dirty="0"/>
              <a:t>gamma</a:t>
            </a:r>
            <a:r>
              <a:rPr lang="ko-KR" altLang="en-US" dirty="0"/>
              <a:t>를 적용하게 되면 이것은 멱급수가 되어 무조건 수렴합니다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두번째로 </a:t>
            </a:r>
            <a:r>
              <a:rPr lang="en-US" altLang="ko-KR" dirty="0"/>
              <a:t>gamma</a:t>
            </a:r>
            <a:r>
              <a:rPr lang="ko-KR" altLang="en-US" dirty="0"/>
              <a:t>가 중요한 이유는 의미적인 부분 때문입니다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G_t</a:t>
            </a:r>
            <a:r>
              <a:rPr lang="ko-KR" altLang="en-US" dirty="0"/>
              <a:t>의 정의를 보시면 </a:t>
            </a:r>
            <a:r>
              <a:rPr lang="en-US" altLang="ko-KR" dirty="0"/>
              <a:t>R_t+1</a:t>
            </a:r>
            <a:r>
              <a:rPr lang="ko-KR" altLang="en-US" dirty="0"/>
              <a:t>이 가장 중요하고 </a:t>
            </a:r>
            <a:r>
              <a:rPr lang="en-US" altLang="ko-KR" dirty="0"/>
              <a:t>R_t+2</a:t>
            </a:r>
            <a:r>
              <a:rPr lang="ko-KR" altLang="en-US" dirty="0"/>
              <a:t>는 덜 중요하며</a:t>
            </a:r>
            <a:r>
              <a:rPr lang="en-US" altLang="ko-KR" dirty="0"/>
              <a:t>, </a:t>
            </a:r>
            <a:r>
              <a:rPr lang="ko-KR" altLang="en-US" dirty="0"/>
              <a:t>계속해서 시간이 지날수록 </a:t>
            </a:r>
            <a:r>
              <a:rPr lang="en-US" altLang="ko-KR" dirty="0"/>
              <a:t>R</a:t>
            </a:r>
            <a:r>
              <a:rPr lang="ko-KR" altLang="en-US" dirty="0"/>
              <a:t>값은 덜 중요해지는 것을 확인하실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식으로 최근의 </a:t>
            </a:r>
            <a:r>
              <a:rPr lang="en-US" altLang="ko-KR" dirty="0"/>
              <a:t>R</a:t>
            </a:r>
            <a:r>
              <a:rPr lang="ko-KR" altLang="en-US" dirty="0"/>
              <a:t>값을 더 중요하게 생각한다는 의미에서 </a:t>
            </a:r>
            <a:r>
              <a:rPr lang="en-US" altLang="ko-KR" dirty="0"/>
              <a:t>gamma</a:t>
            </a:r>
            <a:r>
              <a:rPr lang="ko-KR" altLang="en-US" dirty="0"/>
              <a:t>를 도입하는 것이기도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현재의</a:t>
            </a:r>
            <a:r>
              <a:rPr lang="en-US" altLang="ko-KR" dirty="0"/>
              <a:t> </a:t>
            </a:r>
            <a:r>
              <a:rPr lang="en-US" altLang="ko-KR" dirty="0" err="1"/>
              <a:t>G_t</a:t>
            </a:r>
            <a:r>
              <a:rPr lang="ko-KR" altLang="en-US" dirty="0"/>
              <a:t>와 다음 시점의 </a:t>
            </a:r>
            <a:r>
              <a:rPr lang="en-US" altLang="ko-KR" dirty="0"/>
              <a:t>G_t+1 </a:t>
            </a:r>
            <a:r>
              <a:rPr lang="ko-KR" altLang="en-US" dirty="0"/>
              <a:t>사이에는 다음과 같은 관계식이 성립합니다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왜 저것이 성립하는지는 그냥 나열해서 계산해보면 나오게 되는데요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앞으로의 설명에서 자주 등장하게 될 것이므로 적어보았습니다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 </a:t>
            </a:r>
            <a:r>
              <a:rPr lang="en-US" altLang="ko-KR" dirty="0"/>
              <a:t>MDP</a:t>
            </a:r>
            <a:r>
              <a:rPr lang="ko-KR" altLang="en-US" dirty="0"/>
              <a:t>의 개념은 정책입니다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오른쪽의 </a:t>
            </a:r>
            <a:r>
              <a:rPr lang="en-US" altLang="ko-KR" dirty="0"/>
              <a:t>trajectory</a:t>
            </a:r>
            <a:r>
              <a:rPr lang="ko-KR" altLang="en-US" dirty="0"/>
              <a:t>를 보시면 </a:t>
            </a:r>
            <a:r>
              <a:rPr lang="en-US" altLang="ko-KR" dirty="0"/>
              <a:t>state transition probability p</a:t>
            </a:r>
            <a:r>
              <a:rPr lang="ko-KR" altLang="en-US" dirty="0"/>
              <a:t>는 </a:t>
            </a:r>
            <a:r>
              <a:rPr lang="en-US" altLang="ko-KR" dirty="0"/>
              <a:t>s, a</a:t>
            </a:r>
            <a:r>
              <a:rPr lang="ko-KR" altLang="en-US" dirty="0"/>
              <a:t>가 주어졌을 때 다음 </a:t>
            </a:r>
            <a:r>
              <a:rPr lang="en-US" altLang="ko-KR" dirty="0"/>
              <a:t>s’</a:t>
            </a:r>
            <a:r>
              <a:rPr lang="ko-KR" altLang="en-US" dirty="0"/>
              <a:t>을 결정해주고</a:t>
            </a:r>
            <a:r>
              <a:rPr lang="en-US" altLang="ko-KR" dirty="0"/>
              <a:t>, reward function</a:t>
            </a:r>
            <a:r>
              <a:rPr lang="ko-KR" altLang="en-US" dirty="0"/>
              <a:t>은 </a:t>
            </a:r>
            <a:r>
              <a:rPr lang="en-US" altLang="ko-KR" dirty="0"/>
              <a:t>s, a</a:t>
            </a:r>
            <a:r>
              <a:rPr lang="ko-KR" altLang="en-US" dirty="0"/>
              <a:t>가 주어졌을 때 다음 </a:t>
            </a:r>
            <a:r>
              <a:rPr lang="en-US" altLang="ko-KR" dirty="0"/>
              <a:t>r</a:t>
            </a:r>
            <a:r>
              <a:rPr lang="ko-KR" altLang="en-US" dirty="0"/>
              <a:t>을 결정해줍니다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그런데 가만히 생각해보면 이 두 개의 환경모델만으로는 </a:t>
            </a:r>
            <a:r>
              <a:rPr lang="en-US" altLang="ko-KR" dirty="0"/>
              <a:t>trajectory</a:t>
            </a:r>
            <a:r>
              <a:rPr lang="ko-KR" altLang="en-US" dirty="0"/>
              <a:t>가 결정되지 않음을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한가지 빈 곳이</a:t>
            </a:r>
            <a:r>
              <a:rPr lang="en-US" altLang="ko-KR" dirty="0"/>
              <a:t>, s</a:t>
            </a:r>
            <a:r>
              <a:rPr lang="ko-KR" altLang="en-US" dirty="0"/>
              <a:t>가 주어졌을 때 </a:t>
            </a:r>
            <a:r>
              <a:rPr lang="en-US" altLang="ko-KR" dirty="0"/>
              <a:t>a</a:t>
            </a:r>
            <a:r>
              <a:rPr lang="ko-KR" altLang="en-US" dirty="0"/>
              <a:t>가 어떻게 주어질 것이냐 하는 문제인데요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이것을 정책이라고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주어진 상태에 대하여 다음 행동을 결정하는 것을 정책</a:t>
            </a:r>
            <a:r>
              <a:rPr lang="en-US" altLang="ko-KR" dirty="0"/>
              <a:t>, </a:t>
            </a:r>
            <a:r>
              <a:rPr lang="ko-KR" altLang="en-US" dirty="0"/>
              <a:t>영어로는 </a:t>
            </a:r>
            <a:r>
              <a:rPr lang="en-US" altLang="ko-KR" dirty="0"/>
              <a:t>policy</a:t>
            </a:r>
            <a:r>
              <a:rPr lang="ko-KR" altLang="en-US" dirty="0"/>
              <a:t>라고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사실 조금 더 정확하게는</a:t>
            </a:r>
            <a:r>
              <a:rPr lang="en-US" altLang="ko-KR" dirty="0"/>
              <a:t>, </a:t>
            </a:r>
            <a:r>
              <a:rPr lang="ko-KR" altLang="en-US" dirty="0"/>
              <a:t>주어진 상태에서의 행동의 확률분포라고 해야 하고 따라서 식으로는 다음과 같이 써야 하는데</a:t>
            </a:r>
            <a:r>
              <a:rPr lang="en-US" altLang="ko-KR" dirty="0"/>
              <a:t>, </a:t>
            </a:r>
            <a:r>
              <a:rPr lang="ko-KR" altLang="en-US" dirty="0"/>
              <a:t>그냥 단순히 주어진 상태에서 행동을 결정하는 것 정도로 봐도 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앞서 말씀드린 </a:t>
            </a:r>
            <a:r>
              <a:rPr lang="en-US" altLang="ko-KR" dirty="0"/>
              <a:t>transition</a:t>
            </a:r>
            <a:r>
              <a:rPr lang="ko-KR" altLang="en-US" dirty="0"/>
              <a:t> </a:t>
            </a:r>
            <a:r>
              <a:rPr lang="en-US" altLang="ko-KR" dirty="0"/>
              <a:t>dynamics</a:t>
            </a:r>
            <a:r>
              <a:rPr lang="ko-KR" altLang="en-US" dirty="0"/>
              <a:t>에 </a:t>
            </a:r>
            <a:r>
              <a:rPr lang="en-US" altLang="ko-KR" dirty="0"/>
              <a:t>policy</a:t>
            </a:r>
            <a:r>
              <a:rPr lang="ko-KR" altLang="en-US" dirty="0"/>
              <a:t>까지 결정되고 나면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trajectory</a:t>
            </a:r>
            <a:r>
              <a:rPr lang="ko-KR" altLang="en-US" dirty="0"/>
              <a:t>가 </a:t>
            </a:r>
            <a:r>
              <a:rPr lang="en-US" altLang="ko-KR" dirty="0"/>
              <a:t>(</a:t>
            </a:r>
            <a:r>
              <a:rPr lang="ko-KR" altLang="en-US" dirty="0"/>
              <a:t>적어도 확률적으로는</a:t>
            </a:r>
            <a:r>
              <a:rPr lang="en-US" altLang="ko-KR" dirty="0"/>
              <a:t>) </a:t>
            </a:r>
            <a:r>
              <a:rPr lang="ko-KR" altLang="en-US" dirty="0"/>
              <a:t>결정될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</a:t>
            </a:r>
            <a:r>
              <a:rPr lang="en-US" altLang="ko-KR" dirty="0"/>
              <a:t>, </a:t>
            </a:r>
            <a:r>
              <a:rPr lang="ko-KR" altLang="en-US" dirty="0"/>
              <a:t>강화학습의 목적은</a:t>
            </a:r>
            <a:r>
              <a:rPr lang="en-US" altLang="ko-KR" dirty="0"/>
              <a:t>, </a:t>
            </a:r>
            <a:r>
              <a:rPr lang="ko-KR" altLang="en-US" dirty="0"/>
              <a:t>바로 주어진 환경</a:t>
            </a:r>
            <a:r>
              <a:rPr lang="en-US" altLang="ko-KR" dirty="0"/>
              <a:t> (</a:t>
            </a:r>
            <a:r>
              <a:rPr lang="ko-KR" altLang="en-US" dirty="0"/>
              <a:t>즉</a:t>
            </a:r>
            <a:r>
              <a:rPr lang="en-US" altLang="ko-KR" dirty="0"/>
              <a:t>, transition dynamics)</a:t>
            </a:r>
            <a:r>
              <a:rPr lang="ko-KR" altLang="en-US" dirty="0"/>
              <a:t>에서 어떤 정책을 취해야만 </a:t>
            </a:r>
            <a:r>
              <a:rPr lang="en-US" altLang="ko-KR" dirty="0"/>
              <a:t>return</a:t>
            </a:r>
            <a:r>
              <a:rPr lang="ko-KR" altLang="en-US" dirty="0"/>
              <a:t>이 최대가 될지를 결정하는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주어진 상태마다 어떤 행동을 취할지를 잘 결정하여</a:t>
            </a:r>
            <a:r>
              <a:rPr lang="en-US" altLang="ko-KR" dirty="0"/>
              <a:t>, </a:t>
            </a:r>
            <a:r>
              <a:rPr lang="ko-KR" altLang="en-US" dirty="0"/>
              <a:t>보상들의 합이 최대가 되도록 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정책을 최적정책이라고 부릅니다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앞서 말씀드렸던 </a:t>
            </a:r>
            <a:r>
              <a:rPr lang="en-US" altLang="ko-KR" dirty="0"/>
              <a:t>grid world</a:t>
            </a:r>
            <a:r>
              <a:rPr lang="ko-KR" altLang="en-US" dirty="0"/>
              <a:t>에서 위에 언급한 </a:t>
            </a:r>
            <a:r>
              <a:rPr lang="en-US" altLang="ko-KR" dirty="0"/>
              <a:t>return</a:t>
            </a:r>
            <a:r>
              <a:rPr lang="ko-KR" altLang="en-US" dirty="0"/>
              <a:t>과 </a:t>
            </a:r>
            <a:r>
              <a:rPr lang="en-US" altLang="ko-KR" dirty="0"/>
              <a:t>policy</a:t>
            </a:r>
            <a:r>
              <a:rPr lang="ko-KR" altLang="en-US" dirty="0"/>
              <a:t>에 대해 말해보겠습니다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grid world</a:t>
            </a:r>
            <a:r>
              <a:rPr lang="ko-KR" altLang="en-US" dirty="0"/>
              <a:t>에서 위로 두 칸 간 다음 오른쪽으로 세 칸 가는 </a:t>
            </a:r>
            <a:r>
              <a:rPr lang="en-US" altLang="ko-KR" dirty="0"/>
              <a:t>trajectory</a:t>
            </a:r>
            <a:r>
              <a:rPr lang="ko-KR" altLang="en-US" dirty="0"/>
              <a:t>를 생각했을 때</a:t>
            </a:r>
            <a:endParaRPr lang="en-US" altLang="ko-KR" dirty="0"/>
          </a:p>
          <a:p>
            <a:r>
              <a:rPr lang="ko-KR" altLang="en-US" dirty="0"/>
              <a:t>누적보상합은 </a:t>
            </a:r>
            <a:r>
              <a:rPr lang="en-US" altLang="ko-KR" dirty="0"/>
              <a:t>0.5 </a:t>
            </a:r>
            <a:r>
              <a:rPr lang="ko-KR" altLang="en-US" dirty="0"/>
              <a:t>정도로 계산됩니다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이때</a:t>
            </a:r>
            <a:r>
              <a:rPr lang="en-US" altLang="ko-KR" dirty="0"/>
              <a:t>, </a:t>
            </a:r>
            <a:r>
              <a:rPr lang="ko-KR" altLang="en-US" dirty="0"/>
              <a:t>계산을 간단히 하기 위해 </a:t>
            </a:r>
            <a:r>
              <a:rPr lang="en-US" altLang="ko-KR" dirty="0"/>
              <a:t>gamma</a:t>
            </a:r>
            <a:r>
              <a:rPr lang="ko-KR" altLang="en-US" dirty="0"/>
              <a:t>를 </a:t>
            </a:r>
            <a:r>
              <a:rPr lang="en-US" altLang="ko-KR" dirty="0"/>
              <a:t>1</a:t>
            </a:r>
            <a:r>
              <a:rPr lang="ko-KR" altLang="en-US" dirty="0"/>
              <a:t>로 두었습니다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ko-KR" altLang="en-US" dirty="0"/>
              <a:t>또 여기서의 정책은</a:t>
            </a:r>
            <a:r>
              <a:rPr lang="en-US" altLang="ko-KR" dirty="0"/>
              <a:t>, </a:t>
            </a:r>
            <a:r>
              <a:rPr lang="ko-KR" altLang="en-US" dirty="0"/>
              <a:t>여러가지 정책이 있을 수 있겠지만 균등정책을 생각해보겠습니다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그러니까 주어진 위치에서 이동가능한 다음 위치로 갈 때 같은 확률로 갈 수 있다고 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 </a:t>
            </a:r>
            <a:r>
              <a:rPr lang="en-US" altLang="ko-KR" dirty="0"/>
              <a:t>(1,1)</a:t>
            </a:r>
            <a:r>
              <a:rPr lang="ko-KR" altLang="en-US" dirty="0"/>
              <a:t>에서는 위쪽</a:t>
            </a:r>
            <a:r>
              <a:rPr lang="en-US" altLang="ko-KR" dirty="0"/>
              <a:t> </a:t>
            </a:r>
            <a:r>
              <a:rPr lang="ko-KR" altLang="en-US" dirty="0"/>
              <a:t>또는 오른쪽으로</a:t>
            </a:r>
            <a:r>
              <a:rPr lang="en-US" altLang="ko-KR" dirty="0"/>
              <a:t> </a:t>
            </a:r>
            <a:r>
              <a:rPr lang="ko-KR" altLang="en-US" dirty="0"/>
              <a:t>갈 수 있으므로 </a:t>
            </a:r>
            <a:r>
              <a:rPr lang="en-US" altLang="ko-KR" dirty="0"/>
              <a:t>(1,1)</a:t>
            </a:r>
            <a:r>
              <a:rPr lang="ko-KR" altLang="en-US" dirty="0"/>
              <a:t>에서 위로 가는 확률을 </a:t>
            </a:r>
            <a:r>
              <a:rPr lang="en-US" altLang="ko-KR" dirty="0"/>
              <a:t>½</a:t>
            </a:r>
            <a:r>
              <a:rPr lang="ko-KR" altLang="en-US" dirty="0"/>
              <a:t>로</a:t>
            </a:r>
            <a:r>
              <a:rPr lang="en-US" altLang="ko-KR" dirty="0"/>
              <a:t>, (1,1)</a:t>
            </a:r>
            <a:r>
              <a:rPr lang="ko-KR" altLang="en-US" dirty="0"/>
              <a:t>에서 오른쪽으로 가는 확률도 </a:t>
            </a:r>
            <a:r>
              <a:rPr lang="en-US" altLang="ko-KR" dirty="0"/>
              <a:t>½</a:t>
            </a:r>
            <a:r>
              <a:rPr lang="ko-KR" altLang="en-US" dirty="0"/>
              <a:t>로 두고 또 왼쪽이나 아래로 가는 확률을 </a:t>
            </a:r>
            <a:r>
              <a:rPr lang="en-US" altLang="ko-KR" dirty="0"/>
              <a:t>0</a:t>
            </a:r>
            <a:r>
              <a:rPr lang="ko-KR" altLang="en-US" dirty="0"/>
              <a:t>으로 준다는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만약 균등정책이라면 여기 보이는 바와 같은 식을 얻을 수 있는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최적정책은</a:t>
            </a:r>
            <a:r>
              <a:rPr lang="en-US" altLang="ko-KR" dirty="0"/>
              <a:t>, </a:t>
            </a:r>
            <a:r>
              <a:rPr lang="ko-KR" altLang="en-US" dirty="0"/>
              <a:t>지금 표시된 </a:t>
            </a:r>
            <a:r>
              <a:rPr lang="en-US" altLang="ko-KR" dirty="0"/>
              <a:t>trajectory</a:t>
            </a:r>
            <a:r>
              <a:rPr lang="ko-KR" altLang="en-US" dirty="0"/>
              <a:t>처럼 움직이는 것이 최적의 경로라는 것을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또는</a:t>
            </a:r>
            <a:r>
              <a:rPr lang="en-US" altLang="ko-KR" dirty="0"/>
              <a:t>, </a:t>
            </a:r>
            <a:r>
              <a:rPr lang="ko-KR" altLang="en-US" dirty="0"/>
              <a:t>오른쪽으로 돌아가는 </a:t>
            </a:r>
            <a:r>
              <a:rPr lang="en-US" altLang="ko-KR" dirty="0"/>
              <a:t>trajectory</a:t>
            </a:r>
            <a:r>
              <a:rPr lang="ko-KR" altLang="en-US" dirty="0"/>
              <a:t>여도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경로가 </a:t>
            </a:r>
            <a:r>
              <a:rPr lang="en-US" altLang="ko-KR" dirty="0"/>
              <a:t>return</a:t>
            </a:r>
            <a:r>
              <a:rPr lang="ko-KR" altLang="en-US" dirty="0"/>
              <a:t>이 최대가 되는 경로가 될 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그렇다면 최적정책은 두 개가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한 </a:t>
            </a:r>
            <a:r>
              <a:rPr lang="en-US" altLang="ko-KR" dirty="0"/>
              <a:t>MDP</a:t>
            </a:r>
            <a:r>
              <a:rPr lang="ko-KR" altLang="en-US" dirty="0"/>
              <a:t>에 최적정책은 여러 개 있을 수 있습니다</a:t>
            </a:r>
            <a:r>
              <a:rPr lang="en-US" altLang="ko-KR" dirty="0"/>
              <a:t>.)</a:t>
            </a:r>
          </a:p>
          <a:p>
            <a:r>
              <a:rPr lang="ko-KR" altLang="en-US" dirty="0"/>
              <a:t>그중 그림에 표시된 경로에 해당하는 최적정책은</a:t>
            </a:r>
            <a:r>
              <a:rPr lang="en-US" altLang="ko-KR" dirty="0"/>
              <a:t>, </a:t>
            </a:r>
            <a:r>
              <a:rPr lang="ko-KR" altLang="en-US" dirty="0"/>
              <a:t>예를 들어 </a:t>
            </a:r>
            <a:r>
              <a:rPr lang="en-US" altLang="ko-KR" dirty="0"/>
              <a:t>(1,2)</a:t>
            </a:r>
            <a:r>
              <a:rPr lang="ko-KR" altLang="en-US" dirty="0"/>
              <a:t>이라는 상태가 주어졌을 때 위로 갈 확률만이 </a:t>
            </a:r>
            <a:r>
              <a:rPr lang="en-US" altLang="ko-KR" dirty="0"/>
              <a:t>1</a:t>
            </a:r>
            <a:r>
              <a:rPr lang="ko-KR" altLang="en-US" dirty="0"/>
              <a:t>이고 나머지 확률은 </a:t>
            </a:r>
            <a:r>
              <a:rPr lang="en-US" altLang="ko-KR" dirty="0"/>
              <a:t>0</a:t>
            </a:r>
            <a:r>
              <a:rPr lang="ko-KR" altLang="en-US" dirty="0"/>
              <a:t>으로 가는</a:t>
            </a:r>
            <a:r>
              <a:rPr lang="en-US" altLang="ko-KR" dirty="0"/>
              <a:t>, action</a:t>
            </a:r>
            <a:r>
              <a:rPr lang="ko-KR" altLang="en-US" dirty="0"/>
              <a:t>들의 확률분포를 갖게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지금은 </a:t>
            </a:r>
            <a:r>
              <a:rPr lang="en-US" altLang="ko-KR" dirty="0"/>
              <a:t>(1,2)</a:t>
            </a:r>
            <a:r>
              <a:rPr lang="ko-KR" altLang="en-US" dirty="0"/>
              <a:t>에 대해서만 했지만 나머지 점들에 대해서도 </a:t>
            </a:r>
            <a:r>
              <a:rPr lang="en-US" altLang="ko-KR" dirty="0"/>
              <a:t>action</a:t>
            </a:r>
            <a:r>
              <a:rPr lang="ko-KR" altLang="en-US" dirty="0"/>
              <a:t>을 적절히 정하게 되면 최적정책을 만들어낼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최적정책은 </a:t>
            </a:r>
            <a:r>
              <a:rPr lang="en-US" altLang="ko-KR" dirty="0"/>
              <a:t>state</a:t>
            </a:r>
            <a:r>
              <a:rPr lang="ko-KR" altLang="en-US" dirty="0"/>
              <a:t>가 주어졌을 때 </a:t>
            </a:r>
            <a:r>
              <a:rPr lang="en-US" altLang="ko-KR" dirty="0"/>
              <a:t>action</a:t>
            </a:r>
            <a:r>
              <a:rPr lang="ko-KR" altLang="en-US" dirty="0"/>
              <a:t>이 고정적으로 하나 결정되는 형식의 </a:t>
            </a:r>
            <a:r>
              <a:rPr lang="en-US" altLang="ko-KR" dirty="0" err="1"/>
              <a:t>polic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식의 정책을 </a:t>
            </a:r>
            <a:r>
              <a:rPr lang="en-US" altLang="ko-KR" dirty="0"/>
              <a:t>deterministic policy</a:t>
            </a:r>
            <a:r>
              <a:rPr lang="ko-KR" altLang="en-US" dirty="0"/>
              <a:t>라고 부르는데</a:t>
            </a:r>
            <a:r>
              <a:rPr lang="en-US" altLang="ko-KR" dirty="0"/>
              <a:t>, </a:t>
            </a:r>
            <a:r>
              <a:rPr lang="ko-KR" altLang="en-US" dirty="0"/>
              <a:t>일반적으로는 그렇지 않습니다</a:t>
            </a:r>
            <a:r>
              <a:rPr lang="en-US" altLang="ko-KR" dirty="0"/>
              <a:t>, </a:t>
            </a:r>
            <a:r>
              <a:rPr lang="ko-KR" altLang="en-US" dirty="0"/>
              <a:t>그 반대급부를 </a:t>
            </a:r>
            <a:r>
              <a:rPr lang="en-US" altLang="ko-KR" dirty="0"/>
              <a:t>stochastic policy</a:t>
            </a:r>
            <a:r>
              <a:rPr lang="ko-KR" altLang="en-US" dirty="0"/>
              <a:t>라고도 부릅니다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5731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9598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2909D-5DA0-027C-5ECA-ABC67D31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FC4ED8-2073-9865-2208-1E4A6CDFE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942AE8-8569-DA07-9035-54C68E17C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52D55-69B8-7771-E657-731B899ED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57481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2024.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  <a:ln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341560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/>
              <a:t>I. </a:t>
            </a:r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3405" y="2295122"/>
            <a:ext cx="657011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9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  <p:sldLayoutId id="2147483812" r:id="rId6"/>
    <p:sldLayoutId id="2147483813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16.png"/><Relationship Id="rId10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B9C259-F067-4F41-A6FB-E2E1BE7869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0951" y="1740473"/>
            <a:ext cx="9207078" cy="1216815"/>
          </a:xfrm>
        </p:spPr>
        <p:txBody>
          <a:bodyPr/>
          <a:lstStyle/>
          <a:p>
            <a:r>
              <a:rPr lang="ko-KR" altLang="en-US" dirty="0"/>
              <a:t>강화학습 세미나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35A55-B1BF-4C4C-B8BD-EE34EE9B9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1143" y="4509119"/>
            <a:ext cx="3019307" cy="970278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29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 err="1"/>
              <a:t>김선중</a:t>
            </a:r>
            <a:r>
              <a:rPr lang="ko-KR" altLang="en-US" dirty="0"/>
              <a:t> 선임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41FF10-64BF-4D1E-B03D-21849AC56E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7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"/>
          <p:cNvSpPr txBox="1">
            <a:spLocks/>
          </p:cNvSpPr>
          <p:nvPr/>
        </p:nvSpPr>
        <p:spPr>
          <a:xfrm>
            <a:off x="498029" y="248846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컴돋움" pitchFamily="18" charset="2"/>
              </a:rPr>
              <a:t>CONTENTS</a:t>
            </a:r>
            <a:endParaRPr lang="ko-KR" altLang="en-US" sz="2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한컴돋움" pitchFamily="18" charset="2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570356-5398-4117-BE9B-872AFE7AE7C3}"/>
              </a:ext>
            </a:extLst>
          </p:cNvPr>
          <p:cNvSpPr/>
          <p:nvPr/>
        </p:nvSpPr>
        <p:spPr>
          <a:xfrm>
            <a:off x="3209061" y="2079688"/>
            <a:ext cx="3275256" cy="1990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 기초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 알고리즘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212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D0A6F44-18B5-18ED-5E11-8D8722A703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Ⅰ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강화학습 기초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16EF7B-61A7-BDC4-6C6B-FF09DB80E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강화학습 개요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finite MDP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가치함수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Bellman </a:t>
            </a:r>
            <a:r>
              <a:rPr lang="ko-KR" altLang="en-US" sz="1800" dirty="0">
                <a:latin typeface="+mn-ea"/>
                <a:ea typeface="+mn-ea"/>
              </a:rPr>
              <a:t>방정식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Bellman </a:t>
            </a:r>
            <a:r>
              <a:rPr lang="ko-KR" altLang="en-US" sz="1800" dirty="0">
                <a:latin typeface="+mn-ea"/>
                <a:ea typeface="+mn-ea"/>
              </a:rPr>
              <a:t>최적 방정식</a:t>
            </a:r>
            <a:endParaRPr lang="en-US" altLang="ko-KR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1761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38B6-A585-1D57-34D6-1E47C8441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8F47AB-A764-AECC-FE82-9C49A385F8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세가지 갈래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0C78BF7-8FF8-00FC-AECC-65573FD3E3B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1644956"/>
              </a:xfrm>
            </p:spPr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지도학습 </a:t>
                </a:r>
                <a:r>
                  <a:rPr lang="en-US" altLang="ko-KR" dirty="0"/>
                  <a:t>(supervised learning)</a:t>
                </a:r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</a:t>
                </a:r>
                <a:r>
                  <a:rPr lang="en-US" altLang="ko-KR" sz="14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)</a:t>
                </a:r>
                <a:r>
                  <a:rPr lang="ko-KR" altLang="en-US" sz="1400" dirty="0">
                    <a:latin typeface="+mn-ea"/>
                  </a:rPr>
                  <a:t>이 포함된 데이터셋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 err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)|1≤</m:t>
                    </m:r>
                    <m:r>
                      <a:rPr lang="en-US" altLang="ko-KR" sz="1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</a:t>
                </a:r>
                <a:r>
                  <a:rPr lang="en-US" altLang="ko-KR" sz="1400" dirty="0">
                    <a:latin typeface="+mn-ea"/>
                  </a:rPr>
                  <a:t> </a:t>
                </a:r>
                <a:r>
                  <a:rPr lang="ko-KR" altLang="en-US" sz="1400" dirty="0">
                    <a:latin typeface="+mn-ea"/>
                  </a:rPr>
                  <a:t>사용하여 예측 </a:t>
                </a:r>
                <a:r>
                  <a:rPr lang="en-US" altLang="ko-KR" sz="1400" dirty="0">
                    <a:latin typeface="+mn-ea"/>
                  </a:rPr>
                  <a:t>/ </a:t>
                </a:r>
                <a:r>
                  <a:rPr lang="ko-KR" altLang="en-US" sz="1400" dirty="0">
                    <a:latin typeface="+mn-ea"/>
                  </a:rPr>
                  <a:t>분류</a:t>
                </a:r>
                <a:endParaRPr lang="en-US" altLang="ko-KR" sz="1400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비지도학습 </a:t>
                </a:r>
                <a:r>
                  <a:rPr lang="en-US" altLang="ko-KR" dirty="0">
                    <a:latin typeface="+mn-ea"/>
                  </a:rPr>
                  <a:t>(unsupervised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라벨이 포함되지 않은 데이터셋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|1≤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 사용하여 데이터 구조 파악 </a:t>
                </a:r>
                <a:r>
                  <a:rPr lang="en-US" altLang="ko-KR" sz="1400" dirty="0">
                    <a:latin typeface="+mn-ea"/>
                  </a:rPr>
                  <a:t>(PCA, clustering </a:t>
                </a:r>
                <a:r>
                  <a:rPr lang="ko-KR" altLang="en-US" sz="1400" dirty="0">
                    <a:latin typeface="+mn-ea"/>
                  </a:rPr>
                  <a:t>등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강화학습 </a:t>
                </a:r>
                <a:r>
                  <a:rPr lang="en-US" altLang="ko-KR" dirty="0">
                    <a:latin typeface="+mn-ea"/>
                  </a:rPr>
                  <a:t>(reinforcement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데이터셋 없이 에이전트가 환경과 상호작용하며 보상을 최대화하는 최적의 행동을 학습</a:t>
                </a:r>
                <a:endParaRPr lang="en-US" altLang="ko-KR" sz="14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0C78BF7-8FF8-00FC-AECC-65573FD3E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1644956"/>
              </a:xfrm>
              <a:blipFill>
                <a:blip r:embed="rId2"/>
                <a:stretch>
                  <a:fillRect l="-263" t="-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F6AC97F9-D139-557B-21F4-A5FC832B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B3E2BB4-D9C6-0459-2E26-4428AD4AE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102B02-B6AC-7183-1B4E-8689EF96E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93" y="3290548"/>
            <a:ext cx="3807341" cy="307609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A3CA3C4-9889-1842-4E84-F7E3DB737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470" y="3916090"/>
            <a:ext cx="4584974" cy="164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0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F07BA-283E-1B91-1F7D-6B5295A5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E90782-8134-091A-7D2B-0F68BB2861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강화학습의 발전과정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473A56-48DF-84F6-412E-5202638C50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7"/>
            <a:ext cx="9270641" cy="129679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행동심리학에서의 강화</a:t>
            </a:r>
            <a:r>
              <a:rPr lang="en-US" altLang="ko-KR" dirty="0">
                <a:latin typeface="+mn-ea"/>
              </a:rPr>
              <a:t>(reinforcement)</a:t>
            </a:r>
            <a:r>
              <a:rPr lang="ko-KR" altLang="en-US" dirty="0">
                <a:latin typeface="+mn-ea"/>
              </a:rPr>
              <a:t>의 개념 </a:t>
            </a:r>
            <a:r>
              <a:rPr lang="en-US" altLang="ko-KR" dirty="0">
                <a:latin typeface="+mn-ea"/>
              </a:rPr>
              <a:t>: 1930</a:t>
            </a:r>
            <a:r>
              <a:rPr lang="ko-KR" altLang="en-US" dirty="0">
                <a:latin typeface="+mn-ea"/>
              </a:rPr>
              <a:t>년대 초</a:t>
            </a:r>
            <a:r>
              <a:rPr lang="en-US" altLang="ko-KR" dirty="0">
                <a:latin typeface="+mn-ea"/>
              </a:rPr>
              <a:t>, B. F. Skinner </a:t>
            </a:r>
            <a:r>
              <a:rPr lang="ko-KR" altLang="en-US" dirty="0">
                <a:latin typeface="+mn-ea"/>
              </a:rPr>
              <a:t>등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동적계획법</a:t>
            </a:r>
            <a:r>
              <a:rPr lang="en-US" altLang="ko-KR" dirty="0">
                <a:latin typeface="+mn-ea"/>
              </a:rPr>
              <a:t>(dynamic programming) : 1950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Richard Bellman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시간차 학습 </a:t>
            </a:r>
            <a:r>
              <a:rPr lang="en-US" altLang="ko-KR" dirty="0">
                <a:latin typeface="+mn-ea"/>
              </a:rPr>
              <a:t>(temporal difference) : 1980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Richard Sutton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latin typeface="+mn-ea"/>
              </a:rPr>
              <a:t>Q-learning : 1989</a:t>
            </a:r>
            <a:r>
              <a:rPr lang="ko-KR" altLang="en-US" dirty="0">
                <a:latin typeface="+mn-ea"/>
              </a:rPr>
              <a:t>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latin typeface="+mn-ea"/>
              </a:rPr>
              <a:t>DQN (Deep Q Learning) : 2010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DeepMind </a:t>
            </a:r>
            <a:r>
              <a:rPr lang="ko-KR" altLang="en-US" dirty="0">
                <a:latin typeface="+mn-ea"/>
              </a:rPr>
              <a:t>팀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en-US" dirty="0">
              <a:latin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271C04-85E7-CE22-9A63-20924E4E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 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D44E9F7-53C1-31CC-FE41-90CD8D541E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90949B3-4FFA-5C23-C099-53B7A2973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184" y="3113317"/>
            <a:ext cx="314325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5E941A-C89B-C7EA-4C4F-78DE181FDB37}"/>
              </a:ext>
            </a:extLst>
          </p:cNvPr>
          <p:cNvSpPr txBox="1"/>
          <p:nvPr/>
        </p:nvSpPr>
        <p:spPr>
          <a:xfrm>
            <a:off x="4887454" y="3659819"/>
            <a:ext cx="22701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※</a:t>
            </a:r>
            <a:r>
              <a:rPr lang="ko-KR" altLang="en-US" b="0" dirty="0">
                <a:latin typeface="+mn-ea"/>
                <a:ea typeface="+mn-ea"/>
              </a:rPr>
              <a:t>행동심리학에서의 </a:t>
            </a:r>
            <a:r>
              <a:rPr lang="en-US" altLang="ko-KR" b="0" dirty="0">
                <a:latin typeface="+mn-ea"/>
                <a:ea typeface="+mn-ea"/>
              </a:rPr>
              <a:t>‘</a:t>
            </a:r>
            <a:r>
              <a:rPr lang="ko-KR" altLang="en-US" b="0" dirty="0">
                <a:latin typeface="+mn-ea"/>
                <a:ea typeface="+mn-ea"/>
              </a:rPr>
              <a:t>강화</a:t>
            </a:r>
            <a:r>
              <a:rPr lang="en-US" altLang="ko-KR" b="0" dirty="0">
                <a:latin typeface="+mn-ea"/>
                <a:ea typeface="+mn-ea"/>
              </a:rPr>
              <a:t>’</a:t>
            </a: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584486-22FD-E8B3-0CDC-76CC23E65234}"/>
              </a:ext>
            </a:extLst>
          </p:cNvPr>
          <p:cNvSpPr/>
          <p:nvPr/>
        </p:nvSpPr>
        <p:spPr bwMode="auto">
          <a:xfrm>
            <a:off x="4953000" y="4069512"/>
            <a:ext cx="3684233" cy="43500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상자 안의 쥐는 버튼을 누르면 먹이를 얻음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C0C531-8932-BBB5-9603-E94422DCEBFC}"/>
              </a:ext>
            </a:extLst>
          </p:cNvPr>
          <p:cNvSpPr/>
          <p:nvPr/>
        </p:nvSpPr>
        <p:spPr bwMode="auto">
          <a:xfrm>
            <a:off x="4953000" y="5175156"/>
            <a:ext cx="3684233" cy="43500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쥐는 버튼을 누르는 것을 학습함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C3535B47-5148-5C08-C909-2F4FB63DE0AB}"/>
              </a:ext>
            </a:extLst>
          </p:cNvPr>
          <p:cNvSpPr/>
          <p:nvPr/>
        </p:nvSpPr>
        <p:spPr bwMode="auto">
          <a:xfrm>
            <a:off x="6613860" y="4613926"/>
            <a:ext cx="362511" cy="481614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733B18-2CC4-35A2-2CA3-5D206006C7CF}"/>
              </a:ext>
            </a:extLst>
          </p:cNvPr>
          <p:cNvSpPr txBox="1"/>
          <p:nvPr/>
        </p:nvSpPr>
        <p:spPr>
          <a:xfrm>
            <a:off x="8744397" y="4287014"/>
            <a:ext cx="1200970" cy="985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dirty="0">
                <a:latin typeface="+mn-ea"/>
                <a:ea typeface="+mn-ea"/>
              </a:rPr>
              <a:t>환경 </a:t>
            </a:r>
            <a:r>
              <a:rPr lang="en-US" altLang="ko-KR" sz="1000" b="0" dirty="0">
                <a:latin typeface="+mn-ea"/>
                <a:ea typeface="+mn-ea"/>
              </a:rPr>
              <a:t>: </a:t>
            </a:r>
            <a:r>
              <a:rPr lang="ko-KR" altLang="en-US" sz="1000" b="0" dirty="0">
                <a:latin typeface="+mn-ea"/>
                <a:ea typeface="+mn-ea"/>
              </a:rPr>
              <a:t>상자</a:t>
            </a:r>
            <a:endParaRPr lang="en-US" altLang="ko-KR" sz="1000" b="0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dirty="0">
                <a:latin typeface="+mn-ea"/>
                <a:ea typeface="+mn-ea"/>
              </a:rPr>
              <a:t>agent</a:t>
            </a:r>
            <a:r>
              <a:rPr lang="ko-KR" altLang="en-US" sz="1000" b="0" dirty="0">
                <a:latin typeface="+mn-ea"/>
                <a:ea typeface="+mn-ea"/>
              </a:rPr>
              <a:t> </a:t>
            </a:r>
            <a:r>
              <a:rPr lang="en-US" altLang="ko-KR" sz="1000" b="0" dirty="0">
                <a:latin typeface="+mn-ea"/>
                <a:ea typeface="+mn-ea"/>
              </a:rPr>
              <a:t>:</a:t>
            </a:r>
            <a:r>
              <a:rPr lang="ko-KR" altLang="en-US" sz="1000" b="0" dirty="0">
                <a:latin typeface="+mn-ea"/>
                <a:ea typeface="+mn-ea"/>
              </a:rPr>
              <a:t> 쥐</a:t>
            </a:r>
            <a:endParaRPr lang="en-US" altLang="ko-KR" sz="1000" b="0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dirty="0">
                <a:latin typeface="+mn-ea"/>
                <a:ea typeface="+mn-ea"/>
              </a:rPr>
              <a:t>행동 </a:t>
            </a:r>
            <a:r>
              <a:rPr lang="en-US" altLang="ko-KR" sz="1000" b="0" dirty="0">
                <a:latin typeface="+mn-ea"/>
                <a:ea typeface="+mn-ea"/>
              </a:rPr>
              <a:t>: </a:t>
            </a:r>
            <a:r>
              <a:rPr lang="ko-KR" altLang="en-US" sz="1000" b="0" dirty="0" err="1">
                <a:latin typeface="+mn-ea"/>
                <a:ea typeface="+mn-ea"/>
              </a:rPr>
              <a:t>버튼누르기</a:t>
            </a:r>
            <a:endParaRPr lang="en-US" altLang="ko-KR" sz="1000" b="0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dirty="0">
                <a:latin typeface="+mn-ea"/>
                <a:ea typeface="+mn-ea"/>
              </a:rPr>
              <a:t>보상 </a:t>
            </a:r>
            <a:r>
              <a:rPr lang="en-US" altLang="ko-KR" sz="1000" b="0" dirty="0">
                <a:latin typeface="+mn-ea"/>
                <a:ea typeface="+mn-ea"/>
              </a:rPr>
              <a:t>: </a:t>
            </a:r>
            <a:r>
              <a:rPr lang="ko-KR" altLang="en-US" sz="1000" b="0" dirty="0">
                <a:latin typeface="+mn-ea"/>
                <a:ea typeface="+mn-ea"/>
              </a:rPr>
              <a:t>먹이</a:t>
            </a:r>
          </a:p>
        </p:txBody>
      </p:sp>
    </p:spTree>
    <p:extLst>
      <p:ext uri="{BB962C8B-B14F-4D97-AF65-F5344CB8AC3E}">
        <p14:creationId xmlns:p14="http://schemas.microsoft.com/office/powerpoint/2010/main" val="350597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9DA7-DCB0-3D6B-70AD-0A462457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DE3CE4-1AF9-F579-CF9B-BF4E1E8BF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강화학습의 기본 개념들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0D24920-72AD-90E4-E6F7-3DD92ACAC196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2359441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에이전트</a:t>
                </a:r>
                <a:r>
                  <a:rPr lang="en-US" altLang="ko-KR" dirty="0">
                    <a:latin typeface="+mn-ea"/>
                  </a:rPr>
                  <a:t>(agent) :</a:t>
                </a:r>
                <a:r>
                  <a:rPr lang="ko-KR" altLang="en-US" dirty="0">
                    <a:latin typeface="+mn-ea"/>
                  </a:rPr>
                  <a:t> 환경 속에서 행동을 하는 주체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환경 </a:t>
                </a:r>
                <a:r>
                  <a:rPr lang="en-US" altLang="ko-KR" dirty="0">
                    <a:latin typeface="+mn-ea"/>
                  </a:rPr>
                  <a:t>(environment) : agent</a:t>
                </a:r>
                <a:r>
                  <a:rPr lang="ko-KR" altLang="en-US" dirty="0">
                    <a:latin typeface="+mn-ea"/>
                  </a:rPr>
                  <a:t>를 둘러싸고 있는 주변 환경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상태 </a:t>
                </a:r>
                <a:r>
                  <a:rPr lang="en-US" altLang="ko-KR" dirty="0">
                    <a:latin typeface="+mn-ea"/>
                  </a:rPr>
                  <a:t>(state,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특정 시점의 환경 정보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상황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행동 </a:t>
                </a:r>
                <a:r>
                  <a:rPr lang="en-US" altLang="ko-KR" dirty="0">
                    <a:latin typeface="+mn-ea"/>
                  </a:rPr>
                  <a:t>(action,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특정 시점에 에이전트가 취하는 행위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선택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보상 </a:t>
                </a:r>
                <a:r>
                  <a:rPr lang="en-US" altLang="ko-KR" dirty="0">
                    <a:latin typeface="+mn-ea"/>
                  </a:rPr>
                  <a:t>(reward,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에이전트가 받는 피드백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점수</a:t>
                </a:r>
                <a:r>
                  <a:rPr lang="en-US" altLang="ko-KR" dirty="0">
                    <a:latin typeface="+mn-ea"/>
                  </a:rPr>
                  <a:t>)</a:t>
                </a:r>
                <a:endParaRPr lang="ko-KR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0D24920-72AD-90E4-E6F7-3DD92ACAC1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2359441"/>
              </a:xfr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E8B740A-15F3-46E3-ED20-18B60ED5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</a:t>
            </a:r>
            <a:r>
              <a:rPr lang="en-US" altLang="ko-KR" dirty="0"/>
              <a:t> (3/3)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5F5FD83-4BED-9A3E-E307-E1EE8DB196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1478C8E-5E31-CF9E-D699-D43A48B2C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051" y="3575934"/>
            <a:ext cx="5668556" cy="19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92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0520-3DB3-2F26-74D9-0C3780B5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949B9C-2D71-A8C0-7CA8-B2D972E301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Markov Decision Process (</a:t>
            </a:r>
            <a:r>
              <a:rPr lang="ko-KR" altLang="en-US" dirty="0" err="1"/>
              <a:t>마르코프</a:t>
            </a:r>
            <a:r>
              <a:rPr lang="ko-KR" altLang="en-US" dirty="0"/>
              <a:t> 의사결정 과정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D3277A26-7CE2-C634-3F6D-D1FB564C9B4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359441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(finite) MDP : </a:t>
                </a:r>
                <a:r>
                  <a:rPr lang="ko-KR" altLang="en-US" dirty="0">
                    <a:latin typeface="+mn-ea"/>
                  </a:rPr>
                  <a:t>확률변수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r>
                  <a:rPr lang="en-US" altLang="ko-KR" dirty="0">
                    <a:latin typeface="+mn-ea"/>
                  </a:rPr>
                  <a:t> </a:t>
                </a:r>
                <a:r>
                  <a:rPr lang="ko-KR" altLang="en-US" dirty="0">
                    <a:latin typeface="+mn-ea"/>
                  </a:rPr>
                  <a:t>들의 나열</a:t>
                </a:r>
                <a:endParaRPr lang="en-US" altLang="ko-KR" b="1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trajectory(</a:t>
                </a:r>
                <a:r>
                  <a:rPr lang="ko-KR" altLang="en-US" dirty="0">
                    <a:latin typeface="+mn-ea"/>
                  </a:rPr>
                  <a:t>궤적</a:t>
                </a:r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각 확률변수가 특정 값에 지정된 상태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에피소드</a:t>
                </a:r>
                <a:r>
                  <a:rPr lang="en-US" altLang="ko-KR" dirty="0">
                    <a:latin typeface="+mn-ea"/>
                  </a:rPr>
                  <a:t>(episode) : </a:t>
                </a:r>
                <a:r>
                  <a:rPr lang="ko-KR" altLang="en-US" dirty="0">
                    <a:latin typeface="+mn-ea"/>
                  </a:rPr>
                  <a:t>종료상태</a:t>
                </a:r>
                <a:r>
                  <a:rPr lang="en-US" altLang="ko-KR" dirty="0">
                    <a:latin typeface="+mn-ea"/>
                  </a:rPr>
                  <a:t>(terminal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state)</a:t>
                </a:r>
                <a:r>
                  <a:rPr lang="ko-KR" altLang="en-US" dirty="0">
                    <a:latin typeface="+mn-ea"/>
                  </a:rPr>
                  <a:t>에 도달하여 끝나는 </a:t>
                </a:r>
                <a:r>
                  <a:rPr lang="en-US" altLang="ko-KR" dirty="0">
                    <a:latin typeface="+mn-ea"/>
                  </a:rPr>
                  <a:t>trajectory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-1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-1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altLang="ko-KR" sz="1200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Markov property (</a:t>
                </a:r>
                <a:r>
                  <a:rPr lang="ko-KR" altLang="en-US" dirty="0" err="1">
                    <a:latin typeface="+mn-ea"/>
                  </a:rPr>
                  <a:t>마르코프</a:t>
                </a:r>
                <a:r>
                  <a:rPr lang="ko-KR" altLang="en-US" dirty="0">
                    <a:latin typeface="+mn-ea"/>
                  </a:rPr>
                  <a:t> 성질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현재의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와 보상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가 바로 이전의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와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에만 의존하는 상황을 가정함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fr-FR" altLang="ko-KR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fr-FR" altLang="ko-KR" sz="1200" dirty="0"/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D3277A26-7CE2-C634-3F6D-D1FB564C9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359441"/>
              </a:xfrm>
              <a:blipFill>
                <a:blip r:embed="rId2"/>
                <a:stretch>
                  <a:fillRect l="-263" b="-108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09BE7F0-C467-9991-6EFA-97B0CEE6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(1/3)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0D0F9AE-229B-3CAB-181C-050D23D152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E0A89B-0A7F-AAD5-4099-8691E5435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056937"/>
              </p:ext>
            </p:extLst>
          </p:nvPr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363250-B419-0EC7-822C-18E2EC0E24C0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1E2217-AAE9-3A03-5A81-39EBE45F204E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3DF2D2-D73D-28FC-8228-668A340F9118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692293-AD19-C048-DE57-D2C7576D5127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CB976-D6ED-06DE-C6B5-D8C49666CEE1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D42DBC-325A-D0CE-80A5-449B22623521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9E2F13-3A84-98E4-2FE4-BD30FFFACE14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45F9D7-527C-57E6-8E09-539EC8B7967E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D72D21-67F6-5BA4-756E-3B46B52DFF7C}"/>
                  </a:ext>
                </a:extLst>
              </p:cNvPr>
              <p:cNvSpPr txBox="1"/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※ </a:t>
                </a:r>
                <a:r>
                  <a:rPr lang="ko-KR" altLang="en-US" b="0" dirty="0">
                    <a:latin typeface="+mn-ea"/>
                    <a:ea typeface="+mn-ea"/>
                  </a:rPr>
                  <a:t>행동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→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←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↑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↓</a:t>
                </a:r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보상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이동시마다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−0.1</m:t>
                    </m:r>
                  </m:oMath>
                </a14:m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종료지점에서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±1</m:t>
                    </m:r>
                  </m:oMath>
                </a14:m>
                <a:endParaRPr lang="ko-KR" altLang="en-US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D72D21-67F6-5BA4-756E-3B46B52DF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blipFill>
                <a:blip r:embed="rId3"/>
                <a:stretch>
                  <a:fillRect l="-495" t="-2326" b="-104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위쪽 18">
            <a:extLst>
              <a:ext uri="{FF2B5EF4-FFF2-40B4-BE49-F238E27FC236}">
                <a16:creationId xmlns:a16="http://schemas.microsoft.com/office/drawing/2014/main" id="{E34335A8-F0C3-3B3D-ADDC-E5D0EAFDC0B7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화살표: 위쪽 19">
            <a:extLst>
              <a:ext uri="{FF2B5EF4-FFF2-40B4-BE49-F238E27FC236}">
                <a16:creationId xmlns:a16="http://schemas.microsoft.com/office/drawing/2014/main" id="{5BE482A1-2509-B52C-B065-114E5C63DEEC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CAD7C74-3DB0-CC7D-57EB-552286412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1200966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CAD7C74-3DB0-CC7D-57EB-552286412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1200966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695" t="-1639" r="-15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01695" t="-1639" r="-14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201695" t="-1639" r="-13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301695" t="-1639" r="-12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401695" t="-1639" r="-11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501695" t="-1639" r="-10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601695" t="-1639" r="-9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701695" t="-1639" r="-8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815517" t="-1639" r="-72069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900000" t="-1639" r="-6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000000" t="-1639" r="-5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100000" t="-1639" r="-4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200000" t="-1639" r="-3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300000" t="-1639" r="-2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400000" t="-1639" r="-1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500000" t="-1639" r="-847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785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24BE-544D-2C37-3593-25BBC457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91C66B-122D-40C7-BE56-AAE858650B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환경모델</a:t>
            </a:r>
            <a:r>
              <a:rPr lang="en-US" altLang="ko-KR" dirty="0"/>
              <a:t>(environment model, transition dynamics)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A9B6B5A0-AAC5-5ED5-1CE8-2520A96609F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3383045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강화학습에서 환경이 어떻게 작동하는지 표현하는 모델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전이확률 </a:t>
                </a:r>
                <a:r>
                  <a:rPr lang="en-US" altLang="ko-KR" dirty="0">
                    <a:latin typeface="+mn-ea"/>
                  </a:rPr>
                  <a:t>(state transition probability)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b="0" dirty="0">
                    <a:latin typeface="Cambria Math" panose="02040503050406030204" pitchFamily="18" charset="0"/>
                  </a:rPr>
                  <a:t>상태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200" b="0" dirty="0">
                    <a:latin typeface="Cambria Math" panose="02040503050406030204" pitchFamily="18" charset="0"/>
                  </a:rPr>
                  <a:t>에서 행동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200" b="0" dirty="0">
                    <a:latin typeface="Cambria Math" panose="02040503050406030204" pitchFamily="18" charset="0"/>
                  </a:rPr>
                  <a:t>를 취했을 때 다음 상태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altLang="ko-KR" sz="1200" b="0" dirty="0">
                    <a:latin typeface="Cambria Math" panose="02040503050406030204" pitchFamily="18" charset="0"/>
                  </a:rPr>
                  <a:t>(</a:t>
                </a:r>
                <a:r>
                  <a:rPr lang="ko-KR" altLang="en-US" sz="1200" b="0" dirty="0">
                    <a:latin typeface="Cambria Math" panose="02040503050406030204" pitchFamily="18" charset="0"/>
                  </a:rPr>
                  <a:t>와 보상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ko-KR" sz="1200" b="0" dirty="0">
                    <a:latin typeface="Cambria Math" panose="02040503050406030204" pitchFamily="18" charset="0"/>
                  </a:rPr>
                  <a:t>)</a:t>
                </a:r>
                <a:r>
                  <a:rPr lang="ko-KR" altLang="en-US" sz="1200" b="0" dirty="0">
                    <a:latin typeface="Cambria Math" panose="02040503050406030204" pitchFamily="18" charset="0"/>
                  </a:rPr>
                  <a:t>이 될 확률</a:t>
                </a: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’,</m:t>
                        </m:r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fr-FR" altLang="ko-KR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200" i="1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또는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’|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200" dirty="0">
                    <a:latin typeface="Cambria Math" panose="02040503050406030204" pitchFamily="18" charset="0"/>
                  </a:rPr>
                  <a:t>     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← 확률적 전이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(stochastic transition)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’=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200" dirty="0">
                    <a:latin typeface="Cambria Math" panose="02040503050406030204" pitchFamily="18" charset="0"/>
                  </a:rPr>
                  <a:t>                                                                                                           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← 결정적 전이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(deterministic transition)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보상함수 </a:t>
                </a:r>
                <a:r>
                  <a:rPr lang="en-US" altLang="ko-KR" dirty="0">
                    <a:latin typeface="+mn-ea"/>
                  </a:rPr>
                  <a:t>(reward function)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상태 </a:t>
                </a:r>
                <a14:m>
                  <m:oMath xmlns:m="http://schemas.openxmlformats.org/officeDocument/2006/math"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에서 행동 </a:t>
                </a:r>
                <a14:m>
                  <m:oMath xmlns:m="http://schemas.openxmlformats.org/officeDocument/2006/math"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를 했을 때 받는 보상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A9B6B5A0-AAC5-5ED5-1CE8-2520A96609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3383045"/>
              </a:xfr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76187E36-27B1-4E25-F680-48501D66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(2/3)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B961DD8-75AE-6115-6D44-6DCD6764DA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CB70D66-AD4C-DA3B-424A-254679E01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21140"/>
              </p:ext>
            </p:extLst>
          </p:nvPr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76A875-5A81-F164-76D9-1A0BE481DD3F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AA7C4-60CE-19AC-0555-1E61DCB0CD78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D1873-2DDD-DE03-15AD-829124B850A2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4C12A-7D25-4734-ED24-DC07A5EA176B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E70607-144F-E3BC-AB7A-E87DE9D8F592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3869E-A4A3-9265-7B77-4D3D2E228732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6860F7-A76B-C016-4F8E-8BEAA60A5972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6A0BF-74E2-9BA9-82E7-06C720FC7D53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D129A1-643E-198D-A156-E041B3E71E04}"/>
                  </a:ext>
                </a:extLst>
              </p:cNvPr>
              <p:cNvSpPr txBox="1"/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※ </a:t>
                </a:r>
                <a:r>
                  <a:rPr lang="ko-KR" altLang="en-US" b="0" dirty="0">
                    <a:latin typeface="+mn-ea"/>
                    <a:ea typeface="+mn-ea"/>
                  </a:rPr>
                  <a:t>행동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→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←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↑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↓</a:t>
                </a:r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보상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이동시마다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−0.1</m:t>
                    </m:r>
                  </m:oMath>
                </a14:m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종료지점에서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±1</m:t>
                    </m:r>
                  </m:oMath>
                </a14:m>
                <a:endParaRPr lang="ko-KR" altLang="en-US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D129A1-643E-198D-A156-E041B3E71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blipFill>
                <a:blip r:embed="rId3"/>
                <a:stretch>
                  <a:fillRect l="-495" t="-2326" b="-104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화살표: 위쪽 15">
            <a:extLst>
              <a:ext uri="{FF2B5EF4-FFF2-40B4-BE49-F238E27FC236}">
                <a16:creationId xmlns:a16="http://schemas.microsoft.com/office/drawing/2014/main" id="{B27A578A-3A11-1597-A871-27E65FA8A516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화살표: 위쪽 16">
            <a:extLst>
              <a:ext uri="{FF2B5EF4-FFF2-40B4-BE49-F238E27FC236}">
                <a16:creationId xmlns:a16="http://schemas.microsoft.com/office/drawing/2014/main" id="{08420D8D-1B99-58B3-8619-F2C555C2A6E0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09A1CC-1076-8598-5425-87D16E11005F}"/>
                  </a:ext>
                </a:extLst>
              </p:cNvPr>
              <p:cNvSpPr txBox="1"/>
              <p:nvPr/>
            </p:nvSpPr>
            <p:spPr>
              <a:xfrm>
                <a:off x="4457178" y="4318662"/>
                <a:ext cx="1979709" cy="10618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𝑝</m:t>
                      </m:r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1,3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  <a:ea typeface="+mn-ea"/>
                            </a:rPr>
                            <m:t>↑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=0.5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09A1CC-1076-8598-5425-87D16E110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178" y="4318662"/>
                <a:ext cx="1979709" cy="10618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A5EFAF-587B-6C91-B228-BF8A4693F3E2}"/>
                  </a:ext>
                </a:extLst>
              </p:cNvPr>
              <p:cNvSpPr txBox="1"/>
              <p:nvPr/>
            </p:nvSpPr>
            <p:spPr>
              <a:xfrm>
                <a:off x="6682691" y="4258349"/>
                <a:ext cx="1670650" cy="11449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𝑟</m:t>
                      </m:r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  <a:ea typeface="+mn-ea"/>
                            </a:rPr>
                            <m:t>↑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=−0.1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=−0.1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A5EFAF-587B-6C91-B228-BF8A4693F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691" y="4258349"/>
                <a:ext cx="1670650" cy="1144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165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B565-3194-BFB2-4747-F8444DC9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A52DFA-2BEE-3FB4-5255-7B66A656A4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강화학습의 목적 </a:t>
            </a:r>
            <a:r>
              <a:rPr lang="en-US" altLang="ko-KR" dirty="0"/>
              <a:t>: return</a:t>
            </a:r>
            <a:r>
              <a:rPr lang="ko-KR" altLang="en-US" dirty="0"/>
              <a:t>을 최대화하는 최적의 정책을 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26D3FEA9-00FC-070C-F32B-EBD20ADAEE5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return(</a:t>
                </a:r>
                <a:r>
                  <a:rPr lang="ko-KR" altLang="en-US" dirty="0">
                    <a:latin typeface="+mn-ea"/>
                  </a:rPr>
                  <a:t>누적보상합</a:t>
                </a:r>
                <a:r>
                  <a:rPr lang="en-US" altLang="ko-KR" dirty="0">
                    <a:latin typeface="+mn-ea"/>
                  </a:rPr>
                  <a:t>, discounted sum of rewards)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b="0" dirty="0">
                    <a:latin typeface="Cambria Math" panose="02040503050406030204" pitchFamily="18" charset="0"/>
                  </a:rPr>
                  <a:t>시간에 따른 중요도를 고려한 보상들의 합</a:t>
                </a: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en-US" altLang="ko-KR" sz="1200" dirty="0">
                    <a:latin typeface="Cambria Math" panose="02040503050406030204" pitchFamily="18" charset="0"/>
                  </a:rPr>
                  <a:t>  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200" b="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(≤1)</m:t>
                    </m:r>
                  </m:oMath>
                </a14:m>
                <a:r>
                  <a:rPr lang="en-US" sz="1200" dirty="0"/>
                  <a:t> : discount factor(</a:t>
                </a:r>
                <a:r>
                  <a:rPr lang="ko-KR" altLang="en-US" sz="1200" dirty="0" err="1"/>
                  <a:t>감가율</a:t>
                </a:r>
                <a:r>
                  <a:rPr lang="en-US" altLang="ko-KR" sz="1200" dirty="0"/>
                  <a:t>) /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인접한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return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사이의 </a:t>
                </a:r>
                <a:r>
                  <a:rPr lang="ko-KR" altLang="en-US" sz="1200" dirty="0" err="1">
                    <a:latin typeface="Cambria Math" panose="02040503050406030204" pitchFamily="18" charset="0"/>
                  </a:rPr>
                  <a:t>점화식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policy(</a:t>
                </a:r>
                <a:r>
                  <a:rPr lang="ko-KR" altLang="en-US" dirty="0">
                    <a:latin typeface="+mn-ea"/>
                  </a:rPr>
                  <a:t>정책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주어진 상태에 대한 행동을 결정 </a:t>
                </a:r>
                <a:r>
                  <a:rPr lang="en-US" altLang="ko-KR" sz="1200" dirty="0">
                    <a:latin typeface="+mn-ea"/>
                  </a:rPr>
                  <a:t>(</a:t>
                </a:r>
                <a:r>
                  <a:rPr lang="ko-KR" altLang="en-US" sz="1200" dirty="0">
                    <a:latin typeface="+mn-ea"/>
                  </a:rPr>
                  <a:t>정확하게는</a:t>
                </a:r>
                <a:r>
                  <a:rPr lang="en-US" altLang="ko-KR" sz="1200" dirty="0">
                    <a:latin typeface="+mn-ea"/>
                  </a:rPr>
                  <a:t>, </a:t>
                </a:r>
                <a:r>
                  <a:rPr lang="ko-KR" altLang="en-US" sz="1200" dirty="0">
                    <a:latin typeface="+mn-ea"/>
                  </a:rPr>
                  <a:t>주어진 상태에 대한 행동의 확률분포</a:t>
                </a:r>
                <a:r>
                  <a:rPr lang="en-US" altLang="ko-KR" sz="1200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sSub>
                          <m:sSubPr>
                            <m:ctrlP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fr-FR" altLang="ko-KR" sz="1200" dirty="0"/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/>
                  <a:t>최적정책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ko-KR" altLang="en-US" sz="1200" dirty="0"/>
                  <a:t> </a:t>
                </a:r>
                <a:r>
                  <a:rPr lang="en-US" altLang="ko-KR" sz="1200" dirty="0"/>
                  <a:t>: return</a:t>
                </a:r>
                <a:r>
                  <a:rPr lang="ko-KR" altLang="en-US" sz="1200" dirty="0"/>
                  <a:t>을 최대화하는 정책</a:t>
                </a:r>
                <a:endParaRPr lang="fr-FR" altLang="ko-KR" sz="1200" dirty="0"/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26D3FEA9-00FC-070C-F32B-EBD20ADAEE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C8DDC290-85E1-C621-61CA-8E48903E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(3/3)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23F487D-BD34-F619-C195-460ECCBA98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273B1B1-7CD0-688D-DA80-276DFD3BA4EE}"/>
              </a:ext>
            </a:extLst>
          </p:cNvPr>
          <p:cNvGraphicFramePr>
            <a:graphicFrameLocks noGrp="1"/>
          </p:cNvGraphicFramePr>
          <p:nvPr/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C6B45E1-A170-CEA5-A7A0-3E12FF02AB1A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9F331-34D4-4DE0-6F59-8691EF947FA4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C684F4-6717-F187-9FB2-710C0D64B5C6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D9226-D1DB-42E2-A9CD-607DB490845D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EA9C2-0C82-8F6F-BF19-2744997771D9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B1B1B-4C7B-77AD-651E-517ED4C01C19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469D24-29E0-ACF3-D886-A3C84452CC03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B11CF-9F9B-52AB-2B40-C35A67DA2F52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DAD76F-2153-50EE-53DA-23ABC7BD3EE0}"/>
                  </a:ext>
                </a:extLst>
              </p:cNvPr>
              <p:cNvSpPr txBox="1"/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※ </a:t>
                </a:r>
                <a:r>
                  <a:rPr lang="ko-KR" altLang="en-US" b="0" dirty="0">
                    <a:latin typeface="+mn-ea"/>
                    <a:ea typeface="+mn-ea"/>
                  </a:rPr>
                  <a:t>행동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→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←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↑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↓</a:t>
                </a:r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보상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이동시마다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−0.1</m:t>
                    </m:r>
                  </m:oMath>
                </a14:m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종료지점에서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±1</m:t>
                    </m:r>
                  </m:oMath>
                </a14:m>
                <a:endParaRPr lang="ko-KR" altLang="en-US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DAD76F-2153-50EE-53DA-23ABC7BD3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blipFill>
                <a:blip r:embed="rId4"/>
                <a:stretch>
                  <a:fillRect l="-495" t="-2326" b="-104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위쪽 18">
            <a:extLst>
              <a:ext uri="{FF2B5EF4-FFF2-40B4-BE49-F238E27FC236}">
                <a16:creationId xmlns:a16="http://schemas.microsoft.com/office/drawing/2014/main" id="{F4B42709-FA8B-36B6-84B8-A38426246206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화살표: 위쪽 19">
            <a:extLst>
              <a:ext uri="{FF2B5EF4-FFF2-40B4-BE49-F238E27FC236}">
                <a16:creationId xmlns:a16="http://schemas.microsoft.com/office/drawing/2014/main" id="{0457D6C4-8623-9737-24E2-CE65504ACD05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3E980B4-A812-3301-AF2C-498EE1339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5368303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3E980B4-A812-3301-AF2C-498EE1339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5368303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695" t="-1639" r="-15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1695" t="-1639" r="-14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201695" t="-1639" r="-13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301695" t="-1639" r="-12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401695" t="-1639" r="-11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501695" t="-1639" r="-10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601695" t="-1639" r="-9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701695" t="-1639" r="-8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815517" t="-1639" r="-72069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900000" t="-1639" r="-6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00000" t="-1639" r="-5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100000" t="-1639" r="-4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200000" t="-1639" r="-3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300000" t="-1639" r="-2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400000" t="-1639" r="-1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500000" t="-1639" r="-847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왼쪽 대괄호 2">
            <a:extLst>
              <a:ext uri="{FF2B5EF4-FFF2-40B4-BE49-F238E27FC236}">
                <a16:creationId xmlns:a16="http://schemas.microsoft.com/office/drawing/2014/main" id="{FC18F03A-6639-53E5-39A5-ABFE152C38A2}"/>
              </a:ext>
            </a:extLst>
          </p:cNvPr>
          <p:cNvSpPr/>
          <p:nvPr/>
        </p:nvSpPr>
        <p:spPr>
          <a:xfrm rot="5400000">
            <a:off x="4382082" y="3563433"/>
            <a:ext cx="113503" cy="51490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AF75DF96-BECB-DBF6-A94B-5EB0BBDFB22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56931" y="3554750"/>
            <a:ext cx="113503" cy="482496"/>
          </a:xfrm>
          <a:prstGeom prst="bentConnector4">
            <a:avLst>
              <a:gd name="adj1" fmla="val -201404"/>
              <a:gd name="adj2" fmla="val 997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BC59E17-09C9-F8B8-A35F-92B0CA193238}"/>
              </a:ext>
            </a:extLst>
          </p:cNvPr>
          <p:cNvCxnSpPr>
            <a:cxnSpLocks/>
            <a:stCxn id="3" idx="1"/>
          </p:cNvCxnSpPr>
          <p:nvPr/>
        </p:nvCxnSpPr>
        <p:spPr>
          <a:xfrm rot="16200000" flipH="1">
            <a:off x="4769723" y="3433243"/>
            <a:ext cx="145367" cy="807149"/>
          </a:xfrm>
          <a:prstGeom prst="bentConnector4">
            <a:avLst>
              <a:gd name="adj1" fmla="val -224965"/>
              <a:gd name="adj2" fmla="val 999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220128-CC2C-237B-AE3B-B7562FF9B510}"/>
                  </a:ext>
                </a:extLst>
              </p:cNvPr>
              <p:cNvSpPr txBox="1"/>
              <p:nvPr/>
            </p:nvSpPr>
            <p:spPr>
              <a:xfrm>
                <a:off x="4736306" y="3427301"/>
                <a:ext cx="3136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𝑟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220128-CC2C-237B-AE3B-B7562FF9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306" y="3427301"/>
                <a:ext cx="313676" cy="307777"/>
              </a:xfrm>
              <a:prstGeom prst="rect">
                <a:avLst/>
              </a:prstGeom>
              <a:blipFill>
                <a:blip r:embed="rId6"/>
                <a:stretch>
                  <a:fillRect t="-5882" r="-9804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C1A885-5E67-1518-354F-883BBE6906C1}"/>
                  </a:ext>
                </a:extLst>
              </p:cNvPr>
              <p:cNvSpPr txBox="1"/>
              <p:nvPr/>
            </p:nvSpPr>
            <p:spPr>
              <a:xfrm>
                <a:off x="5014913" y="3357881"/>
                <a:ext cx="3263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𝑝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C1A885-5E67-1518-354F-883BBE690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913" y="3357881"/>
                <a:ext cx="326308" cy="307777"/>
              </a:xfrm>
              <a:prstGeom prst="rect">
                <a:avLst/>
              </a:prstGeom>
              <a:blipFill>
                <a:blip r:embed="rId7"/>
                <a:stretch>
                  <a:fillRect t="-6000" r="-11321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원호 41">
            <a:extLst>
              <a:ext uri="{FF2B5EF4-FFF2-40B4-BE49-F238E27FC236}">
                <a16:creationId xmlns:a16="http://schemas.microsoft.com/office/drawing/2014/main" id="{0DE69BBF-8749-F25C-2364-F5AB00E290AE}"/>
              </a:ext>
            </a:extLst>
          </p:cNvPr>
          <p:cNvSpPr/>
          <p:nvPr/>
        </p:nvSpPr>
        <p:spPr>
          <a:xfrm>
            <a:off x="4235672" y="4363048"/>
            <a:ext cx="350061" cy="514168"/>
          </a:xfrm>
          <a:prstGeom prst="arc">
            <a:avLst>
              <a:gd name="adj1" fmla="val 1630318"/>
              <a:gd name="adj2" fmla="val 9256406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44450B1-9415-6FF4-819F-1FA347F10DB7}"/>
                  </a:ext>
                </a:extLst>
              </p:cNvPr>
              <p:cNvSpPr txBox="1"/>
              <p:nvPr/>
            </p:nvSpPr>
            <p:spPr>
              <a:xfrm>
                <a:off x="4247548" y="4795193"/>
                <a:ext cx="3321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π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44450B1-9415-6FF4-819F-1FA347F10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548" y="4795193"/>
                <a:ext cx="332142" cy="307777"/>
              </a:xfrm>
              <a:prstGeom prst="rect">
                <a:avLst/>
              </a:prstGeom>
              <a:blipFill>
                <a:blip r:embed="rId8"/>
                <a:stretch>
                  <a:fillRect t="-6000" r="-11111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1802D3-8E51-959B-0397-1C27EA0677F3}"/>
                  </a:ext>
                </a:extLst>
              </p:cNvPr>
              <p:cNvSpPr txBox="1"/>
              <p:nvPr/>
            </p:nvSpPr>
            <p:spPr>
              <a:xfrm>
                <a:off x="4036533" y="5080595"/>
                <a:ext cx="53478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</m:oMath>
                </a14:m>
                <a:r>
                  <a:rPr lang="ko-KR" altLang="en-US" b="0" dirty="0">
                    <a:latin typeface="+mn-ea"/>
                    <a:ea typeface="+mn-ea"/>
                  </a:rPr>
                  <a:t>일 때의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𝐺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+0.9=0.5</m:t>
                    </m:r>
                  </m:oMath>
                </a14:m>
                <a:endParaRPr lang="en-US" altLang="ko-KR" b="0" dirty="0">
                  <a:latin typeface="+mn-ea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1802D3-8E51-959B-0397-1C27EA067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533" y="5080595"/>
                <a:ext cx="5347874" cy="307777"/>
              </a:xfrm>
              <a:prstGeom prst="rect">
                <a:avLst/>
              </a:prstGeom>
              <a:blipFill>
                <a:blip r:embed="rId9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6AEE115-907A-E3C9-D597-911AEA3E50A9}"/>
                  </a:ext>
                </a:extLst>
              </p:cNvPr>
              <p:cNvSpPr txBox="1"/>
              <p:nvPr/>
            </p:nvSpPr>
            <p:spPr>
              <a:xfrm>
                <a:off x="4235672" y="5400013"/>
                <a:ext cx="2155270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ko-KR" altLang="en-US" b="0" dirty="0">
                    <a:latin typeface="+mn-ea"/>
                    <a:ea typeface="+mn-ea"/>
                  </a:rPr>
                  <a:t>정책의 예시 </a:t>
                </a:r>
                <a:r>
                  <a:rPr lang="en-US" altLang="ko-KR" b="0" dirty="0">
                    <a:latin typeface="+mn-ea"/>
                    <a:ea typeface="+mn-ea"/>
                  </a:rPr>
                  <a:t>(</a:t>
                </a:r>
                <a:r>
                  <a:rPr lang="ko-KR" altLang="en-US" b="0" dirty="0">
                    <a:latin typeface="+mn-ea"/>
                    <a:ea typeface="+mn-ea"/>
                  </a:rPr>
                  <a:t>균등정책</a:t>
                </a:r>
                <a:r>
                  <a:rPr lang="en-US" altLang="ko-KR" b="0" dirty="0">
                    <a:latin typeface="+mn-ea"/>
                    <a:ea typeface="+mn-ea"/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↑</m:t>
                          </m:r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e>
                          </m:d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ko-KR" altLang="en-US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  <m:t>→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  <m:t>1,1</m:t>
                              </m:r>
                            </m:e>
                          </m:d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  <a:ea typeface="+mn-ea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0" i="1" dirty="0">
                                  <a:latin typeface="Cambria Math" panose="02040503050406030204" pitchFamily="18" charset="0"/>
                                </a:rPr>
                                <m:t>↓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0" i="1" dirty="0"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  <a:p>
                <a:endParaRPr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6AEE115-907A-E3C9-D597-911AEA3E5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672" y="5400013"/>
                <a:ext cx="2155270" cy="1384995"/>
              </a:xfrm>
              <a:prstGeom prst="rect">
                <a:avLst/>
              </a:prstGeom>
              <a:blipFill>
                <a:blip r:embed="rId10"/>
                <a:stretch>
                  <a:fillRect l="-850" t="-8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0FC2ED8-7025-B25E-3675-8D6AABED30D8}"/>
                  </a:ext>
                </a:extLst>
              </p:cNvPr>
              <p:cNvSpPr txBox="1"/>
              <p:nvPr/>
            </p:nvSpPr>
            <p:spPr>
              <a:xfrm>
                <a:off x="6981492" y="5400013"/>
                <a:ext cx="2155270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ko-KR" altLang="en-US" b="0" dirty="0">
                    <a:latin typeface="+mn-ea"/>
                    <a:ea typeface="+mn-ea"/>
                  </a:rPr>
                  <a:t>최적정책</a:t>
                </a:r>
                <a:endParaRPr lang="en-US" altLang="ko-KR" b="0" dirty="0">
                  <a:latin typeface="+mn-ea"/>
                  <a:ea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↑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↓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0FC2ED8-7025-B25E-3675-8D6AABED3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492" y="5400013"/>
                <a:ext cx="2155270" cy="1169551"/>
              </a:xfrm>
              <a:prstGeom prst="rect">
                <a:avLst/>
              </a:prstGeom>
              <a:blipFill>
                <a:blip r:embed="rId11"/>
                <a:stretch>
                  <a:fillRect l="-847" t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675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B572-E87E-243A-6664-536DB408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68D864-81C2-10E4-4C6F-DD85A4FE26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가치함수 </a:t>
            </a:r>
            <a:r>
              <a:rPr lang="en-US" altLang="ko-KR" dirty="0"/>
              <a:t>(value function)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5AA2C06-C634-3FAA-1726-290C7803A06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Cambria Math" panose="02040503050406030204" pitchFamily="18" charset="0"/>
                  </a:rPr>
                  <a:t>현재 상태에서의 가치를 나타내는 값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 (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정확하게는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주어진 상태에 대한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return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의 </a:t>
                </a:r>
                <a:r>
                  <a:rPr lang="ko-KR" altLang="en-US" sz="1200" dirty="0" err="1">
                    <a:latin typeface="Cambria Math" panose="02040503050406030204" pitchFamily="18" charset="0"/>
                  </a:rPr>
                  <a:t>기댓값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)</a:t>
                </a: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i="1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현재 상태 및 행동에서의 가치를 나타내는 값 </a:t>
                </a:r>
                <a:r>
                  <a:rPr lang="en-US" altLang="ko-KR" sz="1200" dirty="0">
                    <a:latin typeface="+mn-ea"/>
                  </a:rPr>
                  <a:t>(</a:t>
                </a:r>
                <a:r>
                  <a:rPr lang="ko-KR" altLang="en-US" sz="1200" dirty="0">
                    <a:latin typeface="+mn-ea"/>
                  </a:rPr>
                  <a:t>정확하게는</a:t>
                </a:r>
                <a:r>
                  <a:rPr lang="en-US" altLang="ko-KR" sz="1200" dirty="0">
                    <a:latin typeface="+mn-ea"/>
                  </a:rPr>
                  <a:t>, </a:t>
                </a:r>
                <a:r>
                  <a:rPr lang="ko-KR" altLang="en-US" sz="1200" dirty="0">
                    <a:latin typeface="+mn-ea"/>
                  </a:rPr>
                  <a:t>주어진 상태 및 행동에 대한 </a:t>
                </a:r>
                <a:r>
                  <a:rPr lang="en-US" altLang="ko-KR" sz="1200" dirty="0">
                    <a:latin typeface="+mn-ea"/>
                  </a:rPr>
                  <a:t>return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ko-KR" altLang="en-US" sz="1200" dirty="0" err="1">
                    <a:latin typeface="+mn-ea"/>
                  </a:rPr>
                  <a:t>기댓값</a:t>
                </a:r>
                <a:r>
                  <a:rPr lang="en-US" altLang="ko-KR" sz="1200" dirty="0">
                    <a:latin typeface="+mn-ea"/>
                  </a:rPr>
                  <a:t>)</a:t>
                </a: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5AA2C06-C634-3FAA-1726-290C7803A0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C4A6679B-D3B4-4857-7A7C-47497EAA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Ⅰ-3. </a:t>
            </a:r>
            <a:r>
              <a:rPr lang="ko-KR" altLang="en-US" dirty="0"/>
              <a:t>가치함수와 </a:t>
            </a:r>
            <a:r>
              <a:rPr lang="ko-KR" altLang="en-US" dirty="0" err="1"/>
              <a:t>벨만방정식</a:t>
            </a:r>
            <a:r>
              <a:rPr lang="en-US" altLang="ko-KR" dirty="0"/>
              <a:t> (1/2)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2EFC852-BF9F-2D7A-AE60-AE63B90CD8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7676003-1741-5243-406D-FB774F638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433" y="1770887"/>
            <a:ext cx="4425792" cy="88516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FCF1BDC-DC4F-93EE-72CE-767049ABD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983" y="4066255"/>
            <a:ext cx="5530692" cy="72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58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16BD-5F0A-670C-B225-336DB48D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B9DDB9-5B8A-88FA-63E1-4E4DDF6A7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벨만방정식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F9C8E683-A2B0-3349-DCD6-FA0B299D9B21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Cambria Math" panose="02040503050406030204" pitchFamily="18" charset="0"/>
                  </a:rPr>
                  <a:t>정책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200" dirty="0">
                    <a:latin typeface="Cambria Math" panose="02040503050406030204" pitchFamily="18" charset="0"/>
                  </a:rPr>
                  <a:t> 대한 가치함수가 만족시켜야 하는 식</a:t>
                </a:r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latin typeface="+mn-ea"/>
                  </a:rPr>
                  <a:t>DP, TD(0) </a:t>
                </a:r>
                <a:r>
                  <a:rPr lang="ko-KR" altLang="en-US" sz="1200" dirty="0">
                    <a:latin typeface="+mn-ea"/>
                  </a:rPr>
                  <a:t>등 거의 모든 강화학습 알고리즘의 기본이 되는 식</a:t>
                </a:r>
                <a:endParaRPr lang="en-US" altLang="ko-KR" sz="1200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벨만최적방정식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optimal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최적 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에 대한 가치함수가 만족시켜야 하는 식</a:t>
                </a:r>
                <a:endParaRPr lang="en-US" altLang="ko-KR" sz="1200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F9C8E683-A2B0-3349-DCD6-FA0B299D9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2"/>
                <a:stretch>
                  <a:fillRect l="-263" b="-35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F735B29-60D8-FB49-BCB0-C2357093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Ⅰ-3. </a:t>
            </a:r>
            <a:r>
              <a:rPr lang="ko-KR" altLang="en-US" dirty="0"/>
              <a:t>가치함수와 </a:t>
            </a:r>
            <a:r>
              <a:rPr lang="ko-KR" altLang="en-US" dirty="0" err="1"/>
              <a:t>벨만방정식</a:t>
            </a:r>
            <a:r>
              <a:rPr lang="en-US" altLang="ko-KR" dirty="0"/>
              <a:t> (2/2)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70D2A82-BFB9-4450-E376-D4968A39B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D8DDD8-E6F4-4D0B-AA3D-950616046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321" y="4705004"/>
            <a:ext cx="3893156" cy="5716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032840-16DA-3E9F-23D6-C52105027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133" y="5308043"/>
            <a:ext cx="4325542" cy="64508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879D2BE-67FF-44B6-B1A5-50851F252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669" y="2106068"/>
            <a:ext cx="4139006" cy="163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74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5365-C184-AFCE-2600-6B0D7B92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C753AF4-85ED-B71F-C79D-E9812AF4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강화학습 알고리즘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E30211-7DDA-F99E-C57E-EB4454D062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동적계획법 </a:t>
            </a:r>
            <a:r>
              <a:rPr lang="en-US" altLang="ko-KR" sz="1800" dirty="0">
                <a:latin typeface="+mn-ea"/>
                <a:ea typeface="+mn-ea"/>
              </a:rPr>
              <a:t>(dynamic programming)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GPI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Monte Carlo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TD(0)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Q-learning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DQN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continuous action </a:t>
            </a:r>
            <a:r>
              <a:rPr lang="ko-KR" altLang="en-US" sz="1800" dirty="0">
                <a:latin typeface="+mn-ea"/>
                <a:ea typeface="+mn-ea"/>
              </a:rPr>
              <a:t>문제 </a:t>
            </a:r>
            <a:r>
              <a:rPr lang="en-US" altLang="ko-KR" sz="1800" dirty="0">
                <a:latin typeface="+mn-ea"/>
                <a:ea typeface="+mn-ea"/>
              </a:rPr>
              <a:t>: REINFORCE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DDPG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TD3</a:t>
            </a:r>
          </a:p>
        </p:txBody>
      </p:sp>
    </p:spTree>
    <p:extLst>
      <p:ext uri="{BB962C8B-B14F-4D97-AF65-F5344CB8AC3E}">
        <p14:creationId xmlns:p14="http://schemas.microsoft.com/office/powerpoint/2010/main" val="47074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A51B-BC13-160D-9902-AB8F2774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4A0AE0-96ED-0298-44F2-3E5710223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벨만방정식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96E60C1F-A063-E72C-C67C-4D813CAE00CA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Cambria Math" panose="02040503050406030204" pitchFamily="18" charset="0"/>
                  </a:rPr>
                  <a:t>정책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벨만최적방정식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optimal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최적 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에 대한 가치함수가 만족시켜야 하는 식</a:t>
                </a:r>
                <a:endParaRPr lang="en-US" altLang="ko-KR" sz="1200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96E60C1F-A063-E72C-C67C-4D813CAE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A9A3113E-A8B6-B125-71B8-57048ECF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Ⅱ-1. </a:t>
            </a:r>
            <a:r>
              <a:rPr lang="ko-KR" altLang="en-US" dirty="0"/>
              <a:t>동적계획법 </a:t>
            </a:r>
            <a:r>
              <a:rPr lang="en-US" altLang="ko-KR" dirty="0"/>
              <a:t>(dynamic programming)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0E59072-516E-BB04-BE02-18322A9FE7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225154-0F40-B8F9-118F-CEAEE05D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321" y="4705004"/>
            <a:ext cx="3893156" cy="5716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41B83E5-F8BC-52D7-B4E3-6665B30BC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133" y="5308043"/>
            <a:ext cx="4325542" cy="64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52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3D0E-9AE6-3969-96E1-CD85002A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CC0B9D-F507-B4F9-735B-E4F4E13D2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CD1DD2-CD92-24C7-B8D5-6B260F3320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offline </a:t>
            </a:r>
            <a:r>
              <a:rPr lang="ko-KR" altLang="en-US" sz="1800" dirty="0">
                <a:latin typeface="+mn-ea"/>
                <a:ea typeface="+mn-ea"/>
              </a:rPr>
              <a:t>강화학습 개요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weighted BC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TD3BC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적용사례 </a:t>
            </a:r>
            <a:r>
              <a:rPr lang="en-US" altLang="ko-KR" sz="1800" dirty="0">
                <a:latin typeface="+mn-ea"/>
                <a:ea typeface="+mn-ea"/>
              </a:rPr>
              <a:t>: half-cheetah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적용사례 </a:t>
            </a:r>
            <a:r>
              <a:rPr lang="en-US" altLang="ko-KR" sz="1800" dirty="0">
                <a:latin typeface="+mn-ea"/>
                <a:ea typeface="+mn-ea"/>
              </a:rPr>
              <a:t>:</a:t>
            </a:r>
            <a:r>
              <a:rPr lang="ko-KR" altLang="en-US" sz="1800" dirty="0">
                <a:latin typeface="+mn-ea"/>
                <a:ea typeface="+mn-ea"/>
              </a:rPr>
              <a:t> 서부발전</a:t>
            </a:r>
            <a:endParaRPr lang="en-US" altLang="ko-KR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2958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89C861-04FC-494C-6BF7-CDF8B8EC7F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7B9A01-0D2C-6077-B6EA-ABDB0CDAF4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496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D4C202D-2764-270B-2BB9-AEAAC6C6CF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6909" y="1215854"/>
            <a:ext cx="6803594" cy="5299282"/>
          </a:xfrm>
        </p:spPr>
        <p:txBody>
          <a:bodyPr/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기초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강화학습 개요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finite</a:t>
            </a:r>
            <a:r>
              <a:rPr lang="ko-KR" altLang="en-US" sz="1600" dirty="0"/>
              <a:t> </a:t>
            </a:r>
            <a:r>
              <a:rPr lang="en-US" altLang="ko-KR" sz="1600" dirty="0"/>
              <a:t>MDP</a:t>
            </a:r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가치함수와 </a:t>
            </a:r>
            <a:r>
              <a:rPr lang="ko-KR" altLang="en-US" sz="1600" dirty="0" err="1"/>
              <a:t>벨만방정식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시간차 학습 </a:t>
            </a:r>
            <a:r>
              <a:rPr lang="en-US" altLang="ko-KR" sz="1600" dirty="0"/>
              <a:t>(time difference)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알고리즘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Q-learning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DQN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DDPG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TD3BC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적용 사례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서부발전 희석질소 제어 문제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half-cheetah </a:t>
            </a:r>
          </a:p>
        </p:txBody>
      </p:sp>
    </p:spTree>
    <p:extLst>
      <p:ext uri="{BB962C8B-B14F-4D97-AF65-F5344CB8AC3E}">
        <p14:creationId xmlns:p14="http://schemas.microsoft.com/office/powerpoint/2010/main" val="4073991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D9F2-45C3-4E6A-9DCD-C1DE302C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2665EBB-89E7-BBB6-6B98-DDC5F3CD2F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6909" y="1215854"/>
            <a:ext cx="6803594" cy="5299282"/>
          </a:xfrm>
        </p:spPr>
        <p:txBody>
          <a:bodyPr/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기초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강화학습 개요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finite</a:t>
            </a:r>
            <a:r>
              <a:rPr lang="ko-KR" altLang="en-US" sz="1600" dirty="0"/>
              <a:t> </a:t>
            </a:r>
            <a:r>
              <a:rPr lang="en-US" altLang="ko-KR" sz="1600" dirty="0"/>
              <a:t>MDP</a:t>
            </a:r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가치함수와 </a:t>
            </a:r>
            <a:r>
              <a:rPr lang="ko-KR" altLang="en-US" sz="1600" dirty="0" err="1"/>
              <a:t>벨만방정식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시간차 학습 </a:t>
            </a:r>
            <a:r>
              <a:rPr lang="en-US" altLang="ko-KR" sz="1600" dirty="0"/>
              <a:t>(time difference)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알고리즘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Q-learning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DQN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DDPG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TD3BC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적용 사례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서부발전 희석질소 제어 문제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half-cheetah </a:t>
            </a:r>
          </a:p>
        </p:txBody>
      </p:sp>
    </p:spTree>
    <p:extLst>
      <p:ext uri="{BB962C8B-B14F-4D97-AF65-F5344CB8AC3E}">
        <p14:creationId xmlns:p14="http://schemas.microsoft.com/office/powerpoint/2010/main" val="1261259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842A-1982-9B79-4C4B-4674FF14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935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103396</TotalTime>
  <Words>1960</Words>
  <Application>Microsoft Office PowerPoint</Application>
  <PresentationFormat>A4 용지(210x297mm)</PresentationFormat>
  <Paragraphs>344</Paragraphs>
  <Slides>18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굴림</vt:lpstr>
      <vt:lpstr>맑은 고딕</vt:lpstr>
      <vt:lpstr>Arial</vt:lpstr>
      <vt:lpstr>Cambria Math</vt:lpstr>
      <vt:lpstr>Times New Roman</vt:lpstr>
      <vt:lpstr>Wingdings</vt:lpstr>
      <vt:lpstr>1_디자인 사용자 지정</vt:lpstr>
      <vt:lpstr>PowerPoint 프레젠테이션</vt:lpstr>
      <vt:lpstr>PowerPoint 프레젠테이션</vt:lpstr>
      <vt:lpstr>PowerPoint 프레젠테이션</vt:lpstr>
      <vt:lpstr>Ⅰ-1. 강화학습 개요</vt:lpstr>
      <vt:lpstr>Ⅰ-1. 강화학습 개요 (2/3)</vt:lpstr>
      <vt:lpstr>Ⅰ-1. 강화학습 개요 (3/3)</vt:lpstr>
      <vt:lpstr>Ⅰ-2. Markov Decision Process (1/3)</vt:lpstr>
      <vt:lpstr>Ⅰ-2. Markov Decision Process (2/3)</vt:lpstr>
      <vt:lpstr>Ⅰ-2. Markov Decision Process (3/3)</vt:lpstr>
      <vt:lpstr>Ⅰ-3. 가치함수와 벨만방정식 (1/2)</vt:lpstr>
      <vt:lpstr>Ⅰ-3. 가치함수와 벨만방정식 (2/2)</vt:lpstr>
      <vt:lpstr>PowerPoint 프레젠테이션</vt:lpstr>
      <vt:lpstr>Ⅱ-1. 동적계획법 (dynamic programming)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ECM</cp:lastModifiedBy>
  <cp:revision>7633</cp:revision>
  <cp:lastPrinted>2025-07-14T07:44:34Z</cp:lastPrinted>
  <dcterms:created xsi:type="dcterms:W3CDTF">2011-12-28T05:39:44Z</dcterms:created>
  <dcterms:modified xsi:type="dcterms:W3CDTF">2025-10-31T04:59:20Z</dcterms:modified>
</cp:coreProperties>
</file>