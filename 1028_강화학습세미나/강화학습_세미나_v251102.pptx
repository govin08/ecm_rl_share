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trictFirstAndLastChars="0" saveSubsetFonts="1">
  <p:sldMasterIdLst>
    <p:sldMasterId id="2147483800" r:id="rId1"/>
  </p:sldMasterIdLst>
  <p:notesMasterIdLst>
    <p:notesMasterId r:id="rId27"/>
  </p:notesMasterIdLst>
  <p:handoutMasterIdLst>
    <p:handoutMasterId r:id="rId28"/>
  </p:handoutMasterIdLst>
  <p:sldIdLst>
    <p:sldId id="5704" r:id="rId2"/>
    <p:sldId id="9021" r:id="rId3"/>
    <p:sldId id="8936" r:id="rId4"/>
    <p:sldId id="9771" r:id="rId5"/>
    <p:sldId id="9764" r:id="rId6"/>
    <p:sldId id="9765" r:id="rId7"/>
    <p:sldId id="9766" r:id="rId8"/>
    <p:sldId id="9767" r:id="rId9"/>
    <p:sldId id="9777" r:id="rId10"/>
    <p:sldId id="9768" r:id="rId11"/>
    <p:sldId id="9776" r:id="rId12"/>
    <p:sldId id="9778" r:id="rId13"/>
    <p:sldId id="9779" r:id="rId14"/>
    <p:sldId id="9769" r:id="rId15"/>
    <p:sldId id="9770" r:id="rId16"/>
    <p:sldId id="9760" r:id="rId17"/>
    <p:sldId id="9772" r:id="rId18"/>
    <p:sldId id="9773" r:id="rId19"/>
    <p:sldId id="9774" r:id="rId20"/>
    <p:sldId id="9775" r:id="rId21"/>
    <p:sldId id="9762" r:id="rId22"/>
    <p:sldId id="9761" r:id="rId23"/>
    <p:sldId id="9725" r:id="rId24"/>
    <p:sldId id="9759" r:id="rId25"/>
    <p:sldId id="8796" r:id="rId26"/>
  </p:sldIdLst>
  <p:sldSz cx="9906000" cy="6858000" type="A4"/>
  <p:notesSz cx="6797675" cy="9926638"/>
  <p:defaultTextStyle>
    <a:defPPr>
      <a:defRPr lang="en-US"/>
    </a:defPPr>
    <a:lvl1pPr algn="l" rtl="0" fontAlgn="base" latinLnBrk="1">
      <a:spcBef>
        <a:spcPct val="0"/>
      </a:spcBef>
      <a:spcAft>
        <a:spcPct val="0"/>
      </a:spcAft>
      <a:defRPr kumimoji="1" sz="1400" b="1" kern="1200">
        <a:solidFill>
          <a:schemeClr val="tx1"/>
        </a:solidFill>
        <a:latin typeface="굴림" charset="-127"/>
        <a:ea typeface="굴림" charset="-127"/>
        <a:cs typeface="+mn-cs"/>
        <a:sym typeface="Wingdings" pitchFamily="2" charset="2"/>
      </a:defRPr>
    </a:lvl1pPr>
    <a:lvl2pPr marL="457200" algn="l" rtl="0" fontAlgn="base" latinLnBrk="1">
      <a:spcBef>
        <a:spcPct val="0"/>
      </a:spcBef>
      <a:spcAft>
        <a:spcPct val="0"/>
      </a:spcAft>
      <a:defRPr kumimoji="1" sz="1400" b="1" kern="1200">
        <a:solidFill>
          <a:schemeClr val="tx1"/>
        </a:solidFill>
        <a:latin typeface="굴림" charset="-127"/>
        <a:ea typeface="굴림" charset="-127"/>
        <a:cs typeface="+mn-cs"/>
        <a:sym typeface="Wingdings" pitchFamily="2" charset="2"/>
      </a:defRPr>
    </a:lvl2pPr>
    <a:lvl3pPr marL="914400" algn="l" rtl="0" fontAlgn="base" latinLnBrk="1">
      <a:spcBef>
        <a:spcPct val="0"/>
      </a:spcBef>
      <a:spcAft>
        <a:spcPct val="0"/>
      </a:spcAft>
      <a:defRPr kumimoji="1" sz="1400" b="1" kern="1200">
        <a:solidFill>
          <a:schemeClr val="tx1"/>
        </a:solidFill>
        <a:latin typeface="굴림" charset="-127"/>
        <a:ea typeface="굴림" charset="-127"/>
        <a:cs typeface="+mn-cs"/>
        <a:sym typeface="Wingdings" pitchFamily="2" charset="2"/>
      </a:defRPr>
    </a:lvl3pPr>
    <a:lvl4pPr marL="1371600" algn="l" rtl="0" fontAlgn="base" latinLnBrk="1">
      <a:spcBef>
        <a:spcPct val="0"/>
      </a:spcBef>
      <a:spcAft>
        <a:spcPct val="0"/>
      </a:spcAft>
      <a:defRPr kumimoji="1" sz="1400" b="1" kern="1200">
        <a:solidFill>
          <a:schemeClr val="tx1"/>
        </a:solidFill>
        <a:latin typeface="굴림" charset="-127"/>
        <a:ea typeface="굴림" charset="-127"/>
        <a:cs typeface="+mn-cs"/>
        <a:sym typeface="Wingdings" pitchFamily="2" charset="2"/>
      </a:defRPr>
    </a:lvl4pPr>
    <a:lvl5pPr marL="1828800" algn="l" rtl="0" fontAlgn="base" latinLnBrk="1">
      <a:spcBef>
        <a:spcPct val="0"/>
      </a:spcBef>
      <a:spcAft>
        <a:spcPct val="0"/>
      </a:spcAft>
      <a:defRPr kumimoji="1" sz="1400" b="1" kern="1200">
        <a:solidFill>
          <a:schemeClr val="tx1"/>
        </a:solidFill>
        <a:latin typeface="굴림" charset="-127"/>
        <a:ea typeface="굴림" charset="-127"/>
        <a:cs typeface="+mn-cs"/>
        <a:sym typeface="Wingdings" pitchFamily="2" charset="2"/>
      </a:defRPr>
    </a:lvl5pPr>
    <a:lvl6pPr marL="2286000" algn="l" defTabSz="914400" rtl="0" eaLnBrk="1" latinLnBrk="1" hangingPunct="1">
      <a:defRPr kumimoji="1" sz="1400" b="1" kern="1200">
        <a:solidFill>
          <a:schemeClr val="tx1"/>
        </a:solidFill>
        <a:latin typeface="굴림" charset="-127"/>
        <a:ea typeface="굴림" charset="-127"/>
        <a:cs typeface="+mn-cs"/>
        <a:sym typeface="Wingdings" pitchFamily="2" charset="2"/>
      </a:defRPr>
    </a:lvl6pPr>
    <a:lvl7pPr marL="2743200" algn="l" defTabSz="914400" rtl="0" eaLnBrk="1" latinLnBrk="1" hangingPunct="1">
      <a:defRPr kumimoji="1" sz="1400" b="1" kern="1200">
        <a:solidFill>
          <a:schemeClr val="tx1"/>
        </a:solidFill>
        <a:latin typeface="굴림" charset="-127"/>
        <a:ea typeface="굴림" charset="-127"/>
        <a:cs typeface="+mn-cs"/>
        <a:sym typeface="Wingdings" pitchFamily="2" charset="2"/>
      </a:defRPr>
    </a:lvl7pPr>
    <a:lvl8pPr marL="3200400" algn="l" defTabSz="914400" rtl="0" eaLnBrk="1" latinLnBrk="1" hangingPunct="1">
      <a:defRPr kumimoji="1" sz="1400" b="1" kern="1200">
        <a:solidFill>
          <a:schemeClr val="tx1"/>
        </a:solidFill>
        <a:latin typeface="굴림" charset="-127"/>
        <a:ea typeface="굴림" charset="-127"/>
        <a:cs typeface="+mn-cs"/>
        <a:sym typeface="Wingdings" pitchFamily="2" charset="2"/>
      </a:defRPr>
    </a:lvl8pPr>
    <a:lvl9pPr marL="3657600" algn="l" defTabSz="914400" rtl="0" eaLnBrk="1" latinLnBrk="1" hangingPunct="1">
      <a:defRPr kumimoji="1" sz="1400" b="1" kern="1200">
        <a:solidFill>
          <a:schemeClr val="tx1"/>
        </a:solidFill>
        <a:latin typeface="굴림" charset="-127"/>
        <a:ea typeface="굴림" charset="-127"/>
        <a:cs typeface="+mn-cs"/>
        <a:sym typeface="Wingdings" pitchFamily="2" charset="2"/>
      </a:defRPr>
    </a:lvl9pPr>
  </p:defaultTextStyle>
  <p:extLst>
    <p:ext uri="{521415D9-36F7-43E2-AB2F-B90AF26B5E84}">
      <p14:sectionLst xmlns:p14="http://schemas.microsoft.com/office/powerpoint/2010/main">
        <p14:section name="기본 구역" id="{2B775552-7DB0-4D4F-B871-D6FF3BB1E486}">
          <p14:sldIdLst>
            <p14:sldId id="5704"/>
          </p14:sldIdLst>
        </p14:section>
        <p14:section name="목차" id="{5E49B5C1-BFC6-4572-A539-731E4DEE6BFE}">
          <p14:sldIdLst>
            <p14:sldId id="9021"/>
          </p14:sldIdLst>
        </p14:section>
        <p14:section name="Ⅰ 강화학습 기초" id="{74337E82-EC53-47AA-AD9E-D01E03BC8C2B}">
          <p14:sldIdLst>
            <p14:sldId id="8936"/>
            <p14:sldId id="9771"/>
            <p14:sldId id="9764"/>
            <p14:sldId id="9765"/>
            <p14:sldId id="9766"/>
            <p14:sldId id="9767"/>
            <p14:sldId id="9777"/>
            <p14:sldId id="9768"/>
            <p14:sldId id="9776"/>
            <p14:sldId id="9778"/>
            <p14:sldId id="9779"/>
            <p14:sldId id="9769"/>
            <p14:sldId id="9770"/>
          </p14:sldIdLst>
        </p14:section>
        <p14:section name="Ⅱ 강화학습 알고리즘" id="{DAB419D3-0E42-42D9-B46C-1C3467039D6F}">
          <p14:sldIdLst>
            <p14:sldId id="9760"/>
            <p14:sldId id="9772"/>
            <p14:sldId id="9773"/>
            <p14:sldId id="9774"/>
            <p14:sldId id="9775"/>
            <p14:sldId id="9762"/>
            <p14:sldId id="9761"/>
            <p14:sldId id="9725"/>
            <p14:sldId id="9759"/>
            <p14:sldId id="8796"/>
          </p14:sldIdLst>
        </p14:section>
      </p14:sectionLst>
    </p:ext>
    <p:ext uri="{EFAFB233-063F-42B5-8137-9DF3F51BA10A}">
      <p15:sldGuideLst xmlns:p15="http://schemas.microsoft.com/office/powerpoint/2012/main">
        <p15:guide id="2" orient="horz" pos="4042" userDrawn="1">
          <p15:clr>
            <a:srgbClr val="A4A3A4"/>
          </p15:clr>
        </p15:guide>
        <p15:guide id="5" orient="horz" pos="1094" userDrawn="1">
          <p15:clr>
            <a:srgbClr val="A4A3A4"/>
          </p15:clr>
        </p15:guide>
        <p15:guide id="6" orient="horz" pos="300" userDrawn="1">
          <p15:clr>
            <a:srgbClr val="A4A3A4"/>
          </p15:clr>
        </p15:guide>
        <p15:guide id="7" pos="1532" userDrawn="1">
          <p15:clr>
            <a:srgbClr val="A4A3A4"/>
          </p15:clr>
        </p15:guide>
        <p15:guide id="8" pos="6068" userDrawn="1">
          <p15:clr>
            <a:srgbClr val="A4A3A4"/>
          </p15:clr>
        </p15:guide>
        <p15:guide id="9" pos="3097" userDrawn="1">
          <p15:clr>
            <a:srgbClr val="A4A3A4"/>
          </p15:clr>
        </p15:guide>
        <p15:guide id="10" pos="4662" userDrawn="1">
          <p15:clr>
            <a:srgbClr val="A4A3A4"/>
          </p15:clr>
        </p15:guide>
        <p15:guide id="13" orient="horz" pos="2636" userDrawn="1">
          <p15:clr>
            <a:srgbClr val="A4A3A4"/>
          </p15:clr>
        </p15:guide>
        <p15:guide id="14" pos="126">
          <p15:clr>
            <a:srgbClr val="A4A3A4"/>
          </p15:clr>
        </p15:guide>
        <p15:guide id="15" orient="horz" pos="618" userDrawn="1">
          <p15:clr>
            <a:srgbClr val="A4A3A4"/>
          </p15:clr>
        </p15:guide>
        <p15:guide id="16" orient="horz" pos="405" userDrawn="1">
          <p15:clr>
            <a:srgbClr val="A4A3A4"/>
          </p15:clr>
        </p15:guide>
        <p15:guide id="17" orient="horz" pos="686" userDrawn="1">
          <p15:clr>
            <a:srgbClr val="A4A3A4"/>
          </p15:clr>
        </p15:guide>
        <p15:guide id="18" pos="217" userDrawn="1">
          <p15:clr>
            <a:srgbClr val="A4A3A4"/>
          </p15:clr>
        </p15:guide>
        <p15:guide id="19" orient="horz" pos="3974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7" userDrawn="1">
          <p15:clr>
            <a:srgbClr val="A4A3A4"/>
          </p15:clr>
        </p15:guide>
        <p15:guide id="2" pos="2138" userDrawn="1">
          <p15:clr>
            <a:srgbClr val="A4A3A4"/>
          </p15:clr>
        </p15:guide>
      </p15:notes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34F6478E-575D-4BA1-51CE-EBD847ADD200}" name="ECM" initials="E" userId="ECM" providerId="Non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1859C"/>
    <a:srgbClr val="3072C2"/>
    <a:srgbClr val="FF8B8B"/>
    <a:srgbClr val="CECECE"/>
    <a:srgbClr val="2F2F2F"/>
    <a:srgbClr val="F38F15"/>
    <a:srgbClr val="0000FF"/>
    <a:srgbClr val="FFFFCC"/>
    <a:srgbClr val="325F96"/>
    <a:srgbClr val="EE541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D7B26C5-4107-4FEC-AEDC-1716B250A1EF}" styleName="밝은 스타일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0E3FDE45-AF77-4B5C-9715-49D594BDF05E}" styleName="밝은 스타일 1 - 강조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3B4B98B0-60AC-42C2-AFA5-B58CD77FA1E5}" styleName="밝은 스타일 1 - 강조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7E9639D4-E3E2-4D34-9284-5A2195B3D0D7}" styleName="밝은 스타일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46F890A9-2807-4EBB-B81D-B2AA78EC7F39}" styleName="어두운 스타일 2 - 강조 5/강조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91EBBBCC-DAD2-459C-BE2E-F6DE35CF9A28}" styleName="어두운 스타일 2 - 강조 3/강조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0660B408-B3CF-4A94-85FC-2B1E0A45F4A2}" styleName="어두운 스타일 2 - 강조 1/강조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5202B0CA-FC54-4496-8BCA-5EF66A818D29}" styleName="어두운 스타일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밝은 스타일 2 - 강조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301B821-A1FF-4177-AEE7-76D212191A09}" styleName="보통 스타일 1 - 강조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98" autoAdjust="0"/>
    <p:restoredTop sz="71859" autoAdjust="0"/>
  </p:normalViewPr>
  <p:slideViewPr>
    <p:cSldViewPr snapToGrid="0" snapToObjects="1" showGuides="1">
      <p:cViewPr>
        <p:scale>
          <a:sx n="125" d="100"/>
          <a:sy n="125" d="100"/>
        </p:scale>
        <p:origin x="-384" y="-2621"/>
      </p:cViewPr>
      <p:guideLst>
        <p:guide orient="horz" pos="4042"/>
        <p:guide orient="horz" pos="1094"/>
        <p:guide orient="horz" pos="300"/>
        <p:guide pos="1532"/>
        <p:guide pos="6068"/>
        <p:guide pos="3097"/>
        <p:guide pos="4662"/>
        <p:guide orient="horz" pos="2636"/>
        <p:guide pos="126"/>
        <p:guide orient="horz" pos="618"/>
        <p:guide orient="horz" pos="405"/>
        <p:guide orient="horz" pos="686"/>
        <p:guide pos="217"/>
        <p:guide orient="horz" pos="3974"/>
      </p:guideLst>
    </p:cSldViewPr>
  </p:slideViewPr>
  <p:outlineViewPr>
    <p:cViewPr>
      <p:scale>
        <a:sx n="33" d="100"/>
        <a:sy n="33" d="100"/>
      </p:scale>
      <p:origin x="0" y="-23766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30" d="100"/>
        <a:sy n="130" d="100"/>
      </p:scale>
      <p:origin x="0" y="-11178"/>
    </p:cViewPr>
  </p:sorterViewPr>
  <p:notesViewPr>
    <p:cSldViewPr snapToGrid="0" snapToObjects="1" showGuides="1">
      <p:cViewPr varScale="1">
        <p:scale>
          <a:sx n="65" d="100"/>
          <a:sy n="65" d="100"/>
        </p:scale>
        <p:origin x="-1644" y="-120"/>
      </p:cViewPr>
      <p:guideLst>
        <p:guide orient="horz" pos="3127"/>
        <p:guide pos="2138"/>
      </p:guideLst>
    </p:cSldViewPr>
  </p:notesViewPr>
  <p:gridSpacing cx="36004" cy="36004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microsoft.com/office/2018/10/relationships/authors" Target="author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viewProps" Target="viewProps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6" y="6"/>
            <a:ext cx="2942907" cy="49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4937" tIns="47469" rIns="94937" bIns="47469" numCol="1" anchor="t" anchorCtr="0" compatLnSpc="1">
            <a:prstTxWarp prst="textNoShape">
              <a:avLst/>
            </a:prstTxWarp>
          </a:bodyPr>
          <a:lstStyle>
            <a:lvl1pPr defTabSz="947232" latinLnBrk="0">
              <a:spcBef>
                <a:spcPct val="0"/>
              </a:spcBef>
              <a:defRPr kumimoji="0" sz="1100" b="0">
                <a:latin typeface="Times New Roman" pitchFamily="18" charset="0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 dirty="0">
              <a:ea typeface="맑은 고딕" panose="020B0503020000020004" pitchFamily="50" charset="-127"/>
            </a:endParaRP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54770" y="6"/>
            <a:ext cx="2942907" cy="49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4937" tIns="47469" rIns="94937" bIns="47469" numCol="1" anchor="t" anchorCtr="0" compatLnSpc="1">
            <a:prstTxWarp prst="textNoShape">
              <a:avLst/>
            </a:prstTxWarp>
          </a:bodyPr>
          <a:lstStyle>
            <a:lvl1pPr algn="r" defTabSz="947232" latinLnBrk="0">
              <a:spcBef>
                <a:spcPct val="0"/>
              </a:spcBef>
              <a:defRPr kumimoji="0" sz="1100" b="0">
                <a:latin typeface="Times New Roman" pitchFamily="18" charset="0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 dirty="0">
              <a:ea typeface="맑은 고딕" panose="020B0503020000020004" pitchFamily="50" charset="-127"/>
            </a:endParaRPr>
          </a:p>
        </p:txBody>
      </p:sp>
      <p:sp>
        <p:nvSpPr>
          <p:cNvPr id="512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6" y="9430308"/>
            <a:ext cx="2942907" cy="49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4937" tIns="47469" rIns="94937" bIns="47469" numCol="1" anchor="b" anchorCtr="0" compatLnSpc="1">
            <a:prstTxWarp prst="textNoShape">
              <a:avLst/>
            </a:prstTxWarp>
          </a:bodyPr>
          <a:lstStyle>
            <a:lvl1pPr defTabSz="947232" latinLnBrk="0">
              <a:spcBef>
                <a:spcPct val="0"/>
              </a:spcBef>
              <a:defRPr kumimoji="0" sz="1100" b="0">
                <a:latin typeface="Times New Roman" pitchFamily="18" charset="0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 dirty="0">
              <a:ea typeface="맑은 고딕" panose="020B0503020000020004" pitchFamily="50" charset="-127"/>
            </a:endParaRPr>
          </a:p>
        </p:txBody>
      </p:sp>
      <p:sp>
        <p:nvSpPr>
          <p:cNvPr id="512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54770" y="9430308"/>
            <a:ext cx="2942907" cy="49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4937" tIns="47469" rIns="94937" bIns="47469" numCol="1" anchor="b" anchorCtr="0" compatLnSpc="1">
            <a:prstTxWarp prst="textNoShape">
              <a:avLst/>
            </a:prstTxWarp>
          </a:bodyPr>
          <a:lstStyle>
            <a:lvl1pPr algn="r" defTabSz="947232" latinLnBrk="0">
              <a:spcBef>
                <a:spcPct val="0"/>
              </a:spcBef>
              <a:defRPr kumimoji="0" sz="1100" b="0">
                <a:latin typeface="Times New Roman" pitchFamily="18" charset="0"/>
                <a:ea typeface="굴림" pitchFamily="50" charset="-127"/>
              </a:defRPr>
            </a:lvl1pPr>
          </a:lstStyle>
          <a:p>
            <a:pPr>
              <a:defRPr/>
            </a:pPr>
            <a:fld id="{D8414D26-1A5B-4156-888F-DCC378C60C78}" type="slidenum">
              <a:rPr lang="ko-KR" altLang="en-US">
                <a:ea typeface="맑은 고딕" panose="020B0503020000020004" pitchFamily="50" charset="-127"/>
              </a:rPr>
              <a:pPr>
                <a:defRPr/>
              </a:pPr>
              <a:t>‹#›</a:t>
            </a:fld>
            <a:endParaRPr lang="en-US" altLang="ko-KR" dirty="0"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6069464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9"/>
            <a:ext cx="2918611" cy="4820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894" tIns="45952" rIns="91894" bIns="45952" numCol="1" anchor="t" anchorCtr="0" compatLnSpc="1">
            <a:prstTxWarp prst="textNoShape">
              <a:avLst/>
            </a:prstTxWarp>
          </a:bodyPr>
          <a:lstStyle>
            <a:lvl1pPr defTabSz="916932" latinLnBrk="0">
              <a:spcBef>
                <a:spcPct val="0"/>
              </a:spcBef>
              <a:defRPr kumimoji="0" sz="1100" b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67733" y="9"/>
            <a:ext cx="2918611" cy="4820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894" tIns="45952" rIns="91894" bIns="45952" numCol="1" anchor="t" anchorCtr="0" compatLnSpc="1">
            <a:prstTxWarp prst="textNoShape">
              <a:avLst/>
            </a:prstTxWarp>
          </a:bodyPr>
          <a:lstStyle>
            <a:lvl1pPr algn="r" defTabSz="916932" latinLnBrk="0">
              <a:spcBef>
                <a:spcPct val="0"/>
              </a:spcBef>
              <a:defRPr kumimoji="0" sz="1100" b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11776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715963" y="723900"/>
            <a:ext cx="5438775" cy="376713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19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876233" y="4732653"/>
            <a:ext cx="5035494" cy="44860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894" tIns="45952" rIns="91894" bIns="45952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 noProof="0" dirty="0"/>
              <a:t>Click to edit Master text styles</a:t>
            </a:r>
          </a:p>
          <a:p>
            <a:pPr lvl="1"/>
            <a:r>
              <a:rPr lang="en-US" altLang="ko-KR" noProof="0" dirty="0"/>
              <a:t>Second level</a:t>
            </a:r>
          </a:p>
          <a:p>
            <a:pPr lvl="2"/>
            <a:r>
              <a:rPr lang="en-US" altLang="ko-KR" noProof="0" dirty="0"/>
              <a:t>Third level</a:t>
            </a:r>
          </a:p>
          <a:p>
            <a:pPr lvl="3"/>
            <a:r>
              <a:rPr lang="en-US" altLang="ko-KR" noProof="0" dirty="0"/>
              <a:t>Fourth level</a:t>
            </a:r>
          </a:p>
          <a:p>
            <a:pPr lvl="4"/>
            <a:r>
              <a:rPr lang="en-US" altLang="ko-KR" noProof="0" dirty="0"/>
              <a:t>Fifth level</a:t>
            </a:r>
          </a:p>
        </p:txBody>
      </p:sp>
      <p:sp>
        <p:nvSpPr>
          <p:cNvPr id="819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2" y="9460532"/>
            <a:ext cx="2918611" cy="4804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894" tIns="45952" rIns="91894" bIns="45952" numCol="1" anchor="b" anchorCtr="0" compatLnSpc="1">
            <a:prstTxWarp prst="textNoShape">
              <a:avLst/>
            </a:prstTxWarp>
          </a:bodyPr>
          <a:lstStyle>
            <a:lvl1pPr defTabSz="916932" latinLnBrk="0">
              <a:spcBef>
                <a:spcPct val="0"/>
              </a:spcBef>
              <a:defRPr kumimoji="0" sz="1100" b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819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67733" y="9460532"/>
            <a:ext cx="2918611" cy="4804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894" tIns="45952" rIns="91894" bIns="45952" numCol="1" anchor="b" anchorCtr="0" compatLnSpc="1">
            <a:prstTxWarp prst="textNoShape">
              <a:avLst/>
            </a:prstTxWarp>
          </a:bodyPr>
          <a:lstStyle>
            <a:lvl1pPr algn="r" defTabSz="916932" latinLnBrk="0">
              <a:spcBef>
                <a:spcPct val="0"/>
              </a:spcBef>
              <a:defRPr kumimoji="0" sz="1100" b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79642909-6448-426E-9ED7-EFF6CDC2E25C}" type="slidenum">
              <a:rPr lang="ko-KR" altLang="en-US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99798541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안녕하세요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이번에 강화학습 세미나 진행을 맡게 된 김선중 선임입니다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2</a:t>
            </a:r>
            <a:r>
              <a:rPr lang="ko-KR" altLang="en-US" dirty="0"/>
              <a:t>시간 가까운 시간동안 강화학습 세미나를 진행하겠습니다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9642909-6448-426E-9ED7-EFF6CDC2E25C}" type="slidenum">
              <a:rPr lang="ko-KR" altLang="en-US" smtClean="0"/>
              <a:pPr>
                <a:defRPr/>
              </a:pPr>
              <a:t>0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17985286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Rectangle 7"/>
          <p:cNvSpPr txBox="1">
            <a:spLocks noGrp="1" noChangeArrowheads="1"/>
          </p:cNvSpPr>
          <p:nvPr/>
        </p:nvSpPr>
        <p:spPr bwMode="auto">
          <a:xfrm>
            <a:off x="3853156" y="9428717"/>
            <a:ext cx="2942905" cy="49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0700" tIns="45347" rIns="90700" bIns="45347" anchor="b"/>
          <a:lstStyle/>
          <a:p>
            <a:pPr algn="r" defTabSz="905785"/>
            <a:fld id="{3C817677-1D2D-4299-AF74-336E1045B5D4}" type="slidenum">
              <a:rPr lang="ko-KR" altLang="en-US" sz="1100" b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pPr algn="r" defTabSz="905785"/>
              <a:t>1</a:t>
            </a:fld>
            <a:endParaRPr lang="en-US" altLang="ko-KR" sz="1100" b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49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720725" y="746125"/>
            <a:ext cx="5370513" cy="3717925"/>
          </a:xfrm>
          <a:ln/>
        </p:spPr>
      </p:sp>
      <p:sp>
        <p:nvSpPr>
          <p:cNvPr id="12493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1874" y="4713569"/>
            <a:ext cx="5433929" cy="4466988"/>
          </a:xfrm>
          <a:noFill/>
          <a:ln/>
        </p:spPr>
        <p:txBody>
          <a:bodyPr lIns="90700" tIns="45347" rIns="90700" bIns="45347"/>
          <a:lstStyle/>
          <a:p>
            <a:pPr eaLnBrk="1" hangingPunct="1"/>
            <a:r>
              <a:rPr lang="ko-KR" altLang="en-US" dirty="0"/>
              <a:t>목차는 다음과 같이 적어봤습니다</a:t>
            </a:r>
            <a:r>
              <a:rPr lang="en-US" altLang="ko-KR" dirty="0"/>
              <a:t>.</a:t>
            </a:r>
          </a:p>
          <a:p>
            <a:pPr eaLnBrk="1" hangingPunct="1"/>
            <a:r>
              <a:rPr lang="ko-KR" altLang="en-US" dirty="0"/>
              <a:t>먼저 강화학습 기초에 대해 다루고</a:t>
            </a:r>
            <a:r>
              <a:rPr lang="en-US" altLang="ko-KR" dirty="0"/>
              <a:t>, </a:t>
            </a:r>
            <a:r>
              <a:rPr lang="ko-KR" altLang="en-US" dirty="0"/>
              <a:t>그 다음에는 </a:t>
            </a:r>
            <a:r>
              <a:rPr lang="ko-KR" altLang="en-US" dirty="0" err="1"/>
              <a:t>강화하습</a:t>
            </a:r>
            <a:r>
              <a:rPr lang="ko-KR" altLang="en-US" dirty="0"/>
              <a:t> 알고리즘에 대해 이야기하려고 합니다</a:t>
            </a:r>
            <a:r>
              <a:rPr lang="en-US" altLang="ko-KR" dirty="0"/>
              <a:t>.</a:t>
            </a:r>
          </a:p>
          <a:p>
            <a:pPr eaLnBrk="1" hangingPunct="1"/>
            <a:r>
              <a:rPr lang="ko-KR" altLang="en-US" dirty="0"/>
              <a:t>마지막으로는 강화학습 중에서도 서부발전에 사용된 것과 같은 </a:t>
            </a:r>
            <a:r>
              <a:rPr lang="en-US" altLang="ko-KR" dirty="0"/>
              <a:t>offline </a:t>
            </a:r>
            <a:r>
              <a:rPr lang="ko-KR" altLang="en-US" dirty="0"/>
              <a:t>강화학습을 설명할 예정입니다</a:t>
            </a:r>
            <a:r>
              <a:rPr lang="en-US" altLang="ko-KR" dirty="0"/>
              <a:t>.</a:t>
            </a:r>
            <a:endParaRPr lang="ko-KR" altLang="ko-KR" dirty="0"/>
          </a:p>
        </p:txBody>
      </p:sp>
    </p:spTree>
    <p:extLst>
      <p:ext uri="{BB962C8B-B14F-4D97-AF65-F5344CB8AC3E}">
        <p14:creationId xmlns:p14="http://schemas.microsoft.com/office/powerpoint/2010/main" val="128043198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첫번째 파트인 강화학습 기초입니다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여기서는 강화학습에 관한 개요를 먼저 언급하고 강화학습 문제 정의 및 세팅에 해당하는 </a:t>
            </a:r>
            <a:r>
              <a:rPr lang="en-US" altLang="ko-KR" dirty="0"/>
              <a:t>finite MDP</a:t>
            </a:r>
            <a:r>
              <a:rPr lang="ko-KR" altLang="en-US" dirty="0"/>
              <a:t>에 대해 설명할 예정입니다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세번째 파트에서는 가치함수와 </a:t>
            </a:r>
            <a:r>
              <a:rPr lang="ko-KR" altLang="en-US" dirty="0" err="1"/>
              <a:t>더불어서</a:t>
            </a:r>
            <a:r>
              <a:rPr lang="ko-KR" altLang="en-US" dirty="0"/>
              <a:t> 강화학습의 기본이 되는 중요한 방정식인 </a:t>
            </a:r>
            <a:r>
              <a:rPr lang="ko-KR" altLang="en-US" dirty="0" err="1"/>
              <a:t>벨만방정식과</a:t>
            </a:r>
            <a:r>
              <a:rPr lang="ko-KR" altLang="en-US" dirty="0"/>
              <a:t> </a:t>
            </a:r>
            <a:r>
              <a:rPr lang="ko-KR" altLang="en-US" dirty="0" err="1"/>
              <a:t>벨만</a:t>
            </a:r>
            <a:r>
              <a:rPr lang="ko-KR" altLang="en-US" dirty="0"/>
              <a:t> 최적방정식을 소개하겠습니다</a:t>
            </a:r>
            <a:r>
              <a:rPr lang="en-US" altLang="ko-KR" dirty="0"/>
              <a:t>.</a:t>
            </a: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9642909-6448-426E-9ED7-EFF6CDC2E25C}" type="slidenum">
              <a:rPr lang="ko-KR" altLang="en-US" smtClean="0"/>
              <a:pPr>
                <a:defRPr/>
              </a:pPr>
              <a:t>2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06066721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강화학습 개요입니다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강화학습을 설명하기 위해</a:t>
            </a:r>
            <a:r>
              <a:rPr lang="en-US" altLang="ko-KR" dirty="0"/>
              <a:t>, </a:t>
            </a:r>
            <a:r>
              <a:rPr lang="ko-KR" altLang="en-US" dirty="0"/>
              <a:t>다른 인공지능 알고리즘과 강화학습을 비교해봤습니다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강화학습은</a:t>
            </a:r>
            <a:r>
              <a:rPr lang="en-US" altLang="ko-KR" dirty="0"/>
              <a:t>, </a:t>
            </a:r>
            <a:r>
              <a:rPr lang="ko-KR" altLang="en-US" dirty="0"/>
              <a:t>보통의 </a:t>
            </a:r>
            <a:r>
              <a:rPr lang="ko-KR" altLang="en-US" dirty="0" err="1"/>
              <a:t>머신러닝</a:t>
            </a:r>
            <a:r>
              <a:rPr lang="ko-KR" altLang="en-US" dirty="0"/>
              <a:t> 알고리즘인 지도학습이나 비지도학습과는 별개로 분류될 수 있습니다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지도학습과 비지도학습 모두 데이터를 통해 학습하는 방식입니다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그 중 지도학습의 경우 </a:t>
            </a:r>
            <a:r>
              <a:rPr lang="ko-KR" altLang="en-US" dirty="0" err="1"/>
              <a:t>피쳐</a:t>
            </a:r>
            <a:r>
              <a:rPr lang="ko-KR" altLang="en-US" dirty="0"/>
              <a:t> </a:t>
            </a:r>
            <a:r>
              <a:rPr lang="en-US" altLang="ko-KR" dirty="0"/>
              <a:t>x</a:t>
            </a:r>
            <a:r>
              <a:rPr lang="ko-KR" altLang="en-US" dirty="0"/>
              <a:t>와 라벨 </a:t>
            </a:r>
            <a:r>
              <a:rPr lang="en-US" altLang="ko-KR" dirty="0"/>
              <a:t>y</a:t>
            </a:r>
            <a:r>
              <a:rPr lang="ko-KR" altLang="en-US" dirty="0"/>
              <a:t>가 모두 포함된 데이터셋을 가지고</a:t>
            </a:r>
            <a:r>
              <a:rPr lang="en-US" altLang="ko-KR" dirty="0"/>
              <a:t>, </a:t>
            </a:r>
            <a:r>
              <a:rPr lang="ko-KR" altLang="en-US" dirty="0"/>
              <a:t>주어진 </a:t>
            </a:r>
            <a:r>
              <a:rPr lang="en-US" altLang="ko-KR" dirty="0"/>
              <a:t>x</a:t>
            </a:r>
            <a:r>
              <a:rPr lang="ko-KR" altLang="en-US" dirty="0"/>
              <a:t>에 대하여 </a:t>
            </a:r>
            <a:r>
              <a:rPr lang="en-US" altLang="ko-KR" dirty="0"/>
              <a:t>y</a:t>
            </a:r>
            <a:r>
              <a:rPr lang="ko-KR" altLang="en-US" dirty="0"/>
              <a:t>가 나오도록 학습하는 것을 말합니다</a:t>
            </a:r>
            <a:endParaRPr lang="en-US" altLang="ko-KR" dirty="0"/>
          </a:p>
          <a:p>
            <a:r>
              <a:rPr lang="ko-KR" altLang="en-US" dirty="0"/>
              <a:t>이를 통해 예측 문제나 분류문제를 푸는 것이 </a:t>
            </a:r>
            <a:r>
              <a:rPr lang="ko-KR" altLang="en-US" dirty="0" err="1"/>
              <a:t>머신러닝에서</a:t>
            </a:r>
            <a:r>
              <a:rPr lang="ko-KR" altLang="en-US" dirty="0"/>
              <a:t> 가장 대표적인 학습방식인 </a:t>
            </a:r>
            <a:r>
              <a:rPr lang="en-US" altLang="ko-KR" dirty="0"/>
              <a:t>supervised learning</a:t>
            </a:r>
            <a:r>
              <a:rPr lang="ko-KR" altLang="en-US" dirty="0"/>
              <a:t>입니다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다음으로 비지도학습은 </a:t>
            </a:r>
            <a:r>
              <a:rPr lang="ko-KR" altLang="en-US" dirty="0" err="1"/>
              <a:t>피쳐</a:t>
            </a:r>
            <a:r>
              <a:rPr lang="ko-KR" altLang="en-US" dirty="0"/>
              <a:t> </a:t>
            </a:r>
            <a:r>
              <a:rPr lang="en-US" altLang="ko-KR" dirty="0"/>
              <a:t>x</a:t>
            </a:r>
            <a:r>
              <a:rPr lang="ko-KR" altLang="en-US" dirty="0"/>
              <a:t>만이 포함된 데이터셋을 가지고 </a:t>
            </a:r>
            <a:r>
              <a:rPr lang="en-US" altLang="ko-KR" dirty="0"/>
              <a:t>x </a:t>
            </a:r>
            <a:r>
              <a:rPr lang="ko-KR" altLang="en-US" dirty="0"/>
              <a:t>사이의 관계를 학습합니다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군집화로 데이터를 여러 그룹으로 나누건</a:t>
            </a:r>
            <a:r>
              <a:rPr lang="en-US" altLang="ko-KR" dirty="0"/>
              <a:t>, </a:t>
            </a:r>
            <a:r>
              <a:rPr lang="ko-KR" altLang="en-US" dirty="0"/>
              <a:t>아니면 </a:t>
            </a:r>
            <a:r>
              <a:rPr lang="en-US" altLang="ko-KR" dirty="0"/>
              <a:t>PCA</a:t>
            </a:r>
            <a:r>
              <a:rPr lang="ko-KR" altLang="en-US" dirty="0"/>
              <a:t>로 차원을 축소하여 </a:t>
            </a:r>
            <a:r>
              <a:rPr lang="ko-KR" altLang="en-US" dirty="0" err="1"/>
              <a:t>의미있는</a:t>
            </a:r>
            <a:r>
              <a:rPr lang="ko-KR" altLang="en-US" dirty="0"/>
              <a:t> 형태로 변환하여 시각화하기도 합니다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반면 강화학습은 데이터를 통해 학습하지 않습니다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물론</a:t>
            </a:r>
            <a:r>
              <a:rPr lang="en-US" altLang="ko-KR" dirty="0"/>
              <a:t>, </a:t>
            </a:r>
            <a:r>
              <a:rPr lang="ko-KR" altLang="en-US" dirty="0"/>
              <a:t>나중에 소개할 </a:t>
            </a:r>
            <a:r>
              <a:rPr lang="en-US" altLang="ko-KR" dirty="0"/>
              <a:t>offline </a:t>
            </a:r>
            <a:r>
              <a:rPr lang="ko-KR" altLang="en-US" dirty="0"/>
              <a:t>강화학습의 경우 데이터를 통해 학습하는 방식을 취하지만 고전적인 강화학습은 데이터를 통해 학습하는 대신</a:t>
            </a:r>
            <a:r>
              <a:rPr lang="en-US" altLang="ko-KR" dirty="0"/>
              <a:t>, agent</a:t>
            </a:r>
            <a:r>
              <a:rPr lang="ko-KR" altLang="en-US" dirty="0"/>
              <a:t>가 환경과 시행착오를 거치며 학습하는 것을 말합니다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제가 지금 </a:t>
            </a:r>
            <a:r>
              <a:rPr lang="en-US" altLang="ko-KR" dirty="0"/>
              <a:t>agent</a:t>
            </a:r>
            <a:r>
              <a:rPr lang="ko-KR" altLang="en-US" dirty="0"/>
              <a:t>와 환경이라는 말을 했는데 오른쪽 아래 그림을 보시면 될 것 같습니다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agent</a:t>
            </a:r>
            <a:r>
              <a:rPr lang="ko-KR" altLang="en-US" dirty="0"/>
              <a:t>는 학습하는 주체를</a:t>
            </a:r>
            <a:r>
              <a:rPr lang="en-US" altLang="ko-KR" dirty="0"/>
              <a:t> </a:t>
            </a:r>
            <a:r>
              <a:rPr lang="ko-KR" altLang="en-US" dirty="0"/>
              <a:t>말합니다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agent</a:t>
            </a:r>
            <a:r>
              <a:rPr lang="ko-KR" altLang="en-US" dirty="0"/>
              <a:t>는 주어진 상황에 대하여 행동을 취하고 그에 따른 보상을 받습니다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그럼으로써 보상을 많이 받도록 하는 </a:t>
            </a:r>
            <a:r>
              <a:rPr lang="en-US" altLang="ko-KR" dirty="0"/>
              <a:t>(</a:t>
            </a:r>
            <a:r>
              <a:rPr lang="ko-KR" altLang="en-US" dirty="0"/>
              <a:t>정확하게는</a:t>
            </a:r>
            <a:r>
              <a:rPr lang="en-US" altLang="ko-KR" dirty="0"/>
              <a:t>, </a:t>
            </a:r>
            <a:r>
              <a:rPr lang="ko-KR" altLang="en-US" dirty="0"/>
              <a:t>조금 있다가 더 말씀드리겠지만 보상의 합이 최대가 되는</a:t>
            </a:r>
            <a:r>
              <a:rPr lang="en-US" altLang="ko-KR" dirty="0"/>
              <a:t>) </a:t>
            </a:r>
            <a:r>
              <a:rPr lang="ko-KR" altLang="en-US" dirty="0"/>
              <a:t>방식으로 행동을 선택하도록 학습합니다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이것은 실제 우리가 뭔가를 배우는 상황과도 매우 유사합니다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아이가 걸음마를 처음 배운다고 할 때</a:t>
            </a:r>
            <a:r>
              <a:rPr lang="en-US" altLang="ko-KR" dirty="0"/>
              <a:t>, </a:t>
            </a:r>
            <a:r>
              <a:rPr lang="ko-KR" altLang="en-US" dirty="0"/>
              <a:t>엄마는 아이에게 어떻게 해야 걸을 수 있는지를 지도하지 않습니다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즉</a:t>
            </a:r>
            <a:r>
              <a:rPr lang="en-US" altLang="ko-KR" dirty="0"/>
              <a:t>, </a:t>
            </a:r>
            <a:r>
              <a:rPr lang="ko-KR" altLang="en-US" dirty="0"/>
              <a:t>걸음마를 배우는 것은 지도학습에 속하지 않습니다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아이는 주어진 자세에서 어떤 근육에 얼만큼 힘을 주어야 하는지를 시행착오를 통해 학습합니다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어떤 근육에 얼만큼의 힘을 주어 행동했더니 넘어졌다면 보상을 마이너스로 받았으므로 다음에는 그렇게 행동하지 않도록 합니다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또한 이번에는 다른 근육에 또 다른 힘을 주어 조금 더 일어서는 자세가 되었다면 스스로 뿌듯하다는 보상이 주어져 그 방식으로 행동하도록 학습됩니다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이런 식으로</a:t>
            </a:r>
            <a:r>
              <a:rPr lang="en-US" altLang="ko-KR" dirty="0"/>
              <a:t>, </a:t>
            </a:r>
            <a:r>
              <a:rPr lang="ko-KR" altLang="en-US" dirty="0"/>
              <a:t>수 천 번</a:t>
            </a:r>
            <a:r>
              <a:rPr lang="en-US" altLang="ko-KR" dirty="0"/>
              <a:t>,</a:t>
            </a:r>
            <a:r>
              <a:rPr lang="ko-KR" altLang="en-US" dirty="0"/>
              <a:t> 수 만 번의 시행착오를 </a:t>
            </a:r>
            <a:r>
              <a:rPr lang="ko-KR" altLang="en-US" dirty="0" err="1"/>
              <a:t>반복하다보면</a:t>
            </a:r>
            <a:r>
              <a:rPr lang="ko-KR" altLang="en-US" dirty="0"/>
              <a:t> 아이는 뒤뚱뒤뚱 설 수 있게 되고 나중에는 안정적인 자세로 걷거나 빠르게 달릴 수도 있게 됩니다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이것은 옆에서 엄마가 지도하여 얻어진 </a:t>
            </a:r>
            <a:r>
              <a:rPr lang="ko-KR" altLang="en-US" dirty="0" err="1"/>
              <a:t>것이라고는</a:t>
            </a:r>
            <a:r>
              <a:rPr lang="ko-KR" altLang="en-US" dirty="0"/>
              <a:t> 볼 수 없습니다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물론 옆에서 부모가 격려해주거나 시범을 보이는 것이 영향을 줄 수는 있겠지만 그보다는 스스로 </a:t>
            </a:r>
            <a:r>
              <a:rPr lang="ko-KR" altLang="en-US" dirty="0" err="1"/>
              <a:t>학습해나가는</a:t>
            </a:r>
            <a:r>
              <a:rPr lang="ko-KR" altLang="en-US" dirty="0"/>
              <a:t> 면이 더 큽니다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즉</a:t>
            </a:r>
            <a:r>
              <a:rPr lang="en-US" altLang="ko-KR" dirty="0"/>
              <a:t>, </a:t>
            </a:r>
            <a:r>
              <a:rPr lang="ko-KR" altLang="en-US" dirty="0"/>
              <a:t>걸음마를 배우는 것은 지도학습으로 분류되기는 힘듭니다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대신</a:t>
            </a:r>
            <a:r>
              <a:rPr lang="en-US" altLang="ko-KR" dirty="0"/>
              <a:t>, </a:t>
            </a:r>
            <a:r>
              <a:rPr lang="ko-KR" altLang="en-US" dirty="0"/>
              <a:t>여러 상황에 대한 행동을 여러가지로 시도해보고</a:t>
            </a:r>
            <a:r>
              <a:rPr lang="en-US" altLang="ko-KR" dirty="0"/>
              <a:t>, </a:t>
            </a:r>
            <a:r>
              <a:rPr lang="ko-KR" altLang="en-US" dirty="0"/>
              <a:t>그에 따른 보상을 통해 학습하는 방식인 강화학습으로 이해될 수 있습니다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아이가 말을 배우거나 예절을 배울 때에도 일종의 강화학습이 적용됩니다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이 때에는 부모가 아이에 대한 </a:t>
            </a:r>
            <a:r>
              <a:rPr lang="en-US" altLang="ko-KR" dirty="0"/>
              <a:t>supervisor, </a:t>
            </a:r>
            <a:r>
              <a:rPr lang="ko-KR" altLang="en-US" dirty="0"/>
              <a:t>즉 지도자로서 아이의 행동을 지도하는 역할을 하게 됩니다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그러니까</a:t>
            </a:r>
            <a:r>
              <a:rPr lang="en-US" altLang="ko-KR" dirty="0"/>
              <a:t>, </a:t>
            </a:r>
            <a:r>
              <a:rPr lang="ko-KR" altLang="en-US" dirty="0"/>
              <a:t>부모는 아이가 말이나 행동을 잘하도록 모범을 보이기도 한다는 점에서 이것은 지도학습으로도 설명될 수 있습니다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하지만</a:t>
            </a:r>
            <a:r>
              <a:rPr lang="en-US" altLang="ko-KR" dirty="0"/>
              <a:t>, </a:t>
            </a:r>
            <a:r>
              <a:rPr lang="ko-KR" altLang="en-US" dirty="0"/>
              <a:t>말을 잘하거나 잘하지 못했을 때</a:t>
            </a:r>
            <a:r>
              <a:rPr lang="en-US" altLang="ko-KR" dirty="0"/>
              <a:t>, </a:t>
            </a:r>
            <a:r>
              <a:rPr lang="ko-KR" altLang="en-US" dirty="0"/>
              <a:t>부모는 아이에 대해</a:t>
            </a:r>
            <a:r>
              <a:rPr lang="en-US" altLang="ko-KR" dirty="0"/>
              <a:t> </a:t>
            </a:r>
            <a:r>
              <a:rPr lang="ko-KR" altLang="en-US" dirty="0"/>
              <a:t>그에 따른 칭찬이나 지적을 하게 됩니다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즉</a:t>
            </a:r>
            <a:r>
              <a:rPr lang="en-US" altLang="ko-KR" dirty="0"/>
              <a:t>,</a:t>
            </a:r>
            <a:r>
              <a:rPr lang="ko-KR" altLang="en-US" dirty="0"/>
              <a:t> 아이가 말이나 행동을 하나하나 함에 따라 긍정적인 피드백 혹은 부정적인 피드백을 주는 것으로 생각할 수 있습니다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이와 같은 관점에서 보면 </a:t>
            </a:r>
            <a:r>
              <a:rPr lang="ko-KR" altLang="en-US" dirty="0" err="1"/>
              <a:t>강화학습이란</a:t>
            </a:r>
            <a:r>
              <a:rPr lang="ko-KR" altLang="en-US" dirty="0"/>
              <a:t> 일반적인 </a:t>
            </a:r>
            <a:r>
              <a:rPr lang="en-US" altLang="ko-KR" dirty="0"/>
              <a:t>‘</a:t>
            </a:r>
            <a:r>
              <a:rPr lang="ko-KR" altLang="en-US" dirty="0"/>
              <a:t>학습</a:t>
            </a:r>
            <a:r>
              <a:rPr lang="en-US" altLang="ko-KR" dirty="0"/>
              <a:t>‘</a:t>
            </a:r>
            <a:r>
              <a:rPr lang="ko-KR" altLang="en-US" dirty="0"/>
              <a:t>과 긴밀히 </a:t>
            </a:r>
            <a:r>
              <a:rPr lang="ko-KR" altLang="en-US" dirty="0" err="1"/>
              <a:t>연결되어있는</a:t>
            </a:r>
            <a:r>
              <a:rPr lang="ko-KR" altLang="en-US" dirty="0"/>
              <a:t> 개념이라고 생각할 수 있습니다</a:t>
            </a:r>
            <a:r>
              <a:rPr lang="en-US" altLang="ko-KR" dirty="0"/>
              <a:t>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9642909-6448-426E-9ED7-EFF6CDC2E25C}" type="slidenum">
              <a:rPr lang="ko-KR" altLang="en-US" smtClean="0"/>
              <a:pPr>
                <a:defRPr/>
              </a:pPr>
              <a:t>3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21489087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다음으로는 강화학습의 발전과정을 살펴보려 합니다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사실 강화학습은 컴퓨터공학이나 </a:t>
            </a:r>
            <a:r>
              <a:rPr lang="ko-KR" altLang="en-US" dirty="0" err="1"/>
              <a:t>수학에서보다</a:t>
            </a:r>
            <a:r>
              <a:rPr lang="ko-KR" altLang="en-US" dirty="0"/>
              <a:t> 심리학</a:t>
            </a:r>
            <a:r>
              <a:rPr lang="en-US" altLang="ko-KR" dirty="0"/>
              <a:t>, </a:t>
            </a:r>
            <a:r>
              <a:rPr lang="ko-KR" altLang="en-US" dirty="0"/>
              <a:t>그 중에서도 행동심리학에서 먼저 나온 말이라고 합니다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아래 보이는 그림은 스키너라는 심리학자가 고안한 장치입니다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이 장치는 박스 안의 쥐가 레버를 누르면 먹이가 나오도록 되어 있습니다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쥐는 시행착오를 통해 </a:t>
            </a:r>
            <a:r>
              <a:rPr lang="en-US" altLang="ko-KR" dirty="0"/>
              <a:t>‘</a:t>
            </a:r>
            <a:r>
              <a:rPr lang="ko-KR" altLang="en-US" dirty="0"/>
              <a:t>먹이를 얻으려면 레버를 누르면 된다</a:t>
            </a:r>
            <a:r>
              <a:rPr lang="en-US" altLang="ko-KR" dirty="0"/>
              <a:t>＇</a:t>
            </a:r>
            <a:r>
              <a:rPr lang="ko-KR" altLang="en-US" dirty="0"/>
              <a:t>는 것을 학습하게 됩니다</a:t>
            </a:r>
            <a:r>
              <a:rPr lang="en-US" altLang="ko-KR" dirty="0"/>
              <a:t>. </a:t>
            </a:r>
          </a:p>
          <a:p>
            <a:r>
              <a:rPr lang="ko-KR" altLang="en-US" dirty="0"/>
              <a:t>이러한 개념은 컴퓨터 공학이나 수학에서의 강화학습이 발전하기 이전에 존재하여</a:t>
            </a:r>
            <a:r>
              <a:rPr lang="en-US" altLang="ko-KR" dirty="0"/>
              <a:t>, </a:t>
            </a:r>
            <a:r>
              <a:rPr lang="ko-KR" altLang="en-US" dirty="0"/>
              <a:t>교육학 등에도 영향을 미쳤습니다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한편</a:t>
            </a:r>
            <a:r>
              <a:rPr lang="en-US" altLang="ko-KR" dirty="0"/>
              <a:t>, 1950</a:t>
            </a:r>
            <a:r>
              <a:rPr lang="ko-KR" altLang="en-US" dirty="0"/>
              <a:t>년대에 리처드 </a:t>
            </a:r>
            <a:r>
              <a:rPr lang="ko-KR" altLang="en-US" dirty="0" err="1"/>
              <a:t>벨만은</a:t>
            </a:r>
            <a:r>
              <a:rPr lang="ko-KR" altLang="en-US" dirty="0"/>
              <a:t> 동적계획법</a:t>
            </a:r>
            <a:r>
              <a:rPr lang="en-US" altLang="ko-KR" dirty="0"/>
              <a:t>(DP)</a:t>
            </a:r>
            <a:r>
              <a:rPr lang="ko-KR" altLang="en-US" dirty="0"/>
              <a:t>을 개발하여 순차적 의사결정 문제를 풀 수 있는 수학적인 도구를 마련했습니다</a:t>
            </a:r>
            <a:r>
              <a:rPr lang="en-US" altLang="ko-KR" dirty="0"/>
              <a:t>.</a:t>
            </a:r>
          </a:p>
          <a:p>
            <a:r>
              <a:rPr lang="ko-KR" altLang="en-US" dirty="0" err="1"/>
              <a:t>벨만방정식으로</a:t>
            </a:r>
            <a:r>
              <a:rPr lang="ko-KR" altLang="en-US" dirty="0"/>
              <a:t> 알려진 식에 기반한 이 방법은 나중에 강화학습의 이론적 토대가 됩니다</a:t>
            </a:r>
            <a:r>
              <a:rPr lang="en-US" altLang="ko-KR" dirty="0"/>
              <a:t>. </a:t>
            </a:r>
          </a:p>
          <a:p>
            <a:r>
              <a:rPr lang="ko-KR" altLang="en-US" dirty="0"/>
              <a:t>이러한 방법론은 이후에 </a:t>
            </a:r>
            <a:r>
              <a:rPr lang="ko-KR" altLang="en-US" dirty="0" err="1"/>
              <a:t>몬테카를로나</a:t>
            </a:r>
            <a:r>
              <a:rPr lang="ko-KR" altLang="en-US" dirty="0"/>
              <a:t> 시간차 학습 등으로 발전하면서 강화학습이라는 이름으로 거듭나게 됩니다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또한</a:t>
            </a:r>
            <a:r>
              <a:rPr lang="en-US" altLang="ko-KR" dirty="0"/>
              <a:t>,</a:t>
            </a:r>
            <a:r>
              <a:rPr lang="ko-KR" altLang="en-US" dirty="0"/>
              <a:t> </a:t>
            </a:r>
            <a:r>
              <a:rPr lang="en-US" altLang="ko-KR" dirty="0"/>
              <a:t>1989</a:t>
            </a:r>
            <a:r>
              <a:rPr lang="ko-KR" altLang="en-US" dirty="0"/>
              <a:t>년에는 </a:t>
            </a:r>
            <a:r>
              <a:rPr lang="en-US" altLang="ko-KR" dirty="0"/>
              <a:t>Q-learning</a:t>
            </a:r>
            <a:r>
              <a:rPr lang="ko-KR" altLang="en-US" dirty="0"/>
              <a:t>이</a:t>
            </a:r>
            <a:r>
              <a:rPr lang="en-US" altLang="ko-KR" dirty="0"/>
              <a:t>, 2010</a:t>
            </a:r>
            <a:r>
              <a:rPr lang="ko-KR" altLang="en-US" dirty="0"/>
              <a:t>년대에는 </a:t>
            </a:r>
            <a:r>
              <a:rPr lang="ko-KR" altLang="en-US" dirty="0" err="1"/>
              <a:t>딥러닝과</a:t>
            </a:r>
            <a:r>
              <a:rPr lang="ko-KR" altLang="en-US" dirty="0"/>
              <a:t> 결합된 </a:t>
            </a:r>
            <a:r>
              <a:rPr lang="en-US" altLang="ko-KR" dirty="0"/>
              <a:t>DQN</a:t>
            </a:r>
            <a:r>
              <a:rPr lang="ko-KR" altLang="en-US" dirty="0"/>
              <a:t>이 개발되면서 강화학습은 발전을 거듭하는데요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오늘 세미나에서는 이 장표에 나온 알고리즘들 정도까지 다루게 될 것 같습니다</a:t>
            </a:r>
            <a:r>
              <a:rPr lang="en-US" altLang="ko-KR" dirty="0"/>
              <a:t>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9642909-6448-426E-9ED7-EFF6CDC2E25C}" type="slidenum">
              <a:rPr lang="ko-KR" altLang="en-US" smtClean="0"/>
              <a:pPr>
                <a:defRPr/>
              </a:pPr>
              <a:t>4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12922922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다음으로는 강화학습의 기본 개념들을 살펴보려 합니다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강화학습에서는 에이전트라고 하는 존재가 환경과 상호작용하면서 어떻게 행동할지를 </a:t>
            </a:r>
            <a:r>
              <a:rPr lang="ko-KR" altLang="en-US" dirty="0" err="1"/>
              <a:t>학습해나갑니다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바로 이전 슬라이드에서 말씀드렸던 스키너 상자의 예시로 보면</a:t>
            </a:r>
            <a:r>
              <a:rPr lang="en-US" altLang="ko-KR" dirty="0"/>
              <a:t>, </a:t>
            </a:r>
            <a:r>
              <a:rPr lang="ko-KR" altLang="en-US" dirty="0"/>
              <a:t>환경에 해당하는 것은 상자이고 에이전트에 해당하는 것은 쥐입니다</a:t>
            </a:r>
            <a:r>
              <a:rPr lang="en-US" altLang="ko-KR" dirty="0"/>
              <a:t>.</a:t>
            </a:r>
            <a:br>
              <a:rPr lang="en-US" altLang="ko-KR" dirty="0"/>
            </a:br>
            <a:endParaRPr lang="en-US" altLang="ko-KR" dirty="0"/>
          </a:p>
          <a:p>
            <a:r>
              <a:rPr lang="ko-KR" altLang="en-US" dirty="0"/>
              <a:t>아래 그림을 보시면 강화학습의 기본 구조를 확인하실 수 있습니다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에이전트는 현재 상태에서 어떤 행동을 선택합니다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환경은 이 행동에 대하여 보상을 주고 다음 상태로 전이됩니다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이러한 순환이 반복되면서 에이전트는 더 많은 보상을 받을 수 있는 행동을 학습하게 됩니다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이러한 순차적인 의사결정과정</a:t>
            </a:r>
            <a:r>
              <a:rPr lang="en-US" altLang="ko-KR" dirty="0"/>
              <a:t> (decision process)</a:t>
            </a:r>
            <a:r>
              <a:rPr lang="ko-KR" altLang="en-US" dirty="0"/>
              <a:t> 에 관해서는 다음 슬라이드에서 더 자세하게 말씀드리겠습니다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9642909-6448-426E-9ED7-EFF6CDC2E25C}" type="slidenum">
              <a:rPr lang="ko-KR" altLang="en-US" smtClean="0"/>
              <a:pPr>
                <a:defRPr/>
              </a:pPr>
              <a:t>5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426953483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슬라이드 노트 개체 틀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ko-KR" altLang="en-US" dirty="0"/>
                  <a:t>이 슬라이드부터 나오는 세 개의 슬라이드에서 </a:t>
                </a:r>
                <a:r>
                  <a:rPr lang="en-US" altLang="ko-KR" dirty="0"/>
                  <a:t>MDP, </a:t>
                </a:r>
                <a:r>
                  <a:rPr lang="ko-KR" altLang="en-US" dirty="0"/>
                  <a:t>즉 </a:t>
                </a:r>
                <a:r>
                  <a:rPr lang="en-US" altLang="ko-KR" dirty="0"/>
                  <a:t>Markov decision process</a:t>
                </a:r>
                <a:r>
                  <a:rPr lang="ko-KR" altLang="en-US" dirty="0"/>
                  <a:t>에 대해 설명해보려 합니다</a:t>
                </a:r>
                <a:r>
                  <a:rPr lang="en-US" altLang="ko-KR" dirty="0"/>
                  <a:t>.</a:t>
                </a:r>
              </a:p>
              <a:p>
                <a:r>
                  <a:rPr lang="en-US" altLang="ko-KR" dirty="0"/>
                  <a:t>MDP</a:t>
                </a:r>
                <a:r>
                  <a:rPr lang="ko-KR" altLang="en-US" dirty="0"/>
                  <a:t>는 강화학습에서 다루는 문제가 어떤 문제인지 설명합니다</a:t>
                </a:r>
                <a:r>
                  <a:rPr lang="en-US" altLang="ko-KR" dirty="0"/>
                  <a:t>.</a:t>
                </a:r>
              </a:p>
              <a:p>
                <a:endParaRPr lang="en-US" altLang="ko-KR" dirty="0"/>
              </a:p>
              <a:p>
                <a:r>
                  <a:rPr lang="ko-KR" altLang="en-US" dirty="0"/>
                  <a:t>수학에서 확률과정</a:t>
                </a:r>
                <a:r>
                  <a:rPr lang="en-US" altLang="ko-KR" dirty="0"/>
                  <a:t>(random process) </a:t>
                </a:r>
                <a:r>
                  <a:rPr lang="ko-KR" altLang="en-US" dirty="0"/>
                  <a:t>이라고 하면 확률변수들의 나열을 말합니다</a:t>
                </a:r>
                <a:r>
                  <a:rPr lang="en-US" altLang="ko-KR" dirty="0"/>
                  <a:t>.</a:t>
                </a:r>
              </a:p>
              <a:p>
                <a:r>
                  <a:rPr lang="en-US" altLang="ko-KR" dirty="0"/>
                  <a:t>MDP</a:t>
                </a:r>
                <a:r>
                  <a:rPr lang="ko-KR" altLang="en-US" dirty="0"/>
                  <a:t>도 하나의 </a:t>
                </a:r>
                <a:r>
                  <a:rPr lang="en-US" altLang="ko-KR" dirty="0"/>
                  <a:t>process</a:t>
                </a:r>
                <a:r>
                  <a:rPr lang="ko-KR" altLang="en-US" dirty="0"/>
                  <a:t>이므로 마찬가지로 확률변수들의 나열인데</a:t>
                </a:r>
                <a:r>
                  <a:rPr lang="en-US" altLang="ko-KR" dirty="0"/>
                  <a:t>, decision process</a:t>
                </a:r>
                <a:r>
                  <a:rPr lang="ko-KR" altLang="en-US" dirty="0"/>
                  <a:t>는 특정한 변수들의 나열입니다</a:t>
                </a:r>
                <a:r>
                  <a:rPr lang="en-US" altLang="ko-KR" dirty="0"/>
                  <a:t>.</a:t>
                </a:r>
              </a:p>
              <a:p>
                <a:r>
                  <a:rPr lang="ko-KR" altLang="en-US" dirty="0"/>
                  <a:t>다시 말해</a:t>
                </a:r>
                <a:r>
                  <a:rPr lang="en-US" altLang="ko-KR" dirty="0"/>
                  <a:t>, S, A, R, S, A, R</a:t>
                </a:r>
                <a:r>
                  <a:rPr lang="ko-KR" altLang="en-US" dirty="0"/>
                  <a:t>과 같은 확률변수들이 나열되는 것을 의사결정과정</a:t>
                </a:r>
                <a:r>
                  <a:rPr lang="en-US" altLang="ko-KR" dirty="0"/>
                  <a:t>, decision process</a:t>
                </a:r>
                <a:r>
                  <a:rPr lang="ko-KR" altLang="en-US" dirty="0"/>
                  <a:t>라고 합니다</a:t>
                </a:r>
                <a:r>
                  <a:rPr lang="en-US" altLang="ko-KR" dirty="0"/>
                  <a:t>.</a:t>
                </a:r>
              </a:p>
              <a:p>
                <a:r>
                  <a:rPr lang="ko-KR" altLang="en-US" dirty="0"/>
                  <a:t>그리고 그 중에서도 </a:t>
                </a:r>
                <a:r>
                  <a:rPr lang="ko-KR" altLang="en-US" dirty="0" err="1"/>
                  <a:t>마르코프</a:t>
                </a:r>
                <a:r>
                  <a:rPr lang="ko-KR" altLang="en-US" dirty="0"/>
                  <a:t> 성질을 만족시키는 의사결정과정을 </a:t>
                </a:r>
                <a:r>
                  <a:rPr lang="en-US" altLang="ko-KR" dirty="0"/>
                  <a:t>MDP</a:t>
                </a:r>
                <a:r>
                  <a:rPr lang="ko-KR" altLang="en-US" dirty="0"/>
                  <a:t>라고 합니다</a:t>
                </a:r>
                <a:r>
                  <a:rPr lang="en-US" altLang="ko-KR" dirty="0"/>
                  <a:t>.</a:t>
                </a:r>
              </a:p>
              <a:p>
                <a:r>
                  <a:rPr lang="ko-KR" altLang="en-US" dirty="0"/>
                  <a:t>각각의 확률변수들은 시간순서를 명시할 필요가 있기 때문에 </a:t>
                </a:r>
                <a:r>
                  <a:rPr lang="en-US" altLang="ko-KR" dirty="0" err="1"/>
                  <a:t>S_t</a:t>
                </a:r>
                <a:r>
                  <a:rPr lang="en-US" altLang="ko-KR" dirty="0"/>
                  <a:t>, </a:t>
                </a:r>
                <a:r>
                  <a:rPr lang="en-US" altLang="ko-KR" dirty="0" err="1"/>
                  <a:t>A_t</a:t>
                </a:r>
                <a:r>
                  <a:rPr lang="en-US" altLang="ko-KR" dirty="0"/>
                  <a:t>, R_{t+1} … </a:t>
                </a:r>
                <a:r>
                  <a:rPr lang="ko-KR" altLang="en-US" dirty="0"/>
                  <a:t>등과 같이 </a:t>
                </a:r>
                <a:r>
                  <a:rPr lang="en-US" altLang="ko-KR" dirty="0"/>
                  <a:t>timestep t</a:t>
                </a:r>
                <a:r>
                  <a:rPr lang="ko-KR" altLang="en-US" dirty="0"/>
                  <a:t>를 붙여서 표현합니다</a:t>
                </a:r>
                <a:r>
                  <a:rPr lang="en-US" altLang="ko-KR" dirty="0"/>
                  <a:t>.</a:t>
                </a:r>
              </a:p>
              <a:p>
                <a:endParaRPr lang="en-US" altLang="ko-KR" dirty="0"/>
              </a:p>
              <a:p>
                <a:r>
                  <a:rPr lang="ko-KR" altLang="en-US" dirty="0"/>
                  <a:t>이때</a:t>
                </a:r>
                <a:r>
                  <a:rPr lang="en-US" altLang="ko-KR" dirty="0"/>
                  <a:t>, </a:t>
                </a:r>
                <a:r>
                  <a:rPr lang="ko-KR" altLang="en-US" dirty="0"/>
                  <a:t>각 확률변수들에 특정 값들이 지정된 상태를 </a:t>
                </a:r>
                <a:r>
                  <a:rPr lang="en-US" altLang="ko-KR" dirty="0"/>
                  <a:t>trajectory</a:t>
                </a:r>
                <a:r>
                  <a:rPr lang="ko-KR" altLang="en-US" dirty="0"/>
                  <a:t>라고</a:t>
                </a:r>
                <a:r>
                  <a:rPr lang="en-US" altLang="ko-KR" dirty="0"/>
                  <a:t> </a:t>
                </a:r>
                <a:r>
                  <a:rPr lang="ko-KR" altLang="en-US" dirty="0"/>
                  <a:t>부릅니다</a:t>
                </a:r>
                <a:r>
                  <a:rPr lang="en-US" altLang="ko-KR" dirty="0"/>
                  <a:t>.</a:t>
                </a:r>
              </a:p>
              <a:p>
                <a:r>
                  <a:rPr lang="ko-KR" altLang="en-US" dirty="0"/>
                  <a:t>이러한 </a:t>
                </a:r>
                <a:r>
                  <a:rPr lang="en-US" altLang="ko-KR" dirty="0"/>
                  <a:t>trajectory</a:t>
                </a:r>
                <a:r>
                  <a:rPr lang="ko-KR" altLang="en-US" dirty="0"/>
                  <a:t>는 끝없이 계속될 수도 있고 어느 순간 </a:t>
                </a:r>
                <a:r>
                  <a:rPr lang="en-US" altLang="ko-KR" dirty="0"/>
                  <a:t>terminal state</a:t>
                </a:r>
                <a:r>
                  <a:rPr lang="ko-KR" altLang="en-US" dirty="0"/>
                  <a:t>에 도달하여 멈출 수도 있습니다</a:t>
                </a:r>
                <a:r>
                  <a:rPr lang="en-US" altLang="ko-KR" dirty="0"/>
                  <a:t>.</a:t>
                </a:r>
              </a:p>
              <a:p>
                <a:r>
                  <a:rPr lang="en-US" altLang="ko-KR" dirty="0"/>
                  <a:t>terminal state</a:t>
                </a:r>
                <a:r>
                  <a:rPr lang="ko-KR" altLang="en-US" dirty="0"/>
                  <a:t>에 도달하는 경우에 </a:t>
                </a:r>
                <a:r>
                  <a:rPr lang="en-US" altLang="ko-KR" dirty="0"/>
                  <a:t>trajectory</a:t>
                </a:r>
                <a:r>
                  <a:rPr lang="ko-KR" altLang="en-US" dirty="0"/>
                  <a:t>를 </a:t>
                </a:r>
                <a:r>
                  <a:rPr lang="en-US" altLang="ko-KR" dirty="0"/>
                  <a:t>episode</a:t>
                </a:r>
                <a:r>
                  <a:rPr lang="ko-KR" altLang="en-US" dirty="0"/>
                  <a:t>라고 부릅니다</a:t>
                </a:r>
                <a:r>
                  <a:rPr lang="en-US" altLang="ko-KR" dirty="0"/>
                  <a:t>.</a:t>
                </a:r>
              </a:p>
              <a:p>
                <a:endParaRPr lang="en-US" altLang="ko-KR" dirty="0"/>
              </a:p>
              <a:p>
                <a:r>
                  <a:rPr lang="ko-KR" altLang="en-US" dirty="0"/>
                  <a:t>너무 개념적인 설명만 많이 했기 때문에 예를 들어 설명해보겠습니다</a:t>
                </a:r>
                <a:r>
                  <a:rPr lang="en-US" altLang="ko-KR" dirty="0"/>
                  <a:t>.</a:t>
                </a:r>
              </a:p>
              <a:p>
                <a:r>
                  <a:rPr lang="ko-KR" altLang="en-US" dirty="0"/>
                  <a:t>아래 그림과 같은 격자모양의 공간이 있다고 하겠습니다</a:t>
                </a:r>
                <a:r>
                  <a:rPr lang="en-US" altLang="ko-KR" dirty="0"/>
                  <a:t>.</a:t>
                </a:r>
              </a:p>
              <a:p>
                <a:pPr marL="0" marR="0" lvl="0" indent="0" algn="l" defTabSz="914400" rtl="0" eaLnBrk="0" fontAlgn="base" latinLnBrk="1" hangingPunct="0">
                  <a:lnSpc>
                    <a:spcPct val="100000"/>
                  </a:lnSpc>
                  <a:spcBef>
                    <a:spcPct val="3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ko-KR" dirty="0"/>
                  <a:t>(1,1)</a:t>
                </a:r>
                <a:r>
                  <a:rPr lang="ko-KR" altLang="en-US" dirty="0"/>
                  <a:t>에서 시작하여 상하좌우로 움직이는 몇 번의 과정 뒤에 </a:t>
                </a:r>
                <a:r>
                  <a:rPr lang="en-US" altLang="ko-KR" dirty="0"/>
                  <a:t>(4,2) </a:t>
                </a:r>
                <a:r>
                  <a:rPr lang="ko-KR" altLang="en-US" dirty="0"/>
                  <a:t>또는 </a:t>
                </a:r>
                <a:r>
                  <a:rPr lang="en-US" altLang="ko-KR" dirty="0"/>
                  <a:t>(4,3)</a:t>
                </a:r>
                <a:r>
                  <a:rPr lang="ko-KR" altLang="en-US" dirty="0"/>
                  <a:t>에 도달하면 끝나는 환경을 생각하겠습니다</a:t>
                </a:r>
                <a:r>
                  <a:rPr lang="en-US" altLang="ko-KR" dirty="0"/>
                  <a:t>.</a:t>
                </a:r>
              </a:p>
              <a:p>
                <a:pPr marL="0" marR="0" lvl="0" indent="0" algn="l" defTabSz="914400" rtl="0" eaLnBrk="0" fontAlgn="base" latinLnBrk="1" hangingPunct="0">
                  <a:lnSpc>
                    <a:spcPct val="100000"/>
                  </a:lnSpc>
                  <a:spcBef>
                    <a:spcPct val="3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ko-KR" altLang="en-US" dirty="0"/>
                  <a:t>단</a:t>
                </a:r>
                <a:r>
                  <a:rPr lang="en-US" altLang="ko-KR" dirty="0"/>
                  <a:t>, </a:t>
                </a:r>
                <a:r>
                  <a:rPr lang="ko-KR" altLang="en-US" dirty="0"/>
                  <a:t>움직일 때 </a:t>
                </a:r>
                <a:r>
                  <a:rPr lang="ko-KR" altLang="en-US" dirty="0" err="1"/>
                  <a:t>막혀있는</a:t>
                </a:r>
                <a:r>
                  <a:rPr lang="ko-KR" altLang="en-US" dirty="0"/>
                  <a:t> </a:t>
                </a:r>
                <a:r>
                  <a:rPr lang="en-US" altLang="ko-KR" dirty="0"/>
                  <a:t>(2,2)</a:t>
                </a:r>
                <a:r>
                  <a:rPr lang="ko-KR" altLang="en-US" dirty="0"/>
                  <a:t>같은 부분이 있으면 움직일 수 없습니다</a:t>
                </a:r>
                <a:r>
                  <a:rPr lang="en-US" altLang="ko-KR" dirty="0"/>
                  <a:t>.</a:t>
                </a:r>
              </a:p>
              <a:p>
                <a:pPr marL="0" marR="0" lvl="0" indent="0" algn="l" defTabSz="914400" rtl="0" eaLnBrk="0" fontAlgn="base" latinLnBrk="1" hangingPunct="0">
                  <a:lnSpc>
                    <a:spcPct val="100000"/>
                  </a:lnSpc>
                  <a:spcBef>
                    <a:spcPct val="3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ko-KR" altLang="en-US" dirty="0"/>
                  <a:t>예를 들어 </a:t>
                </a:r>
                <a:r>
                  <a:rPr lang="en-US" altLang="ko-KR" dirty="0"/>
                  <a:t>(1,2)</a:t>
                </a:r>
                <a:r>
                  <a:rPr lang="ko-KR" altLang="en-US" dirty="0"/>
                  <a:t>에서는 왼쪽이나 오른쪽으로 움직일 수 없으니 위쪽 또는 아래쪽으로만 움직일 수 있습니다</a:t>
                </a:r>
                <a:r>
                  <a:rPr lang="en-US" altLang="ko-KR" dirty="0"/>
                  <a:t>.</a:t>
                </a:r>
              </a:p>
              <a:p>
                <a:pPr marL="0" marR="0" lvl="0" indent="0" algn="l" defTabSz="914400" rtl="0" eaLnBrk="0" fontAlgn="base" latinLnBrk="1" hangingPunct="0">
                  <a:lnSpc>
                    <a:spcPct val="100000"/>
                  </a:lnSpc>
                  <a:spcBef>
                    <a:spcPct val="3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ko-KR" dirty="0"/>
                  <a:t>(2,4)</a:t>
                </a:r>
                <a:r>
                  <a:rPr lang="ko-KR" altLang="en-US" dirty="0"/>
                  <a:t>와 </a:t>
                </a:r>
                <a:r>
                  <a:rPr lang="en-US" altLang="ko-KR" dirty="0"/>
                  <a:t>(3,4)</a:t>
                </a:r>
                <a:r>
                  <a:rPr lang="ko-KR" altLang="en-US" dirty="0"/>
                  <a:t>는 도달하면 끝나기 때문에 </a:t>
                </a:r>
                <a:r>
                  <a:rPr lang="en-US" altLang="ko-KR" dirty="0"/>
                  <a:t>terminal state</a:t>
                </a:r>
                <a:r>
                  <a:rPr lang="ko-KR" altLang="en-US" dirty="0"/>
                  <a:t>에 해당하는데 </a:t>
                </a:r>
                <a:r>
                  <a:rPr lang="en-US" altLang="ko-KR" dirty="0"/>
                  <a:t>(4,2)</a:t>
                </a:r>
                <a:r>
                  <a:rPr lang="ko-KR" altLang="en-US" dirty="0"/>
                  <a:t>에 도달하면 </a:t>
                </a:r>
                <a:r>
                  <a:rPr lang="en-US" altLang="ko-KR" dirty="0"/>
                  <a:t>-1</a:t>
                </a:r>
                <a:r>
                  <a:rPr lang="ko-KR" altLang="en-US" dirty="0"/>
                  <a:t>의 보상을 </a:t>
                </a:r>
                <a:r>
                  <a:rPr lang="en-US" altLang="ko-KR" dirty="0"/>
                  <a:t>(4,3)</a:t>
                </a:r>
                <a:r>
                  <a:rPr lang="ko-KR" altLang="en-US" dirty="0"/>
                  <a:t>에 도달하면 </a:t>
                </a:r>
                <a:r>
                  <a:rPr lang="en-US" altLang="ko-KR" dirty="0"/>
                  <a:t>1</a:t>
                </a:r>
                <a:r>
                  <a:rPr lang="ko-KR" altLang="en-US" dirty="0"/>
                  <a:t>의 보상을 받습니다</a:t>
                </a:r>
                <a:r>
                  <a:rPr lang="en-US" altLang="ko-KR" dirty="0"/>
                  <a:t>.</a:t>
                </a:r>
              </a:p>
              <a:p>
                <a:pPr marL="0" marR="0" lvl="0" indent="0" algn="l" defTabSz="914400" rtl="0" eaLnBrk="0" fontAlgn="base" latinLnBrk="1" hangingPunct="0">
                  <a:lnSpc>
                    <a:spcPct val="100000"/>
                  </a:lnSpc>
                  <a:spcBef>
                    <a:spcPct val="3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ko-KR" altLang="en-US" dirty="0"/>
                  <a:t>그리고 </a:t>
                </a:r>
                <a:r>
                  <a:rPr lang="en-US" altLang="ko-KR" dirty="0"/>
                  <a:t>agent</a:t>
                </a:r>
                <a:r>
                  <a:rPr lang="ko-KR" altLang="en-US" dirty="0"/>
                  <a:t>는 매번 움직일 때마다 움직이는 비용으로서 </a:t>
                </a:r>
                <a:r>
                  <a:rPr lang="en-US" altLang="ko-KR" dirty="0"/>
                  <a:t>-0.1</a:t>
                </a:r>
                <a:r>
                  <a:rPr lang="ko-KR" altLang="en-US" dirty="0"/>
                  <a:t>의 보상을 받는다고 하겠습니다</a:t>
                </a:r>
                <a:r>
                  <a:rPr lang="en-US" altLang="ko-KR" dirty="0"/>
                  <a:t>.</a:t>
                </a:r>
              </a:p>
              <a:p>
                <a:pPr marL="0" marR="0" lvl="0" indent="0" algn="l" defTabSz="914400" rtl="0" eaLnBrk="0" fontAlgn="base" latinLnBrk="1" hangingPunct="0">
                  <a:lnSpc>
                    <a:spcPct val="100000"/>
                  </a:lnSpc>
                  <a:spcBef>
                    <a:spcPct val="3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altLang="ko-KR" dirty="0"/>
              </a:p>
              <a:p>
                <a:pPr marL="0" marR="0" lvl="0" indent="0" algn="l" defTabSz="914400" rtl="0" eaLnBrk="0" fontAlgn="base" latinLnBrk="1" hangingPunct="0">
                  <a:lnSpc>
                    <a:spcPct val="100000"/>
                  </a:lnSpc>
                  <a:spcBef>
                    <a:spcPct val="3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ko-KR" altLang="en-US" dirty="0"/>
                  <a:t>이러한 환경을 </a:t>
                </a:r>
                <a:r>
                  <a:rPr lang="en-US" altLang="ko-KR" dirty="0"/>
                  <a:t>grid world</a:t>
                </a:r>
                <a:r>
                  <a:rPr lang="ko-KR" altLang="en-US" dirty="0"/>
                  <a:t>라고 부릅니다</a:t>
                </a:r>
                <a:r>
                  <a:rPr lang="en-US" altLang="ko-KR" dirty="0"/>
                  <a:t>.</a:t>
                </a:r>
              </a:p>
              <a:p>
                <a:pPr marL="0" marR="0" lvl="0" indent="0" algn="l" defTabSz="914400" rtl="0" eaLnBrk="0" fontAlgn="base" latinLnBrk="1" hangingPunct="0">
                  <a:lnSpc>
                    <a:spcPct val="100000"/>
                  </a:lnSpc>
                  <a:spcBef>
                    <a:spcPct val="3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ko-KR" altLang="en-US" dirty="0"/>
                  <a:t>이때 상태집합</a:t>
                </a:r>
                <a:r>
                  <a:rPr lang="en-US" altLang="ko-KR" dirty="0"/>
                  <a:t>(state space)</a:t>
                </a:r>
                <a:r>
                  <a:rPr lang="ko-KR" altLang="en-US" dirty="0"/>
                  <a:t>은 </a:t>
                </a:r>
                <a14:m>
                  <m:oMath xmlns:m="http://schemas.openxmlformats.org/officeDocument/2006/math">
                    <m:r>
                      <m:rPr>
                        <m:lit/>
                      </m:rPr>
                      <a:rPr lang="en-US" altLang="ko-KR" b="1" i="0" dirty="0" smtClean="0">
                        <a:latin typeface="Cambria Math" panose="02040503050406030204" pitchFamily="18" charset="0"/>
                      </a:rPr>
                      <m:t>𝐒</m:t>
                    </m:r>
                    <m:r>
                      <m:rPr>
                        <m:lit/>
                      </m:rPr>
                      <a:rPr lang="en-US" altLang="ko-KR" b="0" i="0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lit/>
                      </m:rPr>
                      <a:rPr lang="en-US" altLang="ko-KR" i="1" dirty="0" smtClean="0">
                        <a:latin typeface="Cambria Math" panose="02040503050406030204" pitchFamily="18" charset="0"/>
                      </a:rPr>
                      <m:t>{</m:t>
                    </m:r>
                    <m:d>
                      <m:dPr>
                        <m:ctrlPr>
                          <a:rPr lang="en-US" altLang="ko-KR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i="1" dirty="0" smtClean="0">
                            <a:latin typeface="Cambria Math" panose="02040503050406030204" pitchFamily="18" charset="0"/>
                          </a:rPr>
                          <m:t>1,1</m:t>
                        </m:r>
                      </m:e>
                    </m:d>
                    <m:r>
                      <a:rPr lang="en-US" altLang="ko-KR" i="1" dirty="0" smtClean="0">
                        <a:latin typeface="Cambria Math" panose="02040503050406030204" pitchFamily="18" charset="0"/>
                      </a:rPr>
                      <m:t>,</m:t>
                    </m:r>
                    <m:d>
                      <m:dPr>
                        <m:ctrlPr>
                          <a:rPr lang="en-US" altLang="ko-KR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i="1" dirty="0" smtClean="0">
                            <a:latin typeface="Cambria Math" panose="02040503050406030204" pitchFamily="18" charset="0"/>
                          </a:rPr>
                          <m:t>1,2</m:t>
                        </m:r>
                      </m:e>
                    </m:d>
                    <m:r>
                      <a:rPr lang="en-US" altLang="ko-KR" i="1" dirty="0" smtClean="0">
                        <a:latin typeface="Cambria Math" panose="02040503050406030204" pitchFamily="18" charset="0"/>
                      </a:rPr>
                      <m:t>,⋯,</m:t>
                    </m:r>
                    <m:d>
                      <m:dPr>
                        <m:ctrlPr>
                          <a:rPr lang="en-US" altLang="ko-KR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i="1" dirty="0" smtClean="0">
                            <a:latin typeface="Cambria Math" panose="02040503050406030204" pitchFamily="18" charset="0"/>
                          </a:rPr>
                          <m:t>4,3</m:t>
                        </m:r>
                      </m:e>
                    </m:d>
                    <m:r>
                      <m:rPr>
                        <m:lit/>
                      </m:rPr>
                      <a:rPr lang="en-US" altLang="ko-KR" i="1" dirty="0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altLang="ko-KR" dirty="0"/>
                  <a:t>, </a:t>
                </a:r>
                <a:r>
                  <a:rPr lang="ko-KR" altLang="en-US" dirty="0"/>
                  <a:t>행동집합</a:t>
                </a:r>
                <a:r>
                  <a:rPr lang="en-US" altLang="ko-KR" dirty="0"/>
                  <a:t>(action space)</a:t>
                </a:r>
                <a:r>
                  <a:rPr lang="ko-KR" altLang="en-US" dirty="0"/>
                  <a:t>은 </a:t>
                </a:r>
                <a14:m>
                  <m:oMath xmlns:m="http://schemas.openxmlformats.org/officeDocument/2006/math">
                    <m:r>
                      <a:rPr kumimoji="1" lang="en-US" altLang="ko-KR" sz="1100" b="1" i="1" kern="1200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맑은 고딕" panose="020B0503020000020004" pitchFamily="50" charset="-127"/>
                        <a:cs typeface="+mn-cs"/>
                      </a:rPr>
                      <m:t>𝑨</m:t>
                    </m:r>
                    <m:r>
                      <a:rPr kumimoji="1" lang="en-US" altLang="ko-KR" sz="1100" b="0" i="1" kern="1200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맑은 고딕" panose="020B0503020000020004" pitchFamily="50" charset="-127"/>
                        <a:cs typeface="+mn-cs"/>
                      </a:rPr>
                      <m:t>=</m:t>
                    </m:r>
                    <m:r>
                      <m:rPr>
                        <m:lit/>
                      </m:rPr>
                      <a:rPr kumimoji="1" lang="en-US" altLang="ko-KR" sz="1100" b="0" i="0" kern="1200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맑은 고딕" panose="020B0503020000020004" pitchFamily="50" charset="-127"/>
                        <a:cs typeface="+mn-cs"/>
                      </a:rPr>
                      <m:t>{</m:t>
                    </m:r>
                    <m:r>
                      <a:rPr kumimoji="1" lang="ko-KR" altLang="en-US" sz="1100" b="0" i="1" kern="1200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맑은 고딕" panose="020B0503020000020004" pitchFamily="50" charset="-127"/>
                        <a:cs typeface="+mn-cs"/>
                      </a:rPr>
                      <m:t>→</m:t>
                    </m:r>
                    <m:r>
                      <a:rPr kumimoji="1" lang="en-US" altLang="ko-KR" sz="1100" b="0" i="1" kern="1200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맑은 고딕" panose="020B0503020000020004" pitchFamily="50" charset="-127"/>
                        <a:cs typeface="+mn-cs"/>
                      </a:rPr>
                      <m:t>, </m:t>
                    </m:r>
                    <m:r>
                      <a:rPr kumimoji="1" lang="ko-KR" altLang="en-US" sz="1100" b="0" i="1" kern="1200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맑은 고딕" panose="020B0503020000020004" pitchFamily="50" charset="-127"/>
                        <a:cs typeface="+mn-cs"/>
                      </a:rPr>
                      <m:t>←</m:t>
                    </m:r>
                    <m:r>
                      <a:rPr kumimoji="1" lang="en-US" altLang="ko-KR" sz="1100" b="0" i="1" kern="1200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맑은 고딕" panose="020B0503020000020004" pitchFamily="50" charset="-127"/>
                        <a:cs typeface="+mn-cs"/>
                      </a:rPr>
                      <m:t>, </m:t>
                    </m:r>
                    <m:r>
                      <a:rPr kumimoji="1" lang="ko-KR" altLang="en-US" sz="1100" b="0" i="1" kern="1200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맑은 고딕" panose="020B0503020000020004" pitchFamily="50" charset="-127"/>
                        <a:cs typeface="+mn-cs"/>
                      </a:rPr>
                      <m:t>↑</m:t>
                    </m:r>
                    <m:r>
                      <a:rPr kumimoji="1" lang="en-US" altLang="ko-KR" sz="1100" b="0" i="1" kern="1200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맑은 고딕" panose="020B0503020000020004" pitchFamily="50" charset="-127"/>
                        <a:cs typeface="+mn-cs"/>
                      </a:rPr>
                      <m:t>, </m:t>
                    </m:r>
                    <m:r>
                      <a:rPr kumimoji="1" lang="ko-KR" altLang="en-US" sz="1100" b="0" i="1" kern="1200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맑은 고딕" panose="020B0503020000020004" pitchFamily="50" charset="-127"/>
                        <a:cs typeface="+mn-cs"/>
                      </a:rPr>
                      <m:t>↓</m:t>
                    </m:r>
                    <m:r>
                      <m:rPr>
                        <m:lit/>
                      </m:rPr>
                      <a:rPr kumimoji="1" lang="en-US" altLang="ko-KR" sz="1100" b="0" i="1" kern="1200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맑은 고딕" panose="020B0503020000020004" pitchFamily="50" charset="-127"/>
                        <a:cs typeface="+mn-cs"/>
                      </a:rPr>
                      <m:t>}</m:t>
                    </m:r>
                    <m:r>
                      <m:rPr>
                        <m:lit/>
                      </m:rPr>
                      <a:rPr kumimoji="1" lang="ko-KR" altLang="en-US" sz="1100" b="0" i="1" kern="1200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맑은 고딕" panose="020B0503020000020004" pitchFamily="50" charset="-127"/>
                        <a:cs typeface="+mn-cs"/>
                      </a:rPr>
                      <m:t>로</m:t>
                    </m:r>
                  </m:oMath>
                </a14:m>
                <a:r>
                  <a:rPr lang="en-US" altLang="ko-KR" dirty="0"/>
                  <a:t> </a:t>
                </a:r>
                <a:r>
                  <a:rPr lang="ko-KR" altLang="en-US" dirty="0"/>
                  <a:t>표현할 수 있습니다</a:t>
                </a:r>
                <a:r>
                  <a:rPr lang="en-US" altLang="ko-KR" dirty="0"/>
                  <a:t>.</a:t>
                </a:r>
              </a:p>
              <a:p>
                <a:pPr marL="0" marR="0" lvl="0" indent="0" algn="l" defTabSz="914400" rtl="0" eaLnBrk="0" fontAlgn="base" latinLnBrk="1" hangingPunct="0">
                  <a:lnSpc>
                    <a:spcPct val="100000"/>
                  </a:lnSpc>
                  <a:spcBef>
                    <a:spcPct val="3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ko-KR" altLang="en-US" dirty="0"/>
                  <a:t>간단한 강화학습에서는 </a:t>
                </a:r>
                <a:r>
                  <a:rPr lang="en-US" altLang="ko-KR" dirty="0"/>
                  <a:t>S</a:t>
                </a:r>
                <a:r>
                  <a:rPr lang="ko-KR" altLang="en-US" dirty="0"/>
                  <a:t>와 </a:t>
                </a:r>
                <a:r>
                  <a:rPr lang="en-US" altLang="ko-KR" dirty="0"/>
                  <a:t>A</a:t>
                </a:r>
                <a:r>
                  <a:rPr lang="ko-KR" altLang="en-US" dirty="0"/>
                  <a:t>가 모두 유한집합인 경우만을 생각하는데 이것을 </a:t>
                </a:r>
                <a:r>
                  <a:rPr lang="en-US" altLang="ko-KR" dirty="0"/>
                  <a:t>finite MDP</a:t>
                </a:r>
                <a:r>
                  <a:rPr lang="ko-KR" altLang="en-US" dirty="0"/>
                  <a:t>라고도 부릅니다</a:t>
                </a:r>
                <a:r>
                  <a:rPr lang="en-US" altLang="ko-KR" dirty="0"/>
                  <a:t>.</a:t>
                </a:r>
              </a:p>
              <a:p>
                <a:endParaRPr lang="en-US" altLang="ko-KR" dirty="0"/>
              </a:p>
              <a:p>
                <a:r>
                  <a:rPr lang="ko-KR" altLang="en-US" dirty="0"/>
                  <a:t>다음으로는 </a:t>
                </a:r>
                <a:r>
                  <a:rPr lang="en-US" altLang="ko-KR" dirty="0" err="1"/>
                  <a:t>markov</a:t>
                </a:r>
                <a:r>
                  <a:rPr lang="en-US" altLang="ko-KR" dirty="0"/>
                  <a:t> property</a:t>
                </a:r>
                <a:r>
                  <a:rPr lang="ko-KR" altLang="en-US" dirty="0"/>
                  <a:t>이라는 것이 있습니다</a:t>
                </a:r>
                <a:r>
                  <a:rPr lang="en-US" altLang="ko-KR" dirty="0"/>
                  <a:t>.</a:t>
                </a:r>
              </a:p>
              <a:p>
                <a:r>
                  <a:rPr lang="ko-KR" altLang="en-US" dirty="0"/>
                  <a:t>이것은 </a:t>
                </a:r>
                <a:r>
                  <a:rPr lang="ko-KR" altLang="en-US" dirty="0" err="1"/>
                  <a:t>뭐냐하면</a:t>
                </a:r>
                <a:r>
                  <a:rPr lang="en-US" altLang="ko-KR" dirty="0"/>
                  <a:t>, </a:t>
                </a:r>
                <a:r>
                  <a:rPr lang="ko-KR" altLang="en-US" dirty="0"/>
                  <a:t>현재의 상태가 바로 이전 스텝의 상태와 행동에만 의존한다는 가정입니다</a:t>
                </a:r>
                <a:r>
                  <a:rPr lang="en-US" altLang="ko-KR" dirty="0"/>
                  <a:t>.</a:t>
                </a:r>
              </a:p>
              <a:p>
                <a:r>
                  <a:rPr lang="ko-KR" altLang="en-US" dirty="0"/>
                  <a:t>그러니까</a:t>
                </a:r>
                <a:r>
                  <a:rPr lang="en-US" altLang="ko-KR" dirty="0"/>
                  <a:t>, </a:t>
                </a:r>
                <a:r>
                  <a:rPr lang="ko-KR" altLang="en-US" dirty="0"/>
                  <a:t>일반적으로는</a:t>
                </a:r>
                <a:r>
                  <a:rPr lang="en-US" altLang="ko-KR" dirty="0"/>
                  <a:t> </a:t>
                </a:r>
                <a:r>
                  <a:rPr lang="ko-KR" altLang="en-US" dirty="0"/>
                  <a:t>현재의 상태가 바로 이전 스텝의 상태와 행동</a:t>
                </a:r>
                <a:r>
                  <a:rPr lang="en-US" altLang="ko-KR" dirty="0"/>
                  <a:t> </a:t>
                </a:r>
                <a:r>
                  <a:rPr lang="ko-KR" altLang="en-US" dirty="0"/>
                  <a:t>말고도 더 이전 스텝의 상태와 행동에도 영향을 받겠지만</a:t>
                </a:r>
                <a:r>
                  <a:rPr lang="en-US" altLang="ko-KR" dirty="0"/>
                  <a:t>, </a:t>
                </a:r>
                <a:r>
                  <a:rPr lang="ko-KR" altLang="en-US" dirty="0"/>
                  <a:t>어떤 </a:t>
                </a:r>
                <a:r>
                  <a:rPr lang="en-US" altLang="ko-KR" dirty="0"/>
                  <a:t>decision process</a:t>
                </a:r>
                <a:r>
                  <a:rPr lang="ko-KR" altLang="en-US" dirty="0"/>
                  <a:t>가 </a:t>
                </a:r>
                <a:r>
                  <a:rPr lang="ko-KR" altLang="en-US" dirty="0" err="1"/>
                  <a:t>마코프</a:t>
                </a:r>
                <a:r>
                  <a:rPr lang="ko-KR" altLang="en-US" dirty="0"/>
                  <a:t> 성질을 가진다면</a:t>
                </a:r>
                <a:r>
                  <a:rPr lang="en-US" altLang="ko-KR" dirty="0"/>
                  <a:t>, </a:t>
                </a:r>
                <a:r>
                  <a:rPr lang="ko-KR" altLang="en-US" dirty="0"/>
                  <a:t>두 스텝 이전의 상태와 행동과는 무관하게 바로 직전의 상태와 행동에만 영향을 받는다는 가정입니다</a:t>
                </a:r>
                <a:r>
                  <a:rPr lang="en-US" altLang="ko-KR" dirty="0"/>
                  <a:t>.</a:t>
                </a:r>
              </a:p>
              <a:p>
                <a:endParaRPr lang="en-US" altLang="ko-KR" dirty="0"/>
              </a:p>
              <a:p>
                <a:r>
                  <a:rPr lang="ko-KR" altLang="en-US" dirty="0"/>
                  <a:t>이 성질은 </a:t>
                </a:r>
                <a:r>
                  <a:rPr lang="en-US" altLang="ko-KR" dirty="0"/>
                  <a:t>MDP</a:t>
                </a:r>
                <a:r>
                  <a:rPr lang="ko-KR" altLang="en-US" dirty="0"/>
                  <a:t>에 대한 수학적인 묘사를 더 간단하게 해줍니다</a:t>
                </a:r>
                <a:r>
                  <a:rPr lang="en-US" altLang="ko-KR" dirty="0"/>
                  <a:t>.</a:t>
                </a:r>
              </a:p>
              <a:p>
                <a:r>
                  <a:rPr lang="ko-KR" altLang="en-US" dirty="0"/>
                  <a:t>또한 많은 강화학습 문제 상황들은 이 가정을 해도 괜찮은 경우가 많습니다</a:t>
                </a:r>
                <a:r>
                  <a:rPr lang="en-US" altLang="ko-KR" dirty="0"/>
                  <a:t>.</a:t>
                </a:r>
              </a:p>
              <a:p>
                <a:r>
                  <a:rPr lang="ko-KR" altLang="en-US" dirty="0"/>
                  <a:t>좀 더 일반적으로는</a:t>
                </a:r>
                <a:r>
                  <a:rPr lang="en-US" altLang="ko-KR" dirty="0"/>
                  <a:t>, </a:t>
                </a:r>
                <a:r>
                  <a:rPr lang="ko-KR" altLang="en-US" dirty="0"/>
                  <a:t>확률과정에서 </a:t>
                </a:r>
                <a:r>
                  <a:rPr lang="en-US" altLang="ko-KR" dirty="0" err="1"/>
                  <a:t>markov</a:t>
                </a:r>
                <a:r>
                  <a:rPr lang="en-US" altLang="ko-KR" dirty="0"/>
                  <a:t> property</a:t>
                </a:r>
                <a:r>
                  <a:rPr lang="ko-KR" altLang="en-US" dirty="0"/>
                  <a:t>를 만족시키면 그것을 </a:t>
                </a:r>
                <a:r>
                  <a:rPr lang="en-US" altLang="ko-KR" dirty="0" err="1"/>
                  <a:t>markov</a:t>
                </a:r>
                <a:r>
                  <a:rPr lang="en-US" altLang="ko-KR" dirty="0"/>
                  <a:t> process </a:t>
                </a:r>
                <a:r>
                  <a:rPr lang="ko-KR" altLang="en-US" dirty="0"/>
                  <a:t>혹은 </a:t>
                </a:r>
                <a:r>
                  <a:rPr lang="en-US" altLang="ko-KR" dirty="0" err="1"/>
                  <a:t>markov</a:t>
                </a:r>
                <a:r>
                  <a:rPr lang="en-US" altLang="ko-KR" dirty="0"/>
                  <a:t> chain</a:t>
                </a:r>
                <a:r>
                  <a:rPr lang="ko-KR" altLang="en-US" dirty="0"/>
                  <a:t>이라고도 부릅니다</a:t>
                </a:r>
                <a:r>
                  <a:rPr lang="en-US" altLang="ko-KR" dirty="0"/>
                  <a:t>.</a:t>
                </a:r>
              </a:p>
            </p:txBody>
          </p:sp>
        </mc:Choice>
        <mc:Fallback xmlns="">
          <p:sp>
            <p:nvSpPr>
              <p:cNvPr id="3" name="슬라이드 노트 개체 틀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ko-KR" altLang="en-US" dirty="0"/>
                  <a:t>이 슬라이드부터 나오는 세 개의 슬라이드에서 </a:t>
                </a:r>
                <a:r>
                  <a:rPr lang="en-US" altLang="ko-KR" dirty="0"/>
                  <a:t>MDP, </a:t>
                </a:r>
                <a:r>
                  <a:rPr lang="ko-KR" altLang="en-US" dirty="0"/>
                  <a:t>즉 </a:t>
                </a:r>
                <a:r>
                  <a:rPr lang="en-US" altLang="ko-KR" dirty="0"/>
                  <a:t>Markov decision process</a:t>
                </a:r>
                <a:r>
                  <a:rPr lang="ko-KR" altLang="en-US" dirty="0"/>
                  <a:t>에 대해 설명해보려 합니다</a:t>
                </a:r>
                <a:r>
                  <a:rPr lang="en-US" altLang="ko-KR" dirty="0"/>
                  <a:t>.</a:t>
                </a:r>
              </a:p>
              <a:p>
                <a:r>
                  <a:rPr lang="en-US" altLang="ko-KR" dirty="0"/>
                  <a:t>MDP</a:t>
                </a:r>
                <a:r>
                  <a:rPr lang="ko-KR" altLang="en-US" dirty="0"/>
                  <a:t>는 강화학습에서 다루는 문제가 어떤 문제인지 설명합니다</a:t>
                </a:r>
                <a:r>
                  <a:rPr lang="en-US" altLang="ko-KR" dirty="0"/>
                  <a:t>.</a:t>
                </a:r>
              </a:p>
              <a:p>
                <a:endParaRPr lang="en-US" altLang="ko-KR" dirty="0"/>
              </a:p>
              <a:p>
                <a:r>
                  <a:rPr lang="ko-KR" altLang="en-US" dirty="0"/>
                  <a:t>수학에서 확률과정</a:t>
                </a:r>
                <a:r>
                  <a:rPr lang="en-US" altLang="ko-KR" dirty="0"/>
                  <a:t>(random process) </a:t>
                </a:r>
                <a:r>
                  <a:rPr lang="ko-KR" altLang="en-US" dirty="0"/>
                  <a:t>이라고 하면 확률변수들의 나열을 말합니다</a:t>
                </a:r>
                <a:r>
                  <a:rPr lang="en-US" altLang="ko-KR" dirty="0"/>
                  <a:t>.</a:t>
                </a:r>
              </a:p>
              <a:p>
                <a:r>
                  <a:rPr lang="en-US" altLang="ko-KR" dirty="0"/>
                  <a:t>MDP</a:t>
                </a:r>
                <a:r>
                  <a:rPr lang="ko-KR" altLang="en-US" dirty="0"/>
                  <a:t>도 하나의 </a:t>
                </a:r>
                <a:r>
                  <a:rPr lang="en-US" altLang="ko-KR" dirty="0"/>
                  <a:t>process</a:t>
                </a:r>
                <a:r>
                  <a:rPr lang="ko-KR" altLang="en-US" dirty="0"/>
                  <a:t>이므로 마찬가지로 확률변수들의 나열인데</a:t>
                </a:r>
                <a:r>
                  <a:rPr lang="en-US" altLang="ko-KR" dirty="0"/>
                  <a:t>, decision process</a:t>
                </a:r>
                <a:r>
                  <a:rPr lang="ko-KR" altLang="en-US" dirty="0"/>
                  <a:t>는 특정한 변수들의 나열입니다</a:t>
                </a:r>
                <a:r>
                  <a:rPr lang="en-US" altLang="ko-KR" dirty="0"/>
                  <a:t>.</a:t>
                </a:r>
              </a:p>
              <a:p>
                <a:r>
                  <a:rPr lang="ko-KR" altLang="en-US" dirty="0"/>
                  <a:t>다시 말해</a:t>
                </a:r>
                <a:r>
                  <a:rPr lang="en-US" altLang="ko-KR" dirty="0"/>
                  <a:t>, S, A, R, S, A, R</a:t>
                </a:r>
                <a:r>
                  <a:rPr lang="ko-KR" altLang="en-US" dirty="0"/>
                  <a:t>과 같은 확률변수들이 나열되는 것을 의사결정과정</a:t>
                </a:r>
                <a:r>
                  <a:rPr lang="en-US" altLang="ko-KR" dirty="0"/>
                  <a:t>, decision process</a:t>
                </a:r>
                <a:r>
                  <a:rPr lang="ko-KR" altLang="en-US" dirty="0"/>
                  <a:t>라고 합니다</a:t>
                </a:r>
                <a:r>
                  <a:rPr lang="en-US" altLang="ko-KR" dirty="0"/>
                  <a:t>.</a:t>
                </a:r>
              </a:p>
              <a:p>
                <a:r>
                  <a:rPr lang="ko-KR" altLang="en-US" dirty="0"/>
                  <a:t>그리고 그 중에서도 </a:t>
                </a:r>
                <a:r>
                  <a:rPr lang="ko-KR" altLang="en-US" dirty="0" err="1"/>
                  <a:t>마르코프</a:t>
                </a:r>
                <a:r>
                  <a:rPr lang="ko-KR" altLang="en-US" dirty="0"/>
                  <a:t> 성질을 만족시키는 의사결정과정을 </a:t>
                </a:r>
                <a:r>
                  <a:rPr lang="en-US" altLang="ko-KR" dirty="0"/>
                  <a:t>MDP</a:t>
                </a:r>
                <a:r>
                  <a:rPr lang="ko-KR" altLang="en-US" dirty="0"/>
                  <a:t>라고 합니다</a:t>
                </a:r>
                <a:r>
                  <a:rPr lang="en-US" altLang="ko-KR" dirty="0"/>
                  <a:t>.</a:t>
                </a:r>
              </a:p>
              <a:p>
                <a:r>
                  <a:rPr lang="ko-KR" altLang="en-US" dirty="0"/>
                  <a:t>각각의 확률변수들은 시간순서를 명시할 필요가 있기 때문에 </a:t>
                </a:r>
                <a:r>
                  <a:rPr lang="en-US" altLang="ko-KR" dirty="0" err="1"/>
                  <a:t>S_t</a:t>
                </a:r>
                <a:r>
                  <a:rPr lang="en-US" altLang="ko-KR" dirty="0"/>
                  <a:t>, </a:t>
                </a:r>
                <a:r>
                  <a:rPr lang="en-US" altLang="ko-KR" dirty="0" err="1"/>
                  <a:t>A_t</a:t>
                </a:r>
                <a:r>
                  <a:rPr lang="en-US" altLang="ko-KR" dirty="0"/>
                  <a:t>, R_{t+1} … </a:t>
                </a:r>
                <a:r>
                  <a:rPr lang="ko-KR" altLang="en-US" dirty="0"/>
                  <a:t>등과 같이 </a:t>
                </a:r>
                <a:r>
                  <a:rPr lang="en-US" altLang="ko-KR" dirty="0"/>
                  <a:t>timestep t</a:t>
                </a:r>
                <a:r>
                  <a:rPr lang="ko-KR" altLang="en-US" dirty="0"/>
                  <a:t>를 붙여서 표현합니다</a:t>
                </a:r>
                <a:r>
                  <a:rPr lang="en-US" altLang="ko-KR" dirty="0"/>
                  <a:t>.</a:t>
                </a:r>
              </a:p>
              <a:p>
                <a:endParaRPr lang="en-US" altLang="ko-KR" dirty="0"/>
              </a:p>
              <a:p>
                <a:r>
                  <a:rPr lang="ko-KR" altLang="en-US" dirty="0"/>
                  <a:t>이때</a:t>
                </a:r>
                <a:r>
                  <a:rPr lang="en-US" altLang="ko-KR" dirty="0"/>
                  <a:t>, </a:t>
                </a:r>
                <a:r>
                  <a:rPr lang="ko-KR" altLang="en-US" dirty="0"/>
                  <a:t>각 확률변수들에 특정 값들이 지정된 상태를 </a:t>
                </a:r>
                <a:r>
                  <a:rPr lang="en-US" altLang="ko-KR" dirty="0"/>
                  <a:t>trajectory</a:t>
                </a:r>
                <a:r>
                  <a:rPr lang="ko-KR" altLang="en-US" dirty="0"/>
                  <a:t>라고</a:t>
                </a:r>
                <a:r>
                  <a:rPr lang="en-US" altLang="ko-KR" dirty="0"/>
                  <a:t> </a:t>
                </a:r>
                <a:r>
                  <a:rPr lang="ko-KR" altLang="en-US" dirty="0"/>
                  <a:t>부릅니다</a:t>
                </a:r>
                <a:r>
                  <a:rPr lang="en-US" altLang="ko-KR" dirty="0"/>
                  <a:t>.</a:t>
                </a:r>
              </a:p>
              <a:p>
                <a:r>
                  <a:rPr lang="ko-KR" altLang="en-US" dirty="0"/>
                  <a:t>이러한 </a:t>
                </a:r>
                <a:r>
                  <a:rPr lang="en-US" altLang="ko-KR" dirty="0"/>
                  <a:t>trajectory</a:t>
                </a:r>
                <a:r>
                  <a:rPr lang="ko-KR" altLang="en-US" dirty="0"/>
                  <a:t>는 끝없이 계속될 수도 있고 어느 순간 </a:t>
                </a:r>
                <a:r>
                  <a:rPr lang="en-US" altLang="ko-KR" dirty="0"/>
                  <a:t>terminal state</a:t>
                </a:r>
                <a:r>
                  <a:rPr lang="ko-KR" altLang="en-US" dirty="0"/>
                  <a:t>에 도달하여 멈출 수도 있습니다</a:t>
                </a:r>
                <a:r>
                  <a:rPr lang="en-US" altLang="ko-KR" dirty="0"/>
                  <a:t>.</a:t>
                </a:r>
              </a:p>
              <a:p>
                <a:r>
                  <a:rPr lang="en-US" altLang="ko-KR" dirty="0"/>
                  <a:t>terminal state</a:t>
                </a:r>
                <a:r>
                  <a:rPr lang="ko-KR" altLang="en-US" dirty="0"/>
                  <a:t>에 도달하는 경우에 </a:t>
                </a:r>
                <a:r>
                  <a:rPr lang="en-US" altLang="ko-KR" dirty="0"/>
                  <a:t>trajectory</a:t>
                </a:r>
                <a:r>
                  <a:rPr lang="ko-KR" altLang="en-US" dirty="0"/>
                  <a:t>를 </a:t>
                </a:r>
                <a:r>
                  <a:rPr lang="en-US" altLang="ko-KR" dirty="0"/>
                  <a:t>episode</a:t>
                </a:r>
                <a:r>
                  <a:rPr lang="ko-KR" altLang="en-US" dirty="0"/>
                  <a:t>라고 부릅니다</a:t>
                </a:r>
                <a:r>
                  <a:rPr lang="en-US" altLang="ko-KR" dirty="0"/>
                  <a:t>.</a:t>
                </a:r>
              </a:p>
              <a:p>
                <a:endParaRPr lang="en-US" altLang="ko-KR" dirty="0"/>
              </a:p>
              <a:p>
                <a:r>
                  <a:rPr lang="ko-KR" altLang="en-US" dirty="0"/>
                  <a:t>너무 개념적인 설명만 많이 했기 때문에 예를 들어 설명해보겠습니다</a:t>
                </a:r>
                <a:r>
                  <a:rPr lang="en-US" altLang="ko-KR" dirty="0"/>
                  <a:t>.</a:t>
                </a:r>
              </a:p>
              <a:p>
                <a:r>
                  <a:rPr lang="ko-KR" altLang="en-US" dirty="0"/>
                  <a:t>아래 그림과 같은 격자모양의 공간이 있다고 하겠습니다</a:t>
                </a:r>
                <a:r>
                  <a:rPr lang="en-US" altLang="ko-KR" dirty="0"/>
                  <a:t>.</a:t>
                </a:r>
              </a:p>
              <a:p>
                <a:pPr marL="0" marR="0" lvl="0" indent="0" algn="l" defTabSz="914400" rtl="0" eaLnBrk="0" fontAlgn="base" latinLnBrk="1" hangingPunct="0">
                  <a:lnSpc>
                    <a:spcPct val="100000"/>
                  </a:lnSpc>
                  <a:spcBef>
                    <a:spcPct val="3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ko-KR" dirty="0"/>
                  <a:t>(1,1)</a:t>
                </a:r>
                <a:r>
                  <a:rPr lang="ko-KR" altLang="en-US" dirty="0"/>
                  <a:t>에서 시작하여 상하좌우로 움직이는 몇 번의 과정 뒤에 </a:t>
                </a:r>
                <a:r>
                  <a:rPr lang="en-US" altLang="ko-KR" dirty="0"/>
                  <a:t>(4,2) </a:t>
                </a:r>
                <a:r>
                  <a:rPr lang="ko-KR" altLang="en-US" dirty="0"/>
                  <a:t>또는 </a:t>
                </a:r>
                <a:r>
                  <a:rPr lang="en-US" altLang="ko-KR" dirty="0"/>
                  <a:t>(4,3)</a:t>
                </a:r>
                <a:r>
                  <a:rPr lang="ko-KR" altLang="en-US" dirty="0"/>
                  <a:t>에 도달하면 끝나는 환경을 생각하겠습니다</a:t>
                </a:r>
                <a:r>
                  <a:rPr lang="en-US" altLang="ko-KR" dirty="0"/>
                  <a:t>.</a:t>
                </a:r>
              </a:p>
              <a:p>
                <a:pPr marL="0" marR="0" lvl="0" indent="0" algn="l" defTabSz="914400" rtl="0" eaLnBrk="0" fontAlgn="base" latinLnBrk="1" hangingPunct="0">
                  <a:lnSpc>
                    <a:spcPct val="100000"/>
                  </a:lnSpc>
                  <a:spcBef>
                    <a:spcPct val="3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ko-KR" altLang="en-US" dirty="0"/>
                  <a:t>단</a:t>
                </a:r>
                <a:r>
                  <a:rPr lang="en-US" altLang="ko-KR" dirty="0"/>
                  <a:t>, </a:t>
                </a:r>
                <a:r>
                  <a:rPr lang="ko-KR" altLang="en-US" dirty="0"/>
                  <a:t>움직일 때 </a:t>
                </a:r>
                <a:r>
                  <a:rPr lang="ko-KR" altLang="en-US" dirty="0" err="1"/>
                  <a:t>막혀있는</a:t>
                </a:r>
                <a:r>
                  <a:rPr lang="ko-KR" altLang="en-US" dirty="0"/>
                  <a:t> </a:t>
                </a:r>
                <a:r>
                  <a:rPr lang="en-US" altLang="ko-KR" dirty="0"/>
                  <a:t>(2,2)</a:t>
                </a:r>
                <a:r>
                  <a:rPr lang="ko-KR" altLang="en-US" dirty="0"/>
                  <a:t>같은 부분이 있으면 움직일 수 없습니다</a:t>
                </a:r>
                <a:r>
                  <a:rPr lang="en-US" altLang="ko-KR" dirty="0"/>
                  <a:t>.</a:t>
                </a:r>
              </a:p>
              <a:p>
                <a:pPr marL="0" marR="0" lvl="0" indent="0" algn="l" defTabSz="914400" rtl="0" eaLnBrk="0" fontAlgn="base" latinLnBrk="1" hangingPunct="0">
                  <a:lnSpc>
                    <a:spcPct val="100000"/>
                  </a:lnSpc>
                  <a:spcBef>
                    <a:spcPct val="3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ko-KR" altLang="en-US" dirty="0"/>
                  <a:t>예를 들어 </a:t>
                </a:r>
                <a:r>
                  <a:rPr lang="en-US" altLang="ko-KR" dirty="0"/>
                  <a:t>(1,2)</a:t>
                </a:r>
                <a:r>
                  <a:rPr lang="ko-KR" altLang="en-US" dirty="0"/>
                  <a:t>에서는 왼쪽이나 오른쪽으로 움직일 수 없으니 위쪽 또는 아래쪽으로만 움직일 수 있습니다</a:t>
                </a:r>
                <a:r>
                  <a:rPr lang="en-US" altLang="ko-KR" dirty="0"/>
                  <a:t>.</a:t>
                </a:r>
              </a:p>
              <a:p>
                <a:pPr marL="0" marR="0" lvl="0" indent="0" algn="l" defTabSz="914400" rtl="0" eaLnBrk="0" fontAlgn="base" latinLnBrk="1" hangingPunct="0">
                  <a:lnSpc>
                    <a:spcPct val="100000"/>
                  </a:lnSpc>
                  <a:spcBef>
                    <a:spcPct val="3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ko-KR" dirty="0"/>
                  <a:t>(2,4)</a:t>
                </a:r>
                <a:r>
                  <a:rPr lang="ko-KR" altLang="en-US" dirty="0"/>
                  <a:t>와 </a:t>
                </a:r>
                <a:r>
                  <a:rPr lang="en-US" altLang="ko-KR" dirty="0"/>
                  <a:t>(3,4)</a:t>
                </a:r>
                <a:r>
                  <a:rPr lang="ko-KR" altLang="en-US" dirty="0"/>
                  <a:t>는 도달하면 끝나기 때문에 </a:t>
                </a:r>
                <a:r>
                  <a:rPr lang="en-US" altLang="ko-KR" dirty="0"/>
                  <a:t>terminal state</a:t>
                </a:r>
                <a:r>
                  <a:rPr lang="ko-KR" altLang="en-US" dirty="0"/>
                  <a:t>에 해당하는데 </a:t>
                </a:r>
                <a:r>
                  <a:rPr lang="en-US" altLang="ko-KR" dirty="0"/>
                  <a:t>(4,2)</a:t>
                </a:r>
                <a:r>
                  <a:rPr lang="ko-KR" altLang="en-US" dirty="0"/>
                  <a:t>에 도달하면 </a:t>
                </a:r>
                <a:r>
                  <a:rPr lang="en-US" altLang="ko-KR" dirty="0"/>
                  <a:t>-1</a:t>
                </a:r>
                <a:r>
                  <a:rPr lang="ko-KR" altLang="en-US" dirty="0"/>
                  <a:t>의 보상을 </a:t>
                </a:r>
                <a:r>
                  <a:rPr lang="en-US" altLang="ko-KR" dirty="0"/>
                  <a:t>(4,3)</a:t>
                </a:r>
                <a:r>
                  <a:rPr lang="ko-KR" altLang="en-US" dirty="0"/>
                  <a:t>에 도달하면 </a:t>
                </a:r>
                <a:r>
                  <a:rPr lang="en-US" altLang="ko-KR" dirty="0"/>
                  <a:t>1</a:t>
                </a:r>
                <a:r>
                  <a:rPr lang="ko-KR" altLang="en-US" dirty="0"/>
                  <a:t>의 보상을 받습니다</a:t>
                </a:r>
                <a:r>
                  <a:rPr lang="en-US" altLang="ko-KR" dirty="0"/>
                  <a:t>.</a:t>
                </a:r>
              </a:p>
              <a:p>
                <a:pPr marL="0" marR="0" lvl="0" indent="0" algn="l" defTabSz="914400" rtl="0" eaLnBrk="0" fontAlgn="base" latinLnBrk="1" hangingPunct="0">
                  <a:lnSpc>
                    <a:spcPct val="100000"/>
                  </a:lnSpc>
                  <a:spcBef>
                    <a:spcPct val="3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ko-KR" altLang="en-US" dirty="0"/>
                  <a:t>그리고 </a:t>
                </a:r>
                <a:r>
                  <a:rPr lang="en-US" altLang="ko-KR" dirty="0"/>
                  <a:t>agent</a:t>
                </a:r>
                <a:r>
                  <a:rPr lang="ko-KR" altLang="en-US" dirty="0"/>
                  <a:t>는 매번 움직일 때마다 움직이는 비용으로서 </a:t>
                </a:r>
                <a:r>
                  <a:rPr lang="en-US" altLang="ko-KR" dirty="0"/>
                  <a:t>-0.1</a:t>
                </a:r>
                <a:r>
                  <a:rPr lang="ko-KR" altLang="en-US" dirty="0"/>
                  <a:t>의 보상을 받는다고 하겠습니다</a:t>
                </a:r>
                <a:r>
                  <a:rPr lang="en-US" altLang="ko-KR" dirty="0"/>
                  <a:t>.</a:t>
                </a:r>
              </a:p>
              <a:p>
                <a:pPr marL="0" marR="0" lvl="0" indent="0" algn="l" defTabSz="914400" rtl="0" eaLnBrk="0" fontAlgn="base" latinLnBrk="1" hangingPunct="0">
                  <a:lnSpc>
                    <a:spcPct val="100000"/>
                  </a:lnSpc>
                  <a:spcBef>
                    <a:spcPct val="3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altLang="ko-KR" dirty="0"/>
              </a:p>
              <a:p>
                <a:pPr marL="0" marR="0" lvl="0" indent="0" algn="l" defTabSz="914400" rtl="0" eaLnBrk="0" fontAlgn="base" latinLnBrk="1" hangingPunct="0">
                  <a:lnSpc>
                    <a:spcPct val="100000"/>
                  </a:lnSpc>
                  <a:spcBef>
                    <a:spcPct val="3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ko-KR" altLang="en-US" dirty="0"/>
                  <a:t>이러한 환경을 </a:t>
                </a:r>
                <a:r>
                  <a:rPr lang="en-US" altLang="ko-KR" dirty="0"/>
                  <a:t>grid world</a:t>
                </a:r>
                <a:r>
                  <a:rPr lang="ko-KR" altLang="en-US" dirty="0"/>
                  <a:t>라고 부릅니다</a:t>
                </a:r>
                <a:r>
                  <a:rPr lang="en-US" altLang="ko-KR" dirty="0"/>
                  <a:t>.</a:t>
                </a:r>
              </a:p>
              <a:p>
                <a:pPr marL="0" marR="0" lvl="0" indent="0" algn="l" defTabSz="914400" rtl="0" eaLnBrk="0" fontAlgn="base" latinLnBrk="1" hangingPunct="0">
                  <a:lnSpc>
                    <a:spcPct val="100000"/>
                  </a:lnSpc>
                  <a:spcBef>
                    <a:spcPct val="3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ko-KR" altLang="en-US" dirty="0"/>
                  <a:t>이때 상태집합</a:t>
                </a:r>
                <a:r>
                  <a:rPr lang="en-US" altLang="ko-KR" dirty="0"/>
                  <a:t>(state space)</a:t>
                </a:r>
                <a:r>
                  <a:rPr lang="ko-KR" altLang="en-US" dirty="0"/>
                  <a:t>은 </a:t>
                </a:r>
                <a:r>
                  <a:rPr lang="en-US" altLang="ko-KR" b="1" i="0" dirty="0">
                    <a:latin typeface="Cambria Math" panose="02040503050406030204" pitchFamily="18" charset="0"/>
                  </a:rPr>
                  <a:t>\𝐒</a:t>
                </a:r>
                <a:r>
                  <a:rPr lang="en-US" altLang="ko-KR" b="0" i="0" dirty="0">
                    <a:latin typeface="Cambria Math" panose="02040503050406030204" pitchFamily="18" charset="0"/>
                  </a:rPr>
                  <a:t>=\</a:t>
                </a:r>
                <a:r>
                  <a:rPr lang="en-US" altLang="ko-KR" i="0" dirty="0">
                    <a:latin typeface="Cambria Math" panose="02040503050406030204" pitchFamily="18" charset="0"/>
                  </a:rPr>
                  <a:t>{(1,1),(1,2),⋯,(4,3)\}</a:t>
                </a:r>
                <a:r>
                  <a:rPr lang="en-US" altLang="ko-KR" dirty="0"/>
                  <a:t>, </a:t>
                </a:r>
                <a:r>
                  <a:rPr lang="ko-KR" altLang="en-US" dirty="0"/>
                  <a:t>행동집합</a:t>
                </a:r>
                <a:r>
                  <a:rPr lang="en-US" altLang="ko-KR" dirty="0"/>
                  <a:t>(action space)</a:t>
                </a:r>
                <a:r>
                  <a:rPr lang="ko-KR" altLang="en-US" dirty="0"/>
                  <a:t>은 </a:t>
                </a:r>
                <a:r>
                  <a:rPr kumimoji="1" lang="en-US" altLang="ko-KR" sz="1100" b="1" i="0" kern="120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맑은 고딕" panose="020B0503020000020004" pitchFamily="50" charset="-127"/>
                    <a:cs typeface="+mn-cs"/>
                  </a:rPr>
                  <a:t>𝑨</a:t>
                </a:r>
                <a:r>
                  <a:rPr kumimoji="1" lang="en-US" altLang="ko-KR" sz="1100" b="0" i="0" kern="120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맑은 고딕" panose="020B0503020000020004" pitchFamily="50" charset="-127"/>
                    <a:cs typeface="+mn-cs"/>
                  </a:rPr>
                  <a:t>=\{</a:t>
                </a:r>
                <a:r>
                  <a:rPr kumimoji="1" lang="ko-KR" altLang="en-US" sz="1100" b="0" i="0" kern="120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맑은 고딕" panose="020B0503020000020004" pitchFamily="50" charset="-127"/>
                    <a:cs typeface="+mn-cs"/>
                  </a:rPr>
                  <a:t>→</a:t>
                </a:r>
                <a:r>
                  <a:rPr kumimoji="1" lang="en-US" altLang="ko-KR" sz="1100" b="0" i="0" kern="120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맑은 고딕" panose="020B0503020000020004" pitchFamily="50" charset="-127"/>
                    <a:cs typeface="+mn-cs"/>
                  </a:rPr>
                  <a:t>, </a:t>
                </a:r>
                <a:r>
                  <a:rPr kumimoji="1" lang="ko-KR" altLang="en-US" sz="1100" b="0" i="0" kern="120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맑은 고딕" panose="020B0503020000020004" pitchFamily="50" charset="-127"/>
                    <a:cs typeface="+mn-cs"/>
                  </a:rPr>
                  <a:t>←</a:t>
                </a:r>
                <a:r>
                  <a:rPr kumimoji="1" lang="en-US" altLang="ko-KR" sz="1100" b="0" i="0" kern="120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맑은 고딕" panose="020B0503020000020004" pitchFamily="50" charset="-127"/>
                    <a:cs typeface="+mn-cs"/>
                  </a:rPr>
                  <a:t>, </a:t>
                </a:r>
                <a:r>
                  <a:rPr kumimoji="1" lang="ko-KR" altLang="en-US" sz="1100" b="0" i="0" kern="120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맑은 고딕" panose="020B0503020000020004" pitchFamily="50" charset="-127"/>
                    <a:cs typeface="+mn-cs"/>
                  </a:rPr>
                  <a:t>↑</a:t>
                </a:r>
                <a:r>
                  <a:rPr kumimoji="1" lang="en-US" altLang="ko-KR" sz="1100" b="0" i="0" kern="120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맑은 고딕" panose="020B0503020000020004" pitchFamily="50" charset="-127"/>
                    <a:cs typeface="+mn-cs"/>
                  </a:rPr>
                  <a:t>, </a:t>
                </a:r>
                <a:r>
                  <a:rPr kumimoji="1" lang="ko-KR" altLang="en-US" sz="1100" b="0" i="0" kern="120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맑은 고딕" panose="020B0503020000020004" pitchFamily="50" charset="-127"/>
                    <a:cs typeface="+mn-cs"/>
                  </a:rPr>
                  <a:t>↓</a:t>
                </a:r>
                <a:r>
                  <a:rPr kumimoji="1" lang="en-US" altLang="ko-KR" sz="1100" b="0" i="0" kern="120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맑은 고딕" panose="020B0503020000020004" pitchFamily="50" charset="-127"/>
                    <a:cs typeface="+mn-cs"/>
                  </a:rPr>
                  <a:t>\}</a:t>
                </a:r>
                <a:r>
                  <a:rPr kumimoji="1" lang="ko-KR" altLang="en-US" sz="1100" b="0" i="0" kern="120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맑은 고딕" panose="020B0503020000020004" pitchFamily="50" charset="-127"/>
                    <a:cs typeface="+mn-cs"/>
                  </a:rPr>
                  <a:t>\로</a:t>
                </a:r>
                <a:r>
                  <a:rPr lang="en-US" altLang="ko-KR" dirty="0"/>
                  <a:t> </a:t>
                </a:r>
                <a:r>
                  <a:rPr lang="ko-KR" altLang="en-US" dirty="0"/>
                  <a:t>표현할 수 있습니다</a:t>
                </a:r>
                <a:r>
                  <a:rPr lang="en-US" altLang="ko-KR" dirty="0"/>
                  <a:t>.</a:t>
                </a:r>
              </a:p>
              <a:p>
                <a:pPr marL="0" marR="0" lvl="0" indent="0" algn="l" defTabSz="914400" rtl="0" eaLnBrk="0" fontAlgn="base" latinLnBrk="1" hangingPunct="0">
                  <a:lnSpc>
                    <a:spcPct val="100000"/>
                  </a:lnSpc>
                  <a:spcBef>
                    <a:spcPct val="3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ko-KR" altLang="en-US" dirty="0"/>
                  <a:t>간단한 강화학습에서는 </a:t>
                </a:r>
                <a:r>
                  <a:rPr lang="en-US" altLang="ko-KR" dirty="0"/>
                  <a:t>S</a:t>
                </a:r>
                <a:r>
                  <a:rPr lang="ko-KR" altLang="en-US" dirty="0"/>
                  <a:t>와 </a:t>
                </a:r>
                <a:r>
                  <a:rPr lang="en-US" altLang="ko-KR" dirty="0"/>
                  <a:t>A</a:t>
                </a:r>
                <a:r>
                  <a:rPr lang="ko-KR" altLang="en-US" dirty="0"/>
                  <a:t>가 모두 유한집합인 경우만을 생각하는데 이것을 </a:t>
                </a:r>
                <a:r>
                  <a:rPr lang="en-US" altLang="ko-KR" dirty="0"/>
                  <a:t>finite MDP</a:t>
                </a:r>
                <a:r>
                  <a:rPr lang="ko-KR" altLang="en-US" dirty="0"/>
                  <a:t>라고도 부릅니다</a:t>
                </a:r>
                <a:r>
                  <a:rPr lang="en-US" altLang="ko-KR" dirty="0"/>
                  <a:t>.</a:t>
                </a:r>
              </a:p>
              <a:p>
                <a:endParaRPr lang="en-US" altLang="ko-KR" dirty="0"/>
              </a:p>
              <a:p>
                <a:r>
                  <a:rPr lang="ko-KR" altLang="en-US" dirty="0"/>
                  <a:t>다음으로는 </a:t>
                </a:r>
                <a:r>
                  <a:rPr lang="en-US" altLang="ko-KR" dirty="0" err="1"/>
                  <a:t>markov</a:t>
                </a:r>
                <a:r>
                  <a:rPr lang="en-US" altLang="ko-KR" dirty="0"/>
                  <a:t> property</a:t>
                </a:r>
                <a:r>
                  <a:rPr lang="ko-KR" altLang="en-US" dirty="0"/>
                  <a:t>이라는 것이 있습니다</a:t>
                </a:r>
                <a:r>
                  <a:rPr lang="en-US" altLang="ko-KR" dirty="0"/>
                  <a:t>.</a:t>
                </a:r>
              </a:p>
              <a:p>
                <a:r>
                  <a:rPr lang="ko-KR" altLang="en-US" dirty="0"/>
                  <a:t>이것은 </a:t>
                </a:r>
                <a:r>
                  <a:rPr lang="ko-KR" altLang="en-US" dirty="0" err="1"/>
                  <a:t>뭐냐하면</a:t>
                </a:r>
                <a:r>
                  <a:rPr lang="en-US" altLang="ko-KR" dirty="0"/>
                  <a:t>, </a:t>
                </a:r>
                <a:r>
                  <a:rPr lang="ko-KR" altLang="en-US" dirty="0"/>
                  <a:t>현재의 상태가 바로 이전 스텝의 상태와 행동에만 의존한다는 가정입니다</a:t>
                </a:r>
                <a:r>
                  <a:rPr lang="en-US" altLang="ko-KR" dirty="0"/>
                  <a:t>.</a:t>
                </a:r>
              </a:p>
              <a:p>
                <a:r>
                  <a:rPr lang="ko-KR" altLang="en-US" dirty="0"/>
                  <a:t>그러니까</a:t>
                </a:r>
                <a:r>
                  <a:rPr lang="en-US" altLang="ko-KR" dirty="0"/>
                  <a:t>, </a:t>
                </a:r>
                <a:r>
                  <a:rPr lang="ko-KR" altLang="en-US" dirty="0"/>
                  <a:t>일반적으로는</a:t>
                </a:r>
                <a:r>
                  <a:rPr lang="en-US" altLang="ko-KR" dirty="0"/>
                  <a:t> </a:t>
                </a:r>
                <a:r>
                  <a:rPr lang="ko-KR" altLang="en-US" dirty="0"/>
                  <a:t>현재의 상태가 바로 이전 스텝의 상태와 행동</a:t>
                </a:r>
                <a:r>
                  <a:rPr lang="en-US" altLang="ko-KR" dirty="0"/>
                  <a:t> </a:t>
                </a:r>
                <a:r>
                  <a:rPr lang="ko-KR" altLang="en-US" dirty="0"/>
                  <a:t>말고도 더 이전 스텝의 상태와 행동에도 영향을 받겠지만</a:t>
                </a:r>
                <a:r>
                  <a:rPr lang="en-US" altLang="ko-KR" dirty="0"/>
                  <a:t>, </a:t>
                </a:r>
                <a:r>
                  <a:rPr lang="ko-KR" altLang="en-US" dirty="0"/>
                  <a:t>어떤 </a:t>
                </a:r>
                <a:r>
                  <a:rPr lang="en-US" altLang="ko-KR" dirty="0"/>
                  <a:t>decision process</a:t>
                </a:r>
                <a:r>
                  <a:rPr lang="ko-KR" altLang="en-US" dirty="0"/>
                  <a:t>가 </a:t>
                </a:r>
                <a:r>
                  <a:rPr lang="ko-KR" altLang="en-US" dirty="0" err="1"/>
                  <a:t>마코프</a:t>
                </a:r>
                <a:r>
                  <a:rPr lang="ko-KR" altLang="en-US" dirty="0"/>
                  <a:t> 성질을 가진다면</a:t>
                </a:r>
                <a:r>
                  <a:rPr lang="en-US" altLang="ko-KR" dirty="0"/>
                  <a:t>, </a:t>
                </a:r>
                <a:r>
                  <a:rPr lang="ko-KR" altLang="en-US" dirty="0"/>
                  <a:t>두 스텝 이전의 상태와 행동과는 무관하게 바로 직전의 상태와 행동에만 영향을 받는다는 가정입니다</a:t>
                </a:r>
                <a:r>
                  <a:rPr lang="en-US" altLang="ko-KR" dirty="0"/>
                  <a:t>.</a:t>
                </a:r>
              </a:p>
              <a:p>
                <a:endParaRPr lang="en-US" altLang="ko-KR" dirty="0"/>
              </a:p>
              <a:p>
                <a:r>
                  <a:rPr lang="ko-KR" altLang="en-US" dirty="0"/>
                  <a:t>이 성질은 </a:t>
                </a:r>
                <a:r>
                  <a:rPr lang="en-US" altLang="ko-KR" dirty="0"/>
                  <a:t>MDP</a:t>
                </a:r>
                <a:r>
                  <a:rPr lang="ko-KR" altLang="en-US" dirty="0"/>
                  <a:t>에 대한 수학적인 묘사를 더 간단하게 해줍니다</a:t>
                </a:r>
                <a:r>
                  <a:rPr lang="en-US" altLang="ko-KR" dirty="0"/>
                  <a:t>.</a:t>
                </a:r>
              </a:p>
              <a:p>
                <a:r>
                  <a:rPr lang="ko-KR" altLang="en-US" dirty="0"/>
                  <a:t>또한 많은 강화학습 문제 상황들은 이 가정을 해도 괜찮은 경우가 많습니다</a:t>
                </a:r>
                <a:r>
                  <a:rPr lang="en-US" altLang="ko-KR" dirty="0"/>
                  <a:t>.</a:t>
                </a:r>
              </a:p>
              <a:p>
                <a:r>
                  <a:rPr lang="ko-KR" altLang="en-US" dirty="0"/>
                  <a:t>좀 더 일반적으로는</a:t>
                </a:r>
                <a:r>
                  <a:rPr lang="en-US" altLang="ko-KR" dirty="0"/>
                  <a:t>, </a:t>
                </a:r>
                <a:r>
                  <a:rPr lang="ko-KR" altLang="en-US" dirty="0"/>
                  <a:t>확률과정에서 </a:t>
                </a:r>
                <a:r>
                  <a:rPr lang="en-US" altLang="ko-KR" dirty="0" err="1"/>
                  <a:t>markov</a:t>
                </a:r>
                <a:r>
                  <a:rPr lang="en-US" altLang="ko-KR" dirty="0"/>
                  <a:t> property</a:t>
                </a:r>
                <a:r>
                  <a:rPr lang="ko-KR" altLang="en-US" dirty="0"/>
                  <a:t>를 만족시키면 그것을 </a:t>
                </a:r>
                <a:r>
                  <a:rPr lang="en-US" altLang="ko-KR" dirty="0" err="1"/>
                  <a:t>markov</a:t>
                </a:r>
                <a:r>
                  <a:rPr lang="en-US" altLang="ko-KR" dirty="0"/>
                  <a:t> process </a:t>
                </a:r>
                <a:r>
                  <a:rPr lang="ko-KR" altLang="en-US" dirty="0"/>
                  <a:t>혹은 </a:t>
                </a:r>
                <a:r>
                  <a:rPr lang="en-US" altLang="ko-KR" dirty="0" err="1"/>
                  <a:t>markov</a:t>
                </a:r>
                <a:r>
                  <a:rPr lang="en-US" altLang="ko-KR" dirty="0"/>
                  <a:t> chain</a:t>
                </a:r>
                <a:r>
                  <a:rPr lang="ko-KR" altLang="en-US" dirty="0"/>
                  <a:t>이라고도 부릅니다</a:t>
                </a:r>
                <a:r>
                  <a:rPr lang="en-US" altLang="ko-KR" dirty="0"/>
                  <a:t>.</a:t>
                </a:r>
              </a:p>
            </p:txBody>
          </p:sp>
        </mc:Fallback>
      </mc:AlternateContent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9642909-6448-426E-9ED7-EFF6CDC2E25C}" type="slidenum">
              <a:rPr lang="ko-KR" altLang="en-US" smtClean="0"/>
              <a:pPr>
                <a:defRPr/>
              </a:pPr>
              <a:t>6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44626966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MDP</a:t>
            </a:r>
            <a:r>
              <a:rPr lang="ko-KR" altLang="en-US" dirty="0"/>
              <a:t>의 환경모델에 대한 설명입니다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다음의 두 환경모델</a:t>
            </a:r>
            <a:r>
              <a:rPr lang="en-US" altLang="ko-KR" dirty="0"/>
              <a:t>, </a:t>
            </a:r>
            <a:r>
              <a:rPr lang="ko-KR" altLang="en-US" dirty="0"/>
              <a:t>전이확률과 보상함수는 환경의 특성을 표현하는 함수 또는 확률식을 말합니다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이것들은 어떤 상태에서 다음 상태로 전이될 때 어떻게 전이되는지를 결정합니다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그래서 이것을 환경모델 즉 </a:t>
            </a:r>
            <a:r>
              <a:rPr lang="en-US" altLang="ko-KR" dirty="0"/>
              <a:t>environment model</a:t>
            </a:r>
            <a:r>
              <a:rPr lang="ko-KR" altLang="en-US" dirty="0"/>
              <a:t>이라고도 부르지만 </a:t>
            </a:r>
            <a:r>
              <a:rPr lang="en-US" altLang="ko-KR" dirty="0"/>
              <a:t>transition dynamics</a:t>
            </a:r>
            <a:r>
              <a:rPr lang="ko-KR" altLang="en-US" dirty="0"/>
              <a:t>라고도 부릅니다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두 환경모델 중 전이확률에 대해서 먼저 말해보겠습니다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이전 슬라이드에서 </a:t>
            </a:r>
            <a:r>
              <a:rPr lang="ko-KR" altLang="en-US" dirty="0" err="1"/>
              <a:t>마코프</a:t>
            </a:r>
            <a:r>
              <a:rPr lang="ko-KR" altLang="en-US" dirty="0"/>
              <a:t> </a:t>
            </a:r>
            <a:r>
              <a:rPr lang="ko-KR" altLang="en-US" dirty="0" err="1"/>
              <a:t>성질을가정했기</a:t>
            </a:r>
            <a:r>
              <a:rPr lang="ko-KR" altLang="en-US" dirty="0"/>
              <a:t> 때문에 여기에 쓴 이 확률 </a:t>
            </a:r>
            <a:r>
              <a:rPr lang="en-US" altLang="ko-KR" dirty="0"/>
              <a:t>p(s‘,</a:t>
            </a:r>
            <a:r>
              <a:rPr lang="en-US" altLang="ko-KR" dirty="0" err="1"/>
              <a:t>r|s,a</a:t>
            </a:r>
            <a:r>
              <a:rPr lang="en-US" altLang="ko-KR" dirty="0"/>
              <a:t>)</a:t>
            </a:r>
            <a:r>
              <a:rPr lang="ko-KR" altLang="en-US" dirty="0"/>
              <a:t> 하나만으로도 상태가 어떻게 전이되는지 알 수 있습니다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여기서는 다음 상태와 보상을 함께 표현했지만 실제로는 전이확률인 </a:t>
            </a:r>
            <a:r>
              <a:rPr lang="en-US" altLang="ko-KR" dirty="0"/>
              <a:t>p(s’|</a:t>
            </a:r>
            <a:r>
              <a:rPr lang="en-US" altLang="ko-KR" dirty="0" err="1"/>
              <a:t>s,a</a:t>
            </a:r>
            <a:r>
              <a:rPr lang="en-US" altLang="ko-KR" dirty="0"/>
              <a:t>)</a:t>
            </a:r>
            <a:r>
              <a:rPr lang="ko-KR" altLang="en-US" dirty="0"/>
              <a:t>와 보상함수 </a:t>
            </a:r>
            <a:r>
              <a:rPr lang="en-US" altLang="ko-KR" dirty="0"/>
              <a:t>r(</a:t>
            </a:r>
            <a:r>
              <a:rPr lang="en-US" altLang="ko-KR" dirty="0" err="1"/>
              <a:t>s,a</a:t>
            </a:r>
            <a:r>
              <a:rPr lang="en-US" altLang="ko-KR" dirty="0"/>
              <a:t>)</a:t>
            </a:r>
            <a:r>
              <a:rPr lang="ko-KR" altLang="en-US" dirty="0"/>
              <a:t>가 따로 표현되는 경우가 더 많습니다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심지어는 확률에 무관하게 다음 상태가 결정되는 경우도 많습니다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실제로</a:t>
            </a:r>
            <a:r>
              <a:rPr lang="en-US" altLang="ko-KR" dirty="0"/>
              <a:t>, </a:t>
            </a:r>
            <a:r>
              <a:rPr lang="ko-KR" altLang="en-US" dirty="0"/>
              <a:t>이전에 </a:t>
            </a:r>
            <a:r>
              <a:rPr lang="ko-KR" altLang="en-US" dirty="0" err="1"/>
              <a:t>소개드린</a:t>
            </a:r>
            <a:r>
              <a:rPr lang="ko-KR" altLang="en-US" dirty="0"/>
              <a:t> </a:t>
            </a:r>
            <a:r>
              <a:rPr lang="en-US" altLang="ko-KR" dirty="0"/>
              <a:t>grid world</a:t>
            </a:r>
            <a:r>
              <a:rPr lang="ko-KR" altLang="en-US" dirty="0"/>
              <a:t>에서는 </a:t>
            </a:r>
            <a:r>
              <a:rPr lang="en-US" altLang="ko-KR" dirty="0"/>
              <a:t>s</a:t>
            </a:r>
            <a:r>
              <a:rPr lang="ko-KR" altLang="en-US" dirty="0"/>
              <a:t>와 </a:t>
            </a:r>
            <a:r>
              <a:rPr lang="en-US" altLang="ko-KR" dirty="0"/>
              <a:t>a</a:t>
            </a:r>
            <a:r>
              <a:rPr lang="ko-KR" altLang="en-US" dirty="0"/>
              <a:t>가 주어졌을 때 그 다음 상태가 확률에 무관하게 결정적으로 주어집니다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grid world </a:t>
            </a:r>
            <a:r>
              <a:rPr lang="ko-KR" altLang="en-US" dirty="0"/>
              <a:t>그림을 보시면 </a:t>
            </a:r>
            <a:r>
              <a:rPr lang="en-US" altLang="ko-KR" dirty="0"/>
              <a:t>(1,2)</a:t>
            </a:r>
            <a:r>
              <a:rPr lang="ko-KR" altLang="en-US" dirty="0"/>
              <a:t>라는 상태에서 위로 가는 행동을 취하면 분명히 </a:t>
            </a:r>
            <a:r>
              <a:rPr lang="en-US" altLang="ko-KR" dirty="0"/>
              <a:t>(1,3)</a:t>
            </a:r>
            <a:r>
              <a:rPr lang="ko-KR" altLang="en-US" dirty="0"/>
              <a:t>로 이동하기 때문에 </a:t>
            </a:r>
            <a:r>
              <a:rPr lang="en-US" altLang="ko-KR" dirty="0"/>
              <a:t>p((1,3)|(1,2),</a:t>
            </a:r>
            <a:r>
              <a:rPr lang="ko-KR" altLang="en-US" dirty="0"/>
              <a:t>↑</a:t>
            </a:r>
            <a:r>
              <a:rPr lang="en-US" altLang="ko-KR" dirty="0"/>
              <a:t>)=1</a:t>
            </a:r>
            <a:r>
              <a:rPr lang="ko-KR" altLang="en-US" dirty="0"/>
              <a:t>입니다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또 같은 상태에서 아래로 가면 분명히 </a:t>
            </a:r>
            <a:r>
              <a:rPr lang="en-US" altLang="ko-KR" dirty="0"/>
              <a:t>(1,1)</a:t>
            </a:r>
            <a:r>
              <a:rPr lang="ko-KR" altLang="en-US" dirty="0"/>
              <a:t>로 이동하기 때문에 </a:t>
            </a:r>
            <a:r>
              <a:rPr lang="en-US" altLang="ko-KR" dirty="0"/>
              <a:t>p((1,1)|(1,2),</a:t>
            </a:r>
            <a:r>
              <a:rPr lang="ko-KR" altLang="en-US" dirty="0"/>
              <a:t>↓</a:t>
            </a:r>
            <a:r>
              <a:rPr lang="en-US" altLang="ko-KR" dirty="0"/>
              <a:t>)=1 </a:t>
            </a:r>
            <a:r>
              <a:rPr lang="ko-KR" altLang="en-US" dirty="0"/>
              <a:t>입니다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그리고 이때의 보상은</a:t>
            </a:r>
            <a:r>
              <a:rPr lang="en-US" altLang="ko-KR" dirty="0"/>
              <a:t>, </a:t>
            </a:r>
            <a:r>
              <a:rPr lang="ko-KR" altLang="en-US" dirty="0"/>
              <a:t>아까 이동시마다 </a:t>
            </a:r>
            <a:r>
              <a:rPr lang="en-US" altLang="ko-KR" dirty="0"/>
              <a:t>-0.1</a:t>
            </a:r>
            <a:r>
              <a:rPr lang="ko-KR" altLang="en-US" dirty="0"/>
              <a:t>이라고 </a:t>
            </a:r>
            <a:r>
              <a:rPr lang="ko-KR" altLang="en-US" dirty="0" err="1"/>
              <a:t>했었기</a:t>
            </a:r>
            <a:r>
              <a:rPr lang="ko-KR" altLang="en-US" dirty="0"/>
              <a:t> 때문에 모두 </a:t>
            </a:r>
            <a:r>
              <a:rPr lang="en-US" altLang="ko-KR" dirty="0"/>
              <a:t>-0.1</a:t>
            </a:r>
            <a:r>
              <a:rPr lang="ko-KR" altLang="en-US" dirty="0"/>
              <a:t>이 됩니다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참고로 말씀드리면</a:t>
            </a:r>
            <a:r>
              <a:rPr lang="en-US" altLang="ko-KR" dirty="0"/>
              <a:t>,</a:t>
            </a:r>
            <a:r>
              <a:rPr lang="ko-KR" altLang="en-US" dirty="0"/>
              <a:t> 실제 강화학습에서는 대부분 환경모델을 모른다고 가정합니다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환경모델을 알 때 쓰는 알고리즘을 </a:t>
            </a:r>
            <a:r>
              <a:rPr lang="en-US" altLang="ko-KR" dirty="0"/>
              <a:t>model based </a:t>
            </a:r>
            <a:r>
              <a:rPr lang="ko-KR" altLang="en-US" dirty="0"/>
              <a:t>방법이라고 부르고</a:t>
            </a:r>
            <a:r>
              <a:rPr lang="en-US" altLang="ko-KR" dirty="0"/>
              <a:t> dynamic programming</a:t>
            </a:r>
            <a:r>
              <a:rPr lang="ko-KR" altLang="en-US" dirty="0"/>
              <a:t>이 대표적인 반면에 환경 모델을 모를 때에는 </a:t>
            </a:r>
            <a:r>
              <a:rPr lang="en-US" altLang="ko-KR" dirty="0"/>
              <a:t>model free </a:t>
            </a:r>
            <a:r>
              <a:rPr lang="ko-KR" altLang="en-US" dirty="0"/>
              <a:t>방법을 사용하는데 대부분의 강화학습 문제는 </a:t>
            </a:r>
            <a:r>
              <a:rPr lang="en-US" altLang="ko-KR" dirty="0"/>
              <a:t>model free </a:t>
            </a:r>
            <a:r>
              <a:rPr lang="ko-KR" altLang="en-US" dirty="0"/>
              <a:t>방식으로 접근하게 됩니다</a:t>
            </a:r>
            <a:r>
              <a:rPr lang="en-US" altLang="ko-KR" dirty="0"/>
              <a:t>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9642909-6448-426E-9ED7-EFF6CDC2E25C}" type="slidenum">
              <a:rPr lang="ko-KR" altLang="en-US" smtClean="0"/>
              <a:pPr>
                <a:defRPr/>
              </a:pPr>
              <a:t>7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26574486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A144EC-AB53-D027-DC9B-C110486719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FFA9D81-92ED-43BD-1D1D-E5B7DA3821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FC6A81B-9221-1AE9-254D-B928D9864C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MDP</a:t>
            </a:r>
            <a:r>
              <a:rPr lang="ko-KR" altLang="en-US" dirty="0"/>
              <a:t>의 환경모델에 대한 설명입니다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다음의 두 환경모델</a:t>
            </a:r>
            <a:r>
              <a:rPr lang="en-US" altLang="ko-KR" dirty="0"/>
              <a:t>, </a:t>
            </a:r>
            <a:r>
              <a:rPr lang="ko-KR" altLang="en-US" dirty="0"/>
              <a:t>전이확률과 보상함수는 환경의 특성을 표현하는 함수 또는 확률식을 말합니다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이것들은 어떤 상태에서 다음 상태로 전이될 때 어떻게 전이되는지를 결정합니다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그래서 이것을 환경모델 즉 </a:t>
            </a:r>
            <a:r>
              <a:rPr lang="en-US" altLang="ko-KR" dirty="0"/>
              <a:t>environment model</a:t>
            </a:r>
            <a:r>
              <a:rPr lang="ko-KR" altLang="en-US" dirty="0"/>
              <a:t>이라고도 부르지만 </a:t>
            </a:r>
            <a:r>
              <a:rPr lang="en-US" altLang="ko-KR" dirty="0"/>
              <a:t>transition dynamics</a:t>
            </a:r>
            <a:r>
              <a:rPr lang="ko-KR" altLang="en-US" dirty="0"/>
              <a:t>라고도 부릅니다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두 환경모델 중 전이확률에 대해서 먼저 말해보겠습니다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이전 슬라이드에서 </a:t>
            </a:r>
            <a:r>
              <a:rPr lang="ko-KR" altLang="en-US" dirty="0" err="1"/>
              <a:t>마코프</a:t>
            </a:r>
            <a:r>
              <a:rPr lang="ko-KR" altLang="en-US" dirty="0"/>
              <a:t> </a:t>
            </a:r>
            <a:r>
              <a:rPr lang="ko-KR" altLang="en-US" dirty="0" err="1"/>
              <a:t>성질을가정했기</a:t>
            </a:r>
            <a:r>
              <a:rPr lang="ko-KR" altLang="en-US" dirty="0"/>
              <a:t> 때문에 여기에 쓴 이 확률 </a:t>
            </a:r>
            <a:r>
              <a:rPr lang="en-US" altLang="ko-KR" dirty="0"/>
              <a:t>p(s‘,</a:t>
            </a:r>
            <a:r>
              <a:rPr lang="en-US" altLang="ko-KR" dirty="0" err="1"/>
              <a:t>r|s,a</a:t>
            </a:r>
            <a:r>
              <a:rPr lang="en-US" altLang="ko-KR" dirty="0"/>
              <a:t>)</a:t>
            </a:r>
            <a:r>
              <a:rPr lang="ko-KR" altLang="en-US" dirty="0"/>
              <a:t> 하나만으로도 상태가 어떻게 전이되는지 알 수 있습니다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여기서는 다음 상태와 보상을 함께 표현했지만 실제로는 전이확률인 </a:t>
            </a:r>
            <a:r>
              <a:rPr lang="en-US" altLang="ko-KR" dirty="0"/>
              <a:t>p(s’|</a:t>
            </a:r>
            <a:r>
              <a:rPr lang="en-US" altLang="ko-KR" dirty="0" err="1"/>
              <a:t>s,a</a:t>
            </a:r>
            <a:r>
              <a:rPr lang="en-US" altLang="ko-KR" dirty="0"/>
              <a:t>)</a:t>
            </a:r>
            <a:r>
              <a:rPr lang="ko-KR" altLang="en-US" dirty="0"/>
              <a:t>와 보상함수 </a:t>
            </a:r>
            <a:r>
              <a:rPr lang="en-US" altLang="ko-KR" dirty="0"/>
              <a:t>r(</a:t>
            </a:r>
            <a:r>
              <a:rPr lang="en-US" altLang="ko-KR" dirty="0" err="1"/>
              <a:t>s,a</a:t>
            </a:r>
            <a:r>
              <a:rPr lang="en-US" altLang="ko-KR" dirty="0"/>
              <a:t>)</a:t>
            </a:r>
            <a:r>
              <a:rPr lang="ko-KR" altLang="en-US" dirty="0"/>
              <a:t>가 따로 표현되는 경우가 더 많습니다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심지어는 확률에 무관하게 다음 상태가 결정되는 경우도 많습니다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실제로</a:t>
            </a:r>
            <a:r>
              <a:rPr lang="en-US" altLang="ko-KR" dirty="0"/>
              <a:t>, </a:t>
            </a:r>
            <a:r>
              <a:rPr lang="ko-KR" altLang="en-US" dirty="0"/>
              <a:t>이전에 </a:t>
            </a:r>
            <a:r>
              <a:rPr lang="ko-KR" altLang="en-US" dirty="0" err="1"/>
              <a:t>소개드린</a:t>
            </a:r>
            <a:r>
              <a:rPr lang="ko-KR" altLang="en-US" dirty="0"/>
              <a:t> </a:t>
            </a:r>
            <a:r>
              <a:rPr lang="en-US" altLang="ko-KR" dirty="0"/>
              <a:t>grid world</a:t>
            </a:r>
            <a:r>
              <a:rPr lang="ko-KR" altLang="en-US" dirty="0"/>
              <a:t>에서는 </a:t>
            </a:r>
            <a:r>
              <a:rPr lang="en-US" altLang="ko-KR" dirty="0"/>
              <a:t>s</a:t>
            </a:r>
            <a:r>
              <a:rPr lang="ko-KR" altLang="en-US" dirty="0"/>
              <a:t>와 </a:t>
            </a:r>
            <a:r>
              <a:rPr lang="en-US" altLang="ko-KR" dirty="0"/>
              <a:t>a</a:t>
            </a:r>
            <a:r>
              <a:rPr lang="ko-KR" altLang="en-US" dirty="0"/>
              <a:t>가 주어졌을 때 그 다음 상태가 확률에 무관하게 결정적으로 주어집니다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grid world </a:t>
            </a:r>
            <a:r>
              <a:rPr lang="ko-KR" altLang="en-US" dirty="0"/>
              <a:t>그림을 보시면 </a:t>
            </a:r>
            <a:r>
              <a:rPr lang="en-US" altLang="ko-KR" dirty="0"/>
              <a:t>(1,2)</a:t>
            </a:r>
            <a:r>
              <a:rPr lang="ko-KR" altLang="en-US" dirty="0"/>
              <a:t>라는 상태에서 위로 가는 행동을 취하면 분명히 </a:t>
            </a:r>
            <a:r>
              <a:rPr lang="en-US" altLang="ko-KR" dirty="0"/>
              <a:t>(1,3)</a:t>
            </a:r>
            <a:r>
              <a:rPr lang="ko-KR" altLang="en-US" dirty="0"/>
              <a:t>로 이동하기 때문에 </a:t>
            </a:r>
            <a:r>
              <a:rPr lang="en-US" altLang="ko-KR" dirty="0"/>
              <a:t>p((1,3)|(1,2),</a:t>
            </a:r>
            <a:r>
              <a:rPr lang="ko-KR" altLang="en-US" dirty="0"/>
              <a:t>↑</a:t>
            </a:r>
            <a:r>
              <a:rPr lang="en-US" altLang="ko-KR" dirty="0"/>
              <a:t>)=1</a:t>
            </a:r>
            <a:r>
              <a:rPr lang="ko-KR" altLang="en-US" dirty="0"/>
              <a:t>입니다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또 같은 상태에서 아래로 가면 분명히 </a:t>
            </a:r>
            <a:r>
              <a:rPr lang="en-US" altLang="ko-KR" dirty="0"/>
              <a:t>(1,1)</a:t>
            </a:r>
            <a:r>
              <a:rPr lang="ko-KR" altLang="en-US" dirty="0"/>
              <a:t>로 이동하기 때문에 </a:t>
            </a:r>
            <a:r>
              <a:rPr lang="en-US" altLang="ko-KR" dirty="0"/>
              <a:t>p((1,1)|(1,2),</a:t>
            </a:r>
            <a:r>
              <a:rPr lang="ko-KR" altLang="en-US" dirty="0"/>
              <a:t>↓</a:t>
            </a:r>
            <a:r>
              <a:rPr lang="en-US" altLang="ko-KR" dirty="0"/>
              <a:t>)=1 </a:t>
            </a:r>
            <a:r>
              <a:rPr lang="ko-KR" altLang="en-US" dirty="0"/>
              <a:t>입니다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그리고 이때의 보상은</a:t>
            </a:r>
            <a:r>
              <a:rPr lang="en-US" altLang="ko-KR" dirty="0"/>
              <a:t>, </a:t>
            </a:r>
            <a:r>
              <a:rPr lang="ko-KR" altLang="en-US" dirty="0"/>
              <a:t>아까 이동시마다 </a:t>
            </a:r>
            <a:r>
              <a:rPr lang="en-US" altLang="ko-KR" dirty="0"/>
              <a:t>-0.1</a:t>
            </a:r>
            <a:r>
              <a:rPr lang="ko-KR" altLang="en-US" dirty="0"/>
              <a:t>이라고 </a:t>
            </a:r>
            <a:r>
              <a:rPr lang="ko-KR" altLang="en-US" dirty="0" err="1"/>
              <a:t>했었기</a:t>
            </a:r>
            <a:r>
              <a:rPr lang="ko-KR" altLang="en-US" dirty="0"/>
              <a:t> 때문에 모두 </a:t>
            </a:r>
            <a:r>
              <a:rPr lang="en-US" altLang="ko-KR" dirty="0"/>
              <a:t>-0.1</a:t>
            </a:r>
            <a:r>
              <a:rPr lang="ko-KR" altLang="en-US" dirty="0"/>
              <a:t>이 됩니다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참고로 말씀드리면</a:t>
            </a:r>
            <a:r>
              <a:rPr lang="en-US" altLang="ko-KR" dirty="0"/>
              <a:t>,</a:t>
            </a:r>
            <a:r>
              <a:rPr lang="ko-KR" altLang="en-US" dirty="0"/>
              <a:t> 실제 강화학습에서는 대부분 환경모델을 모른다고 가정합니다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환경모델을 알 때 쓰는 알고리즘을 </a:t>
            </a:r>
            <a:r>
              <a:rPr lang="en-US" altLang="ko-KR" dirty="0"/>
              <a:t>model based </a:t>
            </a:r>
            <a:r>
              <a:rPr lang="ko-KR" altLang="en-US" dirty="0"/>
              <a:t>방법이라고 부르고</a:t>
            </a:r>
            <a:r>
              <a:rPr lang="en-US" altLang="ko-KR" dirty="0"/>
              <a:t> dynamic programming</a:t>
            </a:r>
            <a:r>
              <a:rPr lang="ko-KR" altLang="en-US" dirty="0"/>
              <a:t>이 대표적인 반면에 환경 모델을 모를 때에는 </a:t>
            </a:r>
            <a:r>
              <a:rPr lang="en-US" altLang="ko-KR" dirty="0"/>
              <a:t>model free </a:t>
            </a:r>
            <a:r>
              <a:rPr lang="ko-KR" altLang="en-US" dirty="0"/>
              <a:t>방법을 사용하는데 대부분의 강화학습 문제는 </a:t>
            </a:r>
            <a:r>
              <a:rPr lang="en-US" altLang="ko-KR" dirty="0"/>
              <a:t>model free </a:t>
            </a:r>
            <a:r>
              <a:rPr lang="ko-KR" altLang="en-US" dirty="0"/>
              <a:t>방식으로 접근하게 됩니다</a:t>
            </a:r>
            <a:r>
              <a:rPr lang="en-US" altLang="ko-KR" dirty="0"/>
              <a:t>.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9572159-645E-AF75-B78C-4AC84F15C15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9642909-6448-426E-9ED7-EFF6CDC2E25C}" type="slidenum">
              <a:rPr lang="ko-KR" altLang="en-US" smtClean="0"/>
              <a:pPr>
                <a:defRPr/>
              </a:pPr>
              <a:t>8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42055298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MDP</a:t>
            </a:r>
            <a:r>
              <a:rPr lang="ko-KR" altLang="en-US" dirty="0"/>
              <a:t>에서의 다음 개념은 </a:t>
            </a:r>
            <a:r>
              <a:rPr lang="en-US" altLang="ko-KR" dirty="0"/>
              <a:t>return</a:t>
            </a:r>
            <a:r>
              <a:rPr lang="ko-KR" altLang="en-US" dirty="0"/>
              <a:t>과 </a:t>
            </a:r>
            <a:r>
              <a:rPr lang="en-US" altLang="ko-KR" dirty="0"/>
              <a:t>policy</a:t>
            </a:r>
            <a:r>
              <a:rPr lang="ko-KR" altLang="en-US" dirty="0"/>
              <a:t>입니다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이것들까지 소개하고 나면 강화학습의 목적을 설명할 수 있는데요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먼저 </a:t>
            </a:r>
            <a:r>
              <a:rPr lang="en-US" altLang="ko-KR" dirty="0"/>
              <a:t>return</a:t>
            </a:r>
            <a:r>
              <a:rPr lang="ko-KR" altLang="en-US" dirty="0"/>
              <a:t>이란</a:t>
            </a:r>
            <a:r>
              <a:rPr lang="en-US" altLang="ko-KR" dirty="0"/>
              <a:t>, </a:t>
            </a:r>
            <a:r>
              <a:rPr lang="ko-KR" altLang="en-US" dirty="0"/>
              <a:t>보상들의 합을 의미합니다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강화학습에서의 목적은 보상이 최대가 되는 것이기보다는 보상들의 합이 최대가 되는 것이어야만 합니다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예를 들어</a:t>
            </a:r>
            <a:r>
              <a:rPr lang="en-US" altLang="ko-KR" dirty="0"/>
              <a:t>, </a:t>
            </a:r>
            <a:r>
              <a:rPr lang="ko-KR" altLang="en-US" dirty="0"/>
              <a:t>체스나 장기도 </a:t>
            </a:r>
            <a:r>
              <a:rPr lang="en-US" altLang="ko-KR" dirty="0"/>
              <a:t>MDP</a:t>
            </a:r>
            <a:r>
              <a:rPr lang="ko-KR" altLang="en-US" dirty="0"/>
              <a:t>와 강화학습으로 표현될 수 있는데 기물을 잡을 때마다 보상을 받는다고 생각해보겠습니다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그런데 만약</a:t>
            </a:r>
            <a:r>
              <a:rPr lang="en-US" altLang="ko-KR" dirty="0"/>
              <a:t>, </a:t>
            </a:r>
            <a:r>
              <a:rPr lang="ko-KR" altLang="en-US" dirty="0"/>
              <a:t>당장 졸을 </a:t>
            </a:r>
            <a:r>
              <a:rPr lang="ko-KR" altLang="en-US" dirty="0" err="1"/>
              <a:t>잡으려다가</a:t>
            </a:r>
            <a:r>
              <a:rPr lang="ko-KR" altLang="en-US" dirty="0"/>
              <a:t> 다음 수에서 중요한 기물을 잃는다면 이는 대국 전체로 봤을 때는 손해입니다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다시 말해</a:t>
            </a:r>
            <a:r>
              <a:rPr lang="en-US" altLang="ko-KR" dirty="0"/>
              <a:t>, </a:t>
            </a:r>
            <a:r>
              <a:rPr lang="ko-KR" altLang="en-US" dirty="0"/>
              <a:t>당장의 보상보다는 전체 게임에서의 보상합이 더 중요하다고 볼 수 있습니다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그렇기 때문에 강화학습의 목적은 보상이 최대가 되는 것이 아닌 보상들의 합이 최대가 되도록 되어야 합니다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그런데 장표에 보시면 </a:t>
            </a:r>
            <a:r>
              <a:rPr lang="en-US" altLang="ko-KR" dirty="0"/>
              <a:t>return </a:t>
            </a:r>
            <a:r>
              <a:rPr lang="en-US" altLang="ko-KR" dirty="0" err="1"/>
              <a:t>G_t</a:t>
            </a:r>
            <a:r>
              <a:rPr lang="ko-KR" altLang="en-US" dirty="0"/>
              <a:t>를 정의할 때 단순히 더하는 것이 아니라 </a:t>
            </a:r>
            <a:r>
              <a:rPr lang="en-US" altLang="ko-KR" dirty="0"/>
              <a:t>gamma</a:t>
            </a:r>
            <a:r>
              <a:rPr lang="ko-KR" altLang="en-US" dirty="0"/>
              <a:t>라는 숫자를 시간이 지날 때마다 곱해서 더하는 것을 알 수 있습니다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이 때의 </a:t>
            </a:r>
            <a:r>
              <a:rPr lang="en-US" altLang="ko-KR" dirty="0"/>
              <a:t>gamma</a:t>
            </a:r>
            <a:r>
              <a:rPr lang="ko-KR" altLang="en-US" dirty="0"/>
              <a:t>를 </a:t>
            </a:r>
            <a:r>
              <a:rPr lang="en-US" altLang="ko-KR" dirty="0"/>
              <a:t>discount factor </a:t>
            </a:r>
            <a:r>
              <a:rPr lang="ko-KR" altLang="en-US" dirty="0"/>
              <a:t>혹은 한국어로는 감가율이라고 하는데요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gamma</a:t>
            </a:r>
            <a:r>
              <a:rPr lang="ko-KR" altLang="en-US" dirty="0"/>
              <a:t>를 곱하는 데에는 두 가지 정도의 의미가 있습니다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첫째로는 수학적으로 계산하는 데 안정적입니다</a:t>
            </a:r>
            <a:r>
              <a:rPr lang="en-US" altLang="ko-KR" dirty="0"/>
              <a:t>. </a:t>
            </a:r>
            <a:r>
              <a:rPr lang="ko-KR" altLang="en-US" dirty="0"/>
              <a:t>만약 단순히 보상을 더하는 것이라서 </a:t>
            </a:r>
            <a:r>
              <a:rPr lang="en-US" altLang="ko-KR" dirty="0"/>
              <a:t>gamma</a:t>
            </a:r>
            <a:r>
              <a:rPr lang="ko-KR" altLang="en-US" dirty="0"/>
              <a:t>가 </a:t>
            </a:r>
            <a:r>
              <a:rPr lang="en-US" altLang="ko-KR" dirty="0"/>
              <a:t>1</a:t>
            </a:r>
            <a:r>
              <a:rPr lang="ko-KR" altLang="en-US" dirty="0"/>
              <a:t>이라면 </a:t>
            </a:r>
            <a:r>
              <a:rPr lang="en-US" altLang="ko-KR" dirty="0" err="1"/>
              <a:t>G_t</a:t>
            </a:r>
            <a:r>
              <a:rPr lang="ko-KR" altLang="en-US" dirty="0"/>
              <a:t>를 계산하는 급수가 발산할 여지가 있습니다</a:t>
            </a:r>
            <a:r>
              <a:rPr lang="en-US" altLang="ko-KR" dirty="0"/>
              <a:t>. </a:t>
            </a:r>
          </a:p>
          <a:p>
            <a:r>
              <a:rPr lang="ko-KR" altLang="en-US" dirty="0"/>
              <a:t>하지만 </a:t>
            </a:r>
            <a:r>
              <a:rPr lang="en-US" altLang="ko-KR" dirty="0"/>
              <a:t>1</a:t>
            </a:r>
            <a:r>
              <a:rPr lang="ko-KR" altLang="en-US" dirty="0"/>
              <a:t>보다 작은 </a:t>
            </a:r>
            <a:r>
              <a:rPr lang="en-US" altLang="ko-KR" dirty="0"/>
              <a:t>gamma</a:t>
            </a:r>
            <a:r>
              <a:rPr lang="ko-KR" altLang="en-US" dirty="0"/>
              <a:t>를 적용하게 되면 이것은 멱급수가 되어 무조건 수렴합니다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두번째로 </a:t>
            </a:r>
            <a:r>
              <a:rPr lang="en-US" altLang="ko-KR" dirty="0"/>
              <a:t>gamma</a:t>
            </a:r>
            <a:r>
              <a:rPr lang="ko-KR" altLang="en-US" dirty="0"/>
              <a:t>가 중요한 이유는 의미적인 부분 때문입니다</a:t>
            </a:r>
            <a:r>
              <a:rPr lang="en-US" altLang="ko-KR" dirty="0"/>
              <a:t>.</a:t>
            </a:r>
          </a:p>
          <a:p>
            <a:r>
              <a:rPr lang="en-US" altLang="ko-KR" dirty="0" err="1"/>
              <a:t>G_t</a:t>
            </a:r>
            <a:r>
              <a:rPr lang="ko-KR" altLang="en-US" dirty="0"/>
              <a:t>의 정의를 보시면 </a:t>
            </a:r>
            <a:r>
              <a:rPr lang="en-US" altLang="ko-KR" dirty="0"/>
              <a:t>R_t+1</a:t>
            </a:r>
            <a:r>
              <a:rPr lang="ko-KR" altLang="en-US" dirty="0"/>
              <a:t>이 가장 중요하고 </a:t>
            </a:r>
            <a:r>
              <a:rPr lang="en-US" altLang="ko-KR" dirty="0"/>
              <a:t>R_t+2</a:t>
            </a:r>
            <a:r>
              <a:rPr lang="ko-KR" altLang="en-US" dirty="0"/>
              <a:t>는 덜 중요하며</a:t>
            </a:r>
            <a:r>
              <a:rPr lang="en-US" altLang="ko-KR" dirty="0"/>
              <a:t>, </a:t>
            </a:r>
            <a:r>
              <a:rPr lang="ko-KR" altLang="en-US" dirty="0"/>
              <a:t>계속해서 시간이 지날수록 </a:t>
            </a:r>
            <a:r>
              <a:rPr lang="en-US" altLang="ko-KR" dirty="0"/>
              <a:t>R</a:t>
            </a:r>
            <a:r>
              <a:rPr lang="ko-KR" altLang="en-US" dirty="0"/>
              <a:t>값은 덜 중요해지는 것을 확인하실 수 있습니다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이런 식으로 최근의 </a:t>
            </a:r>
            <a:r>
              <a:rPr lang="en-US" altLang="ko-KR" dirty="0"/>
              <a:t>R</a:t>
            </a:r>
            <a:r>
              <a:rPr lang="ko-KR" altLang="en-US" dirty="0"/>
              <a:t>값을 더 중요하게 생각한다는 의미에서 </a:t>
            </a:r>
            <a:r>
              <a:rPr lang="en-US" altLang="ko-KR" dirty="0"/>
              <a:t>gamma</a:t>
            </a:r>
            <a:r>
              <a:rPr lang="ko-KR" altLang="en-US" dirty="0"/>
              <a:t>를 도입하는 것이기도 합니다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또한 현재의</a:t>
            </a:r>
            <a:r>
              <a:rPr lang="en-US" altLang="ko-KR" dirty="0"/>
              <a:t> </a:t>
            </a:r>
            <a:r>
              <a:rPr lang="en-US" altLang="ko-KR" dirty="0" err="1"/>
              <a:t>G_t</a:t>
            </a:r>
            <a:r>
              <a:rPr lang="ko-KR" altLang="en-US" dirty="0"/>
              <a:t>와 다음 시점의 </a:t>
            </a:r>
            <a:r>
              <a:rPr lang="en-US" altLang="ko-KR" dirty="0"/>
              <a:t>G_t+1 </a:t>
            </a:r>
            <a:r>
              <a:rPr lang="ko-KR" altLang="en-US" dirty="0"/>
              <a:t>사이에는 다음과 같은 관계식이 성립합니다</a:t>
            </a:r>
            <a:r>
              <a:rPr lang="en-US" altLang="ko-KR" dirty="0"/>
              <a:t>. </a:t>
            </a:r>
          </a:p>
          <a:p>
            <a:r>
              <a:rPr lang="ko-KR" altLang="en-US" dirty="0"/>
              <a:t>앞으로의 설명에서 자주 등장하게 될 것이므로 적어보았습니다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다음 </a:t>
            </a:r>
            <a:r>
              <a:rPr lang="en-US" altLang="ko-KR" dirty="0"/>
              <a:t>MDP</a:t>
            </a:r>
            <a:r>
              <a:rPr lang="ko-KR" altLang="en-US" dirty="0"/>
              <a:t>의 개념은 정책입니다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오른쪽의 </a:t>
            </a:r>
            <a:r>
              <a:rPr lang="en-US" altLang="ko-KR" dirty="0"/>
              <a:t>trajectory</a:t>
            </a:r>
            <a:r>
              <a:rPr lang="ko-KR" altLang="en-US" dirty="0"/>
              <a:t>를 보시면 </a:t>
            </a:r>
            <a:r>
              <a:rPr lang="en-US" altLang="ko-KR" dirty="0"/>
              <a:t>state transition probability p</a:t>
            </a:r>
            <a:r>
              <a:rPr lang="ko-KR" altLang="en-US" dirty="0"/>
              <a:t>는 </a:t>
            </a:r>
            <a:r>
              <a:rPr lang="en-US" altLang="ko-KR" dirty="0"/>
              <a:t>s, a</a:t>
            </a:r>
            <a:r>
              <a:rPr lang="ko-KR" altLang="en-US" dirty="0"/>
              <a:t>가 주어졌을 때 다음 </a:t>
            </a:r>
            <a:r>
              <a:rPr lang="en-US" altLang="ko-KR" dirty="0"/>
              <a:t>s’</a:t>
            </a:r>
            <a:r>
              <a:rPr lang="ko-KR" altLang="en-US" dirty="0"/>
              <a:t>을 결정해주고</a:t>
            </a:r>
            <a:r>
              <a:rPr lang="en-US" altLang="ko-KR" dirty="0"/>
              <a:t>, reward function</a:t>
            </a:r>
            <a:r>
              <a:rPr lang="ko-KR" altLang="en-US" dirty="0"/>
              <a:t>은 </a:t>
            </a:r>
            <a:r>
              <a:rPr lang="en-US" altLang="ko-KR" dirty="0"/>
              <a:t>s, a</a:t>
            </a:r>
            <a:r>
              <a:rPr lang="ko-KR" altLang="en-US" dirty="0"/>
              <a:t>가 주어졌을 때 다음 </a:t>
            </a:r>
            <a:r>
              <a:rPr lang="en-US" altLang="ko-KR" dirty="0"/>
              <a:t>r</a:t>
            </a:r>
            <a:r>
              <a:rPr lang="ko-KR" altLang="en-US" dirty="0"/>
              <a:t>을 결정해줍니다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그런데 가만히 생각해보면 이 두 개의 환경모델만으로는 </a:t>
            </a:r>
            <a:r>
              <a:rPr lang="en-US" altLang="ko-KR" dirty="0"/>
              <a:t>trajectory</a:t>
            </a:r>
            <a:r>
              <a:rPr lang="ko-KR" altLang="en-US" dirty="0"/>
              <a:t>가 결정되지 않음을 알 수 있습니다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한가지 빈 곳이</a:t>
            </a:r>
            <a:r>
              <a:rPr lang="en-US" altLang="ko-KR" dirty="0"/>
              <a:t>, s</a:t>
            </a:r>
            <a:r>
              <a:rPr lang="ko-KR" altLang="en-US" dirty="0"/>
              <a:t>가 주어졌을 때 </a:t>
            </a:r>
            <a:r>
              <a:rPr lang="en-US" altLang="ko-KR" dirty="0"/>
              <a:t>a</a:t>
            </a:r>
            <a:r>
              <a:rPr lang="ko-KR" altLang="en-US" dirty="0"/>
              <a:t>가 어떻게 주어질 것이냐 하는 문제인데요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이것을 정책이라고 합니다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즉</a:t>
            </a:r>
            <a:r>
              <a:rPr lang="en-US" altLang="ko-KR" dirty="0"/>
              <a:t>, </a:t>
            </a:r>
            <a:r>
              <a:rPr lang="ko-KR" altLang="en-US" dirty="0"/>
              <a:t>주어진 상태에 대하여 다음 행동을 결정하는 것을 정책</a:t>
            </a:r>
            <a:r>
              <a:rPr lang="en-US" altLang="ko-KR" dirty="0"/>
              <a:t>, </a:t>
            </a:r>
            <a:r>
              <a:rPr lang="ko-KR" altLang="en-US" dirty="0"/>
              <a:t>영어로는 </a:t>
            </a:r>
            <a:r>
              <a:rPr lang="en-US" altLang="ko-KR" dirty="0"/>
              <a:t>policy</a:t>
            </a:r>
            <a:r>
              <a:rPr lang="ko-KR" altLang="en-US" dirty="0"/>
              <a:t>라고 합니다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사실 조금 더 정확하게는</a:t>
            </a:r>
            <a:r>
              <a:rPr lang="en-US" altLang="ko-KR" dirty="0"/>
              <a:t>, </a:t>
            </a:r>
            <a:r>
              <a:rPr lang="ko-KR" altLang="en-US" dirty="0"/>
              <a:t>주어진 상태에서의 행동의 확률분포라고 해야 하고 따라서 식으로는 다음과 같이 써야 하는데</a:t>
            </a:r>
            <a:r>
              <a:rPr lang="en-US" altLang="ko-KR" dirty="0"/>
              <a:t>, </a:t>
            </a:r>
            <a:r>
              <a:rPr lang="ko-KR" altLang="en-US" dirty="0"/>
              <a:t>그냥 단순히 주어진 상태에서 행동을 결정하는 것 정도로 봐도 되겠습니다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앞서 말씀드린 </a:t>
            </a:r>
            <a:r>
              <a:rPr lang="en-US" altLang="ko-KR" dirty="0"/>
              <a:t>transition</a:t>
            </a:r>
            <a:r>
              <a:rPr lang="ko-KR" altLang="en-US" dirty="0"/>
              <a:t> </a:t>
            </a:r>
            <a:r>
              <a:rPr lang="en-US" altLang="ko-KR" dirty="0"/>
              <a:t>dynamics</a:t>
            </a:r>
            <a:r>
              <a:rPr lang="ko-KR" altLang="en-US" dirty="0"/>
              <a:t>에 </a:t>
            </a:r>
            <a:r>
              <a:rPr lang="en-US" altLang="ko-KR" dirty="0"/>
              <a:t>policy</a:t>
            </a:r>
            <a:r>
              <a:rPr lang="ko-KR" altLang="en-US" dirty="0"/>
              <a:t>까지 결정되고 나면</a:t>
            </a:r>
            <a:r>
              <a:rPr lang="en-US" altLang="ko-KR" dirty="0"/>
              <a:t>, </a:t>
            </a:r>
            <a:r>
              <a:rPr lang="ko-KR" altLang="en-US" dirty="0"/>
              <a:t>이 </a:t>
            </a:r>
            <a:r>
              <a:rPr lang="en-US" altLang="ko-KR" dirty="0"/>
              <a:t>trajectory</a:t>
            </a:r>
            <a:r>
              <a:rPr lang="ko-KR" altLang="en-US" dirty="0"/>
              <a:t>가 </a:t>
            </a:r>
            <a:r>
              <a:rPr lang="en-US" altLang="ko-KR" dirty="0"/>
              <a:t>(</a:t>
            </a:r>
            <a:r>
              <a:rPr lang="ko-KR" altLang="en-US" dirty="0"/>
              <a:t>적어도 확률적으로는</a:t>
            </a:r>
            <a:r>
              <a:rPr lang="en-US" altLang="ko-KR" dirty="0"/>
              <a:t>) </a:t>
            </a:r>
            <a:r>
              <a:rPr lang="ko-KR" altLang="en-US" dirty="0"/>
              <a:t>결정될 수 있습니다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그리고</a:t>
            </a:r>
            <a:r>
              <a:rPr lang="en-US" altLang="ko-KR" dirty="0"/>
              <a:t>, </a:t>
            </a:r>
            <a:r>
              <a:rPr lang="ko-KR" altLang="en-US" dirty="0"/>
              <a:t>강화학습의 목적은</a:t>
            </a:r>
            <a:r>
              <a:rPr lang="en-US" altLang="ko-KR" dirty="0"/>
              <a:t>, </a:t>
            </a:r>
            <a:r>
              <a:rPr lang="ko-KR" altLang="en-US" dirty="0"/>
              <a:t>바로 주어진 환경</a:t>
            </a:r>
            <a:r>
              <a:rPr lang="en-US" altLang="ko-KR" dirty="0"/>
              <a:t> (</a:t>
            </a:r>
            <a:r>
              <a:rPr lang="ko-KR" altLang="en-US" dirty="0"/>
              <a:t>즉</a:t>
            </a:r>
            <a:r>
              <a:rPr lang="en-US" altLang="ko-KR" dirty="0"/>
              <a:t>, transition dynamics)</a:t>
            </a:r>
            <a:r>
              <a:rPr lang="ko-KR" altLang="en-US" dirty="0"/>
              <a:t>에서 어떤 정책을 취해야만 </a:t>
            </a:r>
            <a:r>
              <a:rPr lang="en-US" altLang="ko-KR" dirty="0"/>
              <a:t>return</a:t>
            </a:r>
            <a:r>
              <a:rPr lang="ko-KR" altLang="en-US" dirty="0"/>
              <a:t>이 최대가 될지를 결정하는 것입니다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주어진 상태마다 어떤 행동을 취할지를 잘 결정하여</a:t>
            </a:r>
            <a:r>
              <a:rPr lang="en-US" altLang="ko-KR" dirty="0"/>
              <a:t>, </a:t>
            </a:r>
            <a:r>
              <a:rPr lang="ko-KR" altLang="en-US" dirty="0"/>
              <a:t>보상들의 합이 최대가 되도록 하는 것입니다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이러한 정책을 최적정책이라고 부릅니다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앞서 말씀드렸던 </a:t>
            </a:r>
            <a:r>
              <a:rPr lang="en-US" altLang="ko-KR" dirty="0"/>
              <a:t>grid world</a:t>
            </a:r>
            <a:r>
              <a:rPr lang="ko-KR" altLang="en-US" dirty="0"/>
              <a:t>에서 위에 언급한 </a:t>
            </a:r>
            <a:r>
              <a:rPr lang="en-US" altLang="ko-KR" dirty="0"/>
              <a:t>return</a:t>
            </a:r>
            <a:r>
              <a:rPr lang="ko-KR" altLang="en-US" dirty="0"/>
              <a:t>과 </a:t>
            </a:r>
            <a:r>
              <a:rPr lang="en-US" altLang="ko-KR" dirty="0"/>
              <a:t>policy</a:t>
            </a:r>
            <a:r>
              <a:rPr lang="ko-KR" altLang="en-US" dirty="0"/>
              <a:t>에 대해 말해보겠습니다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grid world</a:t>
            </a:r>
            <a:r>
              <a:rPr lang="ko-KR" altLang="en-US" dirty="0"/>
              <a:t>에서 위로 두 칸 간 다음 오른쪽으로 세 칸 가는 </a:t>
            </a:r>
            <a:r>
              <a:rPr lang="en-US" altLang="ko-KR" dirty="0"/>
              <a:t>trajectory</a:t>
            </a:r>
            <a:r>
              <a:rPr lang="ko-KR" altLang="en-US" dirty="0"/>
              <a:t>를 생각했을 때</a:t>
            </a:r>
            <a:endParaRPr lang="en-US" altLang="ko-KR" dirty="0"/>
          </a:p>
          <a:p>
            <a:r>
              <a:rPr lang="ko-KR" altLang="en-US" dirty="0"/>
              <a:t>누적보상합은 </a:t>
            </a:r>
            <a:r>
              <a:rPr lang="en-US" altLang="ko-KR" dirty="0"/>
              <a:t>0.5 </a:t>
            </a:r>
            <a:r>
              <a:rPr lang="ko-KR" altLang="en-US" dirty="0"/>
              <a:t>정도로 계산됩니다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(</a:t>
            </a:r>
            <a:r>
              <a:rPr lang="ko-KR" altLang="en-US" dirty="0"/>
              <a:t>이때</a:t>
            </a:r>
            <a:r>
              <a:rPr lang="en-US" altLang="ko-KR" dirty="0"/>
              <a:t>, </a:t>
            </a:r>
            <a:r>
              <a:rPr lang="ko-KR" altLang="en-US" dirty="0"/>
              <a:t>계산을 간단히 하기 위해 </a:t>
            </a:r>
            <a:r>
              <a:rPr lang="en-US" altLang="ko-KR" dirty="0"/>
              <a:t>gamma</a:t>
            </a:r>
            <a:r>
              <a:rPr lang="ko-KR" altLang="en-US" dirty="0"/>
              <a:t>를 </a:t>
            </a:r>
            <a:r>
              <a:rPr lang="en-US" altLang="ko-KR" dirty="0"/>
              <a:t>1</a:t>
            </a:r>
            <a:r>
              <a:rPr lang="ko-KR" altLang="en-US" dirty="0"/>
              <a:t>로 두었습니다</a:t>
            </a:r>
            <a:r>
              <a:rPr lang="en-US" altLang="ko-KR" dirty="0"/>
              <a:t>.)</a:t>
            </a:r>
          </a:p>
          <a:p>
            <a:endParaRPr lang="en-US" altLang="ko-KR" dirty="0"/>
          </a:p>
          <a:p>
            <a:r>
              <a:rPr lang="ko-KR" altLang="en-US" dirty="0"/>
              <a:t>또 여기서의 정책은</a:t>
            </a:r>
            <a:r>
              <a:rPr lang="en-US" altLang="ko-KR" dirty="0"/>
              <a:t>, </a:t>
            </a:r>
            <a:r>
              <a:rPr lang="ko-KR" altLang="en-US" dirty="0"/>
              <a:t>여러가지 정책이 있을 수 있겠지만 균등정책을 생각해보겠습니다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예를 들어</a:t>
            </a:r>
            <a:r>
              <a:rPr lang="en-US" altLang="ko-KR" dirty="0"/>
              <a:t>(1,1)</a:t>
            </a:r>
            <a:r>
              <a:rPr lang="ko-KR" altLang="en-US" dirty="0"/>
              <a:t>에서는 위 또는 오른쪽으로 각각 </a:t>
            </a:r>
            <a:r>
              <a:rPr lang="en-US" altLang="ko-KR" dirty="0"/>
              <a:t>0.5</a:t>
            </a:r>
            <a:r>
              <a:rPr lang="ko-KR" altLang="en-US" dirty="0"/>
              <a:t>의 확률로 이동합니다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그것을 아래의 식처럼 표현해낼 수 있습니다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또한</a:t>
            </a:r>
            <a:r>
              <a:rPr lang="en-US" altLang="ko-KR" dirty="0"/>
              <a:t>, </a:t>
            </a:r>
            <a:r>
              <a:rPr lang="ko-KR" altLang="en-US" dirty="0"/>
              <a:t>최적정책은</a:t>
            </a:r>
            <a:r>
              <a:rPr lang="en-US" altLang="ko-KR" dirty="0"/>
              <a:t>, </a:t>
            </a:r>
            <a:r>
              <a:rPr lang="ko-KR" altLang="en-US" dirty="0"/>
              <a:t>지금 표시된 </a:t>
            </a:r>
            <a:r>
              <a:rPr lang="en-US" altLang="ko-KR" dirty="0"/>
              <a:t>trajectory</a:t>
            </a:r>
            <a:r>
              <a:rPr lang="ko-KR" altLang="en-US" dirty="0"/>
              <a:t>처럼 움직이는 것이 최적의 경로라는 것을 알 수 있습니다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또는</a:t>
            </a:r>
            <a:r>
              <a:rPr lang="en-US" altLang="ko-KR" dirty="0"/>
              <a:t>, </a:t>
            </a:r>
            <a:r>
              <a:rPr lang="ko-KR" altLang="en-US" dirty="0"/>
              <a:t>오른쪽으로 돌아가는 </a:t>
            </a:r>
            <a:r>
              <a:rPr lang="en-US" altLang="ko-KR" dirty="0"/>
              <a:t>trajectory</a:t>
            </a:r>
            <a:r>
              <a:rPr lang="ko-KR" altLang="en-US" dirty="0"/>
              <a:t>도 최적의 경로입니다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(</a:t>
            </a:r>
            <a:r>
              <a:rPr lang="ko-KR" altLang="en-US" dirty="0"/>
              <a:t>하나의 </a:t>
            </a:r>
            <a:r>
              <a:rPr lang="en-US" altLang="ko-KR" dirty="0"/>
              <a:t>MDP</a:t>
            </a:r>
            <a:r>
              <a:rPr lang="ko-KR" altLang="en-US" dirty="0"/>
              <a:t>에서 최적정책은 여러 개 있을 수 있습니다</a:t>
            </a:r>
            <a:r>
              <a:rPr lang="en-US" altLang="ko-KR" dirty="0"/>
              <a:t>.)</a:t>
            </a:r>
          </a:p>
          <a:p>
            <a:r>
              <a:rPr lang="ko-KR" altLang="en-US" dirty="0"/>
              <a:t>그중 그림에 표시된 경로에 해당하는 최적정책은</a:t>
            </a:r>
            <a:r>
              <a:rPr lang="en-US" altLang="ko-KR" dirty="0"/>
              <a:t>, </a:t>
            </a:r>
            <a:r>
              <a:rPr lang="ko-KR" altLang="en-US" dirty="0"/>
              <a:t>예를 들어 </a:t>
            </a:r>
            <a:r>
              <a:rPr lang="en-US" altLang="ko-KR" dirty="0"/>
              <a:t>(1,2)</a:t>
            </a:r>
            <a:r>
              <a:rPr lang="ko-KR" altLang="en-US" dirty="0"/>
              <a:t>이라는 상태가 주어졌을 때 위로 갈 확률만이 </a:t>
            </a:r>
            <a:r>
              <a:rPr lang="en-US" altLang="ko-KR" dirty="0"/>
              <a:t>1</a:t>
            </a:r>
            <a:r>
              <a:rPr lang="ko-KR" altLang="en-US" dirty="0"/>
              <a:t>이고 나머지 확률은 </a:t>
            </a:r>
            <a:r>
              <a:rPr lang="en-US" altLang="ko-KR" dirty="0"/>
              <a:t>0</a:t>
            </a:r>
            <a:r>
              <a:rPr lang="ko-KR" altLang="en-US" dirty="0"/>
              <a:t>으로 가는</a:t>
            </a:r>
            <a:r>
              <a:rPr lang="en-US" altLang="ko-KR" dirty="0"/>
              <a:t>, action</a:t>
            </a:r>
            <a:r>
              <a:rPr lang="ko-KR" altLang="en-US" dirty="0"/>
              <a:t>들의 확률분포를 갖게 됩니다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지금은 </a:t>
            </a:r>
            <a:r>
              <a:rPr lang="en-US" altLang="ko-KR" dirty="0"/>
              <a:t>(1,2)</a:t>
            </a:r>
            <a:r>
              <a:rPr lang="ko-KR" altLang="en-US" dirty="0"/>
              <a:t>에 대해서만 했지만 나머지 점들에 대해서도 </a:t>
            </a:r>
            <a:r>
              <a:rPr lang="en-US" altLang="ko-KR" dirty="0"/>
              <a:t>action</a:t>
            </a:r>
            <a:r>
              <a:rPr lang="ko-KR" altLang="en-US" dirty="0"/>
              <a:t>을 적절히 정하게 되면 최적정책을 만들어낼 수 있습니다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이 최적정책은 </a:t>
            </a:r>
            <a:r>
              <a:rPr lang="en-US" altLang="ko-KR" dirty="0"/>
              <a:t>state</a:t>
            </a:r>
            <a:r>
              <a:rPr lang="ko-KR" altLang="en-US" dirty="0"/>
              <a:t>가 주어졌을 때 </a:t>
            </a:r>
            <a:r>
              <a:rPr lang="en-US" altLang="ko-KR" dirty="0"/>
              <a:t>action</a:t>
            </a:r>
            <a:r>
              <a:rPr lang="ko-KR" altLang="en-US" dirty="0"/>
              <a:t>이 고정적으로 하나 결정되는 형식의 </a:t>
            </a:r>
            <a:r>
              <a:rPr lang="en-US" altLang="ko-KR" dirty="0"/>
              <a:t>policy</a:t>
            </a:r>
            <a:r>
              <a:rPr lang="ko-KR" altLang="en-US" dirty="0"/>
              <a:t>입니다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이런 식의 정책을 </a:t>
            </a:r>
            <a:r>
              <a:rPr lang="en-US" altLang="ko-KR" dirty="0"/>
              <a:t>deterministic policy</a:t>
            </a:r>
            <a:r>
              <a:rPr lang="ko-KR" altLang="en-US" dirty="0"/>
              <a:t>라고 부르는데</a:t>
            </a:r>
            <a:r>
              <a:rPr lang="en-US" altLang="ko-KR" dirty="0"/>
              <a:t>, </a:t>
            </a:r>
            <a:r>
              <a:rPr lang="ko-KR" altLang="en-US" dirty="0"/>
              <a:t>일반적으로는 그렇지 않습니다</a:t>
            </a:r>
            <a:r>
              <a:rPr lang="en-US" altLang="ko-KR" dirty="0"/>
              <a:t>, </a:t>
            </a:r>
            <a:r>
              <a:rPr lang="ko-KR" altLang="en-US" dirty="0"/>
              <a:t>그 반대급부를 </a:t>
            </a:r>
            <a:r>
              <a:rPr lang="en-US" altLang="ko-KR" dirty="0"/>
              <a:t>stochastic policy</a:t>
            </a:r>
            <a:r>
              <a:rPr lang="ko-KR" altLang="en-US" dirty="0"/>
              <a:t>라고도 부릅니다</a:t>
            </a:r>
            <a:r>
              <a:rPr lang="en-US" altLang="ko-KR" dirty="0"/>
              <a:t>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9642909-6448-426E-9ED7-EFF6CDC2E25C}" type="slidenum">
              <a:rPr lang="ko-KR" altLang="en-US" smtClean="0"/>
              <a:pPr>
                <a:defRPr/>
              </a:pPr>
              <a:t>9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94573163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E02772-8BDB-2292-3064-199399E6CF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2AF1F31-D413-1A17-CEA1-87B51ACB82F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B3EC166-995D-4CA7-4DA9-80CFF610A3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MDP</a:t>
            </a:r>
            <a:r>
              <a:rPr lang="ko-KR" altLang="en-US" dirty="0"/>
              <a:t>에서의 다음 개념은 </a:t>
            </a:r>
            <a:r>
              <a:rPr lang="en-US" altLang="ko-KR" dirty="0"/>
              <a:t>return</a:t>
            </a:r>
            <a:r>
              <a:rPr lang="ko-KR" altLang="en-US" dirty="0"/>
              <a:t>과 </a:t>
            </a:r>
            <a:r>
              <a:rPr lang="en-US" altLang="ko-KR" dirty="0"/>
              <a:t>policy</a:t>
            </a:r>
            <a:r>
              <a:rPr lang="ko-KR" altLang="en-US" dirty="0"/>
              <a:t>입니다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이것들까지 소개하고 나면 강화학습의 목적을 설명할 수 있는데요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먼저 </a:t>
            </a:r>
            <a:r>
              <a:rPr lang="en-US" altLang="ko-KR" dirty="0"/>
              <a:t>return</a:t>
            </a:r>
            <a:r>
              <a:rPr lang="ko-KR" altLang="en-US" dirty="0"/>
              <a:t>이란</a:t>
            </a:r>
            <a:r>
              <a:rPr lang="en-US" altLang="ko-KR" dirty="0"/>
              <a:t>, </a:t>
            </a:r>
            <a:r>
              <a:rPr lang="ko-KR" altLang="en-US" dirty="0"/>
              <a:t>보상들의 합을 의미합니다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강화학습에서의 목적은 보상이 최대가 되는 것이기보다는 보상들의 합이 최대가 되는 것이어야만 합니다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예를 들어</a:t>
            </a:r>
            <a:r>
              <a:rPr lang="en-US" altLang="ko-KR" dirty="0"/>
              <a:t>, </a:t>
            </a:r>
            <a:r>
              <a:rPr lang="ko-KR" altLang="en-US" dirty="0"/>
              <a:t>체스나 장기도 </a:t>
            </a:r>
            <a:r>
              <a:rPr lang="en-US" altLang="ko-KR" dirty="0"/>
              <a:t>MDP</a:t>
            </a:r>
            <a:r>
              <a:rPr lang="ko-KR" altLang="en-US" dirty="0"/>
              <a:t>와 강화학습으로 표현될 수 있는데 기물을 잡을 때마다 보상을 받는다고 생각해보겠습니다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그런데 만약</a:t>
            </a:r>
            <a:r>
              <a:rPr lang="en-US" altLang="ko-KR" dirty="0"/>
              <a:t>, </a:t>
            </a:r>
            <a:r>
              <a:rPr lang="ko-KR" altLang="en-US" dirty="0"/>
              <a:t>당장 졸을 </a:t>
            </a:r>
            <a:r>
              <a:rPr lang="ko-KR" altLang="en-US" dirty="0" err="1"/>
              <a:t>잡으려다가</a:t>
            </a:r>
            <a:r>
              <a:rPr lang="ko-KR" altLang="en-US" dirty="0"/>
              <a:t> 다음 수에서 중요한 기물을 잃는다면 이는 대국 전체로 봤을 때는 손해입니다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다시 말해</a:t>
            </a:r>
            <a:r>
              <a:rPr lang="en-US" altLang="ko-KR" dirty="0"/>
              <a:t>, </a:t>
            </a:r>
            <a:r>
              <a:rPr lang="ko-KR" altLang="en-US" dirty="0"/>
              <a:t>당장의 보상보다는 전체 게임에서의 보상합이 더 중요하다고 볼 수 있습니다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그렇기 때문에 강화학습의 목적은 보상이 최대가 되는 것이 아닌 보상들의 합이 최대가 되도록 되어야 합니다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그런데 장표에 보시면 </a:t>
            </a:r>
            <a:r>
              <a:rPr lang="en-US" altLang="ko-KR" dirty="0"/>
              <a:t>return </a:t>
            </a:r>
            <a:r>
              <a:rPr lang="en-US" altLang="ko-KR" dirty="0" err="1"/>
              <a:t>G_t</a:t>
            </a:r>
            <a:r>
              <a:rPr lang="ko-KR" altLang="en-US" dirty="0"/>
              <a:t>를 정의할 때 단순히 더하는 것이 아니라 </a:t>
            </a:r>
            <a:r>
              <a:rPr lang="en-US" altLang="ko-KR" dirty="0"/>
              <a:t>gamma</a:t>
            </a:r>
            <a:r>
              <a:rPr lang="ko-KR" altLang="en-US" dirty="0"/>
              <a:t>라는 숫자를 시간이 지날 때마다 곱해서 더하는 것을 알 수 있습니다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이 때의 </a:t>
            </a:r>
            <a:r>
              <a:rPr lang="en-US" altLang="ko-KR" dirty="0"/>
              <a:t>gamma</a:t>
            </a:r>
            <a:r>
              <a:rPr lang="ko-KR" altLang="en-US" dirty="0"/>
              <a:t>를 </a:t>
            </a:r>
            <a:r>
              <a:rPr lang="en-US" altLang="ko-KR" dirty="0"/>
              <a:t>discount factor </a:t>
            </a:r>
            <a:r>
              <a:rPr lang="ko-KR" altLang="en-US" dirty="0"/>
              <a:t>혹은 한국어로는 감가율이라고 하는데요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gamma</a:t>
            </a:r>
            <a:r>
              <a:rPr lang="ko-KR" altLang="en-US" dirty="0"/>
              <a:t>를 곱하는 데에는 두 가지 정도의 의미가 있습니다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첫째로는 수학적으로 계산하는 데 안정적입니다</a:t>
            </a:r>
            <a:r>
              <a:rPr lang="en-US" altLang="ko-KR" dirty="0"/>
              <a:t>. </a:t>
            </a:r>
            <a:r>
              <a:rPr lang="ko-KR" altLang="en-US" dirty="0"/>
              <a:t>만약 단순히 보상을 더하는 것이라서 </a:t>
            </a:r>
            <a:r>
              <a:rPr lang="en-US" altLang="ko-KR" dirty="0"/>
              <a:t>gamma</a:t>
            </a:r>
            <a:r>
              <a:rPr lang="ko-KR" altLang="en-US" dirty="0"/>
              <a:t>가 </a:t>
            </a:r>
            <a:r>
              <a:rPr lang="en-US" altLang="ko-KR" dirty="0"/>
              <a:t>1</a:t>
            </a:r>
            <a:r>
              <a:rPr lang="ko-KR" altLang="en-US" dirty="0"/>
              <a:t>이라면 </a:t>
            </a:r>
            <a:r>
              <a:rPr lang="en-US" altLang="ko-KR" dirty="0" err="1"/>
              <a:t>G_t</a:t>
            </a:r>
            <a:r>
              <a:rPr lang="ko-KR" altLang="en-US" dirty="0"/>
              <a:t>를 계산하는 급수가 발산할 여지가 있습니다</a:t>
            </a:r>
            <a:r>
              <a:rPr lang="en-US" altLang="ko-KR" dirty="0"/>
              <a:t>. </a:t>
            </a:r>
          </a:p>
          <a:p>
            <a:r>
              <a:rPr lang="ko-KR" altLang="en-US" dirty="0"/>
              <a:t>하지만 </a:t>
            </a:r>
            <a:r>
              <a:rPr lang="en-US" altLang="ko-KR" dirty="0"/>
              <a:t>1</a:t>
            </a:r>
            <a:r>
              <a:rPr lang="ko-KR" altLang="en-US" dirty="0"/>
              <a:t>보다 작은 </a:t>
            </a:r>
            <a:r>
              <a:rPr lang="en-US" altLang="ko-KR" dirty="0"/>
              <a:t>gamma</a:t>
            </a:r>
            <a:r>
              <a:rPr lang="ko-KR" altLang="en-US" dirty="0"/>
              <a:t>를 적용하게 되면 이것은 멱급수가 되어 무조건 수렴합니다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두번째로 </a:t>
            </a:r>
            <a:r>
              <a:rPr lang="en-US" altLang="ko-KR" dirty="0"/>
              <a:t>gamma</a:t>
            </a:r>
            <a:r>
              <a:rPr lang="ko-KR" altLang="en-US" dirty="0"/>
              <a:t>가 중요한 이유는 의미적인 부분 때문입니다</a:t>
            </a:r>
            <a:r>
              <a:rPr lang="en-US" altLang="ko-KR" dirty="0"/>
              <a:t>.</a:t>
            </a:r>
          </a:p>
          <a:p>
            <a:r>
              <a:rPr lang="en-US" altLang="ko-KR" dirty="0" err="1"/>
              <a:t>G_t</a:t>
            </a:r>
            <a:r>
              <a:rPr lang="ko-KR" altLang="en-US" dirty="0"/>
              <a:t>의 정의를 보시면 </a:t>
            </a:r>
            <a:r>
              <a:rPr lang="en-US" altLang="ko-KR" dirty="0"/>
              <a:t>R_t+1</a:t>
            </a:r>
            <a:r>
              <a:rPr lang="ko-KR" altLang="en-US" dirty="0"/>
              <a:t>이 가장 중요하고 </a:t>
            </a:r>
            <a:r>
              <a:rPr lang="en-US" altLang="ko-KR" dirty="0"/>
              <a:t>R_t+2</a:t>
            </a:r>
            <a:r>
              <a:rPr lang="ko-KR" altLang="en-US" dirty="0"/>
              <a:t>는 덜 중요하며</a:t>
            </a:r>
            <a:r>
              <a:rPr lang="en-US" altLang="ko-KR" dirty="0"/>
              <a:t>, </a:t>
            </a:r>
            <a:r>
              <a:rPr lang="ko-KR" altLang="en-US" dirty="0"/>
              <a:t>계속해서 시간이 지날수록 </a:t>
            </a:r>
            <a:r>
              <a:rPr lang="en-US" altLang="ko-KR" dirty="0"/>
              <a:t>R</a:t>
            </a:r>
            <a:r>
              <a:rPr lang="ko-KR" altLang="en-US" dirty="0"/>
              <a:t>값은 덜 중요해지는 것을 확인하실 수 있습니다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이런 식으로 최근의 </a:t>
            </a:r>
            <a:r>
              <a:rPr lang="en-US" altLang="ko-KR" dirty="0"/>
              <a:t>R</a:t>
            </a:r>
            <a:r>
              <a:rPr lang="ko-KR" altLang="en-US" dirty="0"/>
              <a:t>값을 더 중요하게 생각한다는 의미에서 </a:t>
            </a:r>
            <a:r>
              <a:rPr lang="en-US" altLang="ko-KR" dirty="0"/>
              <a:t>gamma</a:t>
            </a:r>
            <a:r>
              <a:rPr lang="ko-KR" altLang="en-US" dirty="0"/>
              <a:t>를 도입하는 것이기도 합니다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또한 현재의</a:t>
            </a:r>
            <a:r>
              <a:rPr lang="en-US" altLang="ko-KR" dirty="0"/>
              <a:t> </a:t>
            </a:r>
            <a:r>
              <a:rPr lang="en-US" altLang="ko-KR" dirty="0" err="1"/>
              <a:t>G_t</a:t>
            </a:r>
            <a:r>
              <a:rPr lang="ko-KR" altLang="en-US" dirty="0"/>
              <a:t>와 다음 시점의 </a:t>
            </a:r>
            <a:r>
              <a:rPr lang="en-US" altLang="ko-KR" dirty="0"/>
              <a:t>G_t+1 </a:t>
            </a:r>
            <a:r>
              <a:rPr lang="ko-KR" altLang="en-US" dirty="0"/>
              <a:t>사이에는 다음과 같은 관계식이 성립합니다</a:t>
            </a:r>
            <a:r>
              <a:rPr lang="en-US" altLang="ko-KR" dirty="0"/>
              <a:t>. </a:t>
            </a:r>
          </a:p>
          <a:p>
            <a:r>
              <a:rPr lang="ko-KR" altLang="en-US" dirty="0"/>
              <a:t>앞으로의 설명에서 자주 등장하게 될 것이므로 적어보았습니다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다음 </a:t>
            </a:r>
            <a:r>
              <a:rPr lang="en-US" altLang="ko-KR" dirty="0"/>
              <a:t>MDP</a:t>
            </a:r>
            <a:r>
              <a:rPr lang="ko-KR" altLang="en-US" dirty="0"/>
              <a:t>의 개념은 정책입니다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오른쪽의 </a:t>
            </a:r>
            <a:r>
              <a:rPr lang="en-US" altLang="ko-KR" dirty="0"/>
              <a:t>trajectory</a:t>
            </a:r>
            <a:r>
              <a:rPr lang="ko-KR" altLang="en-US" dirty="0"/>
              <a:t>를 보시면 </a:t>
            </a:r>
            <a:r>
              <a:rPr lang="en-US" altLang="ko-KR" dirty="0"/>
              <a:t>state transition probability p</a:t>
            </a:r>
            <a:r>
              <a:rPr lang="ko-KR" altLang="en-US" dirty="0"/>
              <a:t>는 </a:t>
            </a:r>
            <a:r>
              <a:rPr lang="en-US" altLang="ko-KR" dirty="0"/>
              <a:t>s, a</a:t>
            </a:r>
            <a:r>
              <a:rPr lang="ko-KR" altLang="en-US" dirty="0"/>
              <a:t>가 주어졌을 때 다음 </a:t>
            </a:r>
            <a:r>
              <a:rPr lang="en-US" altLang="ko-KR" dirty="0"/>
              <a:t>s’</a:t>
            </a:r>
            <a:r>
              <a:rPr lang="ko-KR" altLang="en-US" dirty="0"/>
              <a:t>을 결정해주고</a:t>
            </a:r>
            <a:r>
              <a:rPr lang="en-US" altLang="ko-KR" dirty="0"/>
              <a:t>, reward function</a:t>
            </a:r>
            <a:r>
              <a:rPr lang="ko-KR" altLang="en-US" dirty="0"/>
              <a:t>은 </a:t>
            </a:r>
            <a:r>
              <a:rPr lang="en-US" altLang="ko-KR" dirty="0"/>
              <a:t>s, a</a:t>
            </a:r>
            <a:r>
              <a:rPr lang="ko-KR" altLang="en-US" dirty="0"/>
              <a:t>가 주어졌을 때 다음 </a:t>
            </a:r>
            <a:r>
              <a:rPr lang="en-US" altLang="ko-KR" dirty="0"/>
              <a:t>r</a:t>
            </a:r>
            <a:r>
              <a:rPr lang="ko-KR" altLang="en-US" dirty="0"/>
              <a:t>을 결정해줍니다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그런데 가만히 생각해보면 이 두 개의 환경모델만으로는 </a:t>
            </a:r>
            <a:r>
              <a:rPr lang="en-US" altLang="ko-KR" dirty="0"/>
              <a:t>trajectory</a:t>
            </a:r>
            <a:r>
              <a:rPr lang="ko-KR" altLang="en-US" dirty="0"/>
              <a:t>가 결정되지 않음을 알 수 있습니다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한가지 빈 곳이</a:t>
            </a:r>
            <a:r>
              <a:rPr lang="en-US" altLang="ko-KR" dirty="0"/>
              <a:t>, s</a:t>
            </a:r>
            <a:r>
              <a:rPr lang="ko-KR" altLang="en-US" dirty="0"/>
              <a:t>가 주어졌을 때 </a:t>
            </a:r>
            <a:r>
              <a:rPr lang="en-US" altLang="ko-KR" dirty="0"/>
              <a:t>a</a:t>
            </a:r>
            <a:r>
              <a:rPr lang="ko-KR" altLang="en-US" dirty="0"/>
              <a:t>가 어떻게 주어질 것이냐 하는 문제인데요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이것을 정책이라고 합니다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즉</a:t>
            </a:r>
            <a:r>
              <a:rPr lang="en-US" altLang="ko-KR" dirty="0"/>
              <a:t>, </a:t>
            </a:r>
            <a:r>
              <a:rPr lang="ko-KR" altLang="en-US" dirty="0"/>
              <a:t>주어진 상태에 대하여 다음 행동을 결정하는 것을 정책</a:t>
            </a:r>
            <a:r>
              <a:rPr lang="en-US" altLang="ko-KR" dirty="0"/>
              <a:t>, </a:t>
            </a:r>
            <a:r>
              <a:rPr lang="ko-KR" altLang="en-US" dirty="0"/>
              <a:t>영어로는 </a:t>
            </a:r>
            <a:r>
              <a:rPr lang="en-US" altLang="ko-KR" dirty="0"/>
              <a:t>policy</a:t>
            </a:r>
            <a:r>
              <a:rPr lang="ko-KR" altLang="en-US" dirty="0"/>
              <a:t>라고 합니다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사실 조금 더 정확하게는</a:t>
            </a:r>
            <a:r>
              <a:rPr lang="en-US" altLang="ko-KR" dirty="0"/>
              <a:t>, </a:t>
            </a:r>
            <a:r>
              <a:rPr lang="ko-KR" altLang="en-US" dirty="0"/>
              <a:t>주어진 상태에서의 행동의 확률분포라고 해야 하고 따라서 식으로는 다음과 같이 써야 하는데</a:t>
            </a:r>
            <a:r>
              <a:rPr lang="en-US" altLang="ko-KR" dirty="0"/>
              <a:t>, </a:t>
            </a:r>
            <a:r>
              <a:rPr lang="ko-KR" altLang="en-US" dirty="0"/>
              <a:t>그냥 단순히 주어진 상태에서 행동을 결정하는 것 정도로 봐도 되겠습니다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앞서 말씀드린 </a:t>
            </a:r>
            <a:r>
              <a:rPr lang="en-US" altLang="ko-KR" dirty="0"/>
              <a:t>transition</a:t>
            </a:r>
            <a:r>
              <a:rPr lang="ko-KR" altLang="en-US" dirty="0"/>
              <a:t> </a:t>
            </a:r>
            <a:r>
              <a:rPr lang="en-US" altLang="ko-KR" dirty="0"/>
              <a:t>dynamics</a:t>
            </a:r>
            <a:r>
              <a:rPr lang="ko-KR" altLang="en-US" dirty="0"/>
              <a:t>에 </a:t>
            </a:r>
            <a:r>
              <a:rPr lang="en-US" altLang="ko-KR" dirty="0"/>
              <a:t>policy</a:t>
            </a:r>
            <a:r>
              <a:rPr lang="ko-KR" altLang="en-US" dirty="0"/>
              <a:t>까지 결정되고 나면</a:t>
            </a:r>
            <a:r>
              <a:rPr lang="en-US" altLang="ko-KR" dirty="0"/>
              <a:t>, </a:t>
            </a:r>
            <a:r>
              <a:rPr lang="ko-KR" altLang="en-US" dirty="0"/>
              <a:t>이 </a:t>
            </a:r>
            <a:r>
              <a:rPr lang="en-US" altLang="ko-KR" dirty="0"/>
              <a:t>trajectory</a:t>
            </a:r>
            <a:r>
              <a:rPr lang="ko-KR" altLang="en-US" dirty="0"/>
              <a:t>가 </a:t>
            </a:r>
            <a:r>
              <a:rPr lang="en-US" altLang="ko-KR" dirty="0"/>
              <a:t>(</a:t>
            </a:r>
            <a:r>
              <a:rPr lang="ko-KR" altLang="en-US" dirty="0"/>
              <a:t>적어도 확률적으로는</a:t>
            </a:r>
            <a:r>
              <a:rPr lang="en-US" altLang="ko-KR" dirty="0"/>
              <a:t>) </a:t>
            </a:r>
            <a:r>
              <a:rPr lang="ko-KR" altLang="en-US" dirty="0"/>
              <a:t>결정될 수 있습니다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그리고</a:t>
            </a:r>
            <a:r>
              <a:rPr lang="en-US" altLang="ko-KR" dirty="0"/>
              <a:t>, </a:t>
            </a:r>
            <a:r>
              <a:rPr lang="ko-KR" altLang="en-US" dirty="0"/>
              <a:t>강화학습의 목적은</a:t>
            </a:r>
            <a:r>
              <a:rPr lang="en-US" altLang="ko-KR" dirty="0"/>
              <a:t>, </a:t>
            </a:r>
            <a:r>
              <a:rPr lang="ko-KR" altLang="en-US" dirty="0"/>
              <a:t>바로 주어진 환경</a:t>
            </a:r>
            <a:r>
              <a:rPr lang="en-US" altLang="ko-KR" dirty="0"/>
              <a:t> (</a:t>
            </a:r>
            <a:r>
              <a:rPr lang="ko-KR" altLang="en-US" dirty="0"/>
              <a:t>즉</a:t>
            </a:r>
            <a:r>
              <a:rPr lang="en-US" altLang="ko-KR" dirty="0"/>
              <a:t>, transition dynamics)</a:t>
            </a:r>
            <a:r>
              <a:rPr lang="ko-KR" altLang="en-US" dirty="0"/>
              <a:t>에서 어떤 정책을 취해야만 </a:t>
            </a:r>
            <a:r>
              <a:rPr lang="en-US" altLang="ko-KR" dirty="0"/>
              <a:t>return</a:t>
            </a:r>
            <a:r>
              <a:rPr lang="ko-KR" altLang="en-US" dirty="0"/>
              <a:t>이 최대가 될지를 결정하는 것입니다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주어진 상태마다 어떤 행동을 취할지를 잘 결정하여</a:t>
            </a:r>
            <a:r>
              <a:rPr lang="en-US" altLang="ko-KR" dirty="0"/>
              <a:t>, </a:t>
            </a:r>
            <a:r>
              <a:rPr lang="ko-KR" altLang="en-US" dirty="0"/>
              <a:t>보상들의 합이 최대가 되도록 하는 것입니다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이러한 정책을 최적정책이라고 부릅니다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앞서 말씀드렸던 </a:t>
            </a:r>
            <a:r>
              <a:rPr lang="en-US" altLang="ko-KR" dirty="0"/>
              <a:t>grid world</a:t>
            </a:r>
            <a:r>
              <a:rPr lang="ko-KR" altLang="en-US" dirty="0"/>
              <a:t>에서 위에 언급한 </a:t>
            </a:r>
            <a:r>
              <a:rPr lang="en-US" altLang="ko-KR" dirty="0"/>
              <a:t>return</a:t>
            </a:r>
            <a:r>
              <a:rPr lang="ko-KR" altLang="en-US" dirty="0"/>
              <a:t>과 </a:t>
            </a:r>
            <a:r>
              <a:rPr lang="en-US" altLang="ko-KR" dirty="0"/>
              <a:t>policy</a:t>
            </a:r>
            <a:r>
              <a:rPr lang="ko-KR" altLang="en-US" dirty="0"/>
              <a:t>에 대해 말해보겠습니다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grid world</a:t>
            </a:r>
            <a:r>
              <a:rPr lang="ko-KR" altLang="en-US" dirty="0"/>
              <a:t>에서 위로 두 칸 간 다음 오른쪽으로 세 칸 가는 </a:t>
            </a:r>
            <a:r>
              <a:rPr lang="en-US" altLang="ko-KR" dirty="0"/>
              <a:t>trajectory</a:t>
            </a:r>
            <a:r>
              <a:rPr lang="ko-KR" altLang="en-US" dirty="0"/>
              <a:t>를 생각했을 때</a:t>
            </a:r>
            <a:endParaRPr lang="en-US" altLang="ko-KR" dirty="0"/>
          </a:p>
          <a:p>
            <a:r>
              <a:rPr lang="ko-KR" altLang="en-US" dirty="0"/>
              <a:t>누적보상합은 </a:t>
            </a:r>
            <a:r>
              <a:rPr lang="en-US" altLang="ko-KR" dirty="0"/>
              <a:t>0.5 </a:t>
            </a:r>
            <a:r>
              <a:rPr lang="ko-KR" altLang="en-US" dirty="0"/>
              <a:t>정도로 계산됩니다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(</a:t>
            </a:r>
            <a:r>
              <a:rPr lang="ko-KR" altLang="en-US" dirty="0"/>
              <a:t>이때</a:t>
            </a:r>
            <a:r>
              <a:rPr lang="en-US" altLang="ko-KR" dirty="0"/>
              <a:t>, </a:t>
            </a:r>
            <a:r>
              <a:rPr lang="ko-KR" altLang="en-US" dirty="0"/>
              <a:t>계산을 간단히 하기 위해 </a:t>
            </a:r>
            <a:r>
              <a:rPr lang="en-US" altLang="ko-KR" dirty="0"/>
              <a:t>gamma</a:t>
            </a:r>
            <a:r>
              <a:rPr lang="ko-KR" altLang="en-US" dirty="0"/>
              <a:t>를 </a:t>
            </a:r>
            <a:r>
              <a:rPr lang="en-US" altLang="ko-KR" dirty="0"/>
              <a:t>1</a:t>
            </a:r>
            <a:r>
              <a:rPr lang="ko-KR" altLang="en-US" dirty="0"/>
              <a:t>로 두었습니다</a:t>
            </a:r>
            <a:r>
              <a:rPr lang="en-US" altLang="ko-KR" dirty="0"/>
              <a:t>.)</a:t>
            </a:r>
          </a:p>
          <a:p>
            <a:endParaRPr lang="en-US" altLang="ko-KR" dirty="0"/>
          </a:p>
          <a:p>
            <a:r>
              <a:rPr lang="ko-KR" altLang="en-US" dirty="0"/>
              <a:t>또 여기서의 정책은</a:t>
            </a:r>
            <a:r>
              <a:rPr lang="en-US" altLang="ko-KR" dirty="0"/>
              <a:t>, </a:t>
            </a:r>
            <a:r>
              <a:rPr lang="ko-KR" altLang="en-US" dirty="0"/>
              <a:t>여러가지 정책이 있을 수 있겠지만 균등정책을 생각해보겠습니다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예를 들어</a:t>
            </a:r>
            <a:r>
              <a:rPr lang="en-US" altLang="ko-KR" dirty="0"/>
              <a:t>(1,1)</a:t>
            </a:r>
            <a:r>
              <a:rPr lang="ko-KR" altLang="en-US" dirty="0"/>
              <a:t>에서는 위 또는 오른쪽으로 각각 </a:t>
            </a:r>
            <a:r>
              <a:rPr lang="en-US" altLang="ko-KR" dirty="0"/>
              <a:t>0.5</a:t>
            </a:r>
            <a:r>
              <a:rPr lang="ko-KR" altLang="en-US" dirty="0"/>
              <a:t>의 확률로 이동합니다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그것을 아래의 식처럼 표현해낼 수 있습니다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또한</a:t>
            </a:r>
            <a:r>
              <a:rPr lang="en-US" altLang="ko-KR" dirty="0"/>
              <a:t>, </a:t>
            </a:r>
            <a:r>
              <a:rPr lang="ko-KR" altLang="en-US" dirty="0"/>
              <a:t>최적정책은</a:t>
            </a:r>
            <a:r>
              <a:rPr lang="en-US" altLang="ko-KR" dirty="0"/>
              <a:t>, </a:t>
            </a:r>
            <a:r>
              <a:rPr lang="ko-KR" altLang="en-US" dirty="0"/>
              <a:t>지금 표시된 </a:t>
            </a:r>
            <a:r>
              <a:rPr lang="en-US" altLang="ko-KR" dirty="0"/>
              <a:t>trajectory</a:t>
            </a:r>
            <a:r>
              <a:rPr lang="ko-KR" altLang="en-US" dirty="0"/>
              <a:t>처럼 움직이는 것이 최적의 경로라는 것을 알 수 있습니다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또는</a:t>
            </a:r>
            <a:r>
              <a:rPr lang="en-US" altLang="ko-KR" dirty="0"/>
              <a:t>, </a:t>
            </a:r>
            <a:r>
              <a:rPr lang="ko-KR" altLang="en-US" dirty="0"/>
              <a:t>오른쪽으로 돌아가는 </a:t>
            </a:r>
            <a:r>
              <a:rPr lang="en-US" altLang="ko-KR" dirty="0"/>
              <a:t>trajectory</a:t>
            </a:r>
            <a:r>
              <a:rPr lang="ko-KR" altLang="en-US" dirty="0"/>
              <a:t>도 최적의 경로입니다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(</a:t>
            </a:r>
            <a:r>
              <a:rPr lang="ko-KR" altLang="en-US" dirty="0"/>
              <a:t>하나의 </a:t>
            </a:r>
            <a:r>
              <a:rPr lang="en-US" altLang="ko-KR" dirty="0"/>
              <a:t>MDP</a:t>
            </a:r>
            <a:r>
              <a:rPr lang="ko-KR" altLang="en-US" dirty="0"/>
              <a:t>에서 최적정책은 여러 개 있을 수 있습니다</a:t>
            </a:r>
            <a:r>
              <a:rPr lang="en-US" altLang="ko-KR" dirty="0"/>
              <a:t>.)</a:t>
            </a:r>
          </a:p>
          <a:p>
            <a:r>
              <a:rPr lang="ko-KR" altLang="en-US" dirty="0"/>
              <a:t>그중 그림에 표시된 경로에 해당하는 최적정책은</a:t>
            </a:r>
            <a:r>
              <a:rPr lang="en-US" altLang="ko-KR" dirty="0"/>
              <a:t>, </a:t>
            </a:r>
            <a:r>
              <a:rPr lang="ko-KR" altLang="en-US" dirty="0"/>
              <a:t>예를 들어 </a:t>
            </a:r>
            <a:r>
              <a:rPr lang="en-US" altLang="ko-KR" dirty="0"/>
              <a:t>(1,2)</a:t>
            </a:r>
            <a:r>
              <a:rPr lang="ko-KR" altLang="en-US" dirty="0"/>
              <a:t>이라는 상태가 주어졌을 때 위로 갈 확률만이 </a:t>
            </a:r>
            <a:r>
              <a:rPr lang="en-US" altLang="ko-KR" dirty="0"/>
              <a:t>1</a:t>
            </a:r>
            <a:r>
              <a:rPr lang="ko-KR" altLang="en-US" dirty="0"/>
              <a:t>이고 나머지 확률은 </a:t>
            </a:r>
            <a:r>
              <a:rPr lang="en-US" altLang="ko-KR" dirty="0"/>
              <a:t>0</a:t>
            </a:r>
            <a:r>
              <a:rPr lang="ko-KR" altLang="en-US" dirty="0"/>
              <a:t>으로 가는</a:t>
            </a:r>
            <a:r>
              <a:rPr lang="en-US" altLang="ko-KR" dirty="0"/>
              <a:t>, action</a:t>
            </a:r>
            <a:r>
              <a:rPr lang="ko-KR" altLang="en-US" dirty="0"/>
              <a:t>들의 확률분포를 갖게 됩니다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지금은 </a:t>
            </a:r>
            <a:r>
              <a:rPr lang="en-US" altLang="ko-KR" dirty="0"/>
              <a:t>(1,2)</a:t>
            </a:r>
            <a:r>
              <a:rPr lang="ko-KR" altLang="en-US" dirty="0"/>
              <a:t>에 대해서만 했지만 나머지 점들에 대해서도 </a:t>
            </a:r>
            <a:r>
              <a:rPr lang="en-US" altLang="ko-KR" dirty="0"/>
              <a:t>action</a:t>
            </a:r>
            <a:r>
              <a:rPr lang="ko-KR" altLang="en-US" dirty="0"/>
              <a:t>을 적절히 정하게 되면 최적정책을 만들어낼 수 있습니다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이 최적정책은 </a:t>
            </a:r>
            <a:r>
              <a:rPr lang="en-US" altLang="ko-KR" dirty="0"/>
              <a:t>state</a:t>
            </a:r>
            <a:r>
              <a:rPr lang="ko-KR" altLang="en-US" dirty="0"/>
              <a:t>가 주어졌을 때 </a:t>
            </a:r>
            <a:r>
              <a:rPr lang="en-US" altLang="ko-KR" dirty="0"/>
              <a:t>action</a:t>
            </a:r>
            <a:r>
              <a:rPr lang="ko-KR" altLang="en-US" dirty="0"/>
              <a:t>이 고정적으로 하나 결정되는 형식의 </a:t>
            </a:r>
            <a:r>
              <a:rPr lang="en-US" altLang="ko-KR" dirty="0"/>
              <a:t>policy</a:t>
            </a:r>
            <a:r>
              <a:rPr lang="ko-KR" altLang="en-US" dirty="0"/>
              <a:t>입니다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이런 식의 정책을 </a:t>
            </a:r>
            <a:r>
              <a:rPr lang="en-US" altLang="ko-KR" dirty="0"/>
              <a:t>deterministic policy</a:t>
            </a:r>
            <a:r>
              <a:rPr lang="ko-KR" altLang="en-US" dirty="0"/>
              <a:t>라고 부르는데</a:t>
            </a:r>
            <a:r>
              <a:rPr lang="en-US" altLang="ko-KR" dirty="0"/>
              <a:t>, </a:t>
            </a:r>
            <a:r>
              <a:rPr lang="ko-KR" altLang="en-US" dirty="0"/>
              <a:t>일반적으로는 그렇지 않습니다</a:t>
            </a:r>
            <a:r>
              <a:rPr lang="en-US" altLang="ko-KR" dirty="0"/>
              <a:t>, </a:t>
            </a:r>
            <a:r>
              <a:rPr lang="ko-KR" altLang="en-US" dirty="0"/>
              <a:t>그 반대급부를 </a:t>
            </a:r>
            <a:r>
              <a:rPr lang="en-US" altLang="ko-KR" dirty="0"/>
              <a:t>stochastic policy</a:t>
            </a:r>
            <a:r>
              <a:rPr lang="ko-KR" altLang="en-US" dirty="0"/>
              <a:t>라고도 부릅니다</a:t>
            </a:r>
            <a:r>
              <a:rPr lang="en-US" altLang="ko-KR" dirty="0"/>
              <a:t>.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0C080B2-906D-8C9D-366E-407D91F05B2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9642909-6448-426E-9ED7-EFF6CDC2E25C}" type="slidenum">
              <a:rPr lang="ko-KR" altLang="en-US" smtClean="0"/>
              <a:pPr>
                <a:defRPr/>
              </a:pPr>
              <a:t>10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9255128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9337B0-D588-AF72-CC2A-C8E347DC93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40213C8-495C-909D-8C04-17F74F0FAC3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6B57E0C-A006-4C89-6A62-89E84E5680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이전 장표에서 언급한 강화학습의 목적</a:t>
            </a:r>
            <a:r>
              <a:rPr lang="en-US" altLang="ko-KR" dirty="0"/>
              <a:t>, </a:t>
            </a:r>
            <a:r>
              <a:rPr lang="ko-KR" altLang="en-US" dirty="0"/>
              <a:t>즉 최적정책을 찾기 위해서는 가치함수라는 개념을 도입합니다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어떤 정책 </a:t>
            </a:r>
            <a:r>
              <a:rPr lang="en-US" altLang="ko-KR" dirty="0"/>
              <a:t>\pi</a:t>
            </a:r>
            <a:r>
              <a:rPr lang="ko-KR" altLang="en-US" dirty="0"/>
              <a:t>에 대하여 가치함수는 다음과 같이 두 종류가 있습니다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하나는 현재 상태에 대한 가치를 나타내는 </a:t>
            </a:r>
            <a:r>
              <a:rPr lang="en-US" altLang="ko-KR" dirty="0"/>
              <a:t>state-value function v_\pi</a:t>
            </a:r>
            <a:r>
              <a:rPr lang="ko-KR" altLang="en-US" dirty="0"/>
              <a:t>이고</a:t>
            </a:r>
            <a:endParaRPr lang="en-US" altLang="ko-KR" dirty="0"/>
          </a:p>
          <a:p>
            <a:r>
              <a:rPr lang="ko-KR" altLang="en-US" dirty="0"/>
              <a:t>다른 하나는 현재의 상태와 행동에 대한 가치를 나타내는 </a:t>
            </a:r>
            <a:r>
              <a:rPr lang="en-US" altLang="ko-KR" dirty="0"/>
              <a:t>action-value function q_\pi</a:t>
            </a:r>
            <a:r>
              <a:rPr lang="ko-KR" altLang="en-US" dirty="0"/>
              <a:t>입니다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정확하게는</a:t>
            </a:r>
            <a:r>
              <a:rPr lang="en-US" altLang="ko-KR" dirty="0"/>
              <a:t>, v_\pi(s)</a:t>
            </a:r>
            <a:r>
              <a:rPr lang="ko-KR" altLang="en-US" dirty="0"/>
              <a:t>는 현재 상태 </a:t>
            </a:r>
            <a:r>
              <a:rPr lang="en-US" altLang="ko-KR" dirty="0"/>
              <a:t>s</a:t>
            </a:r>
            <a:r>
              <a:rPr lang="ko-KR" altLang="en-US" dirty="0"/>
              <a:t>가 주어졌다는 조건 하에서 </a:t>
            </a:r>
            <a:r>
              <a:rPr lang="en-US" altLang="ko-KR" dirty="0" err="1"/>
              <a:t>G_t</a:t>
            </a:r>
            <a:r>
              <a:rPr lang="ko-KR" altLang="en-US" dirty="0"/>
              <a:t>의 </a:t>
            </a:r>
            <a:r>
              <a:rPr lang="ko-KR" altLang="en-US" dirty="0" err="1"/>
              <a:t>기댓값이고</a:t>
            </a:r>
            <a:r>
              <a:rPr lang="ko-KR" altLang="en-US" dirty="0"/>
              <a:t> </a:t>
            </a:r>
            <a:r>
              <a:rPr lang="en-US" altLang="ko-KR" dirty="0"/>
              <a:t>q_\pi(</a:t>
            </a:r>
            <a:r>
              <a:rPr lang="en-US" altLang="ko-KR" dirty="0" err="1"/>
              <a:t>s,a</a:t>
            </a:r>
            <a:r>
              <a:rPr lang="en-US" altLang="ko-KR" dirty="0"/>
              <a:t>)</a:t>
            </a:r>
            <a:r>
              <a:rPr lang="ko-KR" altLang="en-US" dirty="0"/>
              <a:t>는 현재 상태 </a:t>
            </a:r>
            <a:r>
              <a:rPr lang="en-US" altLang="ko-KR" dirty="0"/>
              <a:t>s</a:t>
            </a:r>
            <a:r>
              <a:rPr lang="ko-KR" altLang="en-US" dirty="0"/>
              <a:t>와 행동 </a:t>
            </a:r>
            <a:r>
              <a:rPr lang="en-US" altLang="ko-KR" dirty="0"/>
              <a:t>a</a:t>
            </a:r>
            <a:r>
              <a:rPr lang="ko-KR" altLang="en-US" dirty="0"/>
              <a:t>가 주어졌다는 조건 하에서의 </a:t>
            </a:r>
            <a:r>
              <a:rPr lang="en-US" altLang="ko-KR" dirty="0" err="1"/>
              <a:t>G_t</a:t>
            </a:r>
            <a:r>
              <a:rPr lang="ko-KR" altLang="en-US" dirty="0"/>
              <a:t>의 </a:t>
            </a:r>
            <a:r>
              <a:rPr lang="ko-KR" altLang="en-US" dirty="0" err="1"/>
              <a:t>기댓값입니다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이 두가지의 가치함수 중에 더 요긴한 것은 당연히 </a:t>
            </a:r>
            <a:r>
              <a:rPr lang="en-US" altLang="ko-KR" dirty="0"/>
              <a:t>action-value function q</a:t>
            </a:r>
            <a:r>
              <a:rPr lang="ko-KR" altLang="en-US" dirty="0"/>
              <a:t>입니다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만약</a:t>
            </a:r>
            <a:r>
              <a:rPr lang="en-US" altLang="ko-KR" dirty="0"/>
              <a:t> q_\pi</a:t>
            </a:r>
            <a:r>
              <a:rPr lang="ko-KR" altLang="en-US" dirty="0"/>
              <a:t>를 안다면</a:t>
            </a:r>
            <a:r>
              <a:rPr lang="en-US" altLang="ko-KR" dirty="0"/>
              <a:t>, </a:t>
            </a:r>
            <a:r>
              <a:rPr lang="ko-KR" altLang="en-US" dirty="0"/>
              <a:t>상태 </a:t>
            </a:r>
            <a:r>
              <a:rPr lang="en-US" altLang="ko-KR" dirty="0"/>
              <a:t>s</a:t>
            </a:r>
            <a:r>
              <a:rPr lang="ko-KR" altLang="en-US" dirty="0"/>
              <a:t>가 주어졌을 때 어떤 행동을 취해야 정책이 개선될 수 있을지 판단할 수 있습니다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Q-learning</a:t>
            </a:r>
            <a:r>
              <a:rPr lang="ko-KR" altLang="en-US" dirty="0"/>
              <a:t>이나 </a:t>
            </a:r>
            <a:r>
              <a:rPr lang="en-US" altLang="ko-KR" dirty="0"/>
              <a:t>DQN </a:t>
            </a:r>
            <a:r>
              <a:rPr lang="ko-KR" altLang="en-US" dirty="0"/>
              <a:t>등은 모두 </a:t>
            </a:r>
            <a:r>
              <a:rPr lang="en-US" altLang="ko-KR" dirty="0"/>
              <a:t>Q </a:t>
            </a:r>
            <a:r>
              <a:rPr lang="ko-KR" altLang="en-US" dirty="0"/>
              <a:t>함수를 사용하는 강화학습 방법들입니다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CC76D7D-B2CC-F188-BDF8-BD9AA871F09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9642909-6448-426E-9ED7-EFF6CDC2E25C}" type="slidenum">
              <a:rPr lang="ko-KR" altLang="en-US" smtClean="0"/>
              <a:pPr>
                <a:defRPr/>
              </a:pPr>
              <a:t>11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91261594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9C3C1A-D4C4-2575-8F8B-C654EA0046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43D4ECA-3CFB-2BB5-11CD-32EF7B01B78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C80CDB1-22C0-F792-25BA-A378288DEC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이전 장표에서 언급한 강화학습의 목적</a:t>
            </a:r>
            <a:r>
              <a:rPr lang="en-US" altLang="ko-KR" dirty="0"/>
              <a:t>, </a:t>
            </a:r>
            <a:r>
              <a:rPr lang="ko-KR" altLang="en-US" dirty="0"/>
              <a:t>즉 최적정책을 찾기 위해서는 가치함수라는 개념을 도입합니다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어떤 정책 </a:t>
            </a:r>
            <a:r>
              <a:rPr lang="en-US" altLang="ko-KR" dirty="0"/>
              <a:t>\pi</a:t>
            </a:r>
            <a:r>
              <a:rPr lang="ko-KR" altLang="en-US" dirty="0"/>
              <a:t>에 대하여 가치함수는 다음과 같이 두 종류가 있습니다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하나는 현재 상태에 대한 가치를 나타내는 </a:t>
            </a:r>
            <a:r>
              <a:rPr lang="en-US" altLang="ko-KR" dirty="0"/>
              <a:t>state-value function v_\pi</a:t>
            </a:r>
            <a:r>
              <a:rPr lang="ko-KR" altLang="en-US" dirty="0"/>
              <a:t>이고</a:t>
            </a:r>
            <a:endParaRPr lang="en-US" altLang="ko-KR" dirty="0"/>
          </a:p>
          <a:p>
            <a:r>
              <a:rPr lang="ko-KR" altLang="en-US" dirty="0"/>
              <a:t>다른 하나는 현재의 상태와 행동에 대한 가치를 나타내는 </a:t>
            </a:r>
            <a:r>
              <a:rPr lang="en-US" altLang="ko-KR" dirty="0"/>
              <a:t>action-value function q_\pi</a:t>
            </a:r>
            <a:r>
              <a:rPr lang="ko-KR" altLang="en-US" dirty="0"/>
              <a:t>입니다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정확하게는</a:t>
            </a:r>
            <a:r>
              <a:rPr lang="en-US" altLang="ko-KR" dirty="0"/>
              <a:t>, v_\pi(s)</a:t>
            </a:r>
            <a:r>
              <a:rPr lang="ko-KR" altLang="en-US" dirty="0"/>
              <a:t>는 현재 상태 </a:t>
            </a:r>
            <a:r>
              <a:rPr lang="en-US" altLang="ko-KR" dirty="0"/>
              <a:t>s</a:t>
            </a:r>
            <a:r>
              <a:rPr lang="ko-KR" altLang="en-US" dirty="0"/>
              <a:t>가 주어졌다는 조건 하에서 </a:t>
            </a:r>
            <a:r>
              <a:rPr lang="en-US" altLang="ko-KR" dirty="0" err="1"/>
              <a:t>G_t</a:t>
            </a:r>
            <a:r>
              <a:rPr lang="ko-KR" altLang="en-US" dirty="0"/>
              <a:t>의 </a:t>
            </a:r>
            <a:r>
              <a:rPr lang="ko-KR" altLang="en-US" dirty="0" err="1"/>
              <a:t>기댓값이고</a:t>
            </a:r>
            <a:r>
              <a:rPr lang="ko-KR" altLang="en-US" dirty="0"/>
              <a:t> </a:t>
            </a:r>
            <a:r>
              <a:rPr lang="en-US" altLang="ko-KR" dirty="0"/>
              <a:t>q_\pi(</a:t>
            </a:r>
            <a:r>
              <a:rPr lang="en-US" altLang="ko-KR" dirty="0" err="1"/>
              <a:t>s,a</a:t>
            </a:r>
            <a:r>
              <a:rPr lang="en-US" altLang="ko-KR" dirty="0"/>
              <a:t>)</a:t>
            </a:r>
            <a:r>
              <a:rPr lang="ko-KR" altLang="en-US" dirty="0"/>
              <a:t>는 현재 상태 </a:t>
            </a:r>
            <a:r>
              <a:rPr lang="en-US" altLang="ko-KR" dirty="0"/>
              <a:t>s</a:t>
            </a:r>
            <a:r>
              <a:rPr lang="ko-KR" altLang="en-US" dirty="0"/>
              <a:t>와 행동 </a:t>
            </a:r>
            <a:r>
              <a:rPr lang="en-US" altLang="ko-KR" dirty="0"/>
              <a:t>a</a:t>
            </a:r>
            <a:r>
              <a:rPr lang="ko-KR" altLang="en-US" dirty="0"/>
              <a:t>가 주어졌다는 조건 하에서의 </a:t>
            </a:r>
            <a:r>
              <a:rPr lang="en-US" altLang="ko-KR" dirty="0" err="1"/>
              <a:t>G_t</a:t>
            </a:r>
            <a:r>
              <a:rPr lang="ko-KR" altLang="en-US" dirty="0"/>
              <a:t>의 </a:t>
            </a:r>
            <a:r>
              <a:rPr lang="ko-KR" altLang="en-US" dirty="0" err="1"/>
              <a:t>기댓값입니다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이 두가지의 가치함수 중에 더 요긴한 것은 당연히 </a:t>
            </a:r>
            <a:r>
              <a:rPr lang="en-US" altLang="ko-KR" dirty="0"/>
              <a:t>action-value function q</a:t>
            </a:r>
            <a:r>
              <a:rPr lang="ko-KR" altLang="en-US" dirty="0"/>
              <a:t>입니다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만약</a:t>
            </a:r>
            <a:r>
              <a:rPr lang="en-US" altLang="ko-KR" dirty="0"/>
              <a:t> q_\pi</a:t>
            </a:r>
            <a:r>
              <a:rPr lang="ko-KR" altLang="en-US" dirty="0"/>
              <a:t>를 안다면</a:t>
            </a:r>
            <a:r>
              <a:rPr lang="en-US" altLang="ko-KR" dirty="0"/>
              <a:t>, </a:t>
            </a:r>
            <a:r>
              <a:rPr lang="ko-KR" altLang="en-US" dirty="0"/>
              <a:t>상태 </a:t>
            </a:r>
            <a:r>
              <a:rPr lang="en-US" altLang="ko-KR" dirty="0"/>
              <a:t>s</a:t>
            </a:r>
            <a:r>
              <a:rPr lang="ko-KR" altLang="en-US" dirty="0"/>
              <a:t>가 주어졌을 때 어떤 행동을 취해야 정책이 개선될 수 있을지 판단할 수 있습니다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Q-learning</a:t>
            </a:r>
            <a:r>
              <a:rPr lang="ko-KR" altLang="en-US" dirty="0"/>
              <a:t>이나 </a:t>
            </a:r>
            <a:r>
              <a:rPr lang="en-US" altLang="ko-KR" dirty="0"/>
              <a:t>DQN </a:t>
            </a:r>
            <a:r>
              <a:rPr lang="ko-KR" altLang="en-US" dirty="0"/>
              <a:t>등은 모두 </a:t>
            </a:r>
            <a:r>
              <a:rPr lang="en-US" altLang="ko-KR" dirty="0"/>
              <a:t>Q </a:t>
            </a:r>
            <a:r>
              <a:rPr lang="ko-KR" altLang="en-US" dirty="0"/>
              <a:t>함수를 사용하는 강화학습 방법들입니다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37E1D77-FE33-A358-C17D-4FEE5397092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9642909-6448-426E-9ED7-EFF6CDC2E25C}" type="slidenum">
              <a:rPr lang="ko-KR" altLang="en-US" smtClean="0"/>
              <a:pPr>
                <a:defRPr/>
              </a:pPr>
              <a:t>12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64517360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이전 장표에서 언급한 강화학습의 목적</a:t>
            </a:r>
            <a:r>
              <a:rPr lang="en-US" altLang="ko-KR" dirty="0"/>
              <a:t>, </a:t>
            </a:r>
            <a:r>
              <a:rPr lang="ko-KR" altLang="en-US" dirty="0"/>
              <a:t>즉 최적정책을 찾기 위해서는 가치함수라는 개념을 도입합니다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어떤 정책 </a:t>
            </a:r>
            <a:r>
              <a:rPr lang="en-US" altLang="ko-KR" dirty="0"/>
              <a:t>\pi</a:t>
            </a:r>
            <a:r>
              <a:rPr lang="ko-KR" altLang="en-US" dirty="0"/>
              <a:t>에 대하여 가치함수는 다음과 같이 두 종류가 있습니다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하나는 현재 상태에 대한 가치를 나타내는 </a:t>
            </a:r>
            <a:r>
              <a:rPr lang="en-US" altLang="ko-KR" dirty="0"/>
              <a:t>state-value function v_\pi</a:t>
            </a:r>
            <a:r>
              <a:rPr lang="ko-KR" altLang="en-US" dirty="0"/>
              <a:t>이고</a:t>
            </a:r>
            <a:endParaRPr lang="en-US" altLang="ko-KR" dirty="0"/>
          </a:p>
          <a:p>
            <a:r>
              <a:rPr lang="ko-KR" altLang="en-US" dirty="0"/>
              <a:t>다른 하나는 현재의 상태와 행동에 대한 가치를 나타내는 </a:t>
            </a:r>
            <a:r>
              <a:rPr lang="en-US" altLang="ko-KR" dirty="0"/>
              <a:t>action-value function q_\pi</a:t>
            </a:r>
            <a:r>
              <a:rPr lang="ko-KR" altLang="en-US" dirty="0"/>
              <a:t>입니다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정확하게는</a:t>
            </a:r>
            <a:r>
              <a:rPr lang="en-US" altLang="ko-KR" dirty="0"/>
              <a:t>, v_\pi(s)</a:t>
            </a:r>
            <a:r>
              <a:rPr lang="ko-KR" altLang="en-US" dirty="0"/>
              <a:t>는 현재 상태 </a:t>
            </a:r>
            <a:r>
              <a:rPr lang="en-US" altLang="ko-KR" dirty="0"/>
              <a:t>s</a:t>
            </a:r>
            <a:r>
              <a:rPr lang="ko-KR" altLang="en-US" dirty="0"/>
              <a:t>가 주어졌다는 조건 하에서 </a:t>
            </a:r>
            <a:r>
              <a:rPr lang="en-US" altLang="ko-KR" dirty="0" err="1"/>
              <a:t>G_t</a:t>
            </a:r>
            <a:r>
              <a:rPr lang="ko-KR" altLang="en-US" dirty="0"/>
              <a:t>의 </a:t>
            </a:r>
            <a:r>
              <a:rPr lang="ko-KR" altLang="en-US" dirty="0" err="1"/>
              <a:t>기댓값이고</a:t>
            </a:r>
            <a:r>
              <a:rPr lang="ko-KR" altLang="en-US" dirty="0"/>
              <a:t> </a:t>
            </a:r>
            <a:r>
              <a:rPr lang="en-US" altLang="ko-KR" dirty="0"/>
              <a:t>q_\pi(</a:t>
            </a:r>
            <a:r>
              <a:rPr lang="en-US" altLang="ko-KR" dirty="0" err="1"/>
              <a:t>s,a</a:t>
            </a:r>
            <a:r>
              <a:rPr lang="en-US" altLang="ko-KR" dirty="0"/>
              <a:t>)</a:t>
            </a:r>
            <a:r>
              <a:rPr lang="ko-KR" altLang="en-US" dirty="0"/>
              <a:t>는 현재 상태 </a:t>
            </a:r>
            <a:r>
              <a:rPr lang="en-US" altLang="ko-KR" dirty="0"/>
              <a:t>s</a:t>
            </a:r>
            <a:r>
              <a:rPr lang="ko-KR" altLang="en-US" dirty="0"/>
              <a:t>와 행동 </a:t>
            </a:r>
            <a:r>
              <a:rPr lang="en-US" altLang="ko-KR" dirty="0"/>
              <a:t>a</a:t>
            </a:r>
            <a:r>
              <a:rPr lang="ko-KR" altLang="en-US" dirty="0"/>
              <a:t>가 주어졌다는 조건 하에서의 </a:t>
            </a:r>
            <a:r>
              <a:rPr lang="en-US" altLang="ko-KR" dirty="0" err="1"/>
              <a:t>G_t</a:t>
            </a:r>
            <a:r>
              <a:rPr lang="ko-KR" altLang="en-US" dirty="0"/>
              <a:t>의 </a:t>
            </a:r>
            <a:r>
              <a:rPr lang="ko-KR" altLang="en-US" dirty="0" err="1"/>
              <a:t>기댓값입니다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이 두가지의 가치함수 중에 더 요긴한 것은 당연히 </a:t>
            </a:r>
            <a:r>
              <a:rPr lang="en-US" altLang="ko-KR" dirty="0"/>
              <a:t>action-value function q</a:t>
            </a:r>
            <a:r>
              <a:rPr lang="ko-KR" altLang="en-US" dirty="0"/>
              <a:t>입니다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만약</a:t>
            </a:r>
            <a:r>
              <a:rPr lang="en-US" altLang="ko-KR" dirty="0"/>
              <a:t> q_\pi</a:t>
            </a:r>
            <a:r>
              <a:rPr lang="ko-KR" altLang="en-US" dirty="0"/>
              <a:t>를 안다면</a:t>
            </a:r>
            <a:r>
              <a:rPr lang="en-US" altLang="ko-KR" dirty="0"/>
              <a:t>, </a:t>
            </a:r>
            <a:r>
              <a:rPr lang="ko-KR" altLang="en-US" dirty="0"/>
              <a:t>상태 </a:t>
            </a:r>
            <a:r>
              <a:rPr lang="en-US" altLang="ko-KR" dirty="0"/>
              <a:t>s</a:t>
            </a:r>
            <a:r>
              <a:rPr lang="ko-KR" altLang="en-US" dirty="0"/>
              <a:t>가 주어졌을 때 어떤 행동을 취해야 정책이 개선될 수 있을지 판단할 수 있습니다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Q-learning</a:t>
            </a:r>
            <a:r>
              <a:rPr lang="ko-KR" altLang="en-US" dirty="0"/>
              <a:t>이나 </a:t>
            </a:r>
            <a:r>
              <a:rPr lang="en-US" altLang="ko-KR" dirty="0"/>
              <a:t>DQN </a:t>
            </a:r>
            <a:r>
              <a:rPr lang="ko-KR" altLang="en-US" dirty="0"/>
              <a:t>등은 모두 </a:t>
            </a:r>
            <a:r>
              <a:rPr lang="en-US" altLang="ko-KR" dirty="0"/>
              <a:t>Q </a:t>
            </a:r>
            <a:r>
              <a:rPr lang="ko-KR" altLang="en-US" dirty="0"/>
              <a:t>함수를 사용하는 강화학습 방법들입니다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9642909-6448-426E-9ED7-EFF6CDC2E25C}" type="slidenum">
              <a:rPr lang="ko-KR" altLang="en-US" smtClean="0"/>
              <a:pPr>
                <a:defRPr/>
              </a:pPr>
              <a:t>13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403884677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마지막으로 </a:t>
            </a:r>
            <a:r>
              <a:rPr lang="ko-KR" altLang="en-US" dirty="0" err="1"/>
              <a:t>벨만방정식에</a:t>
            </a:r>
            <a:r>
              <a:rPr lang="ko-KR" altLang="en-US" dirty="0"/>
              <a:t> 대한 소개입니다</a:t>
            </a:r>
            <a:r>
              <a:rPr lang="en-US" altLang="ko-KR" dirty="0"/>
              <a:t>.</a:t>
            </a:r>
          </a:p>
          <a:p>
            <a:r>
              <a:rPr lang="ko-KR" altLang="en-US" dirty="0" err="1"/>
              <a:t>벨만방정식은</a:t>
            </a:r>
            <a:r>
              <a:rPr lang="ko-KR" altLang="en-US" dirty="0"/>
              <a:t> 가치함수들이 만족시켜야 하는 식입니다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위의 식은 </a:t>
            </a:r>
            <a:r>
              <a:rPr lang="en-US" altLang="ko-KR" dirty="0"/>
              <a:t>v_\pi</a:t>
            </a:r>
            <a:r>
              <a:rPr lang="ko-KR" altLang="en-US" dirty="0"/>
              <a:t>에 대한 </a:t>
            </a:r>
            <a:r>
              <a:rPr lang="ko-KR" altLang="en-US" dirty="0" err="1"/>
              <a:t>벨만방정식</a:t>
            </a:r>
            <a:r>
              <a:rPr lang="ko-KR" altLang="en-US" dirty="0"/>
              <a:t> 입니다</a:t>
            </a:r>
            <a:r>
              <a:rPr lang="en-US" altLang="ko-KR" dirty="0"/>
              <a:t>..</a:t>
            </a:r>
          </a:p>
          <a:p>
            <a:pPr marL="0" marR="0" lvl="0" indent="0" algn="l" defTabSz="914400" rtl="0" eaLnBrk="0" fontAlgn="base" latinLnBrk="1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주어진 </a:t>
            </a:r>
            <a:r>
              <a:rPr lang="en-US" altLang="ko-KR" dirty="0"/>
              <a:t>timestep</a:t>
            </a:r>
            <a:r>
              <a:rPr lang="ko-KR" altLang="en-US" dirty="0"/>
              <a:t>과 다음 </a:t>
            </a:r>
            <a:r>
              <a:rPr lang="en-US" altLang="ko-KR" dirty="0"/>
              <a:t>timestep</a:t>
            </a:r>
            <a:r>
              <a:rPr lang="ko-KR" altLang="en-US" dirty="0"/>
              <a:t>의 </a:t>
            </a:r>
            <a:r>
              <a:rPr lang="en-US" altLang="ko-KR" dirty="0"/>
              <a:t>v_\pi(s)</a:t>
            </a:r>
            <a:r>
              <a:rPr lang="ko-KR" altLang="en-US" dirty="0"/>
              <a:t> 값들을 비교하면 다음과 같은 식이 성립함을 계산을 통해 알 수 있습니다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이 식은 모든 상태 </a:t>
            </a:r>
            <a:r>
              <a:rPr lang="en-US" altLang="ko-KR" dirty="0"/>
              <a:t>s</a:t>
            </a:r>
            <a:r>
              <a:rPr lang="ko-KR" altLang="en-US" dirty="0"/>
              <a:t>에 대해 성립하는 식으로서</a:t>
            </a:r>
            <a:r>
              <a:rPr lang="en-US" altLang="ko-KR" dirty="0"/>
              <a:t> </a:t>
            </a:r>
            <a:r>
              <a:rPr lang="ko-KR" altLang="en-US" dirty="0" err="1"/>
              <a:t>일차연립방정식에</a:t>
            </a:r>
            <a:r>
              <a:rPr lang="ko-KR" altLang="en-US" dirty="0"/>
              <a:t> 해당한다고 볼 수도 있습니다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그래서 </a:t>
            </a:r>
            <a:r>
              <a:rPr lang="en-US" altLang="ko-KR" dirty="0"/>
              <a:t>transition dynamics</a:t>
            </a:r>
            <a:r>
              <a:rPr lang="ko-KR" altLang="en-US" dirty="0"/>
              <a:t>를 알고 있다면 </a:t>
            </a:r>
            <a:r>
              <a:rPr lang="en-US" altLang="ko-KR" dirty="0"/>
              <a:t>v_\pi</a:t>
            </a:r>
            <a:r>
              <a:rPr lang="ko-KR" altLang="en-US" dirty="0"/>
              <a:t>는 연립방정식을 푸는 방법을 통해서도 계산해낼 수 있습니다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아래의 식은 </a:t>
            </a:r>
            <a:r>
              <a:rPr lang="en-US" altLang="ko-KR" dirty="0"/>
              <a:t>q_\pi</a:t>
            </a:r>
            <a:r>
              <a:rPr lang="ko-KR" altLang="en-US" dirty="0"/>
              <a:t>에 대한 </a:t>
            </a:r>
            <a:r>
              <a:rPr lang="ko-KR" altLang="en-US" dirty="0" err="1"/>
              <a:t>벨만방정식입니다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마찬가지로 인접한 </a:t>
            </a:r>
            <a:r>
              <a:rPr lang="en-US" altLang="ko-KR" dirty="0"/>
              <a:t>timestep </a:t>
            </a:r>
            <a:r>
              <a:rPr lang="ko-KR" altLang="en-US" dirty="0"/>
              <a:t>사이의 </a:t>
            </a:r>
            <a:r>
              <a:rPr lang="en-US" altLang="ko-KR" dirty="0"/>
              <a:t>q</a:t>
            </a:r>
            <a:r>
              <a:rPr lang="ko-KR" altLang="en-US" dirty="0"/>
              <a:t>값을 비교하여 계산하면 해당 식들이 성립함을 알 수 있습니다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이 </a:t>
            </a:r>
            <a:r>
              <a:rPr lang="ko-KR" altLang="en-US" dirty="0" err="1"/>
              <a:t>벨만방정식들은</a:t>
            </a:r>
            <a:r>
              <a:rPr lang="ko-KR" altLang="en-US" dirty="0"/>
              <a:t> 강화학습에서 아주 중요한 식들입니다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(Monte Carlo </a:t>
            </a:r>
            <a:r>
              <a:rPr lang="ko-KR" altLang="en-US" dirty="0"/>
              <a:t>방법을 제외하면</a:t>
            </a:r>
            <a:r>
              <a:rPr lang="en-US" altLang="ko-KR" dirty="0"/>
              <a:t>) </a:t>
            </a:r>
            <a:r>
              <a:rPr lang="ko-KR" altLang="en-US" dirty="0"/>
              <a:t>강화학습의 모든 알고리즘이 </a:t>
            </a:r>
            <a:r>
              <a:rPr lang="ko-KR" altLang="en-US" dirty="0" err="1"/>
              <a:t>벨만방정식을</a:t>
            </a:r>
            <a:r>
              <a:rPr lang="ko-KR" altLang="en-US" dirty="0"/>
              <a:t> 기반으로 수행됩니다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한편 </a:t>
            </a:r>
            <a:r>
              <a:rPr lang="ko-KR" altLang="en-US" dirty="0" err="1"/>
              <a:t>벨만최적방정식이라고</a:t>
            </a:r>
            <a:r>
              <a:rPr lang="ko-KR" altLang="en-US" dirty="0"/>
              <a:t> 불리는 식도 있습니다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이것은 최적 정책의 가치함수들이 만족시켜야 하는 식을 말하는데요</a:t>
            </a:r>
            <a:r>
              <a:rPr lang="en-US" altLang="ko-KR" dirty="0"/>
              <a:t>, </a:t>
            </a:r>
            <a:r>
              <a:rPr lang="ko-KR" altLang="en-US" dirty="0"/>
              <a:t>다음과 같습니다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이 식들 또한 연립방정식이라고 볼 수 있습니다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다만</a:t>
            </a:r>
            <a:r>
              <a:rPr lang="en-US" altLang="ko-KR" dirty="0"/>
              <a:t>, max </a:t>
            </a:r>
            <a:r>
              <a:rPr lang="ko-KR" altLang="en-US" dirty="0"/>
              <a:t>표시가 있기 때문에 선형 연립방정식이 아닌 비선형 연립방정식입니다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최적 가치함수를 </a:t>
            </a:r>
            <a:r>
              <a:rPr lang="ko-KR" altLang="en-US" dirty="0" err="1"/>
              <a:t>구하게되면</a:t>
            </a:r>
            <a:r>
              <a:rPr lang="ko-KR" altLang="en-US" dirty="0"/>
              <a:t> 그것으로 최적정책을 찾을 수 있기 때문에</a:t>
            </a:r>
            <a:r>
              <a:rPr lang="en-US" altLang="ko-KR" dirty="0"/>
              <a:t>, </a:t>
            </a:r>
            <a:r>
              <a:rPr lang="ko-KR" altLang="en-US" dirty="0"/>
              <a:t>이 식들은 매우 중요합니다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따라서 </a:t>
            </a:r>
            <a:r>
              <a:rPr lang="ko-KR" altLang="en-US" dirty="0" err="1"/>
              <a:t>벨만최적방정식은</a:t>
            </a:r>
            <a:r>
              <a:rPr lang="ko-KR" altLang="en-US" dirty="0"/>
              <a:t> 여러 알고리즘들과 직접적으로 연관되어 있습니다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예를 들어</a:t>
            </a:r>
            <a:r>
              <a:rPr lang="en-US" altLang="ko-KR" dirty="0"/>
              <a:t>, Q</a:t>
            </a:r>
            <a:r>
              <a:rPr lang="ko-KR" altLang="en-US" dirty="0"/>
              <a:t>러닝은 </a:t>
            </a:r>
            <a:r>
              <a:rPr lang="en-US" altLang="ko-KR" dirty="0"/>
              <a:t>Q</a:t>
            </a:r>
            <a:r>
              <a:rPr lang="ko-KR" altLang="en-US" dirty="0"/>
              <a:t>함수에 대한 </a:t>
            </a:r>
            <a:r>
              <a:rPr lang="ko-KR" altLang="en-US" dirty="0" err="1"/>
              <a:t>벨만최적방정식을</a:t>
            </a:r>
            <a:r>
              <a:rPr lang="ko-KR" altLang="en-US" dirty="0"/>
              <a:t> 응용한 것이고</a:t>
            </a:r>
            <a:endParaRPr lang="en-US" altLang="ko-KR" dirty="0"/>
          </a:p>
          <a:p>
            <a:r>
              <a:rPr lang="en-US" altLang="ko-KR" dirty="0"/>
              <a:t>dynamic </a:t>
            </a:r>
            <a:r>
              <a:rPr lang="en-US" altLang="ko-KR" dirty="0" err="1"/>
              <a:t>programmin</a:t>
            </a:r>
            <a:r>
              <a:rPr lang="ko-KR" altLang="en-US" dirty="0"/>
              <a:t>에서의 </a:t>
            </a:r>
            <a:r>
              <a:rPr lang="en-US" altLang="ko-KR" dirty="0"/>
              <a:t>value iteration</a:t>
            </a:r>
            <a:r>
              <a:rPr lang="ko-KR" altLang="en-US" dirty="0"/>
              <a:t>이라는 알고리즘은 </a:t>
            </a:r>
            <a:r>
              <a:rPr lang="en-US" altLang="ko-KR" dirty="0"/>
              <a:t>V</a:t>
            </a:r>
            <a:r>
              <a:rPr lang="ko-KR" altLang="en-US" dirty="0"/>
              <a:t>함수에 대한 </a:t>
            </a:r>
            <a:r>
              <a:rPr lang="ko-KR" altLang="en-US" dirty="0" err="1"/>
              <a:t>벨만최적방정식을</a:t>
            </a:r>
            <a:r>
              <a:rPr lang="ko-KR" altLang="en-US" dirty="0"/>
              <a:t> 직접 사용한 것입니다</a:t>
            </a:r>
            <a:r>
              <a:rPr lang="en-US" altLang="ko-KR" dirty="0"/>
              <a:t>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9642909-6448-426E-9ED7-EFF6CDC2E25C}" type="slidenum">
              <a:rPr lang="ko-KR" altLang="en-US" smtClean="0"/>
              <a:pPr>
                <a:defRPr/>
              </a:pPr>
              <a:t>14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7059468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여러 알고리즘들 중 첫번째로 동적계획법을 </a:t>
            </a:r>
            <a:r>
              <a:rPr lang="ko-KR" altLang="en-US" dirty="0" err="1"/>
              <a:t>설명드리려</a:t>
            </a:r>
            <a:r>
              <a:rPr lang="ko-KR" altLang="en-US" dirty="0"/>
              <a:t> 합니다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동적계획법은 환경모델을 알고 있을 때 사용할 수 있는 강화학습 방법입니다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그런 점에서 일반적인 강화학습과는 상당히 다르지만 이론적으로 중요하기 때문에 먼저 설명하겠습니다</a:t>
            </a:r>
            <a:r>
              <a:rPr lang="en-US" altLang="ko-KR" dirty="0"/>
              <a:t>. </a:t>
            </a:r>
          </a:p>
          <a:p>
            <a:r>
              <a:rPr lang="ko-KR" altLang="en-US" dirty="0"/>
              <a:t>동적계획법의 대표적인 알고리즘으로는 </a:t>
            </a:r>
            <a:r>
              <a:rPr lang="en-US" altLang="ko-KR" dirty="0"/>
              <a:t>policy iteration</a:t>
            </a:r>
            <a:r>
              <a:rPr lang="ko-KR" altLang="en-US" dirty="0"/>
              <a:t>과 </a:t>
            </a:r>
            <a:r>
              <a:rPr lang="en-US" altLang="ko-KR" dirty="0"/>
              <a:t>value iteration</a:t>
            </a:r>
            <a:r>
              <a:rPr lang="ko-KR" altLang="en-US" dirty="0"/>
              <a:t>이 있는데 이 두 알고리즘 모두 </a:t>
            </a:r>
            <a:r>
              <a:rPr lang="en-US" altLang="ko-KR" dirty="0"/>
              <a:t>v_\pi</a:t>
            </a:r>
            <a:r>
              <a:rPr lang="ko-KR" altLang="en-US" dirty="0"/>
              <a:t>에 대한 </a:t>
            </a:r>
            <a:r>
              <a:rPr lang="ko-KR" altLang="en-US" dirty="0" err="1"/>
              <a:t>벨만방정식을</a:t>
            </a:r>
            <a:r>
              <a:rPr lang="ko-KR" altLang="en-US" dirty="0"/>
              <a:t> 점화식처럼 반복적으로 적용하고 정책을 개선함으로써 최적 정책을 </a:t>
            </a:r>
            <a:r>
              <a:rPr lang="ko-KR" altLang="en-US" dirty="0" err="1"/>
              <a:t>찾아나가게</a:t>
            </a:r>
            <a:r>
              <a:rPr lang="ko-KR" altLang="en-US" dirty="0"/>
              <a:t> 됩니다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동적계획법에서는 모든 상태 </a:t>
            </a:r>
            <a:r>
              <a:rPr lang="en-US" altLang="ko-KR" dirty="0"/>
              <a:t>s’</a:t>
            </a:r>
            <a:r>
              <a:rPr lang="ko-KR" altLang="en-US" dirty="0"/>
              <a:t>에 대하여 가치함수 값을 계산해야 하기 때문에 </a:t>
            </a:r>
            <a:r>
              <a:rPr lang="en-US" altLang="ko-KR" dirty="0"/>
              <a:t>full-backup</a:t>
            </a:r>
            <a:r>
              <a:rPr lang="ko-KR" altLang="en-US" dirty="0"/>
              <a:t>이라는 특성을 가집니다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아래 </a:t>
            </a:r>
            <a:r>
              <a:rPr lang="en-US" altLang="ko-KR" dirty="0"/>
              <a:t>tree</a:t>
            </a:r>
            <a:r>
              <a:rPr lang="ko-KR" altLang="en-US" dirty="0"/>
              <a:t>는 가능한 모든 </a:t>
            </a:r>
            <a:r>
              <a:rPr lang="en-US" altLang="ko-KR" dirty="0"/>
              <a:t>trajectory</a:t>
            </a:r>
            <a:r>
              <a:rPr lang="ko-KR" altLang="en-US" dirty="0"/>
              <a:t>들을 표현하고 있습니다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파란 점은 </a:t>
            </a:r>
            <a:r>
              <a:rPr lang="en-US" altLang="ko-KR" dirty="0"/>
              <a:t>state, </a:t>
            </a:r>
            <a:r>
              <a:rPr lang="ko-KR" altLang="en-US" dirty="0"/>
              <a:t>검은 점은 </a:t>
            </a:r>
            <a:r>
              <a:rPr lang="en-US" altLang="ko-KR" dirty="0" err="1"/>
              <a:t>actio</a:t>
            </a:r>
            <a:r>
              <a:rPr lang="ko-KR" altLang="en-US" dirty="0"/>
              <a:t>을 나타내며</a:t>
            </a:r>
            <a:r>
              <a:rPr lang="en-US" altLang="ko-KR" dirty="0"/>
              <a:t>, </a:t>
            </a:r>
            <a:r>
              <a:rPr lang="ko-KR" altLang="en-US" dirty="0"/>
              <a:t>빨간색 </a:t>
            </a:r>
            <a:r>
              <a:rPr lang="en-US" altLang="ko-KR" dirty="0"/>
              <a:t>T</a:t>
            </a:r>
            <a:r>
              <a:rPr lang="ko-KR" altLang="en-US" dirty="0"/>
              <a:t>는 </a:t>
            </a:r>
            <a:r>
              <a:rPr lang="en-US" altLang="ko-KR" dirty="0"/>
              <a:t>terminal state</a:t>
            </a:r>
            <a:r>
              <a:rPr lang="ko-KR" altLang="en-US" dirty="0"/>
              <a:t>를 표현합니다</a:t>
            </a:r>
            <a:r>
              <a:rPr lang="en-US" altLang="ko-KR" dirty="0"/>
              <a:t>. </a:t>
            </a:r>
          </a:p>
          <a:p>
            <a:r>
              <a:rPr lang="ko-KR" altLang="en-US" dirty="0"/>
              <a:t>이때</a:t>
            </a:r>
            <a:r>
              <a:rPr lang="en-US" altLang="ko-KR" dirty="0"/>
              <a:t>, </a:t>
            </a:r>
            <a:r>
              <a:rPr lang="ko-KR" altLang="en-US" dirty="0"/>
              <a:t>다음 깊이의 </a:t>
            </a:r>
            <a:r>
              <a:rPr lang="ko-KR" altLang="en-US" dirty="0" err="1"/>
              <a:t>상태노드까지</a:t>
            </a:r>
            <a:r>
              <a:rPr lang="ko-KR" altLang="en-US" dirty="0"/>
              <a:t> 다 계산하여 현재 상태의 가치를 결정합니다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이것은 앞으로 소개드릴 </a:t>
            </a:r>
            <a:r>
              <a:rPr lang="en-US" altLang="ko-KR" dirty="0"/>
              <a:t>Monte Carlo</a:t>
            </a:r>
            <a:r>
              <a:rPr lang="ko-KR" altLang="en-US" dirty="0"/>
              <a:t>나 </a:t>
            </a:r>
            <a:r>
              <a:rPr lang="en-US" altLang="ko-KR" dirty="0"/>
              <a:t>TD</a:t>
            </a:r>
            <a:r>
              <a:rPr lang="ko-KR" altLang="en-US" dirty="0"/>
              <a:t>의 방법과 구별되어 </a:t>
            </a:r>
            <a:r>
              <a:rPr lang="en-US" altLang="ko-KR" dirty="0"/>
              <a:t>full-backup</a:t>
            </a:r>
            <a:r>
              <a:rPr lang="ko-KR" altLang="en-US" dirty="0"/>
              <a:t>이라고 부릅니다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또한 </a:t>
            </a:r>
            <a:r>
              <a:rPr lang="en-US" altLang="ko-KR" dirty="0"/>
              <a:t>bootstrapping</a:t>
            </a:r>
            <a:r>
              <a:rPr lang="ko-KR" altLang="en-US" dirty="0"/>
              <a:t>이라는 특징을 가집니다</a:t>
            </a:r>
            <a:r>
              <a:rPr lang="en-US" altLang="ko-KR" dirty="0"/>
              <a:t>. terminal state</a:t>
            </a:r>
            <a:r>
              <a:rPr lang="ko-KR" altLang="en-US" dirty="0"/>
              <a:t>까지 가지 않고 바로 다음 스텝의 가치 추정치를 사용하여 현재 가치를 업데이트 하고 있는 것입니다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동적계획법에서는 강화학습에서의 일반적인 세팅과는 달리 환경모델 전체가 필요하다는 점에서 강화학습과 다릅니다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이 동적계획법은 상태공간의 크기에 따라 </a:t>
            </a:r>
            <a:r>
              <a:rPr lang="ko-KR" altLang="en-US" dirty="0" err="1"/>
              <a:t>계산량이</a:t>
            </a:r>
            <a:r>
              <a:rPr lang="ko-KR" altLang="en-US" dirty="0"/>
              <a:t> 증가한다는 단점 또한 가지고 있습니다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그럼에도 이것을 언급하는 이유는 강화학습의 이론적인 토대를 제공하기 때문입니다</a:t>
            </a:r>
            <a:r>
              <a:rPr lang="en-US" altLang="ko-KR" dirty="0"/>
              <a:t>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9642909-6448-426E-9ED7-EFF6CDC2E25C}" type="slidenum">
              <a:rPr lang="ko-KR" altLang="en-US" smtClean="0"/>
              <a:pPr>
                <a:defRPr/>
              </a:pPr>
              <a:t>16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25359425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9642909-6448-426E-9ED7-EFF6CDC2E25C}" type="slidenum">
              <a:rPr lang="ko-KR" altLang="en-US" smtClean="0"/>
              <a:pPr>
                <a:defRPr/>
              </a:pPr>
              <a:t>22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19959819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42909D-5DA0-027C-5ECA-ABC67D317F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BFC4ED8-2073-9865-2208-1E4A6CDFE67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2942AE8-8569-DA07-9035-54C68E17C0E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1452D55-69B8-7771-E657-731B899EDD9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9642909-6448-426E-9ED7-EFF6CDC2E25C}" type="slidenum">
              <a:rPr lang="ko-KR" altLang="en-US" smtClean="0"/>
              <a:pPr>
                <a:defRPr/>
              </a:pPr>
              <a:t>23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0574811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-1506"/>
            <a:ext cx="9906000" cy="6238875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67285" y="6364091"/>
            <a:ext cx="1722052" cy="396000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4" name="Picture 8" descr="logo_goodmark_%5b245%5d">
            <a:extLst>
              <a:ext uri="{FF2B5EF4-FFF2-40B4-BE49-F238E27FC236}">
                <a16:creationId xmlns:a16="http://schemas.microsoft.com/office/drawing/2014/main" id="{1934DBAA-C187-4B71-BC05-DBE92E855E7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90520" y="262067"/>
            <a:ext cx="1143000" cy="57150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17">
            <a:extLst>
              <a:ext uri="{FF2B5EF4-FFF2-40B4-BE49-F238E27FC236}">
                <a16:creationId xmlns:a16="http://schemas.microsoft.com/office/drawing/2014/main" id="{0A8B6B62-1260-49DF-A155-60E5615934C8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5" cstate="print"/>
          <a:srcRect l="959" t="575" r="68657" b="78969"/>
          <a:stretch/>
        </p:blipFill>
        <p:spPr bwMode="auto">
          <a:xfrm>
            <a:off x="7597286" y="260648"/>
            <a:ext cx="647502" cy="572919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E34D8AA7-8C6E-4CCA-A0FA-DEF653DF9597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1545636" y="1378603"/>
            <a:ext cx="6814729" cy="1216815"/>
          </a:xfrm>
          <a:prstGeom prst="rect">
            <a:avLst/>
          </a:prstGeom>
        </p:spPr>
        <p:txBody>
          <a:bodyPr anchor="ctr"/>
          <a:lstStyle>
            <a:lvl1pPr marL="0" indent="0" algn="ctr" rtl="0" fontAlgn="base" latinLnBrk="1">
              <a:spcBef>
                <a:spcPct val="0"/>
              </a:spcBef>
              <a:spcAft>
                <a:spcPct val="0"/>
              </a:spcAft>
              <a:buNone/>
              <a:defRPr kumimoji="1" lang="ko-KR" altLang="en-US" sz="3600" b="1" kern="12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  <a:sym typeface="Wingdings" pitchFamily="2" charset="2"/>
              </a:defRPr>
            </a:lvl1pPr>
            <a:lvl2pPr algn="ctr" rtl="0" fontAlgn="base" latinLnBrk="1">
              <a:spcBef>
                <a:spcPct val="0"/>
              </a:spcBef>
              <a:spcAft>
                <a:spcPct val="0"/>
              </a:spcAft>
              <a:defRPr kumimoji="1" lang="ko-KR" altLang="en-US" sz="3600" b="1" kern="12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  <a:sym typeface="Wingdings" pitchFamily="2" charset="2"/>
              </a:defRPr>
            </a:lvl2pPr>
            <a:lvl3pPr algn="ctr" rtl="0" fontAlgn="base" latinLnBrk="1">
              <a:spcBef>
                <a:spcPct val="0"/>
              </a:spcBef>
              <a:spcAft>
                <a:spcPct val="0"/>
              </a:spcAft>
              <a:defRPr kumimoji="1" lang="ko-KR" altLang="en-US" sz="3600" b="1" kern="12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  <a:sym typeface="Wingdings" pitchFamily="2" charset="2"/>
              </a:defRPr>
            </a:lvl3pPr>
            <a:lvl4pPr algn="ctr" rtl="0" fontAlgn="base" latinLnBrk="1">
              <a:spcBef>
                <a:spcPct val="0"/>
              </a:spcBef>
              <a:spcAft>
                <a:spcPct val="0"/>
              </a:spcAft>
              <a:defRPr kumimoji="1" lang="ko-KR" altLang="en-US" sz="3600" b="1" kern="12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  <a:sym typeface="Wingdings" pitchFamily="2" charset="2"/>
              </a:defRPr>
            </a:lvl4pPr>
            <a:lvl5pPr algn="ctr" rtl="0" fontAlgn="base" latinLnBrk="1">
              <a:spcBef>
                <a:spcPct val="0"/>
              </a:spcBef>
              <a:spcAft>
                <a:spcPct val="0"/>
              </a:spcAft>
              <a:defRPr kumimoji="1" lang="ko-KR" altLang="en-US" sz="3600" b="1" kern="12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  <a:sym typeface="Wingdings" pitchFamily="2" charset="2"/>
              </a:defRPr>
            </a:lvl5pPr>
          </a:lstStyle>
          <a:p>
            <a:pPr lvl="0"/>
            <a:r>
              <a:rPr lang="ko-KR" altLang="en-US" dirty="0"/>
              <a:t>제목 입력</a:t>
            </a: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BF9C7C0F-DB1B-4BE9-9142-410B314C4B4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674269" y="4509119"/>
            <a:ext cx="2586181" cy="970278"/>
          </a:xfrm>
          <a:prstGeom prst="rect">
            <a:avLst/>
          </a:prstGeom>
        </p:spPr>
        <p:txBody>
          <a:bodyPr anchor="ctr"/>
          <a:lstStyle>
            <a:lvl1pPr marL="0" indent="0" algn="r" rtl="0" fontAlgn="base" latinLnBrk="1">
              <a:spcBef>
                <a:spcPct val="0"/>
              </a:spcBef>
              <a:spcAft>
                <a:spcPct val="0"/>
              </a:spcAft>
              <a:buNone/>
              <a:defRPr kumimoji="1" lang="ko-KR" altLang="en-US" sz="2400" b="1" kern="1200" dirty="0">
                <a:solidFill>
                  <a:schemeClr val="bg1"/>
                </a:solidFill>
                <a:latin typeface="+mn-ea"/>
                <a:ea typeface="+mn-ea"/>
                <a:cs typeface="Open Sans" panose="020B0606030504020204" pitchFamily="34" charset="0"/>
                <a:sym typeface="Wingdings" pitchFamily="2" charset="2"/>
              </a:defRPr>
            </a:lvl1pPr>
          </a:lstStyle>
          <a:p>
            <a:pPr lvl="0"/>
            <a:r>
              <a:rPr lang="en-US" altLang="ko-KR" dirty="0"/>
              <a:t>202y. mm. dd </a:t>
            </a:r>
            <a:r>
              <a:rPr lang="ko-KR" altLang="en-US" dirty="0"/>
              <a:t>담당자</a:t>
            </a:r>
            <a:r>
              <a:rPr lang="en-US" altLang="ko-KR" dirty="0"/>
              <a:t>/</a:t>
            </a:r>
            <a:r>
              <a:rPr lang="ko-KR" altLang="en-US" dirty="0"/>
              <a:t>직급</a:t>
            </a:r>
          </a:p>
        </p:txBody>
      </p:sp>
      <p:sp>
        <p:nvSpPr>
          <p:cNvPr id="13" name="텍스트 개체 틀 10">
            <a:extLst>
              <a:ext uri="{FF2B5EF4-FFF2-40B4-BE49-F238E27FC236}">
                <a16:creationId xmlns:a16="http://schemas.microsoft.com/office/drawing/2014/main" id="{59E7B7E7-9C05-4667-885B-AB8295A9697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65381" y="6356345"/>
            <a:ext cx="2137340" cy="411493"/>
          </a:xfrm>
          <a:prstGeom prst="rect">
            <a:avLst/>
          </a:prstGeom>
        </p:spPr>
        <p:txBody>
          <a:bodyPr anchor="ctr"/>
          <a:lstStyle>
            <a:lvl1pPr marL="0" indent="0" algn="ctr" rtl="0" fontAlgn="base" latinLnBrk="1">
              <a:spcBef>
                <a:spcPct val="0"/>
              </a:spcBef>
              <a:spcAft>
                <a:spcPct val="0"/>
              </a:spcAft>
              <a:buNone/>
              <a:defRPr kumimoji="1" lang="ko-KR" altLang="en-US" sz="1800" b="1" kern="1200" dirty="0">
                <a:solidFill>
                  <a:schemeClr val="tx1"/>
                </a:solidFill>
                <a:latin typeface="+mn-ea"/>
                <a:ea typeface="+mn-ea"/>
                <a:cs typeface="Open Sans" panose="020B0606030504020204" pitchFamily="34" charset="0"/>
                <a:sym typeface="Wingdings" pitchFamily="2" charset="2"/>
              </a:defRPr>
            </a:lvl1pPr>
          </a:lstStyle>
          <a:p>
            <a:pPr lvl="0"/>
            <a:r>
              <a:rPr lang="ko-KR" altLang="en-US" dirty="0"/>
              <a:t>대상 업체 로고</a:t>
            </a:r>
            <a:endParaRPr lang="en-US" altLang="ko-KR" dirty="0"/>
          </a:p>
          <a:p>
            <a:pPr lvl="0"/>
            <a:r>
              <a:rPr lang="en-US" altLang="ko-KR" dirty="0"/>
              <a:t>*</a:t>
            </a:r>
            <a:r>
              <a:rPr lang="ko-KR" altLang="en-US" dirty="0"/>
              <a:t>없을 시 무시</a:t>
            </a:r>
          </a:p>
        </p:txBody>
      </p:sp>
    </p:spTree>
    <p:extLst>
      <p:ext uri="{BB962C8B-B14F-4D97-AF65-F5344CB8AC3E}">
        <p14:creationId xmlns:p14="http://schemas.microsoft.com/office/powerpoint/2010/main" val="12977840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1494"/>
            <a:ext cx="9906000" cy="942975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70652" y="6427458"/>
            <a:ext cx="1252399" cy="288000"/>
          </a:xfrm>
          <a:prstGeom prst="rect">
            <a:avLst/>
          </a:prstGeom>
        </p:spPr>
      </p:pic>
      <p:sp>
        <p:nvSpPr>
          <p:cNvPr id="4" name="텍스트 개체 틀 2">
            <a:extLst>
              <a:ext uri="{FF2B5EF4-FFF2-40B4-BE49-F238E27FC236}">
                <a16:creationId xmlns:a16="http://schemas.microsoft.com/office/drawing/2014/main" id="{F2EC38CF-E0DA-4E4F-8879-1DB4A59C6FEA}"/>
              </a:ext>
            </a:extLst>
          </p:cNvPr>
          <p:cNvSpPr txBox="1">
            <a:spLocks/>
          </p:cNvSpPr>
          <p:nvPr userDrawn="1"/>
        </p:nvSpPr>
        <p:spPr>
          <a:xfrm>
            <a:off x="554082" y="188574"/>
            <a:ext cx="8797837" cy="56881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altLang="ko-KR" b="1" dirty="0">
                <a:solidFill>
                  <a:schemeClr val="bg1"/>
                </a:solidFill>
                <a:latin typeface="+mn-ea"/>
                <a:cs typeface="한컴돋움" pitchFamily="18" charset="2"/>
              </a:rPr>
              <a:t>CONTENTS</a:t>
            </a:r>
            <a:endParaRPr lang="ko-KR" altLang="en-US" b="1" dirty="0">
              <a:solidFill>
                <a:schemeClr val="bg1"/>
              </a:solidFill>
              <a:latin typeface="+mn-ea"/>
              <a:cs typeface="한컴돋움" pitchFamily="18" charset="2"/>
            </a:endParaRPr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C3C314B1-2864-4E0A-A4EA-09072E8A1F8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122091" y="1997810"/>
            <a:ext cx="4733230" cy="3571718"/>
          </a:xfrm>
          <a:prstGeom prst="rect">
            <a:avLst/>
          </a:prstGeom>
        </p:spPr>
        <p:txBody>
          <a:bodyPr anchor="t"/>
          <a:lstStyle>
            <a:lvl1pPr marL="360363" indent="-360363" algn="l" rtl="0" fontAlgn="base" latinLnBrk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+mj-lt"/>
              <a:buAutoNum type="romanUcPeriod"/>
              <a:defRPr kumimoji="1" lang="ko-KR" altLang="en-US" sz="2800" b="1" kern="1200" dirty="0">
                <a:solidFill>
                  <a:schemeClr val="accent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  <a:sym typeface="Wingdings" pitchFamily="2" charset="2"/>
              </a:defRPr>
            </a:lvl1pPr>
            <a:lvl2pPr marL="1028700" indent="-571500">
              <a:buFont typeface="+mj-lt"/>
              <a:buAutoNum type="romanUcPeriod"/>
              <a:defRPr/>
            </a:lvl2pPr>
            <a:lvl3pPr marL="1428750" indent="-514350">
              <a:buFont typeface="+mj-lt"/>
              <a:buAutoNum type="romanUcPeriod"/>
              <a:defRPr/>
            </a:lvl3pPr>
            <a:lvl4pPr marL="1885950" indent="-514350">
              <a:buFont typeface="+mj-lt"/>
              <a:buAutoNum type="romanUcPeriod"/>
              <a:defRPr/>
            </a:lvl4pPr>
            <a:lvl5pPr marL="2343150" indent="-514350">
              <a:buFont typeface="+mj-lt"/>
              <a:buAutoNum type="romanUcPeriod"/>
              <a:defRPr/>
            </a:lvl5pPr>
          </a:lstStyle>
          <a:p>
            <a:pPr lvl="0"/>
            <a:r>
              <a:rPr lang="ko-KR" altLang="en-US" dirty="0"/>
              <a:t>챕터 제목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41016675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세부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700" y="0"/>
            <a:ext cx="1952625" cy="6858000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70652" y="6427458"/>
            <a:ext cx="1252399" cy="288000"/>
          </a:xfrm>
          <a:prstGeom prst="rect">
            <a:avLst/>
          </a:prstGeom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1F2CE6CF-FA78-495B-9442-39017B283AB8}"/>
              </a:ext>
            </a:extLst>
          </p:cNvPr>
          <p:cNvSpPr/>
          <p:nvPr userDrawn="1"/>
        </p:nvSpPr>
        <p:spPr bwMode="auto">
          <a:xfrm>
            <a:off x="2661084" y="1266012"/>
            <a:ext cx="5909568" cy="702000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ts val="1400"/>
              </a:lnSpc>
            </a:pPr>
            <a:endParaRPr lang="en-US" altLang="ko-KR" sz="9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4E7EA2D-A154-446D-A624-452F1F9623A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771916" y="1407161"/>
            <a:ext cx="4953000" cy="419702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kumimoji="1" lang="ko-KR" altLang="en-US" sz="2400" b="1" kern="1200" dirty="0">
                <a:solidFill>
                  <a:schemeClr val="accent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  <a:sym typeface="Wingdings" pitchFamily="2" charset="2"/>
              </a:defRPr>
            </a:lvl1pPr>
          </a:lstStyle>
          <a:p>
            <a:pPr lvl="0"/>
            <a:r>
              <a:rPr lang="en-US" altLang="ko-KR" dirty="0"/>
              <a:t>I. </a:t>
            </a:r>
            <a:r>
              <a:rPr lang="ko-KR" altLang="en-US" dirty="0"/>
              <a:t>챕터 제목</a:t>
            </a: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D2AF3831-91CA-4478-A2C9-FA92065CC98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063405" y="2295122"/>
            <a:ext cx="4507345" cy="91440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latinLnBrk="0" hangingPunct="0">
              <a:lnSpc>
                <a:spcPct val="150000"/>
              </a:lnSpc>
              <a:spcBef>
                <a:spcPts val="600"/>
              </a:spcBef>
              <a:spcAft>
                <a:spcPct val="0"/>
              </a:spcAft>
              <a:buAutoNum type="arabicPeriod"/>
              <a:defRPr kumimoji="1" lang="ko-KR" altLang="en-US" sz="2000" b="1" kern="1200" dirty="0">
                <a:solidFill>
                  <a:srgbClr val="333333"/>
                </a:solidFill>
                <a:latin typeface="맑은 고딕" pitchFamily="50" charset="-127"/>
                <a:ea typeface="맑은 고딕" pitchFamily="50" charset="-127"/>
                <a:cs typeface="+mn-cs"/>
                <a:sym typeface="Wingdings" pitchFamily="2" charset="2"/>
              </a:defRPr>
            </a:lvl1pPr>
          </a:lstStyle>
          <a:p>
            <a:pPr lvl="0"/>
            <a:r>
              <a:rPr lang="ko-KR" altLang="en-US" dirty="0"/>
              <a:t>주제</a:t>
            </a:r>
          </a:p>
        </p:txBody>
      </p:sp>
    </p:spTree>
    <p:extLst>
      <p:ext uri="{BB962C8B-B14F-4D97-AF65-F5344CB8AC3E}">
        <p14:creationId xmlns:p14="http://schemas.microsoft.com/office/powerpoint/2010/main" val="34145478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1068"/>
          <p:cNvSpPr txBox="1">
            <a:spLocks noChangeArrowheads="1"/>
          </p:cNvSpPr>
          <p:nvPr userDrawn="1"/>
        </p:nvSpPr>
        <p:spPr bwMode="auto">
          <a:xfrm>
            <a:off x="-1513" y="6613337"/>
            <a:ext cx="4162425" cy="2000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91423" tIns="45712" rIns="91423" bIns="45712">
            <a:spAutoFit/>
          </a:bodyPr>
          <a:lstStyle/>
          <a:p>
            <a:pPr eaLnBrk="0" latinLnBrk="0" hangingPunct="0">
              <a:defRPr/>
            </a:pPr>
            <a:r>
              <a:rPr kumimoji="0" lang="ko-KR" altLang="en-US" sz="700" b="0" i="0" dirty="0">
                <a:latin typeface="맑은 고딕"/>
                <a:ea typeface="맑은 고딕"/>
              </a:rPr>
              <a:t>  </a:t>
            </a:r>
            <a:r>
              <a:rPr kumimoji="0" lang="en-US" altLang="ko-KR" sz="700" b="0" i="0" dirty="0">
                <a:latin typeface="맑은 고딕"/>
                <a:ea typeface="맑은 고딕"/>
              </a:rPr>
              <a:t>Copyright 2024. ECMiner</a:t>
            </a:r>
            <a:r>
              <a:rPr kumimoji="0" lang="en-US" altLang="ko-KR" sz="700" b="0" i="0" baseline="0" dirty="0">
                <a:latin typeface="맑은 고딕"/>
                <a:ea typeface="맑은 고딕"/>
              </a:rPr>
              <a:t> Co., Ltd. a</a:t>
            </a:r>
            <a:r>
              <a:rPr kumimoji="0" lang="en-US" altLang="ko-KR" sz="700" b="0" i="0" dirty="0">
                <a:latin typeface="맑은 고딕"/>
                <a:ea typeface="맑은 고딕"/>
              </a:rPr>
              <a:t>ll rights reserved.</a:t>
            </a:r>
          </a:p>
        </p:txBody>
      </p:sp>
      <p:sp>
        <p:nvSpPr>
          <p:cNvPr id="7" name="Rectangle 6"/>
          <p:cNvSpPr>
            <a:spLocks noChangeArrowheads="1"/>
          </p:cNvSpPr>
          <p:nvPr userDrawn="1"/>
        </p:nvSpPr>
        <p:spPr bwMode="auto">
          <a:xfrm>
            <a:off x="4797199" y="6597352"/>
            <a:ext cx="311602" cy="195814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>
            <a:prstShdw prst="shdw17" dist="17961" dir="13500000">
              <a:schemeClr val="bg2"/>
            </a:prstShdw>
          </a:effectLst>
        </p:spPr>
        <p:txBody>
          <a:bodyPr wrap="none" lIns="90000" tIns="36000" rIns="90000" bIns="36000">
            <a:spAutoFit/>
          </a:bodyPr>
          <a:lstStyle/>
          <a:p>
            <a:pPr algn="ctr">
              <a:defRPr/>
            </a:pPr>
            <a:fld id="{222CA80C-32BB-49ED-A851-5BF43CB034FC}" type="slidenum">
              <a:rPr lang="ko-KR" altLang="en-US" sz="800" b="0">
                <a:solidFill>
                  <a:prstClr val="black"/>
                </a:solidFill>
                <a:latin typeface="+mn-ea"/>
                <a:ea typeface="+mn-ea"/>
              </a:rPr>
              <a:pPr algn="ctr">
                <a:defRPr/>
              </a:pPr>
              <a:t>‹#›</a:t>
            </a:fld>
            <a:endParaRPr lang="en-US" altLang="ko-KR" sz="800" b="0" dirty="0">
              <a:solidFill>
                <a:prstClr val="black"/>
              </a:solidFill>
              <a:latin typeface="+mn-ea"/>
              <a:ea typeface="+mn-ea"/>
            </a:endParaRPr>
          </a:p>
        </p:txBody>
      </p:sp>
      <p:pic>
        <p:nvPicPr>
          <p:cNvPr id="3" name="그림 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1494"/>
            <a:ext cx="9906000" cy="561975"/>
          </a:xfrm>
          <a:prstGeom prst="rect">
            <a:avLst/>
          </a:prstGeom>
        </p:spPr>
      </p:pic>
      <p:pic>
        <p:nvPicPr>
          <p:cNvPr id="8" name="그림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40822" y="6579514"/>
            <a:ext cx="939299" cy="216000"/>
          </a:xfrm>
          <a:prstGeom prst="rect">
            <a:avLst/>
          </a:prstGeom>
        </p:spPr>
      </p:pic>
      <p:sp>
        <p:nvSpPr>
          <p:cNvPr id="14" name="텍스트 개체 틀 19">
            <a:extLst>
              <a:ext uri="{FF2B5EF4-FFF2-40B4-BE49-F238E27FC236}">
                <a16:creationId xmlns:a16="http://schemas.microsoft.com/office/drawing/2014/main" id="{6BEA6CC4-7B5D-42C1-89CC-4D5372474DE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09708" y="572858"/>
            <a:ext cx="9423242" cy="400110"/>
          </a:xfrm>
          <a:prstGeom prst="rect">
            <a:avLst/>
          </a:prstGeom>
        </p:spPr>
        <p:txBody>
          <a:bodyPr lIns="72000" tIns="108000" anchor="ctr"/>
          <a:lstStyle>
            <a:lvl1pPr marL="182563" indent="-182563" algn="l">
              <a:buFont typeface="Wingdings" panose="05000000000000000000" pitchFamily="2" charset="2"/>
              <a:buChar char="§"/>
              <a:tabLst>
                <a:tab pos="0" algn="l"/>
              </a:tabLst>
              <a:defRPr sz="1600" b="1"/>
            </a:lvl1pPr>
            <a:lvl2pPr marL="457200" indent="0">
              <a:buNone/>
              <a:defRPr/>
            </a:lvl2pPr>
          </a:lstStyle>
          <a:p>
            <a:pPr lvl="0"/>
            <a:r>
              <a:rPr lang="ko-KR" altLang="en-US" dirty="0"/>
              <a:t>소주제</a:t>
            </a:r>
          </a:p>
        </p:txBody>
      </p:sp>
      <p:sp>
        <p:nvSpPr>
          <p:cNvPr id="15" name="텍스트 개체 틀 21">
            <a:extLst>
              <a:ext uri="{FF2B5EF4-FFF2-40B4-BE49-F238E27FC236}">
                <a16:creationId xmlns:a16="http://schemas.microsoft.com/office/drawing/2014/main" id="{55D5FE98-3A06-4B9D-8C1C-494B1EC85FD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62309" y="922627"/>
            <a:ext cx="9270641" cy="708950"/>
          </a:xfrm>
          <a:prstGeom prst="rect">
            <a:avLst/>
          </a:prstGeom>
        </p:spPr>
        <p:txBody>
          <a:bodyPr lIns="72000" tIns="36000"/>
          <a:lstStyle>
            <a:lvl1pPr marL="0" indent="0" latinLnBrk="0">
              <a:lnSpc>
                <a:spcPct val="100000"/>
              </a:lnSpc>
              <a:spcBef>
                <a:spcPts val="0"/>
              </a:spcBef>
              <a:buNone/>
              <a:defRPr sz="1400"/>
            </a:lvl1pPr>
          </a:lstStyle>
          <a:p>
            <a:pPr lvl="0"/>
            <a:r>
              <a:rPr lang="en-US" altLang="ko-KR" dirty="0"/>
              <a:t>*</a:t>
            </a:r>
            <a:r>
              <a:rPr lang="ko-KR" altLang="en-US" dirty="0"/>
              <a:t>글자 폰트 </a:t>
            </a:r>
            <a:r>
              <a:rPr lang="en-US" altLang="ko-KR" dirty="0"/>
              <a:t>14 </a:t>
            </a:r>
            <a:r>
              <a:rPr lang="ko-KR" altLang="en-US" dirty="0"/>
              <a:t>유지                                                                                                                     </a:t>
            </a:r>
            <a:r>
              <a:rPr lang="en-US" altLang="ko-KR" dirty="0"/>
              <a:t>*</a:t>
            </a:r>
            <a:r>
              <a:rPr lang="ko-KR" altLang="en-US" dirty="0"/>
              <a:t>최대 </a:t>
            </a:r>
            <a:r>
              <a:rPr lang="en-US" altLang="ko-KR" dirty="0"/>
              <a:t>3</a:t>
            </a:r>
            <a:r>
              <a:rPr lang="ko-KR" altLang="en-US" dirty="0"/>
              <a:t>줄까지 기입                                                                                                                      </a:t>
            </a:r>
            <a:r>
              <a:rPr lang="en-US" altLang="ko-KR" dirty="0"/>
              <a:t>*</a:t>
            </a:r>
            <a:r>
              <a:rPr lang="ko-KR" altLang="en-US" dirty="0"/>
              <a:t>그림 자료가 주 내용일 경우</a:t>
            </a:r>
            <a:r>
              <a:rPr lang="en-US" altLang="ko-KR" dirty="0"/>
              <a:t>, </a:t>
            </a:r>
            <a:r>
              <a:rPr lang="ko-KR" altLang="en-US" dirty="0"/>
              <a:t>삭제 가능</a:t>
            </a:r>
          </a:p>
        </p:txBody>
      </p:sp>
      <p:sp>
        <p:nvSpPr>
          <p:cNvPr id="16" name="제목 9">
            <a:extLst>
              <a:ext uri="{FF2B5EF4-FFF2-40B4-BE49-F238E27FC236}">
                <a16:creationId xmlns:a16="http://schemas.microsoft.com/office/drawing/2014/main" id="{4218302E-124C-470D-BB79-F671E8D10CB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00472" y="76562"/>
            <a:ext cx="8543925" cy="400110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lvl1pPr algn="l">
              <a:defRPr kumimoji="0" lang="ko-KR" altLang="en-US" sz="2000" b="1" i="0" u="none" strike="noStrike" cap="none" spc="0" normalizeH="0" baseline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Arial" charset="0"/>
                <a:sym typeface="Wingdings" pitchFamily="2" charset="2"/>
              </a:defRPr>
            </a:lvl1pPr>
          </a:lstStyle>
          <a:p>
            <a:pPr marL="0" marR="0" lvl="0" indent="0" algn="l" defTabSz="914400" eaLnBrk="1" latinLnBrk="0" hangingPunct="1">
              <a:lnSpc>
                <a:spcPct val="100000"/>
              </a:lnSpc>
              <a:spcBef>
                <a:spcPct val="50000"/>
              </a:spcBef>
              <a:buClr>
                <a:srgbClr val="4D4D4D"/>
              </a:buClr>
              <a:buSzTx/>
              <a:buFont typeface="Arial" charset="0"/>
              <a:buNone/>
              <a:tabLst/>
            </a:pPr>
            <a:r>
              <a:rPr lang="en-US" altLang="ko-KR" dirty="0"/>
              <a:t>1. </a:t>
            </a:r>
            <a:r>
              <a:rPr lang="ko-KR" altLang="en-US" dirty="0"/>
              <a:t>주제</a:t>
            </a:r>
          </a:p>
        </p:txBody>
      </p:sp>
      <p:sp>
        <p:nvSpPr>
          <p:cNvPr id="17" name="텍스트 개체 틀 3">
            <a:extLst>
              <a:ext uri="{FF2B5EF4-FFF2-40B4-BE49-F238E27FC236}">
                <a16:creationId xmlns:a16="http://schemas.microsoft.com/office/drawing/2014/main" id="{43F91B20-EC10-49FE-B09E-1E543401CC1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35096" y="273600"/>
            <a:ext cx="2952000" cy="277200"/>
          </a:xfrm>
          <a:prstGeom prst="rect">
            <a:avLst/>
          </a:prstGeom>
        </p:spPr>
        <p:txBody>
          <a:bodyPr anchor="ctr"/>
          <a:lstStyle>
            <a:lvl1pPr marL="0" indent="0" algn="r">
              <a:buFontTx/>
              <a:buNone/>
              <a:defRPr kumimoji="1" lang="ko-KR" altLang="en-US" sz="1200" b="1" kern="12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  <a:sym typeface="Wingdings" pitchFamily="2" charset="2"/>
              </a:defRPr>
            </a:lvl1pPr>
            <a:lvl2pPr>
              <a:defRPr kumimoji="1" lang="ko-KR" altLang="en-US" sz="1200" b="1" kern="12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  <a:sym typeface="Wingdings" pitchFamily="2" charset="2"/>
              </a:defRPr>
            </a:lvl2pPr>
            <a:lvl3pPr>
              <a:defRPr kumimoji="1" lang="ko-KR" altLang="en-US" sz="1200" b="1" kern="12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  <a:sym typeface="Wingdings" pitchFamily="2" charset="2"/>
              </a:defRPr>
            </a:lvl3pPr>
            <a:lvl4pPr>
              <a:defRPr kumimoji="1" lang="ko-KR" altLang="en-US" sz="1200" b="1" kern="12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  <a:sym typeface="Wingdings" pitchFamily="2" charset="2"/>
              </a:defRPr>
            </a:lvl4pPr>
            <a:lvl5pPr>
              <a:defRPr kumimoji="1" lang="ko-KR" altLang="en-US" sz="1200" b="1" kern="12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  <a:sym typeface="Wingdings" pitchFamily="2" charset="2"/>
              </a:defRPr>
            </a:lvl5pPr>
          </a:lstStyle>
          <a:p>
            <a:pPr lvl="0"/>
            <a:r>
              <a:rPr lang="en-US" altLang="ko-KR" dirty="0"/>
              <a:t>I. </a:t>
            </a:r>
            <a:r>
              <a:rPr lang="ko-KR" altLang="en-US" dirty="0"/>
              <a:t>챕터 제목</a:t>
            </a:r>
          </a:p>
        </p:txBody>
      </p:sp>
    </p:spTree>
    <p:extLst>
      <p:ext uri="{BB962C8B-B14F-4D97-AF65-F5344CB8AC3E}">
        <p14:creationId xmlns:p14="http://schemas.microsoft.com/office/powerpoint/2010/main" val="9861827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종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-1563"/>
            <a:ext cx="9906000" cy="6238875"/>
          </a:xfrm>
          <a:prstGeom prst="rect">
            <a:avLst/>
          </a:prstGeom>
        </p:spPr>
      </p:pic>
      <p:sp>
        <p:nvSpPr>
          <p:cNvPr id="3" name="Rectangle 10"/>
          <p:cNvSpPr>
            <a:spLocks noChangeArrowheads="1"/>
          </p:cNvSpPr>
          <p:nvPr userDrawn="1"/>
        </p:nvSpPr>
        <p:spPr bwMode="auto">
          <a:xfrm>
            <a:off x="5544274" y="4536505"/>
            <a:ext cx="4245264" cy="13924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 anchorCtr="0"/>
          <a:lstStyle/>
          <a:p>
            <a:pPr marL="342900" indent="-342900" algn="r">
              <a:lnSpc>
                <a:spcPct val="80000"/>
              </a:lnSpc>
              <a:spcBef>
                <a:spcPct val="20000"/>
              </a:spcBef>
            </a:pPr>
            <a:r>
              <a:rPr lang="ko-KR" altLang="en-US" b="1" dirty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㈜</a:t>
            </a:r>
            <a:r>
              <a:rPr lang="ko-KR" altLang="en-US" b="1" dirty="0" err="1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이씨마이너</a:t>
            </a:r>
            <a:endParaRPr lang="ko-KR" altLang="en-US" b="1" dirty="0">
              <a:solidFill>
                <a:schemeClr val="bg1">
                  <a:lumMod val="9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342900" indent="-342900" algn="r">
              <a:lnSpc>
                <a:spcPct val="80000"/>
              </a:lnSpc>
              <a:spcBef>
                <a:spcPct val="20000"/>
              </a:spcBef>
            </a:pPr>
            <a:endParaRPr lang="ko-KR" altLang="en-US" sz="1200" b="1" dirty="0">
              <a:solidFill>
                <a:schemeClr val="bg1">
                  <a:lumMod val="9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342900" indent="-342900" algn="r">
              <a:lnSpc>
                <a:spcPct val="80000"/>
              </a:lnSpc>
              <a:spcBef>
                <a:spcPct val="20000"/>
              </a:spcBef>
            </a:pPr>
            <a:r>
              <a:rPr lang="ko-KR" altLang="en-US" b="1" dirty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</a:t>
            </a:r>
            <a:r>
              <a:rPr lang="ko-KR" altLang="en-US" sz="1200" b="1" dirty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서울특별시 강남구 </a:t>
            </a:r>
            <a:r>
              <a:rPr lang="ko-KR" altLang="en-US" sz="1200" b="1" dirty="0" err="1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논현로</a:t>
            </a:r>
            <a:r>
              <a:rPr lang="ko-KR" altLang="en-US" sz="1200" b="1" dirty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200" b="1" dirty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28</a:t>
            </a:r>
            <a:r>
              <a:rPr lang="ko-KR" altLang="en-US" sz="1200" b="1" dirty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길 </a:t>
            </a:r>
            <a:r>
              <a:rPr lang="en-US" altLang="ko-KR" sz="1200" b="1" dirty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54 </a:t>
            </a:r>
            <a:r>
              <a:rPr lang="ko-KR" altLang="en-US" sz="1200" b="1" dirty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덕원빌딩 </a:t>
            </a:r>
            <a:r>
              <a:rPr lang="en-US" altLang="ko-KR" sz="1200" b="1" dirty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4</a:t>
            </a:r>
            <a:r>
              <a:rPr lang="ko-KR" altLang="en-US" sz="1200" b="1" dirty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층</a:t>
            </a:r>
          </a:p>
          <a:p>
            <a:pPr marL="342900" indent="-342900" algn="r">
              <a:lnSpc>
                <a:spcPct val="80000"/>
              </a:lnSpc>
              <a:spcBef>
                <a:spcPct val="20000"/>
              </a:spcBef>
            </a:pPr>
            <a:r>
              <a:rPr lang="en-US" altLang="ko-KR" sz="1200" b="1" dirty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Tel  02-552-5266</a:t>
            </a:r>
          </a:p>
          <a:p>
            <a:pPr marL="342900" indent="-342900" algn="r">
              <a:lnSpc>
                <a:spcPct val="80000"/>
              </a:lnSpc>
              <a:spcBef>
                <a:spcPct val="20000"/>
              </a:spcBef>
            </a:pPr>
            <a:r>
              <a:rPr lang="en-US" altLang="ko-KR" sz="1200" b="1" dirty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Fax  02-566-0768</a:t>
            </a:r>
          </a:p>
          <a:p>
            <a:pPr marL="342900" indent="-342900" algn="r">
              <a:lnSpc>
                <a:spcPct val="80000"/>
              </a:lnSpc>
              <a:spcBef>
                <a:spcPct val="20000"/>
              </a:spcBef>
            </a:pPr>
            <a:r>
              <a:rPr lang="en-US" altLang="ko-KR" sz="1200" b="1" dirty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URL - http://www.ecminer.com</a:t>
            </a:r>
          </a:p>
        </p:txBody>
      </p:sp>
      <p:sp>
        <p:nvSpPr>
          <p:cNvPr id="5" name="Rectangle 14"/>
          <p:cNvSpPr>
            <a:spLocks noChangeArrowheads="1"/>
          </p:cNvSpPr>
          <p:nvPr userDrawn="1"/>
        </p:nvSpPr>
        <p:spPr bwMode="gray">
          <a:xfrm>
            <a:off x="56456" y="6431765"/>
            <a:ext cx="7704856" cy="24622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wrap="square" anchor="ctr">
            <a:spAutoFit/>
          </a:bodyPr>
          <a:lstStyle/>
          <a:p>
            <a:pPr>
              <a:defRPr/>
            </a:pPr>
            <a:r>
              <a:rPr lang="ko-KR" altLang="en-US" sz="1000" b="1" dirty="0">
                <a:latin typeface="+mn-ea"/>
                <a:ea typeface="+mn-ea"/>
              </a:rPr>
              <a:t>본 문서는 </a:t>
            </a:r>
            <a:r>
              <a:rPr lang="en-US" altLang="ko-KR" sz="1000" b="1" dirty="0">
                <a:latin typeface="+mn-ea"/>
                <a:ea typeface="+mn-ea"/>
              </a:rPr>
              <a:t>㈜</a:t>
            </a:r>
            <a:r>
              <a:rPr lang="ko-KR" altLang="en-US" sz="1000" b="1" dirty="0">
                <a:latin typeface="+mn-ea"/>
                <a:ea typeface="+mn-ea"/>
              </a:rPr>
              <a:t>이씨마이너의 기밀정보 및 영업비밀을 포함하고 있으므로</a:t>
            </a:r>
            <a:r>
              <a:rPr lang="en-US" altLang="ko-KR" sz="1000" b="1" dirty="0">
                <a:latin typeface="+mn-ea"/>
                <a:ea typeface="+mn-ea"/>
              </a:rPr>
              <a:t>, </a:t>
            </a:r>
            <a:r>
              <a:rPr lang="ko-KR" altLang="en-US" sz="1000" b="1" dirty="0">
                <a:latin typeface="+mn-ea"/>
                <a:ea typeface="+mn-ea"/>
              </a:rPr>
              <a:t>제공된 목적 외에 무단으로 복제되거나</a:t>
            </a:r>
            <a:r>
              <a:rPr lang="en-US" altLang="ko-KR" sz="1000" b="1" dirty="0">
                <a:latin typeface="+mn-ea"/>
                <a:ea typeface="+mn-ea"/>
              </a:rPr>
              <a:t> </a:t>
            </a:r>
            <a:r>
              <a:rPr lang="ko-KR" altLang="en-US" sz="1000" b="1" dirty="0">
                <a:latin typeface="+mn-ea"/>
                <a:ea typeface="+mn-ea"/>
              </a:rPr>
              <a:t>배포될 수 없습니다</a:t>
            </a:r>
            <a:r>
              <a:rPr lang="en-US" altLang="ko-KR" sz="1000" b="1" dirty="0">
                <a:latin typeface="+mn-ea"/>
                <a:ea typeface="+mn-ea"/>
              </a:rPr>
              <a:t>.</a:t>
            </a:r>
          </a:p>
        </p:txBody>
      </p:sp>
      <p:sp>
        <p:nvSpPr>
          <p:cNvPr id="6" name="TextBox 5"/>
          <p:cNvSpPr txBox="1"/>
          <p:nvPr userDrawn="1"/>
        </p:nvSpPr>
        <p:spPr>
          <a:xfrm>
            <a:off x="3375123" y="2331628"/>
            <a:ext cx="3153427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4400" b="0" dirty="0">
                <a:solidFill>
                  <a:schemeClr val="bg1"/>
                </a:solidFill>
                <a:latin typeface="+mn-ea"/>
                <a:ea typeface="+mn-ea"/>
              </a:rPr>
              <a:t>감사합니다</a:t>
            </a:r>
            <a:r>
              <a:rPr lang="en-US" altLang="ko-KR" sz="4400" b="0" dirty="0">
                <a:solidFill>
                  <a:schemeClr val="bg1"/>
                </a:solidFill>
                <a:latin typeface="+mn-ea"/>
                <a:ea typeface="+mn-ea"/>
              </a:rPr>
              <a:t>.</a:t>
            </a:r>
            <a:endParaRPr lang="ko-KR" altLang="en-US" sz="4400" b="0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pic>
        <p:nvPicPr>
          <p:cNvPr id="7" name="그림 6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70652" y="6427458"/>
            <a:ext cx="1252399" cy="28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49975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사용자 지정 레이아웃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그림 1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1494"/>
            <a:ext cx="9906000" cy="942975"/>
          </a:xfrm>
          <a:prstGeom prst="rect">
            <a:avLst/>
          </a:prstGeom>
          <a:ln>
            <a:solidFill>
              <a:srgbClr val="FFFFFF"/>
            </a:solidFill>
          </a:ln>
        </p:spPr>
      </p:pic>
    </p:spTree>
    <p:extLst>
      <p:ext uri="{BB962C8B-B14F-4D97-AF65-F5344CB8AC3E}">
        <p14:creationId xmlns:p14="http://schemas.microsoft.com/office/powerpoint/2010/main" val="34156070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세부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700" y="0"/>
            <a:ext cx="1952625" cy="6858000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70652" y="6427458"/>
            <a:ext cx="1252399" cy="288000"/>
          </a:xfrm>
          <a:prstGeom prst="rect">
            <a:avLst/>
          </a:prstGeom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1F2CE6CF-FA78-495B-9442-39017B283AB8}"/>
              </a:ext>
            </a:extLst>
          </p:cNvPr>
          <p:cNvSpPr/>
          <p:nvPr userDrawn="1"/>
        </p:nvSpPr>
        <p:spPr bwMode="auto">
          <a:xfrm>
            <a:off x="2661084" y="1266012"/>
            <a:ext cx="5909568" cy="702000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ts val="1400"/>
              </a:lnSpc>
            </a:pPr>
            <a:endParaRPr lang="en-US" altLang="ko-KR" sz="900">
              <a:solidFill>
                <a:schemeClr val="tx1"/>
              </a:solidFill>
              <a:latin typeface="+mn-ea"/>
            </a:endParaRP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4E7EA2D-A154-446D-A624-452F1F9623A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771916" y="1407161"/>
            <a:ext cx="4953000" cy="419702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kumimoji="1" lang="ko-KR" altLang="en-US" sz="2400" b="1" kern="1200" dirty="0">
                <a:solidFill>
                  <a:schemeClr val="accent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  <a:sym typeface="Wingdings" pitchFamily="2" charset="2"/>
              </a:defRPr>
            </a:lvl1pPr>
          </a:lstStyle>
          <a:p>
            <a:pPr lvl="0"/>
            <a:r>
              <a:rPr lang="en-US" altLang="ko-KR"/>
              <a:t>I. </a:t>
            </a:r>
            <a:endParaRPr lang="ko-KR" altLang="en-US"/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D2AF3831-91CA-4478-A2C9-FA92065CC98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063405" y="2295122"/>
            <a:ext cx="6570115" cy="91440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latinLnBrk="0" hangingPunct="0">
              <a:lnSpc>
                <a:spcPct val="150000"/>
              </a:lnSpc>
              <a:spcBef>
                <a:spcPts val="600"/>
              </a:spcBef>
              <a:spcAft>
                <a:spcPct val="0"/>
              </a:spcAft>
              <a:buAutoNum type="arabicPeriod"/>
              <a:defRPr kumimoji="1" lang="ko-KR" altLang="en-US" sz="2000" b="1" kern="1200" dirty="0">
                <a:solidFill>
                  <a:srgbClr val="333333"/>
                </a:solidFill>
                <a:latin typeface="맑은 고딕" pitchFamily="50" charset="-127"/>
                <a:ea typeface="맑은 고딕" pitchFamily="50" charset="-127"/>
                <a:cs typeface="+mn-cs"/>
                <a:sym typeface="Wingdings" pitchFamily="2" charset="2"/>
              </a:defRPr>
            </a:lvl1pPr>
          </a:lstStyle>
          <a:p>
            <a:pPr lvl="0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6429068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12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486967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1" r:id="rId1"/>
    <p:sldLayoutId id="2147483810" r:id="rId2"/>
    <p:sldLayoutId id="2147483803" r:id="rId3"/>
    <p:sldLayoutId id="2147483808" r:id="rId4"/>
    <p:sldLayoutId id="2147483804" r:id="rId5"/>
    <p:sldLayoutId id="2147483812" r:id="rId6"/>
    <p:sldLayoutId id="2147483813" r:id="rId7"/>
  </p:sldLayoutIdLst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3.png"/><Relationship Id="rId5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0.png"/><Relationship Id="rId3" Type="http://schemas.openxmlformats.org/officeDocument/2006/relationships/image" Target="../media/image24.png"/><Relationship Id="rId7" Type="http://schemas.openxmlformats.org/officeDocument/2006/relationships/image" Target="../media/image22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1.png"/><Relationship Id="rId5" Type="http://schemas.openxmlformats.org/officeDocument/2006/relationships/image" Target="../media/image16.png"/><Relationship Id="rId10" Type="http://schemas.openxmlformats.org/officeDocument/2006/relationships/image" Target="../media/image26.png"/><Relationship Id="rId9" Type="http://schemas.openxmlformats.org/officeDocument/2006/relationships/image" Target="../media/image2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9.png"/><Relationship Id="rId4" Type="http://schemas.openxmlformats.org/officeDocument/2006/relationships/image" Target="../media/image3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7" Type="http://schemas.openxmlformats.org/officeDocument/2006/relationships/image" Target="../media/image3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3.png"/><Relationship Id="rId5" Type="http://schemas.openxmlformats.org/officeDocument/2006/relationships/image" Target="../media/image31.png"/><Relationship Id="rId4" Type="http://schemas.openxmlformats.org/officeDocument/2006/relationships/image" Target="../media/image2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0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4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6FB9C259-F067-4F41-A6FB-E2E1BE7869EE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600951" y="1740473"/>
            <a:ext cx="9207078" cy="1216815"/>
          </a:xfrm>
        </p:spPr>
        <p:txBody>
          <a:bodyPr/>
          <a:lstStyle/>
          <a:p>
            <a:r>
              <a:rPr lang="ko-KR" altLang="en-US" dirty="0"/>
              <a:t>강화학습 세미나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3535A55-B1BF-4C4C-B8BD-EE34EE9B9E2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241143" y="4509119"/>
            <a:ext cx="3019307" cy="970278"/>
          </a:xfrm>
        </p:spPr>
        <p:txBody>
          <a:bodyPr/>
          <a:lstStyle/>
          <a:p>
            <a:r>
              <a:rPr lang="en-US" altLang="ko-KR" dirty="0"/>
              <a:t>2025</a:t>
            </a:r>
            <a:r>
              <a:rPr lang="ko-KR" altLang="en-US" dirty="0"/>
              <a:t>년 </a:t>
            </a:r>
            <a:r>
              <a:rPr lang="en-US" altLang="ko-KR" dirty="0"/>
              <a:t>11</a:t>
            </a:r>
            <a:r>
              <a:rPr lang="ko-KR" altLang="en-US" dirty="0"/>
              <a:t>월 </a:t>
            </a:r>
            <a:r>
              <a:rPr lang="en-US" altLang="ko-KR" dirty="0"/>
              <a:t>14</a:t>
            </a:r>
            <a:r>
              <a:rPr lang="ko-KR" altLang="en-US" dirty="0"/>
              <a:t>일</a:t>
            </a:r>
            <a:endParaRPr lang="en-US" altLang="ko-KR" dirty="0"/>
          </a:p>
          <a:p>
            <a:r>
              <a:rPr lang="ko-KR" altLang="en-US" dirty="0" err="1"/>
              <a:t>김선중</a:t>
            </a:r>
            <a:r>
              <a:rPr lang="ko-KR" altLang="en-US" dirty="0"/>
              <a:t> 선임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841FF10-64BF-4D1E-B03D-21849AC56EE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980798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텍스트 개체 틀 2"/>
          <p:cNvSpPr txBox="1">
            <a:spLocks/>
          </p:cNvSpPr>
          <p:nvPr/>
        </p:nvSpPr>
        <p:spPr>
          <a:xfrm>
            <a:off x="498029" y="248846"/>
            <a:ext cx="8797837" cy="56881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altLang="ko-KR" sz="28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한컴돋움" pitchFamily="18" charset="2"/>
              </a:rPr>
              <a:t>CONTENTS</a:t>
            </a:r>
            <a:endParaRPr lang="ko-KR" altLang="en-US" sz="2800" b="1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한컴돋움" pitchFamily="18" charset="2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40570356-5398-4117-BE9B-872AFE7AE7C3}"/>
              </a:ext>
            </a:extLst>
          </p:cNvPr>
          <p:cNvSpPr/>
          <p:nvPr/>
        </p:nvSpPr>
        <p:spPr>
          <a:xfrm>
            <a:off x="3209061" y="2079688"/>
            <a:ext cx="3275256" cy="199073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514350" indent="-514350" eaLnBrk="1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AutoNum type="romanUcPeriod"/>
            </a:pPr>
            <a:r>
              <a:rPr lang="ko-KR" altLang="en-US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강화학습 기초</a:t>
            </a:r>
            <a:endParaRPr lang="en-US" altLang="ko-KR" sz="2400" dirty="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514350" indent="-514350" eaLnBrk="1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AutoNum type="romanUcPeriod"/>
            </a:pPr>
            <a:r>
              <a:rPr lang="ko-KR" altLang="en-US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강화학습 알고리즘</a:t>
            </a:r>
            <a:endParaRPr lang="en-US" altLang="ko-KR" sz="2400" dirty="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514350" indent="-514350" eaLnBrk="1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AutoNum type="romanUcPeriod"/>
            </a:pPr>
            <a:r>
              <a:rPr lang="en-US" altLang="ko-KR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offline </a:t>
            </a:r>
            <a:r>
              <a:rPr lang="ko-KR" altLang="en-US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강화학습</a:t>
            </a:r>
            <a:endParaRPr lang="en-US" altLang="ko-KR" sz="2400" dirty="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621274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CD0A6F44-18B5-18ED-5E11-8D8722A7031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29904" y="1407161"/>
            <a:ext cx="5643476" cy="419702"/>
          </a:xfrm>
        </p:spPr>
        <p:txBody>
          <a:bodyPr/>
          <a:lstStyle/>
          <a:p>
            <a:r>
              <a:rPr lang="en-US" altLang="ko-KR" sz="2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Ⅰ</a:t>
            </a:r>
            <a:r>
              <a:rPr lang="ko-KR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강화학습 기초</a:t>
            </a:r>
            <a:endParaRPr lang="en-US" altLang="ko-KR" sz="2000" dirty="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F16EF7B-61A7-BDC4-6C6B-FF09DB80E41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894235" y="2132856"/>
            <a:ext cx="5479145" cy="3317983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ko-KR" altLang="en-US" sz="1800" dirty="0">
                <a:latin typeface="+mn-ea"/>
                <a:ea typeface="+mn-ea"/>
              </a:rPr>
              <a:t>강화학습 개요</a:t>
            </a:r>
            <a:endParaRPr lang="en-US" altLang="ko-KR" sz="1800" dirty="0">
              <a:latin typeface="+mn-ea"/>
              <a:ea typeface="+mn-ea"/>
            </a:endParaRPr>
          </a:p>
          <a:p>
            <a:pPr>
              <a:lnSpc>
                <a:spcPct val="100000"/>
              </a:lnSpc>
            </a:pPr>
            <a:r>
              <a:rPr lang="en-US" altLang="ko-KR" sz="1800" dirty="0">
                <a:latin typeface="+mn-ea"/>
                <a:ea typeface="+mn-ea"/>
              </a:rPr>
              <a:t>MDP(Markov decision process)</a:t>
            </a:r>
          </a:p>
          <a:p>
            <a:pPr>
              <a:lnSpc>
                <a:spcPct val="100000"/>
              </a:lnSpc>
            </a:pPr>
            <a:r>
              <a:rPr lang="ko-KR" altLang="en-US" sz="1800" dirty="0">
                <a:latin typeface="+mn-ea"/>
                <a:ea typeface="+mn-ea"/>
              </a:rPr>
              <a:t>가치함수</a:t>
            </a:r>
            <a:endParaRPr lang="en-US" altLang="ko-KR" sz="1800" dirty="0">
              <a:latin typeface="+mn-ea"/>
              <a:ea typeface="+mn-ea"/>
            </a:endParaRPr>
          </a:p>
          <a:p>
            <a:pPr>
              <a:lnSpc>
                <a:spcPct val="100000"/>
              </a:lnSpc>
            </a:pPr>
            <a:r>
              <a:rPr lang="ko-KR" altLang="en-US" sz="1800" dirty="0" err="1">
                <a:latin typeface="+mn-ea"/>
                <a:ea typeface="+mn-ea"/>
              </a:rPr>
              <a:t>벨만방정식</a:t>
            </a:r>
            <a:endParaRPr lang="en-US" altLang="ko-KR" sz="1800" dirty="0"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0217619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2438B6-A585-1D57-34D6-1E47C84411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448F47AB-A764-AECC-FE82-9C49A385F8E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dirty="0" err="1"/>
              <a:t>머신러닝의</a:t>
            </a:r>
            <a:r>
              <a:rPr lang="ko-KR" altLang="en-US" dirty="0"/>
              <a:t> 세가지 갈래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텍스트 개체 틀 5">
                <a:extLst>
                  <a:ext uri="{FF2B5EF4-FFF2-40B4-BE49-F238E27FC236}">
                    <a16:creationId xmlns:a16="http://schemas.microsoft.com/office/drawing/2014/main" id="{00C78BF7-8FF8-00FC-AECC-65573FD3E3BB}"/>
                  </a:ext>
                </a:extLst>
              </p:cNvPr>
              <p:cNvSpPr>
                <a:spLocks noGrp="1"/>
              </p:cNvSpPr>
              <p:nvPr>
                <p:ph type="body" sz="quarter" idx="11"/>
              </p:nvPr>
            </p:nvSpPr>
            <p:spPr>
              <a:xfrm>
                <a:off x="362309" y="922627"/>
                <a:ext cx="9270641" cy="1644956"/>
              </a:xfrm>
            </p:spPr>
            <p:txBody>
              <a:bodyPr/>
              <a:lstStyle/>
              <a:p>
                <a:pPr marL="285750" indent="-285750">
                  <a:buFont typeface="Wingdings" panose="05000000000000000000" pitchFamily="2" charset="2"/>
                  <a:buChar char="ü"/>
                </a:pPr>
                <a:r>
                  <a:rPr lang="ko-KR" altLang="en-US" dirty="0"/>
                  <a:t>지도학습 </a:t>
                </a:r>
                <a:r>
                  <a:rPr lang="en-US" altLang="ko-KR" dirty="0"/>
                  <a:t>(supervised learning)</a:t>
                </a:r>
                <a:endParaRPr lang="en-US" altLang="ko-KR" dirty="0">
                  <a:ea typeface="Cambria Math" panose="02040503050406030204" pitchFamily="18" charset="0"/>
                </a:endParaRPr>
              </a:p>
              <a:p>
                <a:pPr marL="360000" lvl="1" indent="180000">
                  <a:buFont typeface="Arial" panose="020B0604020202020204" pitchFamily="34" charset="0"/>
                  <a:buChar char="•"/>
                </a:pPr>
                <a:r>
                  <a:rPr lang="ko-KR" altLang="en-US" sz="1400" dirty="0">
                    <a:latin typeface="+mn-ea"/>
                  </a:rPr>
                  <a:t>라벨</a:t>
                </a:r>
                <a:r>
                  <a:rPr lang="en-US" altLang="ko-KR" sz="1400" dirty="0">
                    <a:latin typeface="+mn-ea"/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ko-KR" sz="1400" i="1" dirty="0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altLang="ko-KR" sz="1400" dirty="0">
                    <a:latin typeface="+mn-ea"/>
                  </a:rPr>
                  <a:t>)</a:t>
                </a:r>
                <a:r>
                  <a:rPr lang="ko-KR" altLang="en-US" sz="1400" dirty="0">
                    <a:latin typeface="+mn-ea"/>
                  </a:rPr>
                  <a:t>이 포함된 데이터셋 </a:t>
                </a:r>
                <a14:m>
                  <m:oMath xmlns:m="http://schemas.openxmlformats.org/officeDocument/2006/math">
                    <m:r>
                      <m:rPr>
                        <m:lit/>
                      </m:rPr>
                      <a:rPr lang="en-US" altLang="ko-KR" sz="1400" i="1" dirty="0" smtClean="0">
                        <a:latin typeface="Cambria Math" panose="02040503050406030204" pitchFamily="18" charset="0"/>
                      </a:rPr>
                      <m:t>{</m:t>
                    </m:r>
                    <m:r>
                      <a:rPr lang="en-US" altLang="ko-KR" sz="1400" i="1" dirty="0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ko-KR" sz="14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400" i="1" dirty="0" err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sz="1400" i="1" dirty="0" err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ko-KR" sz="1400" i="1" dirty="0" err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ko-KR" sz="14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400" i="1" dirty="0" err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ko-KR" sz="1400" i="1" dirty="0" err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ko-KR" sz="1400" i="1" dirty="0" smtClean="0">
                        <a:latin typeface="Cambria Math" panose="02040503050406030204" pitchFamily="18" charset="0"/>
                      </a:rPr>
                      <m:t>)|1≤</m:t>
                    </m:r>
                    <m:r>
                      <a:rPr lang="en-US" altLang="ko-KR" sz="1400" i="1" dirty="0" err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altLang="ko-KR" sz="1400" i="1" dirty="0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altLang="ko-KR" sz="1400" i="1" dirty="0" smtClean="0"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lit/>
                      </m:rPr>
                      <a:rPr lang="en-US" altLang="ko-KR" sz="1400" i="1" dirty="0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ko-KR" altLang="en-US" sz="1400" dirty="0">
                    <a:latin typeface="+mn-ea"/>
                  </a:rPr>
                  <a:t>을</a:t>
                </a:r>
                <a:r>
                  <a:rPr lang="en-US" altLang="ko-KR" sz="1400" dirty="0">
                    <a:latin typeface="+mn-ea"/>
                  </a:rPr>
                  <a:t> </a:t>
                </a:r>
                <a:r>
                  <a:rPr lang="ko-KR" altLang="en-US" sz="1400" dirty="0">
                    <a:latin typeface="+mn-ea"/>
                  </a:rPr>
                  <a:t>사용하여 예측 </a:t>
                </a:r>
                <a:r>
                  <a:rPr lang="en-US" altLang="ko-KR" sz="1400" dirty="0">
                    <a:latin typeface="+mn-ea"/>
                  </a:rPr>
                  <a:t>/ </a:t>
                </a:r>
                <a:r>
                  <a:rPr lang="ko-KR" altLang="en-US" sz="1400" dirty="0">
                    <a:latin typeface="+mn-ea"/>
                  </a:rPr>
                  <a:t>분류</a:t>
                </a:r>
                <a:endParaRPr lang="en-US" altLang="ko-KR" sz="1400" dirty="0">
                  <a:latin typeface="+mn-ea"/>
                </a:endParaRPr>
              </a:p>
              <a:p>
                <a:pPr marL="285750" indent="-285750">
                  <a:buFont typeface="Wingdings" panose="05000000000000000000" pitchFamily="2" charset="2"/>
                  <a:buChar char="ü"/>
                </a:pPr>
                <a:r>
                  <a:rPr lang="ko-KR" altLang="en-US" dirty="0">
                    <a:latin typeface="+mn-ea"/>
                  </a:rPr>
                  <a:t>비지도학습 </a:t>
                </a:r>
                <a:r>
                  <a:rPr lang="en-US" altLang="ko-KR" dirty="0">
                    <a:latin typeface="+mn-ea"/>
                  </a:rPr>
                  <a:t>(unsupervised learning)</a:t>
                </a:r>
              </a:p>
              <a:p>
                <a:pPr marL="360000" lvl="1" indent="180000">
                  <a:buFont typeface="Arial" panose="020B0604020202020204" pitchFamily="34" charset="0"/>
                  <a:buChar char="•"/>
                </a:pPr>
                <a:r>
                  <a:rPr lang="ko-KR" altLang="en-US" sz="1400" dirty="0">
                    <a:latin typeface="+mn-ea"/>
                  </a:rPr>
                  <a:t>라벨이 포함되지 않은 데이터셋 </a:t>
                </a:r>
                <a14:m>
                  <m:oMath xmlns:m="http://schemas.openxmlformats.org/officeDocument/2006/math">
                    <m:r>
                      <m:rPr>
                        <m:lit/>
                      </m:rPr>
                      <a:rPr lang="en-US" altLang="ko-KR" sz="1400" i="1" dirty="0">
                        <a:latin typeface="Cambria Math" panose="02040503050406030204" pitchFamily="18" charset="0"/>
                      </a:rPr>
                      <m:t>{</m:t>
                    </m:r>
                    <m:sSub>
                      <m:sSubPr>
                        <m:ctrlPr>
                          <a:rPr lang="en-US" altLang="ko-KR" sz="1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400" i="1" dirty="0" err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sz="1400" i="1" dirty="0" err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ko-KR" sz="1400" i="1" dirty="0">
                        <a:latin typeface="Cambria Math" panose="02040503050406030204" pitchFamily="18" charset="0"/>
                      </a:rPr>
                      <m:t>|1≤</m:t>
                    </m:r>
                    <m:r>
                      <a:rPr lang="en-US" altLang="ko-KR" sz="1400" i="1" dirty="0" err="1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altLang="ko-KR" sz="1400" i="1" dirty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altLang="ko-KR" sz="1400" i="1" dirty="0"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lit/>
                      </m:rPr>
                      <a:rPr lang="en-US" altLang="ko-KR" sz="1400" i="1" dirty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ko-KR" altLang="en-US" sz="1400" dirty="0">
                    <a:latin typeface="+mn-ea"/>
                  </a:rPr>
                  <a:t>을 사용하여 데이터 구조 파악 </a:t>
                </a:r>
                <a:r>
                  <a:rPr lang="en-US" altLang="ko-KR" sz="1400" dirty="0">
                    <a:latin typeface="+mn-ea"/>
                  </a:rPr>
                  <a:t>(PCA, clustering </a:t>
                </a:r>
                <a:r>
                  <a:rPr lang="ko-KR" altLang="en-US" sz="1400" dirty="0">
                    <a:latin typeface="+mn-ea"/>
                  </a:rPr>
                  <a:t>등</a:t>
                </a:r>
                <a:r>
                  <a:rPr lang="en-US" altLang="ko-KR" sz="1400" dirty="0">
                    <a:latin typeface="+mn-ea"/>
                  </a:rPr>
                  <a:t>)</a:t>
                </a:r>
              </a:p>
              <a:p>
                <a:pPr marL="285750" indent="-285750">
                  <a:buFont typeface="Wingdings" panose="05000000000000000000" pitchFamily="2" charset="2"/>
                  <a:buChar char="ü"/>
                </a:pPr>
                <a:r>
                  <a:rPr lang="ko-KR" altLang="en-US" dirty="0">
                    <a:latin typeface="+mn-ea"/>
                  </a:rPr>
                  <a:t>강화학습 </a:t>
                </a:r>
                <a:r>
                  <a:rPr lang="en-US" altLang="ko-KR" dirty="0">
                    <a:latin typeface="+mn-ea"/>
                  </a:rPr>
                  <a:t>(reinforcement learning)</a:t>
                </a:r>
              </a:p>
              <a:p>
                <a:pPr marL="360000" lvl="1" indent="180000">
                  <a:buFont typeface="Arial" panose="020B0604020202020204" pitchFamily="34" charset="0"/>
                  <a:buChar char="•"/>
                </a:pPr>
                <a:r>
                  <a:rPr lang="ko-KR" altLang="en-US" sz="1400" dirty="0">
                    <a:latin typeface="+mn-ea"/>
                  </a:rPr>
                  <a:t>데이터셋 없이 에이전트가 환경과 상호작용하며 보상을 최대화하는 최적의 행동을 학습</a:t>
                </a:r>
                <a:endParaRPr lang="en-US" altLang="ko-KR" sz="1400" dirty="0">
                  <a:latin typeface="+mn-ea"/>
                </a:endParaRPr>
              </a:p>
            </p:txBody>
          </p:sp>
        </mc:Choice>
        <mc:Fallback xmlns="">
          <p:sp>
            <p:nvSpPr>
              <p:cNvPr id="6" name="텍스트 개체 틀 5">
                <a:extLst>
                  <a:ext uri="{FF2B5EF4-FFF2-40B4-BE49-F238E27FC236}">
                    <a16:creationId xmlns:a16="http://schemas.microsoft.com/office/drawing/2014/main" id="{00C78BF7-8FF8-00FC-AECC-65573FD3E3B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1"/>
              </p:nvPr>
            </p:nvSpPr>
            <p:spPr>
              <a:xfrm>
                <a:off x="362309" y="922627"/>
                <a:ext cx="9270641" cy="1644956"/>
              </a:xfrm>
              <a:blipFill>
                <a:blip r:embed="rId3"/>
                <a:stretch>
                  <a:fillRect l="-263" t="-111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제목 3">
            <a:extLst>
              <a:ext uri="{FF2B5EF4-FFF2-40B4-BE49-F238E27FC236}">
                <a16:creationId xmlns:a16="http://schemas.microsoft.com/office/drawing/2014/main" id="{F6AC97F9-D139-557B-21F4-A5FC832BDB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Ⅰ-1. </a:t>
            </a:r>
            <a:r>
              <a:rPr lang="ko-KR" altLang="en-US" dirty="0"/>
              <a:t>강화학습 개요</a:t>
            </a:r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5B3E2BB4-D9C6-0459-2E26-4428AD4AEB4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 dirty="0"/>
              <a:t>Ⅰ </a:t>
            </a:r>
            <a:r>
              <a:rPr lang="ko-KR" altLang="en-US" dirty="0"/>
              <a:t>강화학습 기초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7A102B02-B6AC-7183-1B4E-8689EF96EA5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5093" y="2625531"/>
            <a:ext cx="3807341" cy="3076090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3A3CA3C4-9889-1842-4E84-F7E3DB73798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83470" y="3251073"/>
            <a:ext cx="4584974" cy="1644956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4C0710A-C9D2-AFA5-7F06-518BB668F942}"/>
              </a:ext>
            </a:extLst>
          </p:cNvPr>
          <p:cNvSpPr txBox="1"/>
          <p:nvPr/>
        </p:nvSpPr>
        <p:spPr>
          <a:xfrm>
            <a:off x="106878" y="5810483"/>
            <a:ext cx="607249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1100" b="0" dirty="0">
                <a:latin typeface="+mn-ea"/>
                <a:ea typeface="+mn-ea"/>
              </a:rPr>
              <a:t>※ </a:t>
            </a:r>
            <a:r>
              <a:rPr lang="ko-KR" altLang="en-US" sz="1100" b="0" dirty="0">
                <a:latin typeface="+mn-ea"/>
                <a:ea typeface="+mn-ea"/>
              </a:rPr>
              <a:t>강화학습의 예시 </a:t>
            </a:r>
            <a:r>
              <a:rPr lang="en-US" altLang="ko-KR" sz="1100" b="0" dirty="0">
                <a:latin typeface="+mn-ea"/>
                <a:ea typeface="+mn-ea"/>
              </a:rPr>
              <a:t>: </a:t>
            </a:r>
            <a:r>
              <a:rPr lang="ko-KR" altLang="en-US" sz="1100" b="0" dirty="0">
                <a:latin typeface="+mn-ea"/>
                <a:ea typeface="+mn-ea"/>
              </a:rPr>
              <a:t>어린아이의 걸음마</a:t>
            </a:r>
            <a:r>
              <a:rPr lang="en-US" altLang="ko-KR" sz="1100" b="0" dirty="0">
                <a:latin typeface="+mn-ea"/>
                <a:ea typeface="+mn-ea"/>
              </a:rPr>
              <a:t> </a:t>
            </a:r>
            <a:r>
              <a:rPr lang="ko-KR" altLang="en-US" sz="1100" b="0" dirty="0">
                <a:latin typeface="+mn-ea"/>
                <a:ea typeface="+mn-ea"/>
              </a:rPr>
              <a:t>학습</a:t>
            </a:r>
            <a:r>
              <a:rPr lang="en-US" altLang="ko-KR" sz="1100" b="0" dirty="0">
                <a:latin typeface="+mn-ea"/>
                <a:ea typeface="+mn-ea"/>
              </a:rPr>
              <a:t>, </a:t>
            </a:r>
            <a:r>
              <a:rPr lang="ko-KR" altLang="en-US" sz="1100" b="0" dirty="0">
                <a:latin typeface="+mn-ea"/>
                <a:ea typeface="+mn-ea"/>
              </a:rPr>
              <a:t>말 배우기 학습</a:t>
            </a:r>
            <a:r>
              <a:rPr lang="en-US" altLang="ko-KR" sz="1100" b="0" dirty="0">
                <a:latin typeface="+mn-ea"/>
                <a:ea typeface="+mn-ea"/>
              </a:rPr>
              <a:t>, </a:t>
            </a:r>
            <a:r>
              <a:rPr lang="ko-KR" altLang="en-US" sz="1100" b="0" dirty="0">
                <a:latin typeface="+mn-ea"/>
                <a:ea typeface="+mn-ea"/>
              </a:rPr>
              <a:t>로봇운동</a:t>
            </a:r>
            <a:r>
              <a:rPr lang="en-US" altLang="ko-KR" sz="1100" b="0" dirty="0">
                <a:latin typeface="+mn-ea"/>
                <a:ea typeface="+mn-ea"/>
              </a:rPr>
              <a:t>, </a:t>
            </a:r>
            <a:r>
              <a:rPr lang="ko-KR" altLang="en-US" sz="1100" b="0" dirty="0">
                <a:latin typeface="+mn-ea"/>
                <a:ea typeface="+mn-ea"/>
              </a:rPr>
              <a:t>자율주행</a:t>
            </a:r>
            <a:r>
              <a:rPr lang="en-US" altLang="ko-KR" sz="1100" b="0" dirty="0">
                <a:latin typeface="+mn-ea"/>
                <a:ea typeface="+mn-ea"/>
              </a:rPr>
              <a:t>, </a:t>
            </a:r>
            <a:r>
              <a:rPr lang="ko-KR" altLang="en-US" sz="1100" b="0" dirty="0">
                <a:latin typeface="+mn-ea"/>
                <a:ea typeface="+mn-ea"/>
              </a:rPr>
              <a:t>게임 </a:t>
            </a:r>
            <a:r>
              <a:rPr lang="en-US" altLang="ko-KR" sz="1100" b="0" dirty="0">
                <a:latin typeface="+mn-ea"/>
                <a:ea typeface="+mn-ea"/>
              </a:rPr>
              <a:t>AI </a:t>
            </a:r>
            <a:r>
              <a:rPr lang="ko-KR" altLang="en-US" sz="1100" b="0" dirty="0">
                <a:latin typeface="+mn-ea"/>
                <a:ea typeface="+mn-ea"/>
              </a:rPr>
              <a:t>등</a:t>
            </a:r>
          </a:p>
        </p:txBody>
      </p:sp>
    </p:spTree>
    <p:extLst>
      <p:ext uri="{BB962C8B-B14F-4D97-AF65-F5344CB8AC3E}">
        <p14:creationId xmlns:p14="http://schemas.microsoft.com/office/powerpoint/2010/main" val="42680093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FF07BA-283E-1B91-1F7D-6B5295A5D3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54E90782-8134-091A-7D2B-0F68BB28618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dirty="0"/>
              <a:t>강화학습의 발전과정</a:t>
            </a: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85473A56-48DF-84F6-412E-5202638C503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62309" y="922627"/>
            <a:ext cx="9270641" cy="1296790"/>
          </a:xfrm>
        </p:spPr>
        <p:txBody>
          <a:bodyPr/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dirty="0">
                <a:latin typeface="+mn-ea"/>
              </a:rPr>
              <a:t>행동심리학에서의 강화</a:t>
            </a:r>
            <a:r>
              <a:rPr lang="en-US" altLang="ko-KR" dirty="0">
                <a:latin typeface="+mn-ea"/>
              </a:rPr>
              <a:t>(reinforcement)</a:t>
            </a:r>
            <a:r>
              <a:rPr lang="ko-KR" altLang="en-US" dirty="0">
                <a:latin typeface="+mn-ea"/>
              </a:rPr>
              <a:t>의 개념 </a:t>
            </a:r>
            <a:r>
              <a:rPr lang="en-US" altLang="ko-KR" dirty="0">
                <a:latin typeface="+mn-ea"/>
              </a:rPr>
              <a:t>: 1930</a:t>
            </a:r>
            <a:r>
              <a:rPr lang="ko-KR" altLang="en-US" dirty="0">
                <a:latin typeface="+mn-ea"/>
              </a:rPr>
              <a:t>년대 초</a:t>
            </a:r>
            <a:r>
              <a:rPr lang="en-US" altLang="ko-KR" dirty="0">
                <a:latin typeface="+mn-ea"/>
              </a:rPr>
              <a:t>, Edward Thorndike, </a:t>
            </a:r>
            <a:r>
              <a:rPr lang="en-US" altLang="ko-KR" dirty="0"/>
              <a:t>Burrhus Skinner</a:t>
            </a:r>
            <a:r>
              <a:rPr lang="en-US" altLang="ko-KR" dirty="0">
                <a:latin typeface="+mn-ea"/>
              </a:rPr>
              <a:t> </a:t>
            </a:r>
            <a:r>
              <a:rPr lang="ko-KR" altLang="en-US" dirty="0">
                <a:latin typeface="+mn-ea"/>
              </a:rPr>
              <a:t>등</a:t>
            </a:r>
            <a:endParaRPr lang="en-US" altLang="ko-KR" dirty="0">
              <a:latin typeface="+mn-ea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dirty="0">
                <a:latin typeface="+mn-ea"/>
              </a:rPr>
              <a:t>동적계획법</a:t>
            </a:r>
            <a:r>
              <a:rPr lang="en-US" altLang="ko-KR" dirty="0">
                <a:latin typeface="+mn-ea"/>
              </a:rPr>
              <a:t>(dynamic programming) : 1950</a:t>
            </a:r>
            <a:r>
              <a:rPr lang="ko-KR" altLang="en-US" dirty="0">
                <a:latin typeface="+mn-ea"/>
              </a:rPr>
              <a:t>년대</a:t>
            </a:r>
            <a:r>
              <a:rPr lang="en-US" altLang="ko-KR" dirty="0">
                <a:latin typeface="+mn-ea"/>
              </a:rPr>
              <a:t>, Richard Bellman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dirty="0">
                <a:latin typeface="+mn-ea"/>
              </a:rPr>
              <a:t>시간차 학습 </a:t>
            </a:r>
            <a:r>
              <a:rPr lang="en-US" altLang="ko-KR" dirty="0">
                <a:latin typeface="+mn-ea"/>
              </a:rPr>
              <a:t>(temporal difference) : 1980</a:t>
            </a:r>
            <a:r>
              <a:rPr lang="ko-KR" altLang="en-US" dirty="0">
                <a:latin typeface="+mn-ea"/>
              </a:rPr>
              <a:t>년대</a:t>
            </a:r>
            <a:r>
              <a:rPr lang="en-US" altLang="ko-KR" dirty="0">
                <a:latin typeface="+mn-ea"/>
              </a:rPr>
              <a:t>, Richard Sutton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dirty="0">
                <a:latin typeface="+mn-ea"/>
              </a:rPr>
              <a:t>Q-learning : 1989</a:t>
            </a:r>
            <a:r>
              <a:rPr lang="ko-KR" altLang="en-US" dirty="0">
                <a:latin typeface="+mn-ea"/>
              </a:rPr>
              <a:t>년</a:t>
            </a:r>
            <a:r>
              <a:rPr lang="en-US" altLang="ko-KR" dirty="0">
                <a:latin typeface="+mn-ea"/>
              </a:rPr>
              <a:t>, Chris Watkins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dirty="0">
                <a:latin typeface="+mn-ea"/>
              </a:rPr>
              <a:t>DQN (Deep Q Learning) : 2010</a:t>
            </a:r>
            <a:r>
              <a:rPr lang="ko-KR" altLang="en-US" dirty="0">
                <a:latin typeface="+mn-ea"/>
              </a:rPr>
              <a:t>년대</a:t>
            </a:r>
            <a:r>
              <a:rPr lang="en-US" altLang="ko-KR" dirty="0">
                <a:latin typeface="+mn-ea"/>
              </a:rPr>
              <a:t>, DeepMind </a:t>
            </a:r>
            <a:r>
              <a:rPr lang="ko-KR" altLang="en-US" dirty="0">
                <a:latin typeface="+mn-ea"/>
              </a:rPr>
              <a:t>팀</a:t>
            </a:r>
            <a:endParaRPr lang="en-US" altLang="ko-KR" dirty="0">
              <a:latin typeface="+mn-ea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ko-KR" altLang="en-US" dirty="0">
              <a:latin typeface="+mn-ea"/>
            </a:endParaRPr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57271C04-85E7-CE22-9A63-20924E4E7D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Ⅰ-1. </a:t>
            </a:r>
            <a:r>
              <a:rPr lang="ko-KR" altLang="en-US" dirty="0"/>
              <a:t>강화학습 개요 </a:t>
            </a:r>
            <a:r>
              <a:rPr lang="en-US" altLang="ko-KR" dirty="0"/>
              <a:t>(2/3)</a:t>
            </a:r>
            <a:endParaRPr lang="ko-KR" altLang="en-US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9D44E9F7-53C1-31CC-FE41-90CD8D541EA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 dirty="0"/>
              <a:t>Ⅰ </a:t>
            </a:r>
            <a:r>
              <a:rPr lang="ko-KR" altLang="en-US" dirty="0"/>
              <a:t>강화학습 기초</a:t>
            </a:r>
          </a:p>
        </p:txBody>
      </p:sp>
      <p:pic>
        <p:nvPicPr>
          <p:cNvPr id="1030" name="Picture 6">
            <a:extLst>
              <a:ext uri="{FF2B5EF4-FFF2-40B4-BE49-F238E27FC236}">
                <a16:creationId xmlns:a16="http://schemas.microsoft.com/office/drawing/2014/main" id="{990949B3-4FFA-5C23-C099-53B7A2973C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9184" y="3113317"/>
            <a:ext cx="3143250" cy="3171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C5E941A-C89B-C7EA-4C4F-78DE181FDB37}"/>
              </a:ext>
            </a:extLst>
          </p:cNvPr>
          <p:cNvSpPr txBox="1"/>
          <p:nvPr/>
        </p:nvSpPr>
        <p:spPr>
          <a:xfrm>
            <a:off x="4887454" y="3659819"/>
            <a:ext cx="2270173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b="0" dirty="0">
                <a:latin typeface="+mn-ea"/>
                <a:ea typeface="+mn-ea"/>
              </a:rPr>
              <a:t>※</a:t>
            </a:r>
            <a:r>
              <a:rPr lang="ko-KR" altLang="en-US" b="0" dirty="0">
                <a:latin typeface="+mn-ea"/>
                <a:ea typeface="+mn-ea"/>
              </a:rPr>
              <a:t>행동심리학에서의 </a:t>
            </a:r>
            <a:r>
              <a:rPr lang="en-US" altLang="ko-KR" b="0" dirty="0">
                <a:latin typeface="+mn-ea"/>
                <a:ea typeface="+mn-ea"/>
              </a:rPr>
              <a:t>‘</a:t>
            </a:r>
            <a:r>
              <a:rPr lang="ko-KR" altLang="en-US" b="0" dirty="0">
                <a:latin typeface="+mn-ea"/>
                <a:ea typeface="+mn-ea"/>
              </a:rPr>
              <a:t>강화</a:t>
            </a:r>
            <a:r>
              <a:rPr lang="en-US" altLang="ko-KR" b="0" dirty="0">
                <a:latin typeface="+mn-ea"/>
                <a:ea typeface="+mn-ea"/>
              </a:rPr>
              <a:t>’</a:t>
            </a:r>
          </a:p>
          <a:p>
            <a:pPr algn="l"/>
            <a:endParaRPr lang="en-US" altLang="ko-KR" b="0" dirty="0">
              <a:latin typeface="+mn-ea"/>
              <a:ea typeface="+mn-ea"/>
            </a:endParaRPr>
          </a:p>
          <a:p>
            <a:pPr algn="l"/>
            <a:endParaRPr lang="en-US" altLang="ko-KR" b="0" dirty="0">
              <a:latin typeface="+mn-ea"/>
              <a:ea typeface="+mn-ea"/>
            </a:endParaRPr>
          </a:p>
          <a:p>
            <a:pPr algn="l"/>
            <a:endParaRPr lang="ko-KR" altLang="en-US" b="0" dirty="0">
              <a:latin typeface="+mn-ea"/>
              <a:ea typeface="+mn-ea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EF584486-22FD-E8B3-0CDC-76CC23E65234}"/>
              </a:ext>
            </a:extLst>
          </p:cNvPr>
          <p:cNvSpPr/>
          <p:nvPr/>
        </p:nvSpPr>
        <p:spPr bwMode="auto">
          <a:xfrm>
            <a:off x="4953000" y="4069512"/>
            <a:ext cx="3684233" cy="435005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911896"/>
            <a:r>
              <a:rPr lang="ko-KR" altLang="en-US" b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상자 안의 쥐는 버튼을 누르면 먹이를 얻음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DC0C531-8932-BBB5-9603-E94422DCEBFC}"/>
              </a:ext>
            </a:extLst>
          </p:cNvPr>
          <p:cNvSpPr/>
          <p:nvPr/>
        </p:nvSpPr>
        <p:spPr bwMode="auto">
          <a:xfrm>
            <a:off x="4953000" y="5175156"/>
            <a:ext cx="3684233" cy="435005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911896"/>
            <a:r>
              <a:rPr lang="ko-KR" altLang="en-US" b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쥐는 버튼을 누르는 것을 학습함</a:t>
            </a:r>
          </a:p>
        </p:txBody>
      </p:sp>
      <p:sp>
        <p:nvSpPr>
          <p:cNvPr id="10" name="화살표: 아래쪽 9">
            <a:extLst>
              <a:ext uri="{FF2B5EF4-FFF2-40B4-BE49-F238E27FC236}">
                <a16:creationId xmlns:a16="http://schemas.microsoft.com/office/drawing/2014/main" id="{C3535B47-5148-5C08-C909-2F4FB63DE0AB}"/>
              </a:ext>
            </a:extLst>
          </p:cNvPr>
          <p:cNvSpPr/>
          <p:nvPr/>
        </p:nvSpPr>
        <p:spPr bwMode="auto">
          <a:xfrm>
            <a:off x="6613860" y="4613926"/>
            <a:ext cx="362511" cy="481614"/>
          </a:xfrm>
          <a:prstGeom prst="downArrow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1896"/>
            <a:endParaRPr lang="ko-KR" altLang="en-US" dirty="0">
              <a:solidFill>
                <a:prstClr val="white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A0939E1-77B7-03C1-7CD0-F29361ED6433}"/>
              </a:ext>
            </a:extLst>
          </p:cNvPr>
          <p:cNvSpPr txBox="1"/>
          <p:nvPr/>
        </p:nvSpPr>
        <p:spPr>
          <a:xfrm>
            <a:off x="1691567" y="6131253"/>
            <a:ext cx="241848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b="0" dirty="0">
                <a:latin typeface="+mn-ea"/>
                <a:ea typeface="+mn-ea"/>
              </a:rPr>
              <a:t>&lt;</a:t>
            </a:r>
            <a:r>
              <a:rPr lang="ko-KR" altLang="en-US" b="0" dirty="0">
                <a:latin typeface="+mn-ea"/>
                <a:ea typeface="+mn-ea"/>
              </a:rPr>
              <a:t>스키너 상자 </a:t>
            </a:r>
            <a:r>
              <a:rPr lang="en-US" altLang="ko-KR" b="0" dirty="0">
                <a:latin typeface="+mn-ea"/>
                <a:ea typeface="+mn-ea"/>
              </a:rPr>
              <a:t>Skinner box&gt;</a:t>
            </a:r>
            <a:endParaRPr lang="ko-KR" altLang="en-US" b="0" dirty="0"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5059797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969DA7-DCB0-3D6B-70AD-0A46245705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F9DE3CE4-1AF9-F579-CF9B-BF4E1E8BFE5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dirty="0"/>
              <a:t>강화학습의 기본 개념들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텍스트 개체 틀 5">
                <a:extLst>
                  <a:ext uri="{FF2B5EF4-FFF2-40B4-BE49-F238E27FC236}">
                    <a16:creationId xmlns:a16="http://schemas.microsoft.com/office/drawing/2014/main" id="{30D24920-72AD-90E4-E6F7-3DD92ACAC196}"/>
                  </a:ext>
                </a:extLst>
              </p:cNvPr>
              <p:cNvSpPr>
                <a:spLocks noGrp="1"/>
              </p:cNvSpPr>
              <p:nvPr>
                <p:ph type="body" sz="quarter" idx="11"/>
              </p:nvPr>
            </p:nvSpPr>
            <p:spPr>
              <a:xfrm>
                <a:off x="362309" y="922626"/>
                <a:ext cx="9270641" cy="2359441"/>
              </a:xfrm>
            </p:spPr>
            <p:txBody>
              <a:bodyPr/>
              <a:lstStyle/>
              <a:p>
                <a:pPr marL="285750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dirty="0">
                    <a:latin typeface="+mn-ea"/>
                  </a:rPr>
                  <a:t>에이전트</a:t>
                </a:r>
                <a:r>
                  <a:rPr lang="en-US" altLang="ko-KR" dirty="0">
                    <a:latin typeface="+mn-ea"/>
                  </a:rPr>
                  <a:t>(agent) :</a:t>
                </a:r>
                <a:r>
                  <a:rPr lang="ko-KR" altLang="en-US" dirty="0">
                    <a:latin typeface="+mn-ea"/>
                  </a:rPr>
                  <a:t> 환경 속에서 행동을 하는 주체</a:t>
                </a:r>
                <a:endParaRPr lang="en-US" altLang="ko-KR" dirty="0">
                  <a:latin typeface="+mn-ea"/>
                </a:endParaRPr>
              </a:p>
              <a:p>
                <a:pPr marL="285750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dirty="0">
                    <a:latin typeface="+mn-ea"/>
                  </a:rPr>
                  <a:t>환경 </a:t>
                </a:r>
                <a:r>
                  <a:rPr lang="en-US" altLang="ko-KR" dirty="0">
                    <a:latin typeface="+mn-ea"/>
                  </a:rPr>
                  <a:t>(environment) : agent</a:t>
                </a:r>
                <a:r>
                  <a:rPr lang="ko-KR" altLang="en-US" dirty="0">
                    <a:latin typeface="+mn-ea"/>
                  </a:rPr>
                  <a:t>를 둘러싸고 있는 주변 환경</a:t>
                </a:r>
                <a:endParaRPr lang="en-US" altLang="ko-KR" dirty="0">
                  <a:latin typeface="+mn-ea"/>
                </a:endParaRPr>
              </a:p>
              <a:p>
                <a:pPr marL="285750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dirty="0">
                    <a:latin typeface="+mn-ea"/>
                  </a:rPr>
                  <a:t>상태 </a:t>
                </a:r>
                <a:r>
                  <a:rPr lang="en-US" altLang="ko-KR" dirty="0">
                    <a:latin typeface="+mn-ea"/>
                  </a:rPr>
                  <a:t>(state,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altLang="ko-KR" dirty="0">
                    <a:latin typeface="+mn-ea"/>
                  </a:rPr>
                  <a:t>) : </a:t>
                </a:r>
                <a:r>
                  <a:rPr lang="ko-KR" altLang="en-US" dirty="0">
                    <a:latin typeface="+mn-ea"/>
                  </a:rPr>
                  <a:t>특정 시점의 환경 정보</a:t>
                </a:r>
                <a:r>
                  <a:rPr lang="en-US" altLang="ko-KR" dirty="0">
                    <a:latin typeface="+mn-ea"/>
                  </a:rPr>
                  <a:t>(</a:t>
                </a:r>
                <a:r>
                  <a:rPr lang="ko-KR" altLang="en-US" dirty="0">
                    <a:latin typeface="+mn-ea"/>
                  </a:rPr>
                  <a:t>상황</a:t>
                </a:r>
                <a:r>
                  <a:rPr lang="en-US" altLang="ko-KR" dirty="0">
                    <a:latin typeface="+mn-ea"/>
                  </a:rPr>
                  <a:t>)</a:t>
                </a:r>
              </a:p>
              <a:p>
                <a:pPr marL="285750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dirty="0">
                    <a:latin typeface="+mn-ea"/>
                  </a:rPr>
                  <a:t>행동 </a:t>
                </a:r>
                <a:r>
                  <a:rPr lang="en-US" altLang="ko-KR" dirty="0">
                    <a:latin typeface="+mn-ea"/>
                  </a:rPr>
                  <a:t>(action,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 dirty="0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ko-KR" i="1" dirty="0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altLang="ko-KR" dirty="0">
                    <a:latin typeface="+mn-ea"/>
                  </a:rPr>
                  <a:t>) : </a:t>
                </a:r>
                <a:r>
                  <a:rPr lang="ko-KR" altLang="en-US" dirty="0">
                    <a:latin typeface="+mn-ea"/>
                  </a:rPr>
                  <a:t>특정 시점에 에이전트가 취하는 행위</a:t>
                </a:r>
                <a:r>
                  <a:rPr lang="en-US" altLang="ko-KR" dirty="0">
                    <a:latin typeface="+mn-ea"/>
                  </a:rPr>
                  <a:t>(</a:t>
                </a:r>
                <a:r>
                  <a:rPr lang="ko-KR" altLang="en-US" dirty="0">
                    <a:latin typeface="+mn-ea"/>
                  </a:rPr>
                  <a:t>선택</a:t>
                </a:r>
                <a:r>
                  <a:rPr lang="en-US" altLang="ko-KR" dirty="0">
                    <a:latin typeface="+mn-ea"/>
                  </a:rPr>
                  <a:t>)</a:t>
                </a:r>
              </a:p>
              <a:p>
                <a:pPr marL="285750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dirty="0">
                    <a:latin typeface="+mn-ea"/>
                  </a:rPr>
                  <a:t>보상 </a:t>
                </a:r>
                <a:r>
                  <a:rPr lang="en-US" altLang="ko-KR" dirty="0">
                    <a:latin typeface="+mn-ea"/>
                  </a:rPr>
                  <a:t>(reward,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 dirty="0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ko-KR" i="1" dirty="0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altLang="ko-KR" dirty="0">
                    <a:latin typeface="+mn-ea"/>
                  </a:rPr>
                  <a:t>) : </a:t>
                </a:r>
                <a:r>
                  <a:rPr lang="ko-KR" altLang="en-US" dirty="0">
                    <a:latin typeface="+mn-ea"/>
                  </a:rPr>
                  <a:t>에이전트가 받는 피드백</a:t>
                </a:r>
                <a:r>
                  <a:rPr lang="en-US" altLang="ko-KR" dirty="0">
                    <a:latin typeface="+mn-ea"/>
                  </a:rPr>
                  <a:t>(</a:t>
                </a:r>
                <a:r>
                  <a:rPr lang="ko-KR" altLang="en-US" dirty="0">
                    <a:latin typeface="+mn-ea"/>
                  </a:rPr>
                  <a:t>점수</a:t>
                </a:r>
                <a:r>
                  <a:rPr lang="en-US" altLang="ko-KR" dirty="0">
                    <a:latin typeface="+mn-ea"/>
                  </a:rPr>
                  <a:t>)</a:t>
                </a:r>
                <a:endParaRPr lang="ko-KR" altLang="en-US" dirty="0">
                  <a:latin typeface="+mn-ea"/>
                </a:endParaRPr>
              </a:p>
            </p:txBody>
          </p:sp>
        </mc:Choice>
        <mc:Fallback xmlns="">
          <p:sp>
            <p:nvSpPr>
              <p:cNvPr id="6" name="텍스트 개체 틀 5">
                <a:extLst>
                  <a:ext uri="{FF2B5EF4-FFF2-40B4-BE49-F238E27FC236}">
                    <a16:creationId xmlns:a16="http://schemas.microsoft.com/office/drawing/2014/main" id="{30D24920-72AD-90E4-E6F7-3DD92ACAC19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1"/>
              </p:nvPr>
            </p:nvSpPr>
            <p:spPr>
              <a:xfrm>
                <a:off x="362309" y="922626"/>
                <a:ext cx="9270641" cy="2359441"/>
              </a:xfrm>
              <a:blipFill>
                <a:blip r:embed="rId3"/>
                <a:stretch>
                  <a:fillRect l="-26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제목 3">
            <a:extLst>
              <a:ext uri="{FF2B5EF4-FFF2-40B4-BE49-F238E27FC236}">
                <a16:creationId xmlns:a16="http://schemas.microsoft.com/office/drawing/2014/main" id="{5E8B740A-15F3-46E3-ED20-18B60ED525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Ⅰ-1. </a:t>
            </a:r>
            <a:r>
              <a:rPr lang="ko-KR" altLang="en-US" dirty="0"/>
              <a:t>강화학습 개요</a:t>
            </a:r>
            <a:r>
              <a:rPr lang="en-US" altLang="ko-KR" dirty="0"/>
              <a:t> (3/3)</a:t>
            </a:r>
            <a:endParaRPr lang="ko-KR" altLang="en-US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B5F5FD83-4BED-9A3E-E307-E1EE8DB1960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 dirty="0"/>
              <a:t>Ⅰ </a:t>
            </a:r>
            <a:r>
              <a:rPr lang="ko-KR" altLang="en-US" dirty="0"/>
              <a:t>강화학습 기초</a:t>
            </a: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B1478C8E-5E31-CF9E-D699-D43A48B2CC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87051" y="3575934"/>
            <a:ext cx="5668556" cy="19191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30733B18-2CC4-35A2-2CA3-5D206006C7CF}"/>
              </a:ext>
            </a:extLst>
          </p:cNvPr>
          <p:cNvSpPr txBox="1"/>
          <p:nvPr/>
        </p:nvSpPr>
        <p:spPr>
          <a:xfrm>
            <a:off x="7996252" y="3684254"/>
            <a:ext cx="1521570" cy="144161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altLang="ko-KR" sz="1200" dirty="0">
                <a:latin typeface="+mn-ea"/>
                <a:ea typeface="+mn-ea"/>
              </a:rPr>
              <a:t>[</a:t>
            </a:r>
            <a:r>
              <a:rPr lang="ko-KR" altLang="en-US" sz="1200" dirty="0">
                <a:latin typeface="+mn-ea"/>
                <a:ea typeface="+mn-ea"/>
              </a:rPr>
              <a:t>스키너 상자 예시</a:t>
            </a:r>
            <a:r>
              <a:rPr lang="en-US" altLang="ko-KR" sz="1200" dirty="0">
                <a:latin typeface="+mn-ea"/>
                <a:ea typeface="+mn-ea"/>
              </a:rPr>
              <a:t>]</a:t>
            </a:r>
          </a:p>
          <a:p>
            <a:pPr algn="l">
              <a:lnSpc>
                <a:spcPct val="150000"/>
              </a:lnSpc>
            </a:pPr>
            <a:r>
              <a:rPr lang="en-US" altLang="ko-KR" sz="1200" b="0" dirty="0">
                <a:latin typeface="+mn-ea"/>
                <a:ea typeface="+mn-ea"/>
              </a:rPr>
              <a:t>- </a:t>
            </a:r>
            <a:r>
              <a:rPr lang="ko-KR" altLang="en-US" sz="1200" b="0" dirty="0">
                <a:latin typeface="+mn-ea"/>
                <a:ea typeface="+mn-ea"/>
              </a:rPr>
              <a:t>환경 </a:t>
            </a:r>
            <a:r>
              <a:rPr lang="en-US" altLang="ko-KR" sz="1200" b="0" dirty="0">
                <a:latin typeface="+mn-ea"/>
                <a:ea typeface="+mn-ea"/>
              </a:rPr>
              <a:t>: </a:t>
            </a:r>
            <a:r>
              <a:rPr lang="ko-KR" altLang="en-US" sz="1200" b="0" dirty="0">
                <a:latin typeface="+mn-ea"/>
                <a:ea typeface="+mn-ea"/>
              </a:rPr>
              <a:t>상자</a:t>
            </a:r>
            <a:endParaRPr lang="en-US" altLang="ko-KR" sz="1200" b="0" dirty="0">
              <a:latin typeface="+mn-ea"/>
              <a:ea typeface="+mn-ea"/>
            </a:endParaRPr>
          </a:p>
          <a:p>
            <a:pPr algn="l">
              <a:lnSpc>
                <a:spcPct val="150000"/>
              </a:lnSpc>
            </a:pPr>
            <a:r>
              <a:rPr lang="en-US" altLang="ko-KR" sz="1200" b="0" dirty="0">
                <a:latin typeface="+mn-ea"/>
                <a:ea typeface="+mn-ea"/>
              </a:rPr>
              <a:t>- agent</a:t>
            </a:r>
            <a:r>
              <a:rPr lang="ko-KR" altLang="en-US" sz="1200" b="0" dirty="0">
                <a:latin typeface="+mn-ea"/>
                <a:ea typeface="+mn-ea"/>
              </a:rPr>
              <a:t> </a:t>
            </a:r>
            <a:r>
              <a:rPr lang="en-US" altLang="ko-KR" sz="1200" b="0" dirty="0">
                <a:latin typeface="+mn-ea"/>
                <a:ea typeface="+mn-ea"/>
              </a:rPr>
              <a:t>:</a:t>
            </a:r>
            <a:r>
              <a:rPr lang="ko-KR" altLang="en-US" sz="1200" b="0" dirty="0">
                <a:latin typeface="+mn-ea"/>
                <a:ea typeface="+mn-ea"/>
              </a:rPr>
              <a:t> 쥐</a:t>
            </a:r>
            <a:endParaRPr lang="en-US" altLang="ko-KR" sz="1200" b="0" dirty="0">
              <a:latin typeface="+mn-ea"/>
              <a:ea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1200" b="0" dirty="0">
                <a:latin typeface="+mn-ea"/>
              </a:rPr>
              <a:t>- </a:t>
            </a:r>
            <a:r>
              <a:rPr lang="ko-KR" altLang="en-US" sz="1200" b="0" dirty="0">
                <a:latin typeface="+mn-ea"/>
                <a:ea typeface="+mn-ea"/>
              </a:rPr>
              <a:t>행동 </a:t>
            </a:r>
            <a:r>
              <a:rPr lang="en-US" altLang="ko-KR" sz="1200" b="0" dirty="0">
                <a:latin typeface="+mn-ea"/>
                <a:ea typeface="+mn-ea"/>
              </a:rPr>
              <a:t>: </a:t>
            </a:r>
            <a:r>
              <a:rPr lang="ko-KR" altLang="en-US" sz="1200" b="0" dirty="0" err="1">
                <a:latin typeface="+mn-ea"/>
                <a:ea typeface="+mn-ea"/>
              </a:rPr>
              <a:t>버튼누르기</a:t>
            </a:r>
            <a:endParaRPr lang="en-US" altLang="ko-KR" sz="1200" b="0" dirty="0">
              <a:latin typeface="+mn-ea"/>
              <a:ea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1200" b="0" dirty="0">
                <a:latin typeface="+mn-ea"/>
              </a:rPr>
              <a:t>- </a:t>
            </a:r>
            <a:r>
              <a:rPr lang="ko-KR" altLang="en-US" sz="1200" b="0" dirty="0">
                <a:latin typeface="+mn-ea"/>
                <a:ea typeface="+mn-ea"/>
              </a:rPr>
              <a:t>보상 </a:t>
            </a:r>
            <a:r>
              <a:rPr lang="en-US" altLang="ko-KR" sz="1200" b="0" dirty="0">
                <a:latin typeface="+mn-ea"/>
                <a:ea typeface="+mn-ea"/>
              </a:rPr>
              <a:t>: </a:t>
            </a:r>
            <a:r>
              <a:rPr lang="ko-KR" altLang="en-US" sz="1200" b="0" dirty="0">
                <a:latin typeface="+mn-ea"/>
                <a:ea typeface="+mn-ea"/>
              </a:rPr>
              <a:t>먹이</a:t>
            </a:r>
          </a:p>
        </p:txBody>
      </p:sp>
    </p:spTree>
    <p:extLst>
      <p:ext uri="{BB962C8B-B14F-4D97-AF65-F5344CB8AC3E}">
        <p14:creationId xmlns:p14="http://schemas.microsoft.com/office/powerpoint/2010/main" val="24943924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450520-3DB3-2F26-74D9-0C3780B573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A949B9C-2D71-A8C0-7CA8-B2D972E3015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Markov Decision Process (</a:t>
            </a:r>
            <a:r>
              <a:rPr lang="ko-KR" altLang="en-US" dirty="0" err="1"/>
              <a:t>마르코프</a:t>
            </a:r>
            <a:r>
              <a:rPr lang="ko-KR" altLang="en-US" dirty="0"/>
              <a:t> 의사결정 과정</a:t>
            </a:r>
            <a:r>
              <a:rPr lang="en-US" altLang="ko-KR" dirty="0"/>
              <a:t>)</a:t>
            </a:r>
            <a:endParaRPr lang="ko-KR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텍스트 개체 틀 5">
                <a:extLst>
                  <a:ext uri="{FF2B5EF4-FFF2-40B4-BE49-F238E27FC236}">
                    <a16:creationId xmlns:a16="http://schemas.microsoft.com/office/drawing/2014/main" id="{D3277A26-7CE2-C634-3F6D-D1FB564C9B40}"/>
                  </a:ext>
                </a:extLst>
              </p:cNvPr>
              <p:cNvSpPr>
                <a:spLocks noGrp="1"/>
              </p:cNvSpPr>
              <p:nvPr>
                <p:ph type="body" sz="quarter" idx="11"/>
              </p:nvPr>
            </p:nvSpPr>
            <p:spPr>
              <a:xfrm>
                <a:off x="362309" y="904870"/>
                <a:ext cx="9270641" cy="2993500"/>
              </a:xfrm>
            </p:spPr>
            <p:txBody>
              <a:bodyPr/>
              <a:lstStyle/>
              <a:p>
                <a:pPr marL="285750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en-US" altLang="ko-KR" dirty="0">
                    <a:latin typeface="+mn-ea"/>
                  </a:rPr>
                  <a:t>MDP : </a:t>
                </a:r>
                <a:r>
                  <a:rPr lang="ko-KR" altLang="en-US" dirty="0">
                    <a:latin typeface="+mn-ea"/>
                  </a:rPr>
                  <a:t>확률변수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 dirty="0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altLang="ko-KR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ko-KR" i="1" dirty="0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ko-KR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 dirty="0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altLang="ko-KR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ko-KR" i="1" dirty="0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ko-KR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 dirty="0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ko-KR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ko-KR" i="1" dirty="0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ko-KR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 dirty="0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altLang="ko-KR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ko-KR" i="1" dirty="0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ko-KR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 dirty="0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altLang="ko-KR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ko-KR" i="1" dirty="0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ko-KR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 dirty="0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ko-KR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ko-KR" i="1" dirty="0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ko-KR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 dirty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altLang="ko-KR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ko-KR" i="1" dirty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ko-KR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 dirty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altLang="ko-KR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ko-KR" i="1" dirty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ko-KR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 dirty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ko-KR" b="0" i="1" dirty="0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altLang="ko-KR" i="1" dirty="0" smtClean="0">
                        <a:latin typeface="Cambria Math" panose="02040503050406030204" pitchFamily="18" charset="0"/>
                      </a:rPr>
                      <m:t>⋯</m:t>
                    </m:r>
                    <m:r>
                      <a:rPr lang="en-US" altLang="ko-KR" b="0" i="1" dirty="0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altLang="ko-KR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dirty="0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altLang="ko-KR" b="0" i="1" dirty="0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altLang="ko-KR" b="0" i="1" dirty="0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ko-KR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dirty="0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altLang="ko-KR" b="0" i="1" dirty="0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altLang="ko-KR" b="0" i="1" dirty="0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ko-KR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dirty="0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ko-KR" b="0" i="1" dirty="0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ko-KR" b="0" i="1" dirty="0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altLang="ko-KR" b="0" i="1" dirty="0" smtClean="0">
                        <a:latin typeface="Cambria Math" panose="02040503050406030204" pitchFamily="18" charset="0"/>
                      </a:rPr>
                      <m:t>,⋯</m:t>
                    </m:r>
                  </m:oMath>
                </a14:m>
                <a:r>
                  <a:rPr lang="en-US" altLang="ko-KR" dirty="0">
                    <a:latin typeface="+mn-ea"/>
                  </a:rPr>
                  <a:t> </a:t>
                </a:r>
                <a:r>
                  <a:rPr lang="ko-KR" altLang="en-US" dirty="0">
                    <a:latin typeface="+mn-ea"/>
                  </a:rPr>
                  <a:t>들의 나열</a:t>
                </a:r>
                <a:endParaRPr lang="en-US" altLang="ko-KR" dirty="0">
                  <a:latin typeface="+mn-ea"/>
                </a:endParaRPr>
              </a:p>
              <a:p>
                <a:pPr marL="180000" lvl="1" indent="1800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ko-KR" sz="1400" dirty="0">
                    <a:latin typeface="+mn-ea"/>
                  </a:rPr>
                  <a:t>trajectory(</a:t>
                </a:r>
                <a:r>
                  <a:rPr lang="ko-KR" altLang="en-US" sz="1400" dirty="0">
                    <a:latin typeface="+mn-ea"/>
                  </a:rPr>
                  <a:t>궤적</a:t>
                </a:r>
                <a:r>
                  <a:rPr lang="en-US" altLang="ko-KR" sz="1400" dirty="0">
                    <a:latin typeface="+mn-ea"/>
                  </a:rPr>
                  <a:t>) : </a:t>
                </a:r>
                <a:r>
                  <a:rPr lang="ko-KR" altLang="en-US" sz="1400" dirty="0">
                    <a:latin typeface="+mn-ea"/>
                  </a:rPr>
                  <a:t>각 확률변수가 특정 값들에 지정된 상태</a:t>
                </a:r>
                <a:endParaRPr lang="en-US" altLang="ko-KR" sz="1400" dirty="0">
                  <a:latin typeface="+mn-ea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ko-KR" dirty="0"/>
                  <a:t>      </a:t>
                </a:r>
                <a14:m>
                  <m:oMath xmlns:m="http://schemas.openxmlformats.org/officeDocument/2006/math">
                    <m:r>
                      <a:rPr lang="en-US" altLang="ko-KR" b="0" i="1" dirty="0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ko-KR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dirty="0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altLang="ko-KR" b="0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ko-KR" b="0" i="1" dirty="0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ko-KR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dirty="0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ko-KR" b="0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ko-KR" b="0" i="1" dirty="0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ko-KR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dirty="0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ko-KR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ko-KR" b="0" i="1" dirty="0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ko-KR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dirty="0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altLang="ko-KR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ko-KR" b="0" i="1" dirty="0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ko-KR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dirty="0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ko-KR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ko-KR" b="0" i="1" dirty="0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ko-KR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dirty="0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ko-KR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ko-KR" b="0" i="1" dirty="0" smtClean="0">
                        <a:latin typeface="Cambria Math" panose="02040503050406030204" pitchFamily="18" charset="0"/>
                      </a:rPr>
                      <m:t>,⋯)</m:t>
                    </m:r>
                  </m:oMath>
                </a14:m>
                <a:endParaRPr lang="en-US" altLang="ko-KR" dirty="0">
                  <a:latin typeface="+mn-ea"/>
                </a:endParaRPr>
              </a:p>
              <a:p>
                <a:pPr marL="180000" lvl="1" indent="1800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400" dirty="0">
                    <a:latin typeface="+mn-ea"/>
                  </a:rPr>
                  <a:t>에피소드</a:t>
                </a:r>
                <a:r>
                  <a:rPr lang="en-US" altLang="ko-KR" sz="1400" dirty="0">
                    <a:latin typeface="+mn-ea"/>
                  </a:rPr>
                  <a:t>(episode) : </a:t>
                </a:r>
                <a:r>
                  <a:rPr lang="ko-KR" altLang="en-US" sz="1400" dirty="0">
                    <a:latin typeface="+mn-ea"/>
                  </a:rPr>
                  <a:t>종료상태</a:t>
                </a:r>
                <a:r>
                  <a:rPr lang="en-US" altLang="ko-KR" sz="1400" dirty="0">
                    <a:latin typeface="+mn-ea"/>
                  </a:rPr>
                  <a:t>(terminal</a:t>
                </a:r>
                <a:r>
                  <a:rPr lang="ko-KR" altLang="en-US" sz="1400" dirty="0">
                    <a:latin typeface="+mn-ea"/>
                  </a:rPr>
                  <a:t> </a:t>
                </a:r>
                <a:r>
                  <a:rPr lang="en-US" altLang="ko-KR" sz="1400" dirty="0">
                    <a:latin typeface="+mn-ea"/>
                  </a:rPr>
                  <a:t>state)</a:t>
                </a:r>
                <a:r>
                  <a:rPr lang="ko-KR" altLang="en-US" sz="1400" dirty="0">
                    <a:latin typeface="+mn-ea"/>
                  </a:rPr>
                  <a:t>에 도달하여 끝나는 </a:t>
                </a:r>
                <a:r>
                  <a:rPr lang="en-US" altLang="ko-KR" sz="1400" dirty="0">
                    <a:latin typeface="+mn-ea"/>
                  </a:rPr>
                  <a:t>trajectory</a:t>
                </a:r>
              </a:p>
              <a:p>
                <a:pPr marL="180000" lvl="1" indent="0">
                  <a:lnSpc>
                    <a:spcPct val="150000"/>
                  </a:lnSpc>
                  <a:buNone/>
                </a:pPr>
                <a:r>
                  <a:rPr lang="en-US" altLang="ko-KR" sz="1400" b="0" dirty="0"/>
                  <a:t>   </a:t>
                </a:r>
                <a14:m>
                  <m:oMath xmlns:m="http://schemas.openxmlformats.org/officeDocument/2006/math">
                    <m:r>
                      <a:rPr lang="en-US" altLang="ko-KR" sz="1400" b="0" i="1" dirty="0" smtClean="0">
                        <a:latin typeface="Cambria Math" panose="02040503050406030204" pitchFamily="18" charset="0"/>
                      </a:rPr>
                      <m:t> (</m:t>
                    </m:r>
                    <m:sSub>
                      <m:sSubPr>
                        <m:ctrlPr>
                          <a:rPr lang="en-US" altLang="ko-KR" sz="1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400" i="1" dirty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altLang="ko-KR" sz="1400" i="1" dirty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ko-KR" sz="1400" i="1" dirty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ko-KR" sz="1400" b="0" i="1" dirty="0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altLang="ko-KR" sz="14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400" i="1" dirty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ko-KR" sz="1400" b="0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ko-KR" sz="1400" i="1" dirty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ko-KR" sz="1400" b="0" i="1" dirty="0" smtClean="0">
                        <a:latin typeface="Cambria Math" panose="02040503050406030204" pitchFamily="18" charset="0"/>
                      </a:rPr>
                      <m:t>  </m:t>
                    </m:r>
                    <m:sSub>
                      <m:sSubPr>
                        <m:ctrlPr>
                          <a:rPr lang="en-US" altLang="ko-KR" sz="1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400" i="1" dirty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ko-KR" sz="1400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ko-KR" sz="1400" b="0" i="1" dirty="0" smtClean="0">
                        <a:latin typeface="Cambria Math" panose="02040503050406030204" pitchFamily="18" charset="0"/>
                      </a:rPr>
                      <m:t>,  </m:t>
                    </m:r>
                    <m:sSub>
                      <m:sSubPr>
                        <m:ctrlPr>
                          <a:rPr lang="en-US" altLang="ko-KR" sz="1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400" i="1" dirty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altLang="ko-KR" sz="1400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ko-KR" sz="1400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ko-KR" sz="1400" b="0" i="1" dirty="0" smtClean="0">
                        <a:latin typeface="Cambria Math" panose="02040503050406030204" pitchFamily="18" charset="0"/>
                      </a:rPr>
                      <m:t>,  </m:t>
                    </m:r>
                    <m:sSub>
                      <m:sSubPr>
                        <m:ctrlPr>
                          <a:rPr lang="en-US" altLang="ko-KR" sz="1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400" i="1" dirty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ko-KR" sz="1400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ko-KR" sz="1400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ko-KR" sz="1400" b="0" i="1" dirty="0" smtClean="0">
                        <a:latin typeface="Cambria Math" panose="02040503050406030204" pitchFamily="18" charset="0"/>
                      </a:rPr>
                      <m:t>,  </m:t>
                    </m:r>
                    <m:sSub>
                      <m:sSubPr>
                        <m:ctrlPr>
                          <a:rPr lang="en-US" altLang="ko-KR" sz="1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400" i="1" dirty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ko-KR" sz="1400" i="1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ko-KR" sz="1400" b="0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ko-KR" sz="1400" i="1" dirty="0">
                        <a:latin typeface="Cambria Math" panose="02040503050406030204" pitchFamily="18" charset="0"/>
                      </a:rPr>
                      <m:t>⋯</m:t>
                    </m:r>
                    <m:r>
                      <a:rPr lang="en-US" altLang="ko-KR" sz="1400" b="0" i="1" dirty="0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ko-KR" sz="1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400" i="1" dirty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sz="1400" b="0" i="1" dirty="0" smtClean="0">
                            <a:latin typeface="Cambria Math" panose="02040503050406030204" pitchFamily="18" charset="0"/>
                          </a:rPr>
                          <m:t>T</m:t>
                        </m:r>
                        <m:r>
                          <a:rPr lang="en-US" altLang="ko-KR" sz="1400" b="0" i="1" dirty="0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US" altLang="ko-KR" sz="1400" i="1" dirty="0">
                        <a:latin typeface="Cambria Math" panose="02040503050406030204" pitchFamily="18" charset="0"/>
                      </a:rPr>
                      <m:t>,  </m:t>
                    </m:r>
                    <m:sSub>
                      <m:sSubPr>
                        <m:ctrlPr>
                          <a:rPr lang="en-US" altLang="ko-KR" sz="1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400" i="1" dirty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sz="1400" b="0" i="1" dirty="0" smtClean="0">
                            <a:latin typeface="Cambria Math" panose="02040503050406030204" pitchFamily="18" charset="0"/>
                          </a:rPr>
                          <m:t>T</m:t>
                        </m:r>
                        <m:r>
                          <a:rPr lang="en-US" altLang="ko-KR" sz="1400" b="0" i="1" dirty="0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US" altLang="ko-KR" sz="1400" i="1" dirty="0">
                        <a:latin typeface="Cambria Math" panose="02040503050406030204" pitchFamily="18" charset="0"/>
                      </a:rPr>
                      <m:t>,  </m:t>
                    </m:r>
                    <m:sSub>
                      <m:sSubPr>
                        <m:ctrlPr>
                          <a:rPr lang="en-US" altLang="ko-KR" sz="1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400" i="1" dirty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sz="1400" b="0" i="1" dirty="0" smtClean="0">
                            <a:latin typeface="Cambria Math" panose="02040503050406030204" pitchFamily="18" charset="0"/>
                          </a:rPr>
                          <m:t>T</m:t>
                        </m:r>
                      </m:sub>
                    </m:sSub>
                  </m:oMath>
                </a14:m>
                <a:r>
                  <a:rPr lang="en-US" altLang="ko-KR" sz="1400" dirty="0">
                    <a:latin typeface="+mn-ea"/>
                  </a:rPr>
                  <a:t>)</a:t>
                </a:r>
              </a:p>
              <a:p>
                <a:pPr marL="285750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en-US" altLang="ko-KR" dirty="0">
                    <a:latin typeface="+mn-ea"/>
                  </a:rPr>
                  <a:t>Markov property (</a:t>
                </a:r>
                <a:r>
                  <a:rPr lang="ko-KR" altLang="en-US" dirty="0" err="1">
                    <a:latin typeface="+mn-ea"/>
                  </a:rPr>
                  <a:t>마코프</a:t>
                </a:r>
                <a:r>
                  <a:rPr lang="ko-KR" altLang="en-US" dirty="0">
                    <a:latin typeface="+mn-ea"/>
                  </a:rPr>
                  <a:t> 성질</a:t>
                </a:r>
                <a:r>
                  <a:rPr lang="en-US" altLang="ko-KR" dirty="0">
                    <a:latin typeface="+mn-ea"/>
                  </a:rPr>
                  <a:t>)</a:t>
                </a:r>
              </a:p>
              <a:p>
                <a:pPr marL="180000" lvl="1" indent="1800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400" dirty="0">
                    <a:latin typeface="+mn-ea"/>
                  </a:rPr>
                  <a:t>현재의 상태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4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400" i="1" dirty="0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altLang="ko-KR" sz="1400" i="1" dirty="0" err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ko-KR" altLang="en-US" sz="1400" dirty="0">
                    <a:latin typeface="+mn-ea"/>
                  </a:rPr>
                  <a:t>와 보상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4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400" i="1" dirty="0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ko-KR" sz="1400" i="1" dirty="0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ko-KR" altLang="en-US" sz="1400" dirty="0">
                    <a:latin typeface="+mn-ea"/>
                  </a:rPr>
                  <a:t>가 바로 이전의 상태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4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400" i="1" dirty="0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altLang="ko-KR" sz="1400" i="1" dirty="0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ko-KR" sz="1400" i="1" dirty="0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</m:oMath>
                </a14:m>
                <a:r>
                  <a:rPr lang="ko-KR" altLang="en-US" sz="1400" dirty="0">
                    <a:latin typeface="+mn-ea"/>
                  </a:rPr>
                  <a:t>와 행동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4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400" i="1" dirty="0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altLang="ko-KR" sz="1400" i="1" dirty="0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ko-KR" sz="1400" i="1" dirty="0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</m:oMath>
                </a14:m>
                <a:r>
                  <a:rPr lang="ko-KR" altLang="en-US" sz="1400" dirty="0">
                    <a:latin typeface="+mn-ea"/>
                  </a:rPr>
                  <a:t>에만 의존함을 가정</a:t>
                </a:r>
                <a:endParaRPr lang="en-US" altLang="ko-KR" sz="1400" dirty="0">
                  <a:latin typeface="+mn-ea"/>
                </a:endParaRPr>
              </a:p>
              <a:p>
                <a:pPr marL="180000" lvl="1" indent="1800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altLang="ko-KR" sz="1400" i="1" dirty="0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begChr m:val="{"/>
                        <m:endChr m:val="}"/>
                        <m:ctrlPr>
                          <a:rPr lang="en-US" altLang="ko-KR" sz="14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1400" i="1" dirty="0" err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400" i="1" dirty="0" err="1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altLang="ko-KR" sz="1400" i="1" dirty="0" err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altLang="ko-KR" sz="1400" i="1" dirty="0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altLang="ko-KR" sz="1400" i="1" dirty="0" err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400" i="1" dirty="0" err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altLang="ko-KR" sz="1400" i="1" dirty="0" err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altLang="ko-KR" sz="1400" i="1" dirty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ko-KR" sz="1400" i="1" dirty="0" err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400" i="1" dirty="0" err="1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altLang="ko-KR" sz="1400" i="1" dirty="0" err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altLang="ko-KR" sz="1400" i="1" dirty="0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altLang="ko-KR" sz="1400" i="1" dirty="0" err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400" i="1" dirty="0" err="1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altLang="ko-KR" sz="1400" i="1" dirty="0" err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  <m:e>
                        <m:r>
                          <a:rPr lang="en-US" altLang="ko-KR" sz="1400" i="1" dirty="0">
                            <a:latin typeface="Cambria Math" panose="02040503050406030204" pitchFamily="18" charset="0"/>
                          </a:rPr>
                          <m:t>⋯,</m:t>
                        </m:r>
                        <m:sSub>
                          <m:sSubPr>
                            <m:ctrlPr>
                              <a:rPr lang="en-US" altLang="ko-KR" sz="14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400" i="1" dirty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altLang="ko-KR" sz="1400" i="1" dirty="0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altLang="ko-KR" sz="1400" i="1" dirty="0">
                                <a:latin typeface="Cambria Math" panose="02040503050406030204" pitchFamily="18" charset="0"/>
                              </a:rPr>
                              <m:t>−2</m:t>
                            </m:r>
                          </m:sub>
                        </m:sSub>
                        <m:r>
                          <a:rPr lang="en-US" altLang="ko-KR" sz="1400" i="1" dirty="0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altLang="ko-KR" sz="14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400" i="1" dirty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altLang="ko-KR" sz="1400" i="1" dirty="0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altLang="ko-KR" sz="1400" i="1" dirty="0">
                                <a:latin typeface="Cambria Math" panose="02040503050406030204" pitchFamily="18" charset="0"/>
                              </a:rPr>
                              <m:t>−2</m:t>
                            </m:r>
                          </m:sub>
                        </m:sSub>
                        <m:r>
                          <a:rPr lang="en-US" altLang="ko-KR" sz="1400" i="1" dirty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ko-KR" sz="14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400" i="1" dirty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altLang="ko-KR" sz="1400" i="1" dirty="0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altLang="ko-KR" sz="1400" i="1" dirty="0">
                                <a:latin typeface="Cambria Math" panose="02040503050406030204" pitchFamily="18" charset="0"/>
                              </a:rPr>
                              <m:t>−2</m:t>
                            </m:r>
                          </m:sub>
                        </m:sSub>
                        <m:r>
                          <a:rPr lang="en-US" altLang="ko-KR" sz="1400" i="1" dirty="0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altLang="ko-KR" sz="14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400" i="1" dirty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ko-KR" sz="1400" i="1" dirty="0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altLang="ko-KR" sz="1400" i="1" dirty="0">
                                <a:latin typeface="Cambria Math" panose="02040503050406030204" pitchFamily="18" charset="0"/>
                              </a:rPr>
                              <m:t>−2</m:t>
                            </m:r>
                          </m:sub>
                        </m:sSub>
                        <m:r>
                          <a:rPr lang="en-US" altLang="ko-KR" sz="1400" i="1" dirty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ko-KR" sz="14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400" i="1" dirty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altLang="ko-KR" sz="1400" i="1" dirty="0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altLang="ko-KR" sz="1400" i="1" dirty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  <m:r>
                          <a:rPr lang="en-US" altLang="ko-KR" sz="1400" i="1" dirty="0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altLang="ko-KR" sz="14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400" i="1" dirty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altLang="ko-KR" sz="1400" i="1" dirty="0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altLang="ko-KR" sz="1400" i="1" dirty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  <m:r>
                          <a:rPr lang="en-US" altLang="ko-KR" sz="1400" i="1" dirty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ko-KR" sz="1400" i="1" dirty="0" err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400" i="1" dirty="0" err="1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altLang="ko-KR" sz="1400" i="1" dirty="0" err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altLang="ko-KR" sz="1400" i="1" dirty="0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altLang="ko-KR" sz="1400" i="1" dirty="0" err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400" i="1" dirty="0" err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altLang="ko-KR" sz="1400" i="1" dirty="0" err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altLang="ko-KR" sz="1400" i="1" dirty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ko-KR" sz="1400" i="1" dirty="0" err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400" i="1" dirty="0" err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altLang="ko-KR" sz="1400" i="1" dirty="0" err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altLang="ko-KR" sz="1400" i="1" dirty="0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altLang="ko-KR" sz="1400" i="1" dirty="0" err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400" i="1" dirty="0" err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ko-KR" sz="1400" i="1" dirty="0" err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d>
                    <m:r>
                      <a:rPr lang="en-US" altLang="ko-KR" sz="140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fr-FR" altLang="ko-KR" sz="1400" i="1" dirty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begChr m:val="{"/>
                        <m:endChr m:val="}"/>
                        <m:ctrlPr>
                          <a:rPr lang="fr-FR" altLang="ko-KR" sz="14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fr-FR" altLang="ko-KR" sz="14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altLang="ko-KR" sz="1400" i="1" dirty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fr-FR" altLang="ko-KR" sz="1400" i="1" dirty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fr-FR" altLang="ko-KR" sz="1400" i="1" dirty="0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fr-FR" altLang="ko-KR" sz="14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altLang="ko-KR" sz="1400" i="1" dirty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fr-FR" altLang="ko-KR" sz="1400" i="1" dirty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fr-FR" altLang="ko-KR" sz="1400" i="1" dirty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fr-FR" altLang="ko-KR" sz="14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altLang="ko-KR" sz="1400" i="1" dirty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fr-FR" altLang="ko-KR" sz="1400" i="1" dirty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fr-FR" altLang="ko-KR" sz="1400" i="1" dirty="0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fr-FR" altLang="ko-KR" sz="14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altLang="ko-KR" sz="1400" i="1" dirty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fr-FR" altLang="ko-KR" sz="1400" i="1" dirty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  <m:e>
                        <m:sSub>
                          <m:sSubPr>
                            <m:ctrlPr>
                              <a:rPr lang="fr-FR" altLang="ko-KR" sz="14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altLang="ko-KR" sz="1400" i="1" dirty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fr-FR" altLang="ko-KR" sz="1400" i="1" dirty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fr-FR" altLang="ko-KR" sz="1400" i="1" dirty="0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fr-FR" altLang="ko-KR" sz="14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altLang="ko-KR" sz="1400" i="1" dirty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fr-FR" altLang="ko-KR" sz="1400" i="1" dirty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fr-FR" altLang="ko-KR" sz="1400" i="1" dirty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fr-FR" altLang="ko-KR" sz="14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altLang="ko-KR" sz="1400" i="1" dirty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fr-FR" altLang="ko-KR" sz="1400" i="1" dirty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fr-FR" altLang="ko-KR" sz="1400" i="1" dirty="0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fr-FR" altLang="ko-KR" sz="14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altLang="ko-KR" sz="1400" i="1" dirty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fr-FR" altLang="ko-KR" sz="1400" i="1" dirty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d>
                  </m:oMath>
                </a14:m>
                <a:endParaRPr lang="fr-FR" altLang="ko-KR" sz="1400" dirty="0"/>
              </a:p>
            </p:txBody>
          </p:sp>
        </mc:Choice>
        <mc:Fallback>
          <p:sp>
            <p:nvSpPr>
              <p:cNvPr id="6" name="텍스트 개체 틀 5">
                <a:extLst>
                  <a:ext uri="{FF2B5EF4-FFF2-40B4-BE49-F238E27FC236}">
                    <a16:creationId xmlns:a16="http://schemas.microsoft.com/office/drawing/2014/main" id="{D3277A26-7CE2-C634-3F6D-D1FB564C9B4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1"/>
              </p:nvPr>
            </p:nvSpPr>
            <p:spPr>
              <a:xfrm>
                <a:off x="362309" y="904870"/>
                <a:ext cx="9270641" cy="2993500"/>
              </a:xfrm>
              <a:blipFill>
                <a:blip r:embed="rId3"/>
                <a:stretch>
                  <a:fillRect l="-26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제목 3">
            <a:extLst>
              <a:ext uri="{FF2B5EF4-FFF2-40B4-BE49-F238E27FC236}">
                <a16:creationId xmlns:a16="http://schemas.microsoft.com/office/drawing/2014/main" id="{509BE7F0-C467-9991-6EFA-97B0CEE6D3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Ⅰ-2. Markov Decision Process (1/5)</a:t>
            </a:r>
            <a:endParaRPr lang="ko-KR" altLang="en-US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D0D0F9AE-229B-3CAB-181C-050D23D1527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 dirty="0"/>
              <a:t>Ⅰ </a:t>
            </a:r>
            <a:r>
              <a:rPr lang="ko-KR" altLang="en-US" dirty="0"/>
              <a:t>강화학습 기초</a:t>
            </a:r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F9E0A89B-0A7F-AAD5-4099-8691E5435A0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60056937"/>
              </p:ext>
            </p:extLst>
          </p:nvPr>
        </p:nvGraphicFramePr>
        <p:xfrm>
          <a:off x="381118" y="3944232"/>
          <a:ext cx="3436280" cy="184400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59070">
                  <a:extLst>
                    <a:ext uri="{9D8B030D-6E8A-4147-A177-3AD203B41FA5}">
                      <a16:colId xmlns:a16="http://schemas.microsoft.com/office/drawing/2014/main" val="3283410258"/>
                    </a:ext>
                  </a:extLst>
                </a:gridCol>
                <a:gridCol w="859070">
                  <a:extLst>
                    <a:ext uri="{9D8B030D-6E8A-4147-A177-3AD203B41FA5}">
                      <a16:colId xmlns:a16="http://schemas.microsoft.com/office/drawing/2014/main" val="591898217"/>
                    </a:ext>
                  </a:extLst>
                </a:gridCol>
                <a:gridCol w="859070">
                  <a:extLst>
                    <a:ext uri="{9D8B030D-6E8A-4147-A177-3AD203B41FA5}">
                      <a16:colId xmlns:a16="http://schemas.microsoft.com/office/drawing/2014/main" val="1445315171"/>
                    </a:ext>
                  </a:extLst>
                </a:gridCol>
                <a:gridCol w="859070">
                  <a:extLst>
                    <a:ext uri="{9D8B030D-6E8A-4147-A177-3AD203B41FA5}">
                      <a16:colId xmlns:a16="http://schemas.microsoft.com/office/drawing/2014/main" val="856673349"/>
                    </a:ext>
                  </a:extLst>
                </a:gridCol>
              </a:tblGrid>
              <a:tr h="614669"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+1(</a:t>
                      </a:r>
                      <a:r>
                        <a:rPr lang="ko-KR" altLang="en-US" sz="1400" dirty="0"/>
                        <a:t>종료</a:t>
                      </a:r>
                      <a:r>
                        <a:rPr lang="en-US" altLang="ko-KR" sz="1400" dirty="0"/>
                        <a:t>)</a:t>
                      </a:r>
                      <a:endParaRPr lang="ko-KR" alt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37638875"/>
                  </a:ext>
                </a:extLst>
              </a:tr>
              <a:tr h="614669"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-1(</a:t>
                      </a:r>
                      <a:r>
                        <a:rPr lang="ko-KR" altLang="en-US" sz="1400" dirty="0"/>
                        <a:t>종료</a:t>
                      </a:r>
                      <a:r>
                        <a:rPr lang="en-US" altLang="ko-KR" sz="1400" dirty="0"/>
                        <a:t>)</a:t>
                      </a:r>
                      <a:endParaRPr lang="ko-KR" alt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32969099"/>
                  </a:ext>
                </a:extLst>
              </a:tr>
              <a:tr h="61466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시작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26604439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F3363250-B419-0EC7-822C-18E2EC0E24C0}"/>
              </a:ext>
            </a:extLst>
          </p:cNvPr>
          <p:cNvSpPr txBox="1"/>
          <p:nvPr/>
        </p:nvSpPr>
        <p:spPr>
          <a:xfrm>
            <a:off x="656948" y="5823746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b="0" dirty="0">
                <a:latin typeface="+mn-ea"/>
                <a:ea typeface="+mn-ea"/>
              </a:rPr>
              <a:t>1</a:t>
            </a:r>
            <a:endParaRPr lang="ko-KR" altLang="en-US" b="0" dirty="0">
              <a:latin typeface="+mn-ea"/>
              <a:ea typeface="+mn-ea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81E2217-AAE9-3A03-5A81-39EBE45F204E}"/>
              </a:ext>
            </a:extLst>
          </p:cNvPr>
          <p:cNvSpPr txBox="1"/>
          <p:nvPr/>
        </p:nvSpPr>
        <p:spPr>
          <a:xfrm>
            <a:off x="1510687" y="5834101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b="0" dirty="0">
                <a:latin typeface="+mn-ea"/>
                <a:ea typeface="+mn-ea"/>
              </a:rPr>
              <a:t>2</a:t>
            </a:r>
            <a:endParaRPr lang="ko-KR" altLang="en-US" b="0" dirty="0">
              <a:latin typeface="+mn-ea"/>
              <a:ea typeface="+mn-ea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73DF2D2-D73D-28FC-8228-668A340F9118}"/>
              </a:ext>
            </a:extLst>
          </p:cNvPr>
          <p:cNvSpPr txBox="1"/>
          <p:nvPr/>
        </p:nvSpPr>
        <p:spPr>
          <a:xfrm>
            <a:off x="2377269" y="5834101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b="0" dirty="0">
                <a:latin typeface="+mn-ea"/>
                <a:ea typeface="+mn-ea"/>
              </a:rPr>
              <a:t>3</a:t>
            </a:r>
            <a:endParaRPr lang="ko-KR" altLang="en-US" b="0" dirty="0">
              <a:latin typeface="+mn-ea"/>
              <a:ea typeface="+mn-ea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9692293-AD19-C048-DE57-D2C7576D5127}"/>
              </a:ext>
            </a:extLst>
          </p:cNvPr>
          <p:cNvSpPr txBox="1"/>
          <p:nvPr/>
        </p:nvSpPr>
        <p:spPr>
          <a:xfrm>
            <a:off x="3231008" y="5844456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b="0" dirty="0">
                <a:latin typeface="+mn-ea"/>
                <a:ea typeface="+mn-ea"/>
              </a:rPr>
              <a:t>4</a:t>
            </a:r>
            <a:endParaRPr lang="ko-KR" altLang="en-US" b="0" dirty="0">
              <a:latin typeface="+mn-ea"/>
              <a:ea typeface="+mn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79CB976-D6ED-06DE-C6B5-D8C49666CEE1}"/>
              </a:ext>
            </a:extLst>
          </p:cNvPr>
          <p:cNvSpPr txBox="1"/>
          <p:nvPr/>
        </p:nvSpPr>
        <p:spPr>
          <a:xfrm>
            <a:off x="19235" y="5257054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b="0" dirty="0">
                <a:latin typeface="+mn-ea"/>
                <a:ea typeface="+mn-ea"/>
              </a:rPr>
              <a:t>1</a:t>
            </a:r>
            <a:endParaRPr lang="ko-KR" altLang="en-US" b="0" dirty="0">
              <a:latin typeface="+mn-ea"/>
              <a:ea typeface="+mn-ea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0D42DBC-325A-D0CE-80A5-449B22623521}"/>
              </a:ext>
            </a:extLst>
          </p:cNvPr>
          <p:cNvSpPr txBox="1"/>
          <p:nvPr/>
        </p:nvSpPr>
        <p:spPr>
          <a:xfrm>
            <a:off x="29609" y="4712346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b="0" dirty="0">
                <a:latin typeface="+mn-ea"/>
                <a:ea typeface="+mn-ea"/>
              </a:rPr>
              <a:t>2</a:t>
            </a:r>
            <a:endParaRPr lang="ko-KR" altLang="en-US" b="0" dirty="0">
              <a:latin typeface="+mn-ea"/>
              <a:ea typeface="+mn-ea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39E2F13-3A84-98E4-2FE4-BD30FFFACE14}"/>
              </a:ext>
            </a:extLst>
          </p:cNvPr>
          <p:cNvSpPr txBox="1"/>
          <p:nvPr/>
        </p:nvSpPr>
        <p:spPr>
          <a:xfrm>
            <a:off x="29609" y="4106794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b="0" dirty="0">
                <a:latin typeface="+mn-ea"/>
                <a:ea typeface="+mn-ea"/>
              </a:rPr>
              <a:t>3</a:t>
            </a:r>
            <a:endParaRPr lang="ko-KR" altLang="en-US" b="0" dirty="0">
              <a:latin typeface="+mn-ea"/>
              <a:ea typeface="+mn-ea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445F9D7-527C-57E6-8E09-539EC8B7967E}"/>
              </a:ext>
            </a:extLst>
          </p:cNvPr>
          <p:cNvSpPr txBox="1"/>
          <p:nvPr/>
        </p:nvSpPr>
        <p:spPr>
          <a:xfrm>
            <a:off x="1617381" y="6108660"/>
            <a:ext cx="10439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b="0" dirty="0">
                <a:latin typeface="+mn-ea"/>
                <a:ea typeface="+mn-ea"/>
              </a:rPr>
              <a:t>grid world </a:t>
            </a:r>
            <a:endParaRPr lang="ko-KR" altLang="en-US" b="0" dirty="0">
              <a:latin typeface="+mn-ea"/>
              <a:ea typeface="+mn-ea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4DD72D21-67F6-5BA4-756E-3B46B52DFF7C}"/>
                  </a:ext>
                </a:extLst>
              </p:cNvPr>
              <p:cNvSpPr txBox="1"/>
              <p:nvPr/>
            </p:nvSpPr>
            <p:spPr>
              <a:xfrm>
                <a:off x="3895229" y="4883618"/>
                <a:ext cx="3696310" cy="7386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b="0" dirty="0">
                    <a:latin typeface="+mn-ea"/>
                    <a:ea typeface="+mn-ea"/>
                  </a:rPr>
                  <a:t>※ </a:t>
                </a:r>
                <a:r>
                  <a:rPr lang="ko-KR" altLang="en-US" b="0" dirty="0">
                    <a:latin typeface="+mn-ea"/>
                    <a:ea typeface="+mn-ea"/>
                  </a:rPr>
                  <a:t>상태집합 </a:t>
                </a:r>
                <a:r>
                  <a:rPr lang="en-US" altLang="ko-KR" b="0" dirty="0">
                    <a:latin typeface="+mn-ea"/>
                    <a:ea typeface="+mn-ea"/>
                  </a:rPr>
                  <a:t>:</a:t>
                </a:r>
                <a:r>
                  <a:rPr lang="ko-KR" altLang="en-US" b="0" dirty="0">
                    <a:latin typeface="+mn-ea"/>
                    <a:ea typeface="+mn-ea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lit/>
                      </m:rPr>
                      <a:rPr lang="en-US" altLang="ko-KR" dirty="0">
                        <a:latin typeface="Cambria Math" panose="02040503050406030204" pitchFamily="18" charset="0"/>
                      </a:rPr>
                      <m:t>𝐒</m:t>
                    </m:r>
                    <m:r>
                      <m:rPr>
                        <m:lit/>
                      </m:rPr>
                      <a:rPr lang="en-US" altLang="ko-KR" b="0" dirty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lit/>
                      </m:rPr>
                      <a:rPr lang="en-US" altLang="ko-KR" i="1" dirty="0">
                        <a:latin typeface="Cambria Math" panose="02040503050406030204" pitchFamily="18" charset="0"/>
                      </a:rPr>
                      <m:t>{</m:t>
                    </m:r>
                    <m:d>
                      <m:dPr>
                        <m:ctrlPr>
                          <a:rPr lang="en-US" altLang="ko-KR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i="1" dirty="0">
                            <a:latin typeface="Cambria Math" panose="02040503050406030204" pitchFamily="18" charset="0"/>
                          </a:rPr>
                          <m:t>1,1</m:t>
                        </m:r>
                      </m:e>
                    </m:d>
                    <m:r>
                      <a:rPr lang="en-US" altLang="ko-KR" i="1" dirty="0">
                        <a:latin typeface="Cambria Math" panose="02040503050406030204" pitchFamily="18" charset="0"/>
                      </a:rPr>
                      <m:t>,</m:t>
                    </m:r>
                    <m:d>
                      <m:dPr>
                        <m:ctrlPr>
                          <a:rPr lang="en-US" altLang="ko-KR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i="1" dirty="0">
                            <a:latin typeface="Cambria Math" panose="02040503050406030204" pitchFamily="18" charset="0"/>
                          </a:rPr>
                          <m:t>1,2</m:t>
                        </m:r>
                      </m:e>
                    </m:d>
                    <m:r>
                      <a:rPr lang="en-US" altLang="ko-KR" i="1" dirty="0">
                        <a:latin typeface="Cambria Math" panose="02040503050406030204" pitchFamily="18" charset="0"/>
                      </a:rPr>
                      <m:t>,⋯,</m:t>
                    </m:r>
                    <m:d>
                      <m:dPr>
                        <m:ctrlPr>
                          <a:rPr lang="en-US" altLang="ko-KR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i="1" dirty="0">
                            <a:latin typeface="Cambria Math" panose="02040503050406030204" pitchFamily="18" charset="0"/>
                          </a:rPr>
                          <m:t>4,3</m:t>
                        </m:r>
                      </m:e>
                    </m:d>
                    <m:r>
                      <m:rPr>
                        <m:lit/>
                      </m:rPr>
                      <a:rPr lang="en-US" altLang="ko-KR" i="1" dirty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en-US" altLang="ko-KR" b="0" dirty="0">
                  <a:latin typeface="+mn-ea"/>
                  <a:ea typeface="+mn-ea"/>
                </a:endParaRPr>
              </a:p>
              <a:p>
                <a:pPr algn="l"/>
                <a:r>
                  <a:rPr lang="en-US" altLang="ko-KR" b="0" dirty="0">
                    <a:latin typeface="+mn-ea"/>
                    <a:ea typeface="+mn-ea"/>
                  </a:rPr>
                  <a:t>   </a:t>
                </a:r>
                <a:r>
                  <a:rPr lang="ko-KR" altLang="en-US" b="0" dirty="0">
                    <a:latin typeface="+mn-ea"/>
                    <a:ea typeface="+mn-ea"/>
                  </a:rPr>
                  <a:t>행동집합 </a:t>
                </a:r>
                <a:r>
                  <a:rPr lang="en-US" altLang="ko-KR" b="0" dirty="0">
                    <a:latin typeface="+mn-ea"/>
                    <a:ea typeface="+mn-ea"/>
                  </a:rPr>
                  <a:t>: </a:t>
                </a:r>
                <a14:m>
                  <m:oMath xmlns:m="http://schemas.openxmlformats.org/officeDocument/2006/math">
                    <m:r>
                      <a:rPr lang="en-US" altLang="ko-KR" b="1" i="1" dirty="0" smtClean="0">
                        <a:latin typeface="Cambria Math" panose="02040503050406030204" pitchFamily="18" charset="0"/>
                        <a:ea typeface="+mn-ea"/>
                      </a:rPr>
                      <m:t>𝑨</m:t>
                    </m:r>
                    <m:r>
                      <a:rPr lang="en-US" altLang="ko-KR" b="0" i="1" dirty="0" smtClean="0">
                        <a:latin typeface="Cambria Math" panose="02040503050406030204" pitchFamily="18" charset="0"/>
                        <a:ea typeface="+mn-ea"/>
                      </a:rPr>
                      <m:t>=</m:t>
                    </m:r>
                    <m:r>
                      <m:rPr>
                        <m:lit/>
                      </m:rPr>
                      <a:rPr lang="en-US" altLang="ko-KR" b="0" i="0" dirty="0" smtClean="0">
                        <a:latin typeface="Cambria Math" panose="02040503050406030204" pitchFamily="18" charset="0"/>
                        <a:ea typeface="+mn-ea"/>
                      </a:rPr>
                      <m:t>{</m:t>
                    </m:r>
                    <m:r>
                      <a:rPr lang="ko-KR" altLang="en-US" b="0" i="1" dirty="0" smtClean="0">
                        <a:latin typeface="Cambria Math" panose="02040503050406030204" pitchFamily="18" charset="0"/>
                        <a:ea typeface="+mn-ea"/>
                      </a:rPr>
                      <m:t>→</m:t>
                    </m:r>
                    <m:r>
                      <a:rPr lang="en-US" altLang="ko-KR" b="0" i="1" dirty="0">
                        <a:latin typeface="Cambria Math" panose="02040503050406030204" pitchFamily="18" charset="0"/>
                        <a:ea typeface="+mn-ea"/>
                      </a:rPr>
                      <m:t>, </m:t>
                    </m:r>
                    <m:r>
                      <a:rPr lang="ko-KR" altLang="en-US" b="0" i="1" dirty="0">
                        <a:latin typeface="Cambria Math" panose="02040503050406030204" pitchFamily="18" charset="0"/>
                        <a:ea typeface="+mn-ea"/>
                      </a:rPr>
                      <m:t>←</m:t>
                    </m:r>
                    <m:r>
                      <a:rPr lang="en-US" altLang="ko-KR" b="0" i="1" dirty="0">
                        <a:latin typeface="Cambria Math" panose="02040503050406030204" pitchFamily="18" charset="0"/>
                        <a:ea typeface="+mn-ea"/>
                      </a:rPr>
                      <m:t>, </m:t>
                    </m:r>
                    <m:r>
                      <a:rPr lang="ko-KR" altLang="en-US" b="0" i="1" dirty="0">
                        <a:latin typeface="Cambria Math" panose="02040503050406030204" pitchFamily="18" charset="0"/>
                        <a:ea typeface="+mn-ea"/>
                      </a:rPr>
                      <m:t>↑</m:t>
                    </m:r>
                    <m:r>
                      <a:rPr lang="en-US" altLang="ko-KR" b="0" i="1" dirty="0">
                        <a:latin typeface="Cambria Math" panose="02040503050406030204" pitchFamily="18" charset="0"/>
                        <a:ea typeface="+mn-ea"/>
                      </a:rPr>
                      <m:t>, </m:t>
                    </m:r>
                    <m:r>
                      <a:rPr lang="ko-KR" altLang="en-US" b="0" i="1" dirty="0">
                        <a:latin typeface="Cambria Math" panose="02040503050406030204" pitchFamily="18" charset="0"/>
                        <a:ea typeface="+mn-ea"/>
                      </a:rPr>
                      <m:t>↓</m:t>
                    </m:r>
                    <m:r>
                      <m:rPr>
                        <m:lit/>
                      </m:rPr>
                      <a:rPr lang="en-US" altLang="ko-KR" b="0" i="1" dirty="0" smtClean="0">
                        <a:latin typeface="Cambria Math" panose="02040503050406030204" pitchFamily="18" charset="0"/>
                        <a:ea typeface="+mn-ea"/>
                      </a:rPr>
                      <m:t>}</m:t>
                    </m:r>
                  </m:oMath>
                </a14:m>
                <a:endParaRPr lang="en-US" altLang="ko-KR" b="0" dirty="0">
                  <a:latin typeface="+mn-ea"/>
                  <a:ea typeface="+mn-ea"/>
                </a:endParaRPr>
              </a:p>
              <a:p>
                <a:pPr algn="l"/>
                <a:r>
                  <a:rPr lang="en-US" altLang="ko-KR" b="0" dirty="0">
                    <a:latin typeface="+mn-ea"/>
                    <a:ea typeface="+mn-ea"/>
                  </a:rPr>
                  <a:t>   </a:t>
                </a:r>
                <a:r>
                  <a:rPr lang="ko-KR" altLang="en-US" b="0" dirty="0">
                    <a:latin typeface="+mn-ea"/>
                    <a:ea typeface="+mn-ea"/>
                  </a:rPr>
                  <a:t>보상 </a:t>
                </a:r>
                <a:r>
                  <a:rPr lang="en-US" altLang="ko-KR" b="0" dirty="0">
                    <a:latin typeface="+mn-ea"/>
                    <a:ea typeface="+mn-ea"/>
                  </a:rPr>
                  <a:t>: </a:t>
                </a:r>
                <a:r>
                  <a:rPr lang="ko-KR" altLang="en-US" b="0" dirty="0">
                    <a:latin typeface="+mn-ea"/>
                    <a:ea typeface="+mn-ea"/>
                  </a:rPr>
                  <a:t>이동시마다 </a:t>
                </a:r>
                <a14:m>
                  <m:oMath xmlns:m="http://schemas.openxmlformats.org/officeDocument/2006/math">
                    <m:r>
                      <a:rPr lang="en-US" altLang="ko-KR" b="0" i="1" dirty="0" smtClean="0">
                        <a:latin typeface="Cambria Math" panose="02040503050406030204" pitchFamily="18" charset="0"/>
                        <a:ea typeface="+mn-ea"/>
                      </a:rPr>
                      <m:t>−0.1</m:t>
                    </m:r>
                  </m:oMath>
                </a14:m>
                <a:r>
                  <a:rPr lang="en-US" altLang="ko-KR" b="0" dirty="0">
                    <a:latin typeface="+mn-ea"/>
                    <a:ea typeface="+mn-ea"/>
                  </a:rPr>
                  <a:t>, </a:t>
                </a:r>
                <a:r>
                  <a:rPr lang="ko-KR" altLang="en-US" b="0" dirty="0">
                    <a:latin typeface="+mn-ea"/>
                    <a:ea typeface="+mn-ea"/>
                  </a:rPr>
                  <a:t>종료지점에서 </a:t>
                </a:r>
                <a14:m>
                  <m:oMath xmlns:m="http://schemas.openxmlformats.org/officeDocument/2006/math">
                    <m:r>
                      <a:rPr lang="en-US" altLang="ko-KR" b="0" i="1" dirty="0" smtClean="0">
                        <a:latin typeface="Cambria Math" panose="02040503050406030204" pitchFamily="18" charset="0"/>
                        <a:ea typeface="+mn-ea"/>
                      </a:rPr>
                      <m:t>±1</m:t>
                    </m:r>
                  </m:oMath>
                </a14:m>
                <a:endParaRPr lang="ko-KR" altLang="en-US" b="0" dirty="0">
                  <a:latin typeface="+mn-ea"/>
                  <a:ea typeface="+mn-ea"/>
                </a:endParaRPr>
              </a:p>
            </p:txBody>
          </p:sp>
        </mc:Choice>
        <mc:Fallback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4DD72D21-67F6-5BA4-756E-3B46B52DFF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95229" y="4883618"/>
                <a:ext cx="3696310" cy="738664"/>
              </a:xfrm>
              <a:prstGeom prst="rect">
                <a:avLst/>
              </a:prstGeom>
              <a:blipFill>
                <a:blip r:embed="rId4"/>
                <a:stretch>
                  <a:fillRect l="-495" t="-1653" b="-826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화살표: 위쪽 18">
            <a:extLst>
              <a:ext uri="{FF2B5EF4-FFF2-40B4-BE49-F238E27FC236}">
                <a16:creationId xmlns:a16="http://schemas.microsoft.com/office/drawing/2014/main" id="{E34335A8-F0C3-3B3D-ADDC-E5D0EAFDC0B7}"/>
              </a:ext>
            </a:extLst>
          </p:cNvPr>
          <p:cNvSpPr/>
          <p:nvPr/>
        </p:nvSpPr>
        <p:spPr bwMode="auto">
          <a:xfrm>
            <a:off x="704780" y="4363048"/>
            <a:ext cx="236220" cy="977591"/>
          </a:xfrm>
          <a:prstGeom prst="upArrow">
            <a:avLst/>
          </a:prstGeom>
          <a:solidFill>
            <a:srgbClr val="31859C"/>
          </a:solidFill>
          <a:ln>
            <a:noFill/>
          </a:ln>
          <a:effectLst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1896"/>
            <a:endParaRPr lang="ko-KR" altLang="en-US" dirty="0">
              <a:solidFill>
                <a:prstClr val="white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0" name="화살표: 위쪽 19">
            <a:extLst>
              <a:ext uri="{FF2B5EF4-FFF2-40B4-BE49-F238E27FC236}">
                <a16:creationId xmlns:a16="http://schemas.microsoft.com/office/drawing/2014/main" id="{5BE482A1-2509-B52C-B065-114E5C63DEEC}"/>
              </a:ext>
            </a:extLst>
          </p:cNvPr>
          <p:cNvSpPr/>
          <p:nvPr/>
        </p:nvSpPr>
        <p:spPr bwMode="auto">
          <a:xfrm rot="5400000">
            <a:off x="1865885" y="3265620"/>
            <a:ext cx="236220" cy="2085991"/>
          </a:xfrm>
          <a:prstGeom prst="upArrow">
            <a:avLst/>
          </a:prstGeom>
          <a:solidFill>
            <a:srgbClr val="31859C"/>
          </a:solidFill>
          <a:ln>
            <a:noFill/>
          </a:ln>
          <a:effectLst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1896"/>
            <a:endParaRPr lang="ko-KR" altLang="en-US" dirty="0">
              <a:solidFill>
                <a:prstClr val="white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표 2">
                <a:extLst>
                  <a:ext uri="{FF2B5EF4-FFF2-40B4-BE49-F238E27FC236}">
                    <a16:creationId xmlns:a16="http://schemas.microsoft.com/office/drawing/2014/main" id="{9CAD7C74-3DB0-CC7D-57EB-552286412AF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61200966"/>
                  </p:ext>
                </p:extLst>
              </p:nvPr>
            </p:nvGraphicFramePr>
            <p:xfrm>
              <a:off x="4036533" y="3926877"/>
              <a:ext cx="5746672" cy="7416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59167">
                      <a:extLst>
                        <a:ext uri="{9D8B030D-6E8A-4147-A177-3AD203B41FA5}">
                          <a16:colId xmlns:a16="http://schemas.microsoft.com/office/drawing/2014/main" val="3245171961"/>
                        </a:ext>
                      </a:extLst>
                    </a:gridCol>
                    <a:gridCol w="359167">
                      <a:extLst>
                        <a:ext uri="{9D8B030D-6E8A-4147-A177-3AD203B41FA5}">
                          <a16:colId xmlns:a16="http://schemas.microsoft.com/office/drawing/2014/main" val="1661526075"/>
                        </a:ext>
                      </a:extLst>
                    </a:gridCol>
                    <a:gridCol w="359167">
                      <a:extLst>
                        <a:ext uri="{9D8B030D-6E8A-4147-A177-3AD203B41FA5}">
                          <a16:colId xmlns:a16="http://schemas.microsoft.com/office/drawing/2014/main" val="1302463196"/>
                        </a:ext>
                      </a:extLst>
                    </a:gridCol>
                    <a:gridCol w="359167">
                      <a:extLst>
                        <a:ext uri="{9D8B030D-6E8A-4147-A177-3AD203B41FA5}">
                          <a16:colId xmlns:a16="http://schemas.microsoft.com/office/drawing/2014/main" val="1469477333"/>
                        </a:ext>
                      </a:extLst>
                    </a:gridCol>
                    <a:gridCol w="359167">
                      <a:extLst>
                        <a:ext uri="{9D8B030D-6E8A-4147-A177-3AD203B41FA5}">
                          <a16:colId xmlns:a16="http://schemas.microsoft.com/office/drawing/2014/main" val="630501421"/>
                        </a:ext>
                      </a:extLst>
                    </a:gridCol>
                    <a:gridCol w="359167">
                      <a:extLst>
                        <a:ext uri="{9D8B030D-6E8A-4147-A177-3AD203B41FA5}">
                          <a16:colId xmlns:a16="http://schemas.microsoft.com/office/drawing/2014/main" val="1806452162"/>
                        </a:ext>
                      </a:extLst>
                    </a:gridCol>
                    <a:gridCol w="359167">
                      <a:extLst>
                        <a:ext uri="{9D8B030D-6E8A-4147-A177-3AD203B41FA5}">
                          <a16:colId xmlns:a16="http://schemas.microsoft.com/office/drawing/2014/main" val="763839846"/>
                        </a:ext>
                      </a:extLst>
                    </a:gridCol>
                    <a:gridCol w="359167">
                      <a:extLst>
                        <a:ext uri="{9D8B030D-6E8A-4147-A177-3AD203B41FA5}">
                          <a16:colId xmlns:a16="http://schemas.microsoft.com/office/drawing/2014/main" val="354458399"/>
                        </a:ext>
                      </a:extLst>
                    </a:gridCol>
                    <a:gridCol w="359167">
                      <a:extLst>
                        <a:ext uri="{9D8B030D-6E8A-4147-A177-3AD203B41FA5}">
                          <a16:colId xmlns:a16="http://schemas.microsoft.com/office/drawing/2014/main" val="2349704990"/>
                        </a:ext>
                      </a:extLst>
                    </a:gridCol>
                    <a:gridCol w="359167">
                      <a:extLst>
                        <a:ext uri="{9D8B030D-6E8A-4147-A177-3AD203B41FA5}">
                          <a16:colId xmlns:a16="http://schemas.microsoft.com/office/drawing/2014/main" val="3263532662"/>
                        </a:ext>
                      </a:extLst>
                    </a:gridCol>
                    <a:gridCol w="359167">
                      <a:extLst>
                        <a:ext uri="{9D8B030D-6E8A-4147-A177-3AD203B41FA5}">
                          <a16:colId xmlns:a16="http://schemas.microsoft.com/office/drawing/2014/main" val="1861832497"/>
                        </a:ext>
                      </a:extLst>
                    </a:gridCol>
                    <a:gridCol w="359167">
                      <a:extLst>
                        <a:ext uri="{9D8B030D-6E8A-4147-A177-3AD203B41FA5}">
                          <a16:colId xmlns:a16="http://schemas.microsoft.com/office/drawing/2014/main" val="2642156900"/>
                        </a:ext>
                      </a:extLst>
                    </a:gridCol>
                    <a:gridCol w="359167">
                      <a:extLst>
                        <a:ext uri="{9D8B030D-6E8A-4147-A177-3AD203B41FA5}">
                          <a16:colId xmlns:a16="http://schemas.microsoft.com/office/drawing/2014/main" val="2592392835"/>
                        </a:ext>
                      </a:extLst>
                    </a:gridCol>
                    <a:gridCol w="359167">
                      <a:extLst>
                        <a:ext uri="{9D8B030D-6E8A-4147-A177-3AD203B41FA5}">
                          <a16:colId xmlns:a16="http://schemas.microsoft.com/office/drawing/2014/main" val="2974705727"/>
                        </a:ext>
                      </a:extLst>
                    </a:gridCol>
                    <a:gridCol w="359167">
                      <a:extLst>
                        <a:ext uri="{9D8B030D-6E8A-4147-A177-3AD203B41FA5}">
                          <a16:colId xmlns:a16="http://schemas.microsoft.com/office/drawing/2014/main" val="327161703"/>
                        </a:ext>
                      </a:extLst>
                    </a:gridCol>
                    <a:gridCol w="359167">
                      <a:extLst>
                        <a:ext uri="{9D8B030D-6E8A-4147-A177-3AD203B41FA5}">
                          <a16:colId xmlns:a16="http://schemas.microsoft.com/office/drawing/2014/main" val="173256928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2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i="1" dirty="0" smtClean="0"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en-US" altLang="ko-KR" sz="1200" i="1" dirty="0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2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i="1" dirty="0" smtClean="0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  <m:sub>
                                    <m:r>
                                      <a:rPr lang="en-US" altLang="ko-KR" sz="1200" i="1" dirty="0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200"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2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i="1" dirty="0" smtClean="0"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en-US" altLang="ko-KR" sz="1200" i="1" dirty="0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200"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2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i="1" dirty="0" smtClean="0"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en-US" altLang="ko-KR" sz="1200" b="1" i="1" dirty="0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2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i="1" dirty="0" smtClean="0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  <m:sub>
                                    <m:r>
                                      <a:rPr lang="en-US" altLang="ko-KR" sz="1200" b="1" i="1" dirty="0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200"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2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i="1" dirty="0" smtClean="0"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en-US" altLang="ko-KR" sz="1200" b="1" i="1" dirty="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200"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2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i="1" dirty="0" smtClean="0"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en-US" altLang="ko-KR" sz="1200" b="1" i="1" dirty="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2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i="1" dirty="0" smtClean="0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  <m:sub>
                                    <m:r>
                                      <a:rPr lang="en-US" altLang="ko-KR" sz="1200" b="1" i="1" dirty="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200"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2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i="1" dirty="0" smtClean="0"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en-US" altLang="ko-KR" sz="1200" b="1" i="1" dirty="0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200"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2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i="1" dirty="0" smtClean="0"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en-US" altLang="ko-KR" sz="1200" b="1" i="1" dirty="0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2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i="1" dirty="0" smtClean="0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  <m:sub>
                                    <m:r>
                                      <a:rPr lang="en-US" altLang="ko-KR" sz="1200" b="1" i="1" dirty="0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200"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2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i="1" dirty="0" smtClean="0"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en-US" altLang="ko-KR" sz="1200" b="1" i="1" dirty="0" smtClean="0"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200"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2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i="1" dirty="0" smtClean="0"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en-US" altLang="ko-KR" sz="1200" b="1" i="1" dirty="0" smtClean="0"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2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i="1" dirty="0" smtClean="0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  <m:sub>
                                    <m:r>
                                      <a:rPr lang="en-US" altLang="ko-KR" sz="1200" b="1" i="1" dirty="0" smtClean="0"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200"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2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i="1" dirty="0" smtClean="0"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en-US" altLang="ko-KR" sz="1200" b="1" i="1" dirty="0" smtClean="0"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200"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2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i="1" dirty="0" smtClean="0"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en-US" altLang="ko-KR" sz="1200" b="1" i="1" dirty="0" smtClean="0"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200" dirty="0"/>
                        </a:p>
                      </a:txBody>
                      <a:tcPr marL="0" marR="0" marT="0" marB="0" anchor="ctr"/>
                    </a:tc>
                    <a:extLst>
                      <a:ext uri="{0D108BD9-81ED-4DB2-BD59-A6C34878D82A}">
                        <a16:rowId xmlns:a16="http://schemas.microsoft.com/office/drawing/2014/main" val="125471939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/>
                            <a:t>(1,1)</a:t>
                          </a:r>
                          <a:endParaRPr lang="ko-KR" altLang="en-US" sz="1200"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200" dirty="0"/>
                            <a:t>↑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/>
                            <a:t>-0.1</a:t>
                          </a:r>
                          <a:endParaRPr lang="ko-KR" altLang="en-US" sz="1200"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/>
                            <a:t>(1,2)</a:t>
                          </a:r>
                          <a:endParaRPr lang="ko-KR" altLang="en-US" sz="1200"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200" dirty="0"/>
                            <a:t>↑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/>
                            <a:t>-0.1</a:t>
                          </a:r>
                          <a:endParaRPr lang="ko-KR" altLang="en-US" sz="1200"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/>
                            <a:t>(1,3)</a:t>
                          </a:r>
                          <a:endParaRPr lang="ko-KR" altLang="en-US" sz="1200"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200" dirty="0"/>
                            <a:t>→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/>
                            <a:t>-0.1</a:t>
                          </a:r>
                          <a:endParaRPr lang="ko-KR" altLang="en-US" sz="1200"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/>
                            <a:t>(2,3)</a:t>
                          </a:r>
                          <a:endParaRPr lang="ko-KR" altLang="en-US" sz="1200"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200" dirty="0"/>
                            <a:t>→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/>
                            <a:t>-0.1</a:t>
                          </a:r>
                          <a:endParaRPr lang="ko-KR" altLang="en-US" sz="1200"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/>
                            <a:t>(3,3)</a:t>
                          </a:r>
                          <a:endParaRPr lang="ko-KR" altLang="en-US" sz="1200"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200" dirty="0"/>
                            <a:t>→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/>
                            <a:t>0.9</a:t>
                          </a:r>
                          <a:endParaRPr lang="ko-KR" altLang="en-US" sz="1200"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/>
                            <a:t>(4,3)</a:t>
                          </a:r>
                          <a:endParaRPr lang="ko-KR" altLang="en-US" sz="1200" dirty="0"/>
                        </a:p>
                      </a:txBody>
                      <a:tcPr marL="0" marR="0" marT="0" marB="0" anchor="ctr"/>
                    </a:tc>
                    <a:extLst>
                      <a:ext uri="{0D108BD9-81ED-4DB2-BD59-A6C34878D82A}">
                        <a16:rowId xmlns:a16="http://schemas.microsoft.com/office/drawing/2014/main" val="69859614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표 2">
                <a:extLst>
                  <a:ext uri="{FF2B5EF4-FFF2-40B4-BE49-F238E27FC236}">
                    <a16:creationId xmlns:a16="http://schemas.microsoft.com/office/drawing/2014/main" id="{9CAD7C74-3DB0-CC7D-57EB-552286412AF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61200966"/>
                  </p:ext>
                </p:extLst>
              </p:nvPr>
            </p:nvGraphicFramePr>
            <p:xfrm>
              <a:off x="4036533" y="3926877"/>
              <a:ext cx="5746672" cy="7416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59167">
                      <a:extLst>
                        <a:ext uri="{9D8B030D-6E8A-4147-A177-3AD203B41FA5}">
                          <a16:colId xmlns:a16="http://schemas.microsoft.com/office/drawing/2014/main" val="3245171961"/>
                        </a:ext>
                      </a:extLst>
                    </a:gridCol>
                    <a:gridCol w="359167">
                      <a:extLst>
                        <a:ext uri="{9D8B030D-6E8A-4147-A177-3AD203B41FA5}">
                          <a16:colId xmlns:a16="http://schemas.microsoft.com/office/drawing/2014/main" val="1661526075"/>
                        </a:ext>
                      </a:extLst>
                    </a:gridCol>
                    <a:gridCol w="359167">
                      <a:extLst>
                        <a:ext uri="{9D8B030D-6E8A-4147-A177-3AD203B41FA5}">
                          <a16:colId xmlns:a16="http://schemas.microsoft.com/office/drawing/2014/main" val="1302463196"/>
                        </a:ext>
                      </a:extLst>
                    </a:gridCol>
                    <a:gridCol w="359167">
                      <a:extLst>
                        <a:ext uri="{9D8B030D-6E8A-4147-A177-3AD203B41FA5}">
                          <a16:colId xmlns:a16="http://schemas.microsoft.com/office/drawing/2014/main" val="1469477333"/>
                        </a:ext>
                      </a:extLst>
                    </a:gridCol>
                    <a:gridCol w="359167">
                      <a:extLst>
                        <a:ext uri="{9D8B030D-6E8A-4147-A177-3AD203B41FA5}">
                          <a16:colId xmlns:a16="http://schemas.microsoft.com/office/drawing/2014/main" val="630501421"/>
                        </a:ext>
                      </a:extLst>
                    </a:gridCol>
                    <a:gridCol w="359167">
                      <a:extLst>
                        <a:ext uri="{9D8B030D-6E8A-4147-A177-3AD203B41FA5}">
                          <a16:colId xmlns:a16="http://schemas.microsoft.com/office/drawing/2014/main" val="1806452162"/>
                        </a:ext>
                      </a:extLst>
                    </a:gridCol>
                    <a:gridCol w="359167">
                      <a:extLst>
                        <a:ext uri="{9D8B030D-6E8A-4147-A177-3AD203B41FA5}">
                          <a16:colId xmlns:a16="http://schemas.microsoft.com/office/drawing/2014/main" val="763839846"/>
                        </a:ext>
                      </a:extLst>
                    </a:gridCol>
                    <a:gridCol w="359167">
                      <a:extLst>
                        <a:ext uri="{9D8B030D-6E8A-4147-A177-3AD203B41FA5}">
                          <a16:colId xmlns:a16="http://schemas.microsoft.com/office/drawing/2014/main" val="354458399"/>
                        </a:ext>
                      </a:extLst>
                    </a:gridCol>
                    <a:gridCol w="359167">
                      <a:extLst>
                        <a:ext uri="{9D8B030D-6E8A-4147-A177-3AD203B41FA5}">
                          <a16:colId xmlns:a16="http://schemas.microsoft.com/office/drawing/2014/main" val="2349704990"/>
                        </a:ext>
                      </a:extLst>
                    </a:gridCol>
                    <a:gridCol w="359167">
                      <a:extLst>
                        <a:ext uri="{9D8B030D-6E8A-4147-A177-3AD203B41FA5}">
                          <a16:colId xmlns:a16="http://schemas.microsoft.com/office/drawing/2014/main" val="3263532662"/>
                        </a:ext>
                      </a:extLst>
                    </a:gridCol>
                    <a:gridCol w="359167">
                      <a:extLst>
                        <a:ext uri="{9D8B030D-6E8A-4147-A177-3AD203B41FA5}">
                          <a16:colId xmlns:a16="http://schemas.microsoft.com/office/drawing/2014/main" val="1861832497"/>
                        </a:ext>
                      </a:extLst>
                    </a:gridCol>
                    <a:gridCol w="359167">
                      <a:extLst>
                        <a:ext uri="{9D8B030D-6E8A-4147-A177-3AD203B41FA5}">
                          <a16:colId xmlns:a16="http://schemas.microsoft.com/office/drawing/2014/main" val="2642156900"/>
                        </a:ext>
                      </a:extLst>
                    </a:gridCol>
                    <a:gridCol w="359167">
                      <a:extLst>
                        <a:ext uri="{9D8B030D-6E8A-4147-A177-3AD203B41FA5}">
                          <a16:colId xmlns:a16="http://schemas.microsoft.com/office/drawing/2014/main" val="2592392835"/>
                        </a:ext>
                      </a:extLst>
                    </a:gridCol>
                    <a:gridCol w="359167">
                      <a:extLst>
                        <a:ext uri="{9D8B030D-6E8A-4147-A177-3AD203B41FA5}">
                          <a16:colId xmlns:a16="http://schemas.microsoft.com/office/drawing/2014/main" val="2974705727"/>
                        </a:ext>
                      </a:extLst>
                    </a:gridCol>
                    <a:gridCol w="359167">
                      <a:extLst>
                        <a:ext uri="{9D8B030D-6E8A-4147-A177-3AD203B41FA5}">
                          <a16:colId xmlns:a16="http://schemas.microsoft.com/office/drawing/2014/main" val="327161703"/>
                        </a:ext>
                      </a:extLst>
                    </a:gridCol>
                    <a:gridCol w="359167">
                      <a:extLst>
                        <a:ext uri="{9D8B030D-6E8A-4147-A177-3AD203B41FA5}">
                          <a16:colId xmlns:a16="http://schemas.microsoft.com/office/drawing/2014/main" val="173256928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0" marR="0" marT="0" marB="0" anchor="ctr">
                        <a:blipFill>
                          <a:blip r:embed="rId5"/>
                          <a:stretch>
                            <a:fillRect l="-1695" t="-1639" r="-1506780" b="-1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0" marR="0" marT="0" marB="0" anchor="ctr">
                        <a:blipFill>
                          <a:blip r:embed="rId5"/>
                          <a:stretch>
                            <a:fillRect l="-101695" t="-1639" r="-1406780" b="-1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0" marR="0" marT="0" marB="0" anchor="ctr">
                        <a:blipFill>
                          <a:blip r:embed="rId5"/>
                          <a:stretch>
                            <a:fillRect l="-201695" t="-1639" r="-1306780" b="-1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0" marR="0" marT="0" marB="0" anchor="ctr">
                        <a:blipFill>
                          <a:blip r:embed="rId5"/>
                          <a:stretch>
                            <a:fillRect l="-301695" t="-1639" r="-1206780" b="-1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0" marR="0" marT="0" marB="0" anchor="ctr">
                        <a:blipFill>
                          <a:blip r:embed="rId5"/>
                          <a:stretch>
                            <a:fillRect l="-401695" t="-1639" r="-1106780" b="-1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0" marR="0" marT="0" marB="0" anchor="ctr">
                        <a:blipFill>
                          <a:blip r:embed="rId5"/>
                          <a:stretch>
                            <a:fillRect l="-501695" t="-1639" r="-1006780" b="-1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0" marR="0" marT="0" marB="0" anchor="ctr">
                        <a:blipFill>
                          <a:blip r:embed="rId5"/>
                          <a:stretch>
                            <a:fillRect l="-601695" t="-1639" r="-906780" b="-1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0" marR="0" marT="0" marB="0" anchor="ctr">
                        <a:blipFill>
                          <a:blip r:embed="rId5"/>
                          <a:stretch>
                            <a:fillRect l="-701695" t="-1639" r="-806780" b="-1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0" marR="0" marT="0" marB="0" anchor="ctr">
                        <a:blipFill>
                          <a:blip r:embed="rId5"/>
                          <a:stretch>
                            <a:fillRect l="-815517" t="-1639" r="-720690" b="-1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0" marR="0" marT="0" marB="0" anchor="ctr">
                        <a:blipFill>
                          <a:blip r:embed="rId5"/>
                          <a:stretch>
                            <a:fillRect l="-900000" t="-1639" r="-608475" b="-1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0" marR="0" marT="0" marB="0" anchor="ctr">
                        <a:blipFill>
                          <a:blip r:embed="rId5"/>
                          <a:stretch>
                            <a:fillRect l="-1000000" t="-1639" r="-508475" b="-1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0" marR="0" marT="0" marB="0" anchor="ctr">
                        <a:blipFill>
                          <a:blip r:embed="rId5"/>
                          <a:stretch>
                            <a:fillRect l="-1100000" t="-1639" r="-408475" b="-1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0" marR="0" marT="0" marB="0" anchor="ctr">
                        <a:blipFill>
                          <a:blip r:embed="rId5"/>
                          <a:stretch>
                            <a:fillRect l="-1200000" t="-1639" r="-308475" b="-1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0" marR="0" marT="0" marB="0" anchor="ctr">
                        <a:blipFill>
                          <a:blip r:embed="rId5"/>
                          <a:stretch>
                            <a:fillRect l="-1300000" t="-1639" r="-208475" b="-1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0" marR="0" marT="0" marB="0" anchor="ctr">
                        <a:blipFill>
                          <a:blip r:embed="rId5"/>
                          <a:stretch>
                            <a:fillRect l="-1400000" t="-1639" r="-108475" b="-1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0" marR="0" marT="0" marB="0" anchor="ctr">
                        <a:blipFill>
                          <a:blip r:embed="rId5"/>
                          <a:stretch>
                            <a:fillRect l="-1500000" t="-1639" r="-8475" b="-1032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5471939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/>
                            <a:t>(1,1)</a:t>
                          </a:r>
                          <a:endParaRPr lang="ko-KR" altLang="en-US" sz="1200"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200" dirty="0"/>
                            <a:t>↑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/>
                            <a:t>-0.1</a:t>
                          </a:r>
                          <a:endParaRPr lang="ko-KR" altLang="en-US" sz="1200"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/>
                            <a:t>(1,2)</a:t>
                          </a:r>
                          <a:endParaRPr lang="ko-KR" altLang="en-US" sz="1200"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200" dirty="0"/>
                            <a:t>↑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/>
                            <a:t>-0.1</a:t>
                          </a:r>
                          <a:endParaRPr lang="ko-KR" altLang="en-US" sz="1200"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/>
                            <a:t>(1,3)</a:t>
                          </a:r>
                          <a:endParaRPr lang="ko-KR" altLang="en-US" sz="1200"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200" dirty="0"/>
                            <a:t>→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/>
                            <a:t>-0.1</a:t>
                          </a:r>
                          <a:endParaRPr lang="ko-KR" altLang="en-US" sz="1200"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/>
                            <a:t>(2,3)</a:t>
                          </a:r>
                          <a:endParaRPr lang="ko-KR" altLang="en-US" sz="1200"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200" dirty="0"/>
                            <a:t>→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/>
                            <a:t>-0.1</a:t>
                          </a:r>
                          <a:endParaRPr lang="ko-KR" altLang="en-US" sz="1200"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/>
                            <a:t>(3,3)</a:t>
                          </a:r>
                          <a:endParaRPr lang="ko-KR" altLang="en-US" sz="1200"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200" dirty="0"/>
                            <a:t>→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/>
                            <a:t>0.9</a:t>
                          </a:r>
                          <a:endParaRPr lang="ko-KR" altLang="en-US" sz="1200"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/>
                            <a:t>(4,3)</a:t>
                          </a:r>
                          <a:endParaRPr lang="ko-KR" altLang="en-US" sz="1200" dirty="0"/>
                        </a:p>
                      </a:txBody>
                      <a:tcPr marL="0" marR="0" marT="0" marB="0" anchor="ctr"/>
                    </a:tc>
                    <a:extLst>
                      <a:ext uri="{0D108BD9-81ED-4DB2-BD59-A6C34878D82A}">
                        <a16:rowId xmlns:a16="http://schemas.microsoft.com/office/drawing/2014/main" val="698596143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41578584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2B24BE-544D-2C37-3593-25BBC45778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A91C66B-122D-40C7-BE56-AAE858650B4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dirty="0"/>
              <a:t>환경모델</a:t>
            </a:r>
            <a:r>
              <a:rPr lang="en-US" altLang="ko-KR" dirty="0"/>
              <a:t>(environment model, transition dynamics)</a:t>
            </a:r>
            <a:endParaRPr lang="ko-KR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텍스트 개체 틀 5">
                <a:extLst>
                  <a:ext uri="{FF2B5EF4-FFF2-40B4-BE49-F238E27FC236}">
                    <a16:creationId xmlns:a16="http://schemas.microsoft.com/office/drawing/2014/main" id="{A9B6B5A0-AAC5-5ED5-1CE8-2520A96609F8}"/>
                  </a:ext>
                </a:extLst>
              </p:cNvPr>
              <p:cNvSpPr>
                <a:spLocks noGrp="1"/>
              </p:cNvSpPr>
              <p:nvPr>
                <p:ph type="body" sz="quarter" idx="11"/>
              </p:nvPr>
            </p:nvSpPr>
            <p:spPr>
              <a:xfrm>
                <a:off x="362309" y="904870"/>
                <a:ext cx="9270641" cy="3383045"/>
              </a:xfrm>
            </p:spPr>
            <p:txBody>
              <a:bodyPr/>
              <a:lstStyle/>
              <a:p>
                <a:pPr marL="285750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dirty="0">
                    <a:latin typeface="+mn-ea"/>
                  </a:rPr>
                  <a:t>강화학습에서 환경이 어떻게 작동하는지 표현하는 모델</a:t>
                </a:r>
                <a:endParaRPr lang="en-US" altLang="ko-KR" dirty="0">
                  <a:latin typeface="+mn-ea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ko-KR" dirty="0"/>
                  <a:t>     </a:t>
                </a:r>
                <a14:m>
                  <m:oMath xmlns:m="http://schemas.openxmlformats.org/officeDocument/2006/math">
                    <m:r>
                      <a:rPr lang="en-US" altLang="ko-KR" i="1" dirty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altLang="ko-KR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i="1" dirty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altLang="ko-KR" i="1" dirty="0">
                            <a:latin typeface="Cambria Math" panose="02040503050406030204" pitchFamily="18" charset="0"/>
                          </a:rPr>
                          <m:t>’,</m:t>
                        </m:r>
                        <m:r>
                          <a:rPr lang="en-US" altLang="ko-KR" i="1" dirty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e>
                        <m:r>
                          <a:rPr lang="en-US" altLang="ko-KR" i="1" dirty="0" err="1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altLang="ko-KR" i="1" dirty="0" err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i="1" dirty="0" err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  <m:r>
                      <a:rPr lang="en-US" altLang="ko-KR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fr-FR" altLang="ko-KR" i="1" dirty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begChr m:val="{"/>
                        <m:endChr m:val="}"/>
                        <m:ctrlPr>
                          <a:rPr lang="fr-FR" altLang="ko-KR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fr-FR" altLang="ko-KR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altLang="ko-KR" i="1" dirty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fr-FR" altLang="ko-KR" i="1" dirty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fr-FR" altLang="ko-KR" i="1" dirty="0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fr-FR" altLang="ko-KR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altLang="ko-KR" i="1" dirty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fr-FR" altLang="ko-KR" i="1" dirty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fr-FR" altLang="ko-KR" i="1" dirty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fr-FR" altLang="ko-KR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altLang="ko-KR" i="1" dirty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fr-FR" altLang="ko-KR" i="1" dirty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fr-FR" altLang="ko-KR" i="1" dirty="0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fr-FR" altLang="ko-KR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altLang="ko-KR" i="1" dirty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fr-FR" altLang="ko-KR" i="1" dirty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  <m:e>
                        <m:sSub>
                          <m:sSubPr>
                            <m:ctrlPr>
                              <a:rPr lang="fr-FR" altLang="ko-KR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altLang="ko-KR" i="1" dirty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fr-FR" altLang="ko-KR" i="1" dirty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fr-FR" altLang="ko-KR" i="1" dirty="0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fr-FR" altLang="ko-KR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altLang="ko-KR" i="1" dirty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fr-FR" altLang="ko-KR" i="1" dirty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fr-FR" altLang="ko-KR" i="1" dirty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fr-FR" altLang="ko-KR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altLang="ko-KR" i="1" dirty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fr-FR" altLang="ko-KR" i="1" dirty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fr-FR" altLang="ko-KR" i="1" dirty="0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fr-FR" altLang="ko-KR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altLang="ko-KR" i="1" dirty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fr-FR" altLang="ko-KR" i="1" dirty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d>
                  </m:oMath>
                </a14:m>
                <a:endParaRPr lang="en-US" altLang="ko-KR" dirty="0">
                  <a:latin typeface="+mn-ea"/>
                </a:endParaRPr>
              </a:p>
              <a:p>
                <a:pPr marL="285750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dirty="0">
                    <a:latin typeface="+mn-ea"/>
                  </a:rPr>
                  <a:t>전이확률 </a:t>
                </a:r>
                <a:r>
                  <a:rPr lang="en-US" altLang="ko-KR" dirty="0">
                    <a:latin typeface="+mn-ea"/>
                  </a:rPr>
                  <a:t>(state transition probability)</a:t>
                </a:r>
              </a:p>
              <a:p>
                <a:pPr marL="180000" lvl="1" indent="1800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400" b="0" dirty="0">
                    <a:latin typeface="Cambria Math" panose="02040503050406030204" pitchFamily="18" charset="0"/>
                  </a:rPr>
                  <a:t>상태 </a:t>
                </a:r>
                <a14:m>
                  <m:oMath xmlns:m="http://schemas.openxmlformats.org/officeDocument/2006/math">
                    <m:r>
                      <a:rPr lang="en-US" altLang="ko-KR" sz="1400" b="0" i="1" dirty="0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ko-KR" altLang="en-US" sz="1400" b="0" dirty="0">
                    <a:latin typeface="Cambria Math" panose="02040503050406030204" pitchFamily="18" charset="0"/>
                  </a:rPr>
                  <a:t>에서 행동 </a:t>
                </a:r>
                <a14:m>
                  <m:oMath xmlns:m="http://schemas.openxmlformats.org/officeDocument/2006/math">
                    <m:r>
                      <a:rPr lang="en-US" altLang="ko-KR" sz="1400" b="0" i="1" dirty="0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ko-KR" altLang="en-US" sz="1400" b="0" dirty="0">
                    <a:latin typeface="Cambria Math" panose="02040503050406030204" pitchFamily="18" charset="0"/>
                  </a:rPr>
                  <a:t>를 취했을 때 다음 상태 </a:t>
                </a:r>
                <a14:m>
                  <m:oMath xmlns:m="http://schemas.openxmlformats.org/officeDocument/2006/math">
                    <m:r>
                      <a:rPr lang="en-US" altLang="ko-KR" sz="1400" b="0" i="1" dirty="0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altLang="ko-KR" sz="1400" b="0" i="1" dirty="0" smtClean="0">
                        <a:latin typeface="Cambria Math" panose="02040503050406030204" pitchFamily="18" charset="0"/>
                      </a:rPr>
                      <m:t>’ </m:t>
                    </m:r>
                  </m:oMath>
                </a14:m>
                <a:r>
                  <a:rPr lang="en-US" altLang="ko-KR" sz="1400" b="0" dirty="0">
                    <a:latin typeface="Cambria Math" panose="02040503050406030204" pitchFamily="18" charset="0"/>
                  </a:rPr>
                  <a:t>(</a:t>
                </a:r>
                <a:r>
                  <a:rPr lang="ko-KR" altLang="en-US" sz="1400" b="0" dirty="0">
                    <a:latin typeface="Cambria Math" panose="02040503050406030204" pitchFamily="18" charset="0"/>
                  </a:rPr>
                  <a:t>와 보상 </a:t>
                </a:r>
                <a14:m>
                  <m:oMath xmlns:m="http://schemas.openxmlformats.org/officeDocument/2006/math">
                    <m:r>
                      <a:rPr lang="en-US" altLang="ko-KR" sz="1400" b="0" i="1" dirty="0" smtClean="0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US" altLang="ko-KR" sz="1400" b="0" dirty="0">
                    <a:latin typeface="Cambria Math" panose="02040503050406030204" pitchFamily="18" charset="0"/>
                  </a:rPr>
                  <a:t>)</a:t>
                </a:r>
                <a:r>
                  <a:rPr lang="ko-KR" altLang="en-US" sz="1400" b="0" dirty="0">
                    <a:latin typeface="Cambria Math" panose="02040503050406030204" pitchFamily="18" charset="0"/>
                  </a:rPr>
                  <a:t>이 될 확률</a:t>
                </a:r>
                <a:endParaRPr lang="en-US" altLang="ko-KR" sz="1400" b="0" dirty="0">
                  <a:latin typeface="Cambria Math" panose="02040503050406030204" pitchFamily="18" charset="0"/>
                </a:endParaRPr>
              </a:p>
              <a:p>
                <a:pPr marL="180000" lvl="1" indent="1800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altLang="ko-KR" sz="1400" i="1" dirty="0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ko-KR" sz="14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ko-KR" sz="1400" i="1" dirty="0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altLang="ko-KR" sz="1400" i="1" dirty="0" smtClean="0">
                        <a:latin typeface="Cambria Math" panose="02040503050406030204" pitchFamily="18" charset="0"/>
                      </a:rPr>
                      <m:t>’|</m:t>
                    </m:r>
                    <m:r>
                      <a:rPr lang="en-US" altLang="ko-KR" sz="1400" i="1" dirty="0" err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altLang="ko-KR" sz="1400" i="1" dirty="0" err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ko-KR" sz="1400" i="1" dirty="0" err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ko-KR" sz="140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ko-KR" sz="1400" dirty="0">
                    <a:latin typeface="+mn-ea"/>
                  </a:rPr>
                  <a:t>        </a:t>
                </a:r>
                <a:r>
                  <a:rPr lang="ko-KR" altLang="en-US" sz="1400" dirty="0">
                    <a:latin typeface="Cambria Math" panose="02040503050406030204" pitchFamily="18" charset="0"/>
                  </a:rPr>
                  <a:t>← 확률적 전이 </a:t>
                </a:r>
                <a:r>
                  <a:rPr lang="en-US" altLang="ko-KR" sz="1400" dirty="0">
                    <a:latin typeface="Cambria Math" panose="02040503050406030204" pitchFamily="18" charset="0"/>
                  </a:rPr>
                  <a:t>(stochastic transition)</a:t>
                </a:r>
                <a:endParaRPr lang="en-US" altLang="ko-KR" sz="1400" dirty="0">
                  <a:latin typeface="+mn-ea"/>
                </a:endParaRPr>
              </a:p>
              <a:p>
                <a:pPr marL="180000" lvl="1" indent="1800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altLang="ko-KR" sz="1400" i="1" dirty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altLang="ko-KR" sz="1400" i="1" dirty="0">
                        <a:latin typeface="Cambria Math" panose="02040503050406030204" pitchFamily="18" charset="0"/>
                      </a:rPr>
                      <m:t>’=</m:t>
                    </m:r>
                    <m:r>
                      <a:rPr lang="en-US" altLang="ko-KR" sz="1400" i="1" dirty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ko-KR" sz="1400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ko-KR" sz="1400" i="1" dirty="0" err="1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altLang="ko-KR" sz="1400" i="1" dirty="0" err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ko-KR" sz="1400" i="1" dirty="0" err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ko-KR" sz="1400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ko-KR" altLang="en-US" sz="1400" dirty="0">
                    <a:latin typeface="Cambria Math" panose="02040503050406030204" pitchFamily="18" charset="0"/>
                  </a:rPr>
                  <a:t>         ← 결정적 전이 </a:t>
                </a:r>
                <a:r>
                  <a:rPr lang="en-US" altLang="ko-KR" sz="1400" dirty="0">
                    <a:latin typeface="Cambria Math" panose="02040503050406030204" pitchFamily="18" charset="0"/>
                  </a:rPr>
                  <a:t>(deterministic transition)</a:t>
                </a:r>
                <a:endParaRPr lang="en-US" altLang="ko-KR" sz="1400" dirty="0">
                  <a:latin typeface="+mn-ea"/>
                </a:endParaRPr>
              </a:p>
              <a:p>
                <a:pPr marL="285750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dirty="0">
                    <a:latin typeface="+mn-ea"/>
                  </a:rPr>
                  <a:t>보상함수 </a:t>
                </a:r>
                <a:r>
                  <a:rPr lang="en-US" altLang="ko-KR" dirty="0">
                    <a:latin typeface="+mn-ea"/>
                  </a:rPr>
                  <a:t>(reward function) : </a:t>
                </a:r>
                <a14:m>
                  <m:oMath xmlns:m="http://schemas.openxmlformats.org/officeDocument/2006/math">
                    <m:r>
                      <a:rPr lang="fr-FR" altLang="ko-KR" i="1" dirty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fr-FR" altLang="ko-KR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fr-FR" altLang="ko-KR" i="1" dirty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fr-FR" altLang="ko-KR" i="1" dirty="0">
                        <a:latin typeface="Cambria Math" panose="02040503050406030204" pitchFamily="18" charset="0"/>
                      </a:rPr>
                      <m:t>,</m:t>
                    </m:r>
                    <m:r>
                      <a:rPr lang="fr-FR" altLang="ko-KR" i="1" dirty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fr-FR" altLang="ko-KR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ko-KR" dirty="0">
                  <a:latin typeface="+mn-ea"/>
                </a:endParaRPr>
              </a:p>
              <a:p>
                <a:pPr marL="180000" lvl="1" indent="1800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400" dirty="0">
                    <a:latin typeface="+mn-ea"/>
                  </a:rPr>
                  <a:t>상태 </a:t>
                </a:r>
                <a14:m>
                  <m:oMath xmlns:m="http://schemas.openxmlformats.org/officeDocument/2006/math">
                    <m:r>
                      <a:rPr lang="en-US" altLang="ko-KR" sz="1400" i="1" dirty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ko-KR" altLang="en-US" sz="1400" dirty="0">
                    <a:latin typeface="+mn-ea"/>
                  </a:rPr>
                  <a:t>에서 행동 </a:t>
                </a:r>
                <a14:m>
                  <m:oMath xmlns:m="http://schemas.openxmlformats.org/officeDocument/2006/math">
                    <m:r>
                      <a:rPr lang="en-US" altLang="ko-KR" sz="1400" i="1" dirty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ko-KR" altLang="en-US" sz="1400" dirty="0">
                    <a:latin typeface="+mn-ea"/>
                  </a:rPr>
                  <a:t>를 했을 때 받는 보상</a:t>
                </a:r>
                <a:endParaRPr lang="en-US" altLang="ko-KR" sz="1400" dirty="0">
                  <a:latin typeface="+mn-ea"/>
                </a:endParaRPr>
              </a:p>
            </p:txBody>
          </p:sp>
        </mc:Choice>
        <mc:Fallback>
          <p:sp>
            <p:nvSpPr>
              <p:cNvPr id="6" name="텍스트 개체 틀 5">
                <a:extLst>
                  <a:ext uri="{FF2B5EF4-FFF2-40B4-BE49-F238E27FC236}">
                    <a16:creationId xmlns:a16="http://schemas.microsoft.com/office/drawing/2014/main" id="{A9B6B5A0-AAC5-5ED5-1CE8-2520A96609F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1"/>
              </p:nvPr>
            </p:nvSpPr>
            <p:spPr>
              <a:xfrm>
                <a:off x="362309" y="904870"/>
                <a:ext cx="9270641" cy="3383045"/>
              </a:xfrm>
              <a:blipFill>
                <a:blip r:embed="rId3"/>
                <a:stretch>
                  <a:fillRect l="-26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제목 3">
            <a:extLst>
              <a:ext uri="{FF2B5EF4-FFF2-40B4-BE49-F238E27FC236}">
                <a16:creationId xmlns:a16="http://schemas.microsoft.com/office/drawing/2014/main" id="{76187E36-27B1-4E25-F680-48501D6677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Ⅰ-2. Markov Decision Process (2/5)</a:t>
            </a:r>
            <a:endParaRPr lang="ko-KR" altLang="en-US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0B961DD8-75AE-6115-6D44-6DCD6764DAF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 dirty="0"/>
              <a:t>Ⅰ </a:t>
            </a:r>
            <a:r>
              <a:rPr lang="ko-KR" altLang="en-US" dirty="0"/>
              <a:t>강화학습 기초</a:t>
            </a:r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BCB70D66-AD4C-DA3B-424A-254679E0158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62321140"/>
              </p:ext>
            </p:extLst>
          </p:nvPr>
        </p:nvGraphicFramePr>
        <p:xfrm>
          <a:off x="381118" y="3944232"/>
          <a:ext cx="3436280" cy="184400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59070">
                  <a:extLst>
                    <a:ext uri="{9D8B030D-6E8A-4147-A177-3AD203B41FA5}">
                      <a16:colId xmlns:a16="http://schemas.microsoft.com/office/drawing/2014/main" val="3283410258"/>
                    </a:ext>
                  </a:extLst>
                </a:gridCol>
                <a:gridCol w="859070">
                  <a:extLst>
                    <a:ext uri="{9D8B030D-6E8A-4147-A177-3AD203B41FA5}">
                      <a16:colId xmlns:a16="http://schemas.microsoft.com/office/drawing/2014/main" val="591898217"/>
                    </a:ext>
                  </a:extLst>
                </a:gridCol>
                <a:gridCol w="859070">
                  <a:extLst>
                    <a:ext uri="{9D8B030D-6E8A-4147-A177-3AD203B41FA5}">
                      <a16:colId xmlns:a16="http://schemas.microsoft.com/office/drawing/2014/main" val="1445315171"/>
                    </a:ext>
                  </a:extLst>
                </a:gridCol>
                <a:gridCol w="859070">
                  <a:extLst>
                    <a:ext uri="{9D8B030D-6E8A-4147-A177-3AD203B41FA5}">
                      <a16:colId xmlns:a16="http://schemas.microsoft.com/office/drawing/2014/main" val="856673349"/>
                    </a:ext>
                  </a:extLst>
                </a:gridCol>
              </a:tblGrid>
              <a:tr h="614669"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+1(</a:t>
                      </a:r>
                      <a:r>
                        <a:rPr lang="ko-KR" altLang="en-US" sz="1400" dirty="0"/>
                        <a:t>종료</a:t>
                      </a:r>
                      <a:r>
                        <a:rPr lang="en-US" altLang="ko-KR" sz="1400" dirty="0"/>
                        <a:t>)</a:t>
                      </a:r>
                      <a:endParaRPr lang="ko-KR" alt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37638875"/>
                  </a:ext>
                </a:extLst>
              </a:tr>
              <a:tr h="614669"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-1(</a:t>
                      </a:r>
                      <a:r>
                        <a:rPr lang="ko-KR" altLang="en-US" sz="1400" dirty="0"/>
                        <a:t>종료</a:t>
                      </a:r>
                      <a:r>
                        <a:rPr lang="en-US" altLang="ko-KR" sz="1400" dirty="0"/>
                        <a:t>)</a:t>
                      </a:r>
                      <a:endParaRPr lang="ko-KR" alt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32969099"/>
                  </a:ext>
                </a:extLst>
              </a:tr>
              <a:tr h="61466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시작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26604439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6176A875-5A81-F164-76D9-1A0BE481DD3F}"/>
              </a:ext>
            </a:extLst>
          </p:cNvPr>
          <p:cNvSpPr txBox="1"/>
          <p:nvPr/>
        </p:nvSpPr>
        <p:spPr>
          <a:xfrm>
            <a:off x="656948" y="5823746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b="0" dirty="0">
                <a:latin typeface="+mn-ea"/>
                <a:ea typeface="+mn-ea"/>
              </a:rPr>
              <a:t>1</a:t>
            </a:r>
            <a:endParaRPr lang="ko-KR" altLang="en-US" b="0" dirty="0">
              <a:latin typeface="+mn-ea"/>
              <a:ea typeface="+mn-ea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3EAA7C4-60CE-19AC-0555-1E61DCB0CD78}"/>
              </a:ext>
            </a:extLst>
          </p:cNvPr>
          <p:cNvSpPr txBox="1"/>
          <p:nvPr/>
        </p:nvSpPr>
        <p:spPr>
          <a:xfrm>
            <a:off x="1510687" y="5834101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b="0" dirty="0">
                <a:latin typeface="+mn-ea"/>
                <a:ea typeface="+mn-ea"/>
              </a:rPr>
              <a:t>2</a:t>
            </a:r>
            <a:endParaRPr lang="ko-KR" altLang="en-US" b="0" dirty="0">
              <a:latin typeface="+mn-ea"/>
              <a:ea typeface="+mn-ea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B7D1873-2DDD-DE03-15AD-829124B850A2}"/>
              </a:ext>
            </a:extLst>
          </p:cNvPr>
          <p:cNvSpPr txBox="1"/>
          <p:nvPr/>
        </p:nvSpPr>
        <p:spPr>
          <a:xfrm>
            <a:off x="2377269" y="5834101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b="0" dirty="0">
                <a:latin typeface="+mn-ea"/>
                <a:ea typeface="+mn-ea"/>
              </a:rPr>
              <a:t>3</a:t>
            </a:r>
            <a:endParaRPr lang="ko-KR" altLang="en-US" b="0" dirty="0">
              <a:latin typeface="+mn-ea"/>
              <a:ea typeface="+mn-ea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F34C12A-7D25-4734-ED24-DC07A5EA176B}"/>
              </a:ext>
            </a:extLst>
          </p:cNvPr>
          <p:cNvSpPr txBox="1"/>
          <p:nvPr/>
        </p:nvSpPr>
        <p:spPr>
          <a:xfrm>
            <a:off x="3231008" y="5844456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b="0" dirty="0">
                <a:latin typeface="+mn-ea"/>
                <a:ea typeface="+mn-ea"/>
              </a:rPr>
              <a:t>4</a:t>
            </a:r>
            <a:endParaRPr lang="ko-KR" altLang="en-US" b="0" dirty="0">
              <a:latin typeface="+mn-ea"/>
              <a:ea typeface="+mn-ea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CE70607-144F-E3BC-AB7A-E87DE9D8F592}"/>
              </a:ext>
            </a:extLst>
          </p:cNvPr>
          <p:cNvSpPr txBox="1"/>
          <p:nvPr/>
        </p:nvSpPr>
        <p:spPr>
          <a:xfrm>
            <a:off x="19235" y="5257054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b="0" dirty="0">
                <a:latin typeface="+mn-ea"/>
                <a:ea typeface="+mn-ea"/>
              </a:rPr>
              <a:t>1</a:t>
            </a:r>
            <a:endParaRPr lang="ko-KR" altLang="en-US" b="0" dirty="0">
              <a:latin typeface="+mn-ea"/>
              <a:ea typeface="+mn-ea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C43869E-A4A3-9265-7B77-4D3D2E228732}"/>
              </a:ext>
            </a:extLst>
          </p:cNvPr>
          <p:cNvSpPr txBox="1"/>
          <p:nvPr/>
        </p:nvSpPr>
        <p:spPr>
          <a:xfrm>
            <a:off x="29609" y="4712346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b="0" dirty="0">
                <a:latin typeface="+mn-ea"/>
                <a:ea typeface="+mn-ea"/>
              </a:rPr>
              <a:t>2</a:t>
            </a:r>
            <a:endParaRPr lang="ko-KR" altLang="en-US" b="0" dirty="0">
              <a:latin typeface="+mn-ea"/>
              <a:ea typeface="+mn-ea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46860F7-A76B-C016-4F8E-8BEAA60A5972}"/>
              </a:ext>
            </a:extLst>
          </p:cNvPr>
          <p:cNvSpPr txBox="1"/>
          <p:nvPr/>
        </p:nvSpPr>
        <p:spPr>
          <a:xfrm>
            <a:off x="29609" y="4106794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b="0" dirty="0">
                <a:latin typeface="+mn-ea"/>
                <a:ea typeface="+mn-ea"/>
              </a:rPr>
              <a:t>3</a:t>
            </a:r>
            <a:endParaRPr lang="ko-KR" altLang="en-US" b="0" dirty="0">
              <a:latin typeface="+mn-ea"/>
              <a:ea typeface="+mn-ea"/>
            </a:endParaRPr>
          </a:p>
        </p:txBody>
      </p:sp>
      <p:sp>
        <p:nvSpPr>
          <p:cNvPr id="16" name="화살표: 위쪽 15">
            <a:extLst>
              <a:ext uri="{FF2B5EF4-FFF2-40B4-BE49-F238E27FC236}">
                <a16:creationId xmlns:a16="http://schemas.microsoft.com/office/drawing/2014/main" id="{B27A578A-3A11-1597-A871-27E65FA8A516}"/>
              </a:ext>
            </a:extLst>
          </p:cNvPr>
          <p:cNvSpPr/>
          <p:nvPr/>
        </p:nvSpPr>
        <p:spPr bwMode="auto">
          <a:xfrm>
            <a:off x="704780" y="4363048"/>
            <a:ext cx="236220" cy="977591"/>
          </a:xfrm>
          <a:prstGeom prst="upArrow">
            <a:avLst/>
          </a:prstGeom>
          <a:solidFill>
            <a:srgbClr val="31859C"/>
          </a:solidFill>
          <a:ln>
            <a:noFill/>
          </a:ln>
          <a:effectLst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1896"/>
            <a:endParaRPr lang="ko-KR" altLang="en-US" dirty="0">
              <a:solidFill>
                <a:prstClr val="white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7" name="화살표: 위쪽 16">
            <a:extLst>
              <a:ext uri="{FF2B5EF4-FFF2-40B4-BE49-F238E27FC236}">
                <a16:creationId xmlns:a16="http://schemas.microsoft.com/office/drawing/2014/main" id="{08420D8D-1B99-58B3-8619-F2C555C2A6E0}"/>
              </a:ext>
            </a:extLst>
          </p:cNvPr>
          <p:cNvSpPr/>
          <p:nvPr/>
        </p:nvSpPr>
        <p:spPr bwMode="auto">
          <a:xfrm rot="5400000">
            <a:off x="1865885" y="3265620"/>
            <a:ext cx="236220" cy="2085991"/>
          </a:xfrm>
          <a:prstGeom prst="upArrow">
            <a:avLst/>
          </a:prstGeom>
          <a:solidFill>
            <a:srgbClr val="31859C"/>
          </a:solidFill>
          <a:ln>
            <a:noFill/>
          </a:ln>
          <a:effectLst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1896"/>
            <a:endParaRPr lang="ko-KR" altLang="en-US" dirty="0">
              <a:solidFill>
                <a:prstClr val="white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9E09A1CC-1076-8598-5425-87D16E11005F}"/>
                  </a:ext>
                </a:extLst>
              </p:cNvPr>
              <p:cNvSpPr txBox="1"/>
              <p:nvPr/>
            </p:nvSpPr>
            <p:spPr>
              <a:xfrm>
                <a:off x="4387085" y="4872333"/>
                <a:ext cx="1881092" cy="138499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0" i="1" dirty="0" smtClean="0">
                          <a:latin typeface="Cambria Math" panose="02040503050406030204" pitchFamily="18" charset="0"/>
                          <a:ea typeface="+mn-ea"/>
                        </a:rPr>
                        <m:t>𝑝</m:t>
                      </m:r>
                      <m:d>
                        <m:dPr>
                          <m:ctrlPr>
                            <a:rPr lang="en-US" altLang="ko-KR" b="0" i="1" dirty="0" smtClean="0">
                              <a:latin typeface="Cambria Math" panose="02040503050406030204" pitchFamily="18" charset="0"/>
                              <a:ea typeface="+mn-ea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en-US" altLang="ko-KR" b="0" i="1" dirty="0" smtClean="0">
                                  <a:latin typeface="Cambria Math" panose="02040503050406030204" pitchFamily="18" charset="0"/>
                                  <a:ea typeface="+mn-ea"/>
                                </a:rPr>
                              </m:ctrlPr>
                            </m:dPr>
                            <m:e>
                              <m:r>
                                <a:rPr lang="en-US" altLang="ko-KR" b="0" i="1" dirty="0" smtClean="0">
                                  <a:latin typeface="Cambria Math" panose="02040503050406030204" pitchFamily="18" charset="0"/>
                                  <a:ea typeface="+mn-ea"/>
                                </a:rPr>
                                <m:t>1,2</m:t>
                              </m:r>
                            </m:e>
                          </m:d>
                        </m:e>
                        <m:e>
                          <m:d>
                            <m:dPr>
                              <m:ctrlPr>
                                <a:rPr lang="en-US" altLang="ko-KR" b="0" i="1" dirty="0" smtClean="0">
                                  <a:latin typeface="Cambria Math" panose="02040503050406030204" pitchFamily="18" charset="0"/>
                                  <a:ea typeface="+mn-ea"/>
                                </a:rPr>
                              </m:ctrlPr>
                            </m:dPr>
                            <m:e>
                              <m:r>
                                <a:rPr lang="en-US" altLang="ko-KR" b="0" i="1" dirty="0" smtClean="0">
                                  <a:latin typeface="Cambria Math" panose="02040503050406030204" pitchFamily="18" charset="0"/>
                                  <a:ea typeface="+mn-ea"/>
                                </a:rPr>
                                <m:t>1,2</m:t>
                              </m:r>
                            </m:e>
                          </m:d>
                          <m:r>
                            <a:rPr lang="en-US" altLang="ko-KR" b="0" i="1" dirty="0" smtClean="0">
                              <a:latin typeface="Cambria Math" panose="02040503050406030204" pitchFamily="18" charset="0"/>
                              <a:ea typeface="+mn-ea"/>
                            </a:rPr>
                            <m:t>,→</m:t>
                          </m:r>
                        </m:e>
                      </m:d>
                      <m:r>
                        <a:rPr lang="en-US" altLang="ko-KR" b="0" i="1" dirty="0" smtClean="0">
                          <a:latin typeface="Cambria Math" panose="02040503050406030204" pitchFamily="18" charset="0"/>
                          <a:ea typeface="+mn-ea"/>
                        </a:rPr>
                        <m:t>=1</m:t>
                      </m:r>
                    </m:oMath>
                  </m:oMathPara>
                </a14:m>
                <a:endParaRPr lang="en-US" altLang="ko-KR" b="0" i="1" dirty="0">
                  <a:latin typeface="Cambria Math" panose="02040503050406030204" pitchFamily="18" charset="0"/>
                  <a:ea typeface="+mn-ea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0" i="1" dirty="0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altLang="ko-KR" b="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en-US" altLang="ko-KR" b="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b="0" i="1" dirty="0">
                                  <a:latin typeface="Cambria Math" panose="02040503050406030204" pitchFamily="18" charset="0"/>
                                </a:rPr>
                                <m:t>1,</m:t>
                              </m:r>
                              <m:r>
                                <a:rPr lang="en-US" altLang="ko-KR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d>
                        </m:e>
                        <m:e>
                          <m:d>
                            <m:dPr>
                              <m:ctrlPr>
                                <a:rPr lang="en-US" altLang="ko-KR" b="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b="0" i="1" dirty="0">
                                  <a:latin typeface="Cambria Math" panose="02040503050406030204" pitchFamily="18" charset="0"/>
                                </a:rPr>
                                <m:t>1,2</m:t>
                              </m:r>
                            </m:e>
                          </m:d>
                          <m:r>
                            <a:rPr lang="en-US" altLang="ko-KR" b="0" i="1" dirty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ko-KR" b="0" i="1" dirty="0" smtClean="0">
                              <a:latin typeface="Cambria Math" panose="02040503050406030204" pitchFamily="18" charset="0"/>
                            </a:rPr>
                            <m:t>←</m:t>
                          </m:r>
                        </m:e>
                      </m:d>
                      <m:r>
                        <a:rPr lang="en-US" altLang="ko-KR" b="0" i="1" dirty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ko-KR" b="0" i="1" dirty="0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altLang="ko-KR" b="0" i="1" dirty="0">
                  <a:latin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0" i="1" dirty="0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altLang="ko-KR" b="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en-US" altLang="ko-KR" b="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b="0" i="1" dirty="0">
                                  <a:latin typeface="Cambria Math" panose="02040503050406030204" pitchFamily="18" charset="0"/>
                                </a:rPr>
                                <m:t>1,3</m:t>
                              </m:r>
                            </m:e>
                          </m:d>
                        </m:e>
                        <m:e>
                          <m:d>
                            <m:dPr>
                              <m:ctrlPr>
                                <a:rPr lang="en-US" altLang="ko-KR" b="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b="0" i="1" dirty="0">
                                  <a:latin typeface="Cambria Math" panose="02040503050406030204" pitchFamily="18" charset="0"/>
                                </a:rPr>
                                <m:t>1,2</m:t>
                              </m:r>
                            </m:e>
                          </m:d>
                          <m:r>
                            <a:rPr lang="en-US" altLang="ko-KR" b="0" i="1" dirty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ko-KR" b="0" i="1" dirty="0" smtClean="0">
                              <a:latin typeface="Cambria Math" panose="02040503050406030204" pitchFamily="18" charset="0"/>
                            </a:rPr>
                            <m:t>↑</m:t>
                          </m:r>
                        </m:e>
                      </m:d>
                      <m:r>
                        <a:rPr lang="en-US" altLang="ko-KR" b="0" i="1" dirty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US" altLang="ko-KR" b="0" i="1" dirty="0">
                  <a:latin typeface="Cambria Math" panose="02040503050406030204" pitchFamily="18" charset="0"/>
                </a:endParaRPr>
              </a:p>
              <a:p>
                <a:pPr algn="l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0" i="1" dirty="0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altLang="ko-KR" b="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en-US" altLang="ko-KR" b="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b="0" i="1" dirty="0">
                                  <a:latin typeface="Cambria Math" panose="02040503050406030204" pitchFamily="18" charset="0"/>
                                </a:rPr>
                                <m:t>1,</m:t>
                              </m:r>
                              <m:r>
                                <a:rPr lang="en-US" altLang="ko-KR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d>
                        </m:e>
                        <m:e>
                          <m:d>
                            <m:dPr>
                              <m:ctrlPr>
                                <a:rPr lang="en-US" altLang="ko-KR" b="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b="0" i="1" dirty="0">
                                  <a:latin typeface="Cambria Math" panose="02040503050406030204" pitchFamily="18" charset="0"/>
                                </a:rPr>
                                <m:t>1,2</m:t>
                              </m:r>
                            </m:e>
                          </m:d>
                          <m:r>
                            <a:rPr lang="en-US" altLang="ko-KR" b="0" i="1" dirty="0" smtClean="0">
                              <a:latin typeface="Cambria Math" panose="02040503050406030204" pitchFamily="18" charset="0"/>
                            </a:rPr>
                            <m:t>,↓</m:t>
                          </m:r>
                        </m:e>
                      </m:d>
                      <m:r>
                        <a:rPr lang="en-US" altLang="ko-KR" b="0" i="1" dirty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ko-KR" b="0" i="1" dirty="0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altLang="ko-KR" b="0" dirty="0"/>
              </a:p>
            </p:txBody>
          </p:sp>
        </mc:Choice>
        <mc:Fallback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9E09A1CC-1076-8598-5425-87D16E1100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87085" y="4872333"/>
                <a:ext cx="1881092" cy="138499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33A5EFAF-587B-6C91-B228-BF8A4693F3E2}"/>
                  </a:ext>
                </a:extLst>
              </p:cNvPr>
              <p:cNvSpPr txBox="1"/>
              <p:nvPr/>
            </p:nvSpPr>
            <p:spPr>
              <a:xfrm>
                <a:off x="6612598" y="4812020"/>
                <a:ext cx="1681871" cy="155119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0" i="1" dirty="0">
                          <a:latin typeface="Cambria Math" panose="02040503050406030204" pitchFamily="18" charset="0"/>
                        </a:rPr>
                        <m:t>𝑟</m:t>
                      </m:r>
                      <m:d>
                        <m:dPr>
                          <m:ctrlPr>
                            <a:rPr lang="en-US" altLang="ko-KR" b="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en-US" altLang="ko-KR" b="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b="0" i="1" dirty="0">
                                  <a:latin typeface="Cambria Math" panose="02040503050406030204" pitchFamily="18" charset="0"/>
                                </a:rPr>
                                <m:t>1,2</m:t>
                              </m:r>
                            </m:e>
                          </m:d>
                          <m:r>
                            <a:rPr lang="en-US" altLang="ko-KR" b="0" i="1" dirty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ko-KR" b="0" i="1" dirty="0" smtClean="0">
                              <a:latin typeface="Cambria Math" panose="02040503050406030204" pitchFamily="18" charset="0"/>
                            </a:rPr>
                            <m:t>←</m:t>
                          </m:r>
                        </m:e>
                      </m:d>
                      <m:r>
                        <a:rPr lang="en-US" altLang="ko-KR" b="0" i="1" dirty="0">
                          <a:latin typeface="Cambria Math" panose="02040503050406030204" pitchFamily="18" charset="0"/>
                        </a:rPr>
                        <m:t>=−0.1</m:t>
                      </m:r>
                    </m:oMath>
                  </m:oMathPara>
                </a14:m>
                <a:endParaRPr lang="en-US" altLang="ko-KR" b="0" i="1" dirty="0">
                  <a:latin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0" i="1" dirty="0">
                          <a:latin typeface="Cambria Math" panose="02040503050406030204" pitchFamily="18" charset="0"/>
                        </a:rPr>
                        <m:t>𝑟</m:t>
                      </m:r>
                      <m:d>
                        <m:dPr>
                          <m:ctrlPr>
                            <a:rPr lang="en-US" altLang="ko-KR" b="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en-US" altLang="ko-KR" b="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b="0" i="1" dirty="0">
                                  <a:latin typeface="Cambria Math" panose="02040503050406030204" pitchFamily="18" charset="0"/>
                                </a:rPr>
                                <m:t>1,2</m:t>
                              </m:r>
                            </m:e>
                          </m:d>
                          <m:r>
                            <a:rPr lang="en-US" altLang="ko-KR" b="0" i="1" dirty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ko-KR" b="0" i="1" dirty="0" smtClean="0">
                              <a:latin typeface="Cambria Math" panose="02040503050406030204" pitchFamily="18" charset="0"/>
                            </a:rPr>
                            <m:t>→</m:t>
                          </m:r>
                        </m:e>
                      </m:d>
                      <m:r>
                        <a:rPr lang="en-US" altLang="ko-KR" b="0" i="1" dirty="0">
                          <a:latin typeface="Cambria Math" panose="02040503050406030204" pitchFamily="18" charset="0"/>
                        </a:rPr>
                        <m:t>=−0.1</m:t>
                      </m:r>
                    </m:oMath>
                  </m:oMathPara>
                </a14:m>
                <a:endParaRPr lang="en-US" altLang="ko-KR" b="0" i="1" dirty="0">
                  <a:latin typeface="Cambria Math" panose="02040503050406030204" pitchFamily="18" charset="0"/>
                  <a:ea typeface="+mn-ea"/>
                </a:endParaRPr>
              </a:p>
              <a:p>
                <a:pPr algn="l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0" i="1" dirty="0" smtClean="0">
                          <a:latin typeface="Cambria Math" panose="02040503050406030204" pitchFamily="18" charset="0"/>
                          <a:ea typeface="+mn-ea"/>
                        </a:rPr>
                        <m:t>𝑟</m:t>
                      </m:r>
                      <m:d>
                        <m:dPr>
                          <m:ctrlPr>
                            <a:rPr lang="en-US" altLang="ko-KR" b="0" i="1" dirty="0" smtClean="0">
                              <a:latin typeface="Cambria Math" panose="02040503050406030204" pitchFamily="18" charset="0"/>
                              <a:ea typeface="+mn-ea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en-US" altLang="ko-KR" b="0" i="1" dirty="0" smtClean="0">
                                  <a:latin typeface="Cambria Math" panose="02040503050406030204" pitchFamily="18" charset="0"/>
                                  <a:ea typeface="+mn-ea"/>
                                </a:rPr>
                              </m:ctrlPr>
                            </m:dPr>
                            <m:e>
                              <m:r>
                                <a:rPr lang="en-US" altLang="ko-KR" b="0" i="1" dirty="0" smtClean="0">
                                  <a:latin typeface="Cambria Math" panose="02040503050406030204" pitchFamily="18" charset="0"/>
                                  <a:ea typeface="+mn-ea"/>
                                </a:rPr>
                                <m:t>1,2</m:t>
                              </m:r>
                            </m:e>
                          </m:d>
                          <m:r>
                            <a:rPr lang="en-US" altLang="ko-KR" b="0" i="1" dirty="0" smtClean="0">
                              <a:latin typeface="Cambria Math" panose="02040503050406030204" pitchFamily="18" charset="0"/>
                              <a:ea typeface="+mn-ea"/>
                            </a:rPr>
                            <m:t>,</m:t>
                          </m:r>
                          <m:r>
                            <a:rPr lang="ko-KR" altLang="en-US" b="0" i="1" dirty="0">
                              <a:latin typeface="Cambria Math" panose="02040503050406030204" pitchFamily="18" charset="0"/>
                              <a:ea typeface="+mn-ea"/>
                            </a:rPr>
                            <m:t>↑</m:t>
                          </m:r>
                        </m:e>
                      </m:d>
                      <m:r>
                        <a:rPr lang="en-US" altLang="ko-KR" b="0" i="1" dirty="0" smtClean="0">
                          <a:latin typeface="Cambria Math" panose="02040503050406030204" pitchFamily="18" charset="0"/>
                          <a:ea typeface="+mn-ea"/>
                        </a:rPr>
                        <m:t>=−0.1</m:t>
                      </m:r>
                    </m:oMath>
                  </m:oMathPara>
                </a14:m>
                <a:endParaRPr lang="en-US" altLang="ko-KR" b="0" i="1" dirty="0">
                  <a:latin typeface="Cambria Math" panose="02040503050406030204" pitchFamily="18" charset="0"/>
                  <a:ea typeface="+mn-ea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0" i="1" dirty="0">
                          <a:latin typeface="Cambria Math" panose="02040503050406030204" pitchFamily="18" charset="0"/>
                        </a:rPr>
                        <m:t>𝑟</m:t>
                      </m:r>
                      <m:d>
                        <m:dPr>
                          <m:ctrlPr>
                            <a:rPr lang="en-US" altLang="ko-KR" b="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en-US" altLang="ko-KR" b="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b="0" i="1" dirty="0">
                                  <a:latin typeface="Cambria Math" panose="02040503050406030204" pitchFamily="18" charset="0"/>
                                </a:rPr>
                                <m:t>1,2</m:t>
                              </m:r>
                            </m:e>
                          </m:d>
                          <m:r>
                            <a:rPr lang="en-US" altLang="ko-KR" b="0" i="1" dirty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ko-KR" altLang="en-US" b="0" i="1" dirty="0">
                              <a:latin typeface="Cambria Math" panose="02040503050406030204" pitchFamily="18" charset="0"/>
                            </a:rPr>
                            <m:t>↓</m:t>
                          </m:r>
                        </m:e>
                      </m:d>
                      <m:r>
                        <a:rPr lang="en-US" altLang="ko-KR" b="0" i="1" dirty="0">
                          <a:latin typeface="Cambria Math" panose="02040503050406030204" pitchFamily="18" charset="0"/>
                        </a:rPr>
                        <m:t>=−0.1</m:t>
                      </m:r>
                    </m:oMath>
                  </m:oMathPara>
                </a14:m>
                <a:endParaRPr lang="en-US" altLang="ko-KR" b="0" dirty="0"/>
              </a:p>
            </p:txBody>
          </p:sp>
        </mc:Choice>
        <mc:Fallback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33A5EFAF-587B-6C91-B228-BF8A4693F3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12598" y="4812020"/>
                <a:ext cx="1681871" cy="155119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20" name="표 19">
                <a:extLst>
                  <a:ext uri="{FF2B5EF4-FFF2-40B4-BE49-F238E27FC236}">
                    <a16:creationId xmlns:a16="http://schemas.microsoft.com/office/drawing/2014/main" id="{000E1A67-5A38-4E3F-B763-E8F7C832CE7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0604880"/>
                  </p:ext>
                </p:extLst>
              </p:nvPr>
            </p:nvGraphicFramePr>
            <p:xfrm>
              <a:off x="4036533" y="3926877"/>
              <a:ext cx="5746672" cy="7416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59167">
                      <a:extLst>
                        <a:ext uri="{9D8B030D-6E8A-4147-A177-3AD203B41FA5}">
                          <a16:colId xmlns:a16="http://schemas.microsoft.com/office/drawing/2014/main" val="3245171961"/>
                        </a:ext>
                      </a:extLst>
                    </a:gridCol>
                    <a:gridCol w="359167">
                      <a:extLst>
                        <a:ext uri="{9D8B030D-6E8A-4147-A177-3AD203B41FA5}">
                          <a16:colId xmlns:a16="http://schemas.microsoft.com/office/drawing/2014/main" val="1661526075"/>
                        </a:ext>
                      </a:extLst>
                    </a:gridCol>
                    <a:gridCol w="359167">
                      <a:extLst>
                        <a:ext uri="{9D8B030D-6E8A-4147-A177-3AD203B41FA5}">
                          <a16:colId xmlns:a16="http://schemas.microsoft.com/office/drawing/2014/main" val="1302463196"/>
                        </a:ext>
                      </a:extLst>
                    </a:gridCol>
                    <a:gridCol w="359167">
                      <a:extLst>
                        <a:ext uri="{9D8B030D-6E8A-4147-A177-3AD203B41FA5}">
                          <a16:colId xmlns:a16="http://schemas.microsoft.com/office/drawing/2014/main" val="1469477333"/>
                        </a:ext>
                      </a:extLst>
                    </a:gridCol>
                    <a:gridCol w="359167">
                      <a:extLst>
                        <a:ext uri="{9D8B030D-6E8A-4147-A177-3AD203B41FA5}">
                          <a16:colId xmlns:a16="http://schemas.microsoft.com/office/drawing/2014/main" val="630501421"/>
                        </a:ext>
                      </a:extLst>
                    </a:gridCol>
                    <a:gridCol w="359167">
                      <a:extLst>
                        <a:ext uri="{9D8B030D-6E8A-4147-A177-3AD203B41FA5}">
                          <a16:colId xmlns:a16="http://schemas.microsoft.com/office/drawing/2014/main" val="1806452162"/>
                        </a:ext>
                      </a:extLst>
                    </a:gridCol>
                    <a:gridCol w="359167">
                      <a:extLst>
                        <a:ext uri="{9D8B030D-6E8A-4147-A177-3AD203B41FA5}">
                          <a16:colId xmlns:a16="http://schemas.microsoft.com/office/drawing/2014/main" val="763839846"/>
                        </a:ext>
                      </a:extLst>
                    </a:gridCol>
                    <a:gridCol w="359167">
                      <a:extLst>
                        <a:ext uri="{9D8B030D-6E8A-4147-A177-3AD203B41FA5}">
                          <a16:colId xmlns:a16="http://schemas.microsoft.com/office/drawing/2014/main" val="354458399"/>
                        </a:ext>
                      </a:extLst>
                    </a:gridCol>
                    <a:gridCol w="359167">
                      <a:extLst>
                        <a:ext uri="{9D8B030D-6E8A-4147-A177-3AD203B41FA5}">
                          <a16:colId xmlns:a16="http://schemas.microsoft.com/office/drawing/2014/main" val="2349704990"/>
                        </a:ext>
                      </a:extLst>
                    </a:gridCol>
                    <a:gridCol w="359167">
                      <a:extLst>
                        <a:ext uri="{9D8B030D-6E8A-4147-A177-3AD203B41FA5}">
                          <a16:colId xmlns:a16="http://schemas.microsoft.com/office/drawing/2014/main" val="3263532662"/>
                        </a:ext>
                      </a:extLst>
                    </a:gridCol>
                    <a:gridCol w="359167">
                      <a:extLst>
                        <a:ext uri="{9D8B030D-6E8A-4147-A177-3AD203B41FA5}">
                          <a16:colId xmlns:a16="http://schemas.microsoft.com/office/drawing/2014/main" val="1861832497"/>
                        </a:ext>
                      </a:extLst>
                    </a:gridCol>
                    <a:gridCol w="359167">
                      <a:extLst>
                        <a:ext uri="{9D8B030D-6E8A-4147-A177-3AD203B41FA5}">
                          <a16:colId xmlns:a16="http://schemas.microsoft.com/office/drawing/2014/main" val="2642156900"/>
                        </a:ext>
                      </a:extLst>
                    </a:gridCol>
                    <a:gridCol w="359167">
                      <a:extLst>
                        <a:ext uri="{9D8B030D-6E8A-4147-A177-3AD203B41FA5}">
                          <a16:colId xmlns:a16="http://schemas.microsoft.com/office/drawing/2014/main" val="2592392835"/>
                        </a:ext>
                      </a:extLst>
                    </a:gridCol>
                    <a:gridCol w="359167">
                      <a:extLst>
                        <a:ext uri="{9D8B030D-6E8A-4147-A177-3AD203B41FA5}">
                          <a16:colId xmlns:a16="http://schemas.microsoft.com/office/drawing/2014/main" val="2974705727"/>
                        </a:ext>
                      </a:extLst>
                    </a:gridCol>
                    <a:gridCol w="359167">
                      <a:extLst>
                        <a:ext uri="{9D8B030D-6E8A-4147-A177-3AD203B41FA5}">
                          <a16:colId xmlns:a16="http://schemas.microsoft.com/office/drawing/2014/main" val="327161703"/>
                        </a:ext>
                      </a:extLst>
                    </a:gridCol>
                    <a:gridCol w="359167">
                      <a:extLst>
                        <a:ext uri="{9D8B030D-6E8A-4147-A177-3AD203B41FA5}">
                          <a16:colId xmlns:a16="http://schemas.microsoft.com/office/drawing/2014/main" val="173256928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2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i="1" dirty="0" smtClean="0"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en-US" altLang="ko-KR" sz="1200" i="1" dirty="0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2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i="1" dirty="0" smtClean="0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  <m:sub>
                                    <m:r>
                                      <a:rPr lang="en-US" altLang="ko-KR" sz="1200" i="1" dirty="0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200"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2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i="1" dirty="0" smtClean="0"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en-US" altLang="ko-KR" sz="1200" i="1" dirty="0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200"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2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i="1" dirty="0" smtClean="0"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en-US" altLang="ko-KR" sz="1200" b="1" i="1" dirty="0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2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i="1" dirty="0" smtClean="0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  <m:sub>
                                    <m:r>
                                      <a:rPr lang="en-US" altLang="ko-KR" sz="1200" b="1" i="1" dirty="0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200"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2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i="1" dirty="0" smtClean="0"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en-US" altLang="ko-KR" sz="1200" b="1" i="1" dirty="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200"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2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i="1" dirty="0" smtClean="0"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en-US" altLang="ko-KR" sz="1200" b="1" i="1" dirty="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2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i="1" dirty="0" smtClean="0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  <m:sub>
                                    <m:r>
                                      <a:rPr lang="en-US" altLang="ko-KR" sz="1200" b="1" i="1" dirty="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200"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2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i="1" dirty="0" smtClean="0"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en-US" altLang="ko-KR" sz="1200" b="1" i="1" dirty="0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200"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2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i="1" dirty="0" smtClean="0"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en-US" altLang="ko-KR" sz="1200" b="1" i="1" dirty="0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2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i="1" dirty="0" smtClean="0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  <m:sub>
                                    <m:r>
                                      <a:rPr lang="en-US" altLang="ko-KR" sz="1200" b="1" i="1" dirty="0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200"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2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i="1" dirty="0" smtClean="0"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en-US" altLang="ko-KR" sz="1200" b="1" i="1" dirty="0" smtClean="0"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200"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2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i="1" dirty="0" smtClean="0"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en-US" altLang="ko-KR" sz="1200" b="1" i="1" dirty="0" smtClean="0"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2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i="1" dirty="0" smtClean="0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  <m:sub>
                                    <m:r>
                                      <a:rPr lang="en-US" altLang="ko-KR" sz="1200" b="1" i="1" dirty="0" smtClean="0"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200"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2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i="1" dirty="0" smtClean="0"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en-US" altLang="ko-KR" sz="1200" b="1" i="1" dirty="0" smtClean="0"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200"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2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i="1" dirty="0" smtClean="0"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en-US" altLang="ko-KR" sz="1200" b="1" i="1" dirty="0" smtClean="0"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200" dirty="0"/>
                        </a:p>
                      </a:txBody>
                      <a:tcPr marL="0" marR="0" marT="0" marB="0" anchor="ctr"/>
                    </a:tc>
                    <a:extLst>
                      <a:ext uri="{0D108BD9-81ED-4DB2-BD59-A6C34878D82A}">
                        <a16:rowId xmlns:a16="http://schemas.microsoft.com/office/drawing/2014/main" val="125471939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/>
                            <a:t>(1,1)</a:t>
                          </a:r>
                          <a:endParaRPr lang="ko-KR" altLang="en-US" sz="1200"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200" dirty="0"/>
                            <a:t>↑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/>
                            <a:t>-0.1</a:t>
                          </a:r>
                          <a:endParaRPr lang="ko-KR" altLang="en-US" sz="1200"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/>
                            <a:t>(1,2)</a:t>
                          </a:r>
                          <a:endParaRPr lang="ko-KR" altLang="en-US" sz="1200"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200" dirty="0"/>
                            <a:t>↑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/>
                            <a:t>-0.1</a:t>
                          </a:r>
                          <a:endParaRPr lang="ko-KR" altLang="en-US" sz="1200"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/>
                            <a:t>(1,3)</a:t>
                          </a:r>
                          <a:endParaRPr lang="ko-KR" altLang="en-US" sz="1200"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200" dirty="0"/>
                            <a:t>→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/>
                            <a:t>-0.1</a:t>
                          </a:r>
                          <a:endParaRPr lang="ko-KR" altLang="en-US" sz="1200"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/>
                            <a:t>(2,3)</a:t>
                          </a:r>
                          <a:endParaRPr lang="ko-KR" altLang="en-US" sz="1200"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200" dirty="0"/>
                            <a:t>→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/>
                            <a:t>-0.1</a:t>
                          </a:r>
                          <a:endParaRPr lang="ko-KR" altLang="en-US" sz="1200"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/>
                            <a:t>(3,3)</a:t>
                          </a:r>
                          <a:endParaRPr lang="ko-KR" altLang="en-US" sz="1200"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200" dirty="0"/>
                            <a:t>→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/>
                            <a:t>0.9</a:t>
                          </a:r>
                          <a:endParaRPr lang="ko-KR" altLang="en-US" sz="1200"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/>
                            <a:t>(4,3)</a:t>
                          </a:r>
                          <a:endParaRPr lang="ko-KR" altLang="en-US" sz="1200" dirty="0"/>
                        </a:p>
                      </a:txBody>
                      <a:tcPr marL="0" marR="0" marT="0" marB="0" anchor="ctr"/>
                    </a:tc>
                    <a:extLst>
                      <a:ext uri="{0D108BD9-81ED-4DB2-BD59-A6C34878D82A}">
                        <a16:rowId xmlns:a16="http://schemas.microsoft.com/office/drawing/2014/main" val="698596143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20" name="표 19">
                <a:extLst>
                  <a:ext uri="{FF2B5EF4-FFF2-40B4-BE49-F238E27FC236}">
                    <a16:creationId xmlns:a16="http://schemas.microsoft.com/office/drawing/2014/main" id="{000E1A67-5A38-4E3F-B763-E8F7C832CE7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0604880"/>
                  </p:ext>
                </p:extLst>
              </p:nvPr>
            </p:nvGraphicFramePr>
            <p:xfrm>
              <a:off x="4036533" y="3926877"/>
              <a:ext cx="5746672" cy="7416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59167">
                      <a:extLst>
                        <a:ext uri="{9D8B030D-6E8A-4147-A177-3AD203B41FA5}">
                          <a16:colId xmlns:a16="http://schemas.microsoft.com/office/drawing/2014/main" val="3245171961"/>
                        </a:ext>
                      </a:extLst>
                    </a:gridCol>
                    <a:gridCol w="359167">
                      <a:extLst>
                        <a:ext uri="{9D8B030D-6E8A-4147-A177-3AD203B41FA5}">
                          <a16:colId xmlns:a16="http://schemas.microsoft.com/office/drawing/2014/main" val="1661526075"/>
                        </a:ext>
                      </a:extLst>
                    </a:gridCol>
                    <a:gridCol w="359167">
                      <a:extLst>
                        <a:ext uri="{9D8B030D-6E8A-4147-A177-3AD203B41FA5}">
                          <a16:colId xmlns:a16="http://schemas.microsoft.com/office/drawing/2014/main" val="1302463196"/>
                        </a:ext>
                      </a:extLst>
                    </a:gridCol>
                    <a:gridCol w="359167">
                      <a:extLst>
                        <a:ext uri="{9D8B030D-6E8A-4147-A177-3AD203B41FA5}">
                          <a16:colId xmlns:a16="http://schemas.microsoft.com/office/drawing/2014/main" val="1469477333"/>
                        </a:ext>
                      </a:extLst>
                    </a:gridCol>
                    <a:gridCol w="359167">
                      <a:extLst>
                        <a:ext uri="{9D8B030D-6E8A-4147-A177-3AD203B41FA5}">
                          <a16:colId xmlns:a16="http://schemas.microsoft.com/office/drawing/2014/main" val="630501421"/>
                        </a:ext>
                      </a:extLst>
                    </a:gridCol>
                    <a:gridCol w="359167">
                      <a:extLst>
                        <a:ext uri="{9D8B030D-6E8A-4147-A177-3AD203B41FA5}">
                          <a16:colId xmlns:a16="http://schemas.microsoft.com/office/drawing/2014/main" val="1806452162"/>
                        </a:ext>
                      </a:extLst>
                    </a:gridCol>
                    <a:gridCol w="359167">
                      <a:extLst>
                        <a:ext uri="{9D8B030D-6E8A-4147-A177-3AD203B41FA5}">
                          <a16:colId xmlns:a16="http://schemas.microsoft.com/office/drawing/2014/main" val="763839846"/>
                        </a:ext>
                      </a:extLst>
                    </a:gridCol>
                    <a:gridCol w="359167">
                      <a:extLst>
                        <a:ext uri="{9D8B030D-6E8A-4147-A177-3AD203B41FA5}">
                          <a16:colId xmlns:a16="http://schemas.microsoft.com/office/drawing/2014/main" val="354458399"/>
                        </a:ext>
                      </a:extLst>
                    </a:gridCol>
                    <a:gridCol w="359167">
                      <a:extLst>
                        <a:ext uri="{9D8B030D-6E8A-4147-A177-3AD203B41FA5}">
                          <a16:colId xmlns:a16="http://schemas.microsoft.com/office/drawing/2014/main" val="2349704990"/>
                        </a:ext>
                      </a:extLst>
                    </a:gridCol>
                    <a:gridCol w="359167">
                      <a:extLst>
                        <a:ext uri="{9D8B030D-6E8A-4147-A177-3AD203B41FA5}">
                          <a16:colId xmlns:a16="http://schemas.microsoft.com/office/drawing/2014/main" val="3263532662"/>
                        </a:ext>
                      </a:extLst>
                    </a:gridCol>
                    <a:gridCol w="359167">
                      <a:extLst>
                        <a:ext uri="{9D8B030D-6E8A-4147-A177-3AD203B41FA5}">
                          <a16:colId xmlns:a16="http://schemas.microsoft.com/office/drawing/2014/main" val="1861832497"/>
                        </a:ext>
                      </a:extLst>
                    </a:gridCol>
                    <a:gridCol w="359167">
                      <a:extLst>
                        <a:ext uri="{9D8B030D-6E8A-4147-A177-3AD203B41FA5}">
                          <a16:colId xmlns:a16="http://schemas.microsoft.com/office/drawing/2014/main" val="2642156900"/>
                        </a:ext>
                      </a:extLst>
                    </a:gridCol>
                    <a:gridCol w="359167">
                      <a:extLst>
                        <a:ext uri="{9D8B030D-6E8A-4147-A177-3AD203B41FA5}">
                          <a16:colId xmlns:a16="http://schemas.microsoft.com/office/drawing/2014/main" val="2592392835"/>
                        </a:ext>
                      </a:extLst>
                    </a:gridCol>
                    <a:gridCol w="359167">
                      <a:extLst>
                        <a:ext uri="{9D8B030D-6E8A-4147-A177-3AD203B41FA5}">
                          <a16:colId xmlns:a16="http://schemas.microsoft.com/office/drawing/2014/main" val="2974705727"/>
                        </a:ext>
                      </a:extLst>
                    </a:gridCol>
                    <a:gridCol w="359167">
                      <a:extLst>
                        <a:ext uri="{9D8B030D-6E8A-4147-A177-3AD203B41FA5}">
                          <a16:colId xmlns:a16="http://schemas.microsoft.com/office/drawing/2014/main" val="327161703"/>
                        </a:ext>
                      </a:extLst>
                    </a:gridCol>
                    <a:gridCol w="359167">
                      <a:extLst>
                        <a:ext uri="{9D8B030D-6E8A-4147-A177-3AD203B41FA5}">
                          <a16:colId xmlns:a16="http://schemas.microsoft.com/office/drawing/2014/main" val="173256928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0" marR="0" marT="0" marB="0" anchor="ctr">
                        <a:blipFill>
                          <a:blip r:embed="rId6"/>
                          <a:stretch>
                            <a:fillRect l="-1695" t="-1639" r="-1506780" b="-1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0" marR="0" marT="0" marB="0" anchor="ctr">
                        <a:blipFill>
                          <a:blip r:embed="rId6"/>
                          <a:stretch>
                            <a:fillRect l="-101695" t="-1639" r="-1406780" b="-1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0" marR="0" marT="0" marB="0" anchor="ctr">
                        <a:blipFill>
                          <a:blip r:embed="rId6"/>
                          <a:stretch>
                            <a:fillRect l="-201695" t="-1639" r="-1306780" b="-1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0" marR="0" marT="0" marB="0" anchor="ctr">
                        <a:blipFill>
                          <a:blip r:embed="rId6"/>
                          <a:stretch>
                            <a:fillRect l="-301695" t="-1639" r="-1206780" b="-1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0" marR="0" marT="0" marB="0" anchor="ctr">
                        <a:blipFill>
                          <a:blip r:embed="rId6"/>
                          <a:stretch>
                            <a:fillRect l="-401695" t="-1639" r="-1106780" b="-1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0" marR="0" marT="0" marB="0" anchor="ctr">
                        <a:blipFill>
                          <a:blip r:embed="rId6"/>
                          <a:stretch>
                            <a:fillRect l="-501695" t="-1639" r="-1006780" b="-1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0" marR="0" marT="0" marB="0" anchor="ctr">
                        <a:blipFill>
                          <a:blip r:embed="rId6"/>
                          <a:stretch>
                            <a:fillRect l="-601695" t="-1639" r="-906780" b="-1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0" marR="0" marT="0" marB="0" anchor="ctr">
                        <a:blipFill>
                          <a:blip r:embed="rId6"/>
                          <a:stretch>
                            <a:fillRect l="-701695" t="-1639" r="-806780" b="-1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0" marR="0" marT="0" marB="0" anchor="ctr">
                        <a:blipFill>
                          <a:blip r:embed="rId6"/>
                          <a:stretch>
                            <a:fillRect l="-815517" t="-1639" r="-720690" b="-1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0" marR="0" marT="0" marB="0" anchor="ctr">
                        <a:blipFill>
                          <a:blip r:embed="rId6"/>
                          <a:stretch>
                            <a:fillRect l="-900000" t="-1639" r="-608475" b="-1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0" marR="0" marT="0" marB="0" anchor="ctr">
                        <a:blipFill>
                          <a:blip r:embed="rId6"/>
                          <a:stretch>
                            <a:fillRect l="-1000000" t="-1639" r="-508475" b="-1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0" marR="0" marT="0" marB="0" anchor="ctr">
                        <a:blipFill>
                          <a:blip r:embed="rId6"/>
                          <a:stretch>
                            <a:fillRect l="-1100000" t="-1639" r="-408475" b="-1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0" marR="0" marT="0" marB="0" anchor="ctr">
                        <a:blipFill>
                          <a:blip r:embed="rId6"/>
                          <a:stretch>
                            <a:fillRect l="-1200000" t="-1639" r="-308475" b="-1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0" marR="0" marT="0" marB="0" anchor="ctr">
                        <a:blipFill>
                          <a:blip r:embed="rId6"/>
                          <a:stretch>
                            <a:fillRect l="-1300000" t="-1639" r="-208475" b="-1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0" marR="0" marT="0" marB="0" anchor="ctr">
                        <a:blipFill>
                          <a:blip r:embed="rId6"/>
                          <a:stretch>
                            <a:fillRect l="-1400000" t="-1639" r="-108475" b="-1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0" marR="0" marT="0" marB="0" anchor="ctr">
                        <a:blipFill>
                          <a:blip r:embed="rId6"/>
                          <a:stretch>
                            <a:fillRect l="-1500000" t="-1639" r="-8475" b="-1032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5471939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/>
                            <a:t>(1,1)</a:t>
                          </a:r>
                          <a:endParaRPr lang="ko-KR" altLang="en-US" sz="1200"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200" dirty="0"/>
                            <a:t>↑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/>
                            <a:t>-0.1</a:t>
                          </a:r>
                          <a:endParaRPr lang="ko-KR" altLang="en-US" sz="1200"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/>
                            <a:t>(1,2)</a:t>
                          </a:r>
                          <a:endParaRPr lang="ko-KR" altLang="en-US" sz="1200"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200" dirty="0"/>
                            <a:t>↑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/>
                            <a:t>-0.1</a:t>
                          </a:r>
                          <a:endParaRPr lang="ko-KR" altLang="en-US" sz="1200"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/>
                            <a:t>(1,3)</a:t>
                          </a:r>
                          <a:endParaRPr lang="ko-KR" altLang="en-US" sz="1200"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200" dirty="0"/>
                            <a:t>→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/>
                            <a:t>-0.1</a:t>
                          </a:r>
                          <a:endParaRPr lang="ko-KR" altLang="en-US" sz="1200"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/>
                            <a:t>(2,3)</a:t>
                          </a:r>
                          <a:endParaRPr lang="ko-KR" altLang="en-US" sz="1200"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200" dirty="0"/>
                            <a:t>→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/>
                            <a:t>-0.1</a:t>
                          </a:r>
                          <a:endParaRPr lang="ko-KR" altLang="en-US" sz="1200"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/>
                            <a:t>(3,3)</a:t>
                          </a:r>
                          <a:endParaRPr lang="ko-KR" altLang="en-US" sz="1200"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200" dirty="0"/>
                            <a:t>→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/>
                            <a:t>0.9</a:t>
                          </a:r>
                          <a:endParaRPr lang="ko-KR" altLang="en-US" sz="1200"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/>
                            <a:t>(4,3)</a:t>
                          </a:r>
                          <a:endParaRPr lang="ko-KR" altLang="en-US" sz="1200" dirty="0"/>
                        </a:p>
                      </a:txBody>
                      <a:tcPr marL="0" marR="0" marT="0" marB="0" anchor="ctr"/>
                    </a:tc>
                    <a:extLst>
                      <a:ext uri="{0D108BD9-81ED-4DB2-BD59-A6C34878D82A}">
                        <a16:rowId xmlns:a16="http://schemas.microsoft.com/office/drawing/2014/main" val="698596143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1" name="TextBox 20">
            <a:extLst>
              <a:ext uri="{FF2B5EF4-FFF2-40B4-BE49-F238E27FC236}">
                <a16:creationId xmlns:a16="http://schemas.microsoft.com/office/drawing/2014/main" id="{541E28D5-3085-B8D6-F982-D1884335C2F0}"/>
              </a:ext>
            </a:extLst>
          </p:cNvPr>
          <p:cNvSpPr txBox="1"/>
          <p:nvPr/>
        </p:nvSpPr>
        <p:spPr>
          <a:xfrm>
            <a:off x="1617381" y="6108660"/>
            <a:ext cx="10439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b="0" dirty="0">
                <a:latin typeface="+mn-ea"/>
                <a:ea typeface="+mn-ea"/>
              </a:rPr>
              <a:t>grid world </a:t>
            </a:r>
            <a:endParaRPr lang="ko-KR" altLang="en-US" b="0" dirty="0"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9221653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A07BD3-DC1B-B08B-DAF3-3F3A7235DA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117D685D-AADC-1816-FC25-2D41280E713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dirty="0"/>
              <a:t>환경모델을 사용하는 지 여부에 따른 </a:t>
            </a:r>
            <a:r>
              <a:rPr lang="en-US" altLang="ko-KR" dirty="0"/>
              <a:t>MDP</a:t>
            </a:r>
            <a:r>
              <a:rPr lang="ko-KR" altLang="en-US" dirty="0"/>
              <a:t> 알고리즘의 분류</a:t>
            </a: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E479ACB4-AEA0-C3CE-09D7-F81AE1B4727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62309" y="904870"/>
            <a:ext cx="9270641" cy="3383045"/>
          </a:xfrm>
        </p:spPr>
        <p:txBody>
          <a:bodyPr/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dirty="0">
                <a:latin typeface="+mn-ea"/>
              </a:rPr>
              <a:t>model-based method : </a:t>
            </a:r>
            <a:r>
              <a:rPr lang="ko-KR" altLang="en-US" dirty="0">
                <a:latin typeface="+mn-ea"/>
              </a:rPr>
              <a:t>환경모델을 사용하여 </a:t>
            </a:r>
            <a:r>
              <a:rPr lang="en-US" altLang="ko-KR" dirty="0">
                <a:latin typeface="+mn-ea"/>
              </a:rPr>
              <a:t>MDP</a:t>
            </a:r>
            <a:r>
              <a:rPr lang="ko-KR" altLang="en-US" dirty="0">
                <a:latin typeface="+mn-ea"/>
              </a:rPr>
              <a:t>를 푸는 방법론</a:t>
            </a:r>
            <a:endParaRPr lang="en-US" altLang="ko-KR" dirty="0">
              <a:latin typeface="+mn-ea"/>
            </a:endParaRPr>
          </a:p>
          <a:p>
            <a:pPr marL="180000" lvl="1" indent="1800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+mn-ea"/>
              </a:rPr>
              <a:t>동적계획법</a:t>
            </a:r>
            <a:r>
              <a:rPr lang="en-US" altLang="ko-KR" sz="1400" dirty="0">
                <a:latin typeface="+mn-ea"/>
              </a:rPr>
              <a:t>(Dynamic programming) : </a:t>
            </a:r>
            <a:r>
              <a:rPr lang="ko-KR" altLang="en-US" sz="1400" dirty="0">
                <a:latin typeface="+mn-ea"/>
              </a:rPr>
              <a:t>환경모델이 주어졌을 때</a:t>
            </a:r>
            <a:r>
              <a:rPr lang="en-US" altLang="ko-KR" sz="1400" dirty="0">
                <a:latin typeface="+mn-ea"/>
              </a:rPr>
              <a:t>, </a:t>
            </a:r>
            <a:r>
              <a:rPr lang="ko-KR" altLang="en-US" sz="1400" dirty="0">
                <a:latin typeface="+mn-ea"/>
              </a:rPr>
              <a:t>모든 상태의 가치함수를 계산 및 개선</a:t>
            </a:r>
            <a:endParaRPr lang="en-US" altLang="ko-KR" sz="1400" dirty="0">
              <a:latin typeface="+mn-ea"/>
            </a:endParaRPr>
          </a:p>
          <a:p>
            <a:pPr marL="180000" lvl="1" indent="1800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+mn-ea"/>
              </a:rPr>
              <a:t>환경모델을 추정하여 사용하는 방법 </a:t>
            </a:r>
            <a:r>
              <a:rPr lang="en-US" altLang="ko-KR" sz="1400" dirty="0">
                <a:latin typeface="+mn-ea"/>
              </a:rPr>
              <a:t>: ex. Dyna, MBPO </a:t>
            </a:r>
            <a:r>
              <a:rPr lang="ko-KR" altLang="en-US" sz="1400" dirty="0">
                <a:latin typeface="+mn-ea"/>
              </a:rPr>
              <a:t>등</a:t>
            </a:r>
            <a:endParaRPr lang="en-US" altLang="ko-KR" sz="1400" dirty="0">
              <a:latin typeface="+mn-ea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dirty="0">
                <a:latin typeface="+mn-ea"/>
              </a:rPr>
              <a:t>model-free method : </a:t>
            </a:r>
            <a:r>
              <a:rPr lang="ko-KR" altLang="en-US" dirty="0">
                <a:latin typeface="+mn-ea"/>
              </a:rPr>
              <a:t>환경 모델을 알지 못하는 상태에서 </a:t>
            </a:r>
            <a:r>
              <a:rPr lang="en-US" altLang="ko-KR" dirty="0">
                <a:latin typeface="+mn-ea"/>
              </a:rPr>
              <a:t>MDP</a:t>
            </a:r>
            <a:r>
              <a:rPr lang="ko-KR" altLang="en-US" dirty="0">
                <a:latin typeface="+mn-ea"/>
              </a:rPr>
              <a:t>를 푸는 방법론</a:t>
            </a:r>
            <a:endParaRPr lang="en-US" altLang="ko-KR" dirty="0">
              <a:latin typeface="+mn-ea"/>
            </a:endParaRPr>
          </a:p>
          <a:p>
            <a:pPr marL="180000" lvl="1" indent="1800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+mn-ea"/>
              </a:rPr>
              <a:t>주요한</a:t>
            </a:r>
            <a:r>
              <a:rPr lang="ko-KR" altLang="en-US" sz="1400" b="0" dirty="0">
                <a:latin typeface="+mn-ea"/>
              </a:rPr>
              <a:t> 강화학습 알고리즘들은 모두 </a:t>
            </a:r>
            <a:r>
              <a:rPr lang="en-US" altLang="ko-KR" sz="1400" b="0" dirty="0">
                <a:latin typeface="+mn-ea"/>
              </a:rPr>
              <a:t>model free </a:t>
            </a:r>
            <a:r>
              <a:rPr lang="ko-KR" altLang="en-US" sz="1400" b="0" dirty="0">
                <a:latin typeface="+mn-ea"/>
              </a:rPr>
              <a:t>방식 </a:t>
            </a:r>
            <a:r>
              <a:rPr lang="en-US" altLang="ko-KR" sz="1400" b="0" dirty="0">
                <a:latin typeface="+mn-ea"/>
              </a:rPr>
              <a:t>: </a:t>
            </a:r>
            <a:r>
              <a:rPr lang="en-US" altLang="ko-KR" sz="1400" dirty="0">
                <a:latin typeface="+mn-ea"/>
              </a:rPr>
              <a:t>ex.</a:t>
            </a:r>
            <a:r>
              <a:rPr lang="ko-KR" altLang="en-US" sz="1400" dirty="0">
                <a:latin typeface="+mn-ea"/>
              </a:rPr>
              <a:t> </a:t>
            </a:r>
            <a:r>
              <a:rPr lang="en-US" altLang="ko-KR" sz="1400" dirty="0">
                <a:latin typeface="+mn-ea"/>
              </a:rPr>
              <a:t>Monte</a:t>
            </a:r>
            <a:r>
              <a:rPr lang="ko-KR" altLang="en-US" sz="1400" dirty="0">
                <a:latin typeface="+mn-ea"/>
              </a:rPr>
              <a:t> </a:t>
            </a:r>
            <a:r>
              <a:rPr lang="en-US" altLang="ko-KR" sz="1400" dirty="0">
                <a:latin typeface="+mn-ea"/>
              </a:rPr>
              <a:t>Carlo, temporal difference learning </a:t>
            </a:r>
            <a:r>
              <a:rPr lang="ko-KR" altLang="en-US" sz="1400" dirty="0">
                <a:latin typeface="+mn-ea"/>
              </a:rPr>
              <a:t>등</a:t>
            </a:r>
            <a:endParaRPr lang="en-US" altLang="ko-KR" sz="1400" b="0" dirty="0">
              <a:latin typeface="+mn-ea"/>
            </a:endParaRPr>
          </a:p>
          <a:p>
            <a:pPr marL="180000" lvl="1" indent="1800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>
                <a:latin typeface="+mn-ea"/>
              </a:rPr>
              <a:t>agent</a:t>
            </a:r>
            <a:r>
              <a:rPr lang="ko-KR" altLang="en-US" sz="1400" dirty="0">
                <a:latin typeface="+mn-ea"/>
              </a:rPr>
              <a:t>는 </a:t>
            </a:r>
            <a:r>
              <a:rPr lang="en-US" altLang="ko-KR" sz="1400" dirty="0">
                <a:latin typeface="+mn-ea"/>
              </a:rPr>
              <a:t>transition dynamics</a:t>
            </a:r>
            <a:r>
              <a:rPr lang="ko-KR" altLang="en-US" sz="1400" dirty="0">
                <a:latin typeface="+mn-ea"/>
              </a:rPr>
              <a:t>를 알지 못한 채로 시행착오를 통해 최적 정책을 학습</a:t>
            </a:r>
            <a:endParaRPr lang="en-US" altLang="ko-KR" sz="1400" dirty="0">
              <a:latin typeface="+mn-ea"/>
            </a:endParaRPr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B6A858A3-84C4-362C-4204-1DAC41A932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Ⅰ-2. Markov Decision Process (3/5)</a:t>
            </a:r>
            <a:endParaRPr lang="ko-KR" altLang="en-US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A7C54C96-10B5-47F6-1DF4-E1A15D42475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 dirty="0"/>
              <a:t>Ⅰ </a:t>
            </a:r>
            <a:r>
              <a:rPr lang="ko-KR" altLang="en-US" dirty="0"/>
              <a:t>강화학습 기초</a:t>
            </a:r>
          </a:p>
        </p:txBody>
      </p:sp>
      <p:pic>
        <p:nvPicPr>
          <p:cNvPr id="1026" name="Picture 2" descr="Reinforcement Learning Model-Based and Model-Free Paradigms for Optimal  Control Problems in Power Systems: Comprehensive Review and Future  Directions">
            <a:extLst>
              <a:ext uri="{FF2B5EF4-FFF2-40B4-BE49-F238E27FC236}">
                <a16:creationId xmlns:a16="http://schemas.microsoft.com/office/drawing/2014/main" id="{6CF5FA97-2C8A-6D4F-3E54-F571CC5AAF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53059" y="3305477"/>
            <a:ext cx="5238750" cy="2628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277661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DBB565-3194-BFB2-4747-F8444DC9BD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70A52DFA-2BEE-3FB4-5255-7B66A656A45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return</a:t>
            </a:r>
            <a:r>
              <a:rPr lang="ko-KR" altLang="en-US" dirty="0"/>
              <a:t> </a:t>
            </a:r>
            <a:r>
              <a:rPr lang="en-US" altLang="ko-KR" dirty="0"/>
              <a:t>(</a:t>
            </a:r>
            <a:r>
              <a:rPr lang="ko-KR" altLang="en-US" dirty="0"/>
              <a:t>누적보상합</a:t>
            </a:r>
            <a:r>
              <a:rPr lang="en-US" altLang="ko-KR" dirty="0"/>
              <a:t>, discounted sum of rewards)</a:t>
            </a:r>
            <a:endParaRPr lang="ko-KR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텍스트 개체 틀 5">
                <a:extLst>
                  <a:ext uri="{FF2B5EF4-FFF2-40B4-BE49-F238E27FC236}">
                    <a16:creationId xmlns:a16="http://schemas.microsoft.com/office/drawing/2014/main" id="{26D3FEA9-00FC-070C-F32B-EBD20ADAEE50}"/>
                  </a:ext>
                </a:extLst>
              </p:cNvPr>
              <p:cNvSpPr>
                <a:spLocks noGrp="1"/>
              </p:cNvSpPr>
              <p:nvPr>
                <p:ph type="body" sz="quarter" idx="11"/>
              </p:nvPr>
            </p:nvSpPr>
            <p:spPr>
              <a:xfrm>
                <a:off x="362309" y="904870"/>
                <a:ext cx="9270641" cy="2617194"/>
              </a:xfrm>
            </p:spPr>
            <p:txBody>
              <a:bodyPr/>
              <a:lstStyle/>
              <a:p>
                <a:pPr marL="285750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dirty="0">
                    <a:latin typeface="+mn-ea"/>
                  </a:rPr>
                  <a:t>시간에 따른 중요도를 고려한 보상들의 합</a:t>
                </a:r>
                <a:endParaRPr lang="en-US" altLang="ko-KR" dirty="0">
                  <a:latin typeface="+mn-ea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ko-KR" dirty="0"/>
                  <a:t>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 dirty="0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altLang="ko-KR" i="1" dirty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altLang="ko-KR" i="1" dirty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ko-KR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 dirty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ko-KR" i="1" dirty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ko-KR" i="1" dirty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altLang="ko-KR" i="1" dirty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ko-KR" i="1" dirty="0">
                        <a:latin typeface="Cambria Math" panose="02040503050406030204" pitchFamily="18" charset="0"/>
                      </a:rPr>
                      <m:t>𝛾</m:t>
                    </m:r>
                    <m:sSub>
                      <m:sSubPr>
                        <m:ctrlPr>
                          <a:rPr lang="en-US" altLang="ko-KR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 dirty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ko-KR" i="1" dirty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ko-KR" i="1" dirty="0">
                            <a:latin typeface="Cambria Math" panose="02040503050406030204" pitchFamily="18" charset="0"/>
                          </a:rPr>
                          <m:t>+2</m:t>
                        </m:r>
                      </m:sub>
                    </m:sSub>
                    <m:r>
                      <a:rPr lang="en-US" altLang="ko-KR" i="1" dirty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altLang="ko-KR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i="1" dirty="0">
                            <a:latin typeface="Cambria Math" panose="02040503050406030204" pitchFamily="18" charset="0"/>
                          </a:rPr>
                          <m:t>𝛾</m:t>
                        </m:r>
                      </m:e>
                      <m:sup>
                        <m:r>
                          <a:rPr lang="en-US" altLang="ko-KR" i="1" dirty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b>
                      <m:sSubPr>
                        <m:ctrlPr>
                          <a:rPr lang="en-US" altLang="ko-KR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 dirty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ko-KR" i="1" dirty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ko-KR" i="1" dirty="0">
                            <a:latin typeface="Cambria Math" panose="02040503050406030204" pitchFamily="18" charset="0"/>
                          </a:rPr>
                          <m:t>+3</m:t>
                        </m:r>
                      </m:sub>
                    </m:sSub>
                    <m:r>
                      <a:rPr lang="en-US" altLang="ko-KR" i="1" dirty="0">
                        <a:latin typeface="Cambria Math" panose="02040503050406030204" pitchFamily="18" charset="0"/>
                      </a:rPr>
                      <m:t>+⋯</m:t>
                    </m:r>
                  </m:oMath>
                </a14:m>
                <a:r>
                  <a:rPr lang="en-US" altLang="ko-KR" dirty="0">
                    <a:latin typeface="Cambria Math" panose="02040503050406030204" pitchFamily="18" charset="0"/>
                  </a:rPr>
                  <a:t>      (</a:t>
                </a:r>
                <a:r>
                  <a:rPr lang="ko-KR" altLang="en-US" dirty="0">
                    <a:latin typeface="Cambria Math" panose="02040503050406030204" pitchFamily="18" charset="0"/>
                  </a:rPr>
                  <a:t>단</a:t>
                </a:r>
                <a:r>
                  <a:rPr lang="en-US" altLang="ko-KR" dirty="0">
                    <a:latin typeface="Cambria Math" panose="020405030504060302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altLang="ko-KR" i="1" dirty="0">
                        <a:latin typeface="Cambria Math" panose="02040503050406030204" pitchFamily="18" charset="0"/>
                      </a:rPr>
                      <m:t>0≤</m:t>
                    </m:r>
                    <m:r>
                      <a:rPr lang="en-US" altLang="ko-KR" i="1" dirty="0">
                        <a:latin typeface="Cambria Math" panose="02040503050406030204" pitchFamily="18" charset="0"/>
                      </a:rPr>
                      <m:t>𝛾</m:t>
                    </m:r>
                    <m:r>
                      <a:rPr lang="en-US" altLang="ko-KR" i="1" dirty="0">
                        <a:latin typeface="Cambria Math" panose="02040503050406030204" pitchFamily="18" charset="0"/>
                      </a:rPr>
                      <m:t>≤1</m:t>
                    </m:r>
                  </m:oMath>
                </a14:m>
                <a:r>
                  <a:rPr lang="en-US" altLang="ko-KR" dirty="0">
                    <a:latin typeface="Cambria Math" panose="02040503050406030204" pitchFamily="18" charset="0"/>
                  </a:rPr>
                  <a:t>)</a:t>
                </a:r>
              </a:p>
              <a:p>
                <a:pPr marL="285750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en-US" altLang="ko-KR" dirty="0">
                    <a:latin typeface="+mn-ea"/>
                  </a:rPr>
                  <a:t>discount factor (</a:t>
                </a:r>
                <a:r>
                  <a:rPr lang="ko-KR" altLang="en-US" dirty="0" err="1">
                    <a:latin typeface="+mn-ea"/>
                  </a:rPr>
                  <a:t>감가율</a:t>
                </a:r>
                <a:r>
                  <a:rPr lang="en-US" altLang="ko-KR" dirty="0">
                    <a:latin typeface="+mn-ea"/>
                  </a:rPr>
                  <a:t>) </a:t>
                </a:r>
                <a14:m>
                  <m:oMath xmlns:m="http://schemas.openxmlformats.org/officeDocument/2006/math">
                    <m:r>
                      <a:rPr lang="en-US" altLang="ko-KR" i="1" dirty="0" smtClean="0">
                        <a:latin typeface="Cambria Math" panose="02040503050406030204" pitchFamily="18" charset="0"/>
                      </a:rPr>
                      <m:t>𝛾</m:t>
                    </m:r>
                  </m:oMath>
                </a14:m>
                <a:endParaRPr lang="en-US" altLang="ko-KR" dirty="0">
                  <a:latin typeface="Cambria Math" panose="02040503050406030204" pitchFamily="18" charset="0"/>
                </a:endParaRPr>
              </a:p>
              <a:p>
                <a:pPr marL="180000" lvl="1" indent="1800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altLang="ko-KR" sz="1400" i="1" dirty="0">
                        <a:latin typeface="Cambria Math" panose="02040503050406030204" pitchFamily="18" charset="0"/>
                      </a:rPr>
                      <m:t>𝛾</m:t>
                    </m:r>
                    <m:r>
                      <a:rPr lang="en-US" altLang="ko-KR" sz="1400" i="1" dirty="0">
                        <a:latin typeface="Cambria Math" panose="02040503050406030204" pitchFamily="18" charset="0"/>
                      </a:rPr>
                      <m:t>&lt;1</m:t>
                    </m:r>
                    <m:r>
                      <m:rPr>
                        <m:nor/>
                      </m:rPr>
                      <a:rPr lang="ko-KR" altLang="en-US" sz="1400" dirty="0">
                        <a:latin typeface="Cambria Math" panose="02040503050406030204" pitchFamily="18" charset="0"/>
                      </a:rPr>
                      <m:t>이면</m:t>
                    </m:r>
                    <m:r>
                      <m:rPr>
                        <m:nor/>
                      </m:rPr>
                      <a:rPr lang="ko-KR" altLang="en-US" sz="1400" dirty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ko-KR" altLang="en-US" sz="1400" dirty="0">
                        <a:latin typeface="Cambria Math" panose="02040503050406030204" pitchFamily="18" charset="0"/>
                      </a:rPr>
                      <m:t>급수</m:t>
                    </m:r>
                    <m:r>
                      <m:rPr>
                        <m:nor/>
                      </m:rPr>
                      <a:rPr lang="ko-KR" altLang="en-US" sz="1400" dirty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altLang="ko-KR" sz="1400" dirty="0" err="1">
                        <a:latin typeface="Cambria Math" panose="02040503050406030204" pitchFamily="18" charset="0"/>
                      </a:rPr>
                      <m:t>G</m:t>
                    </m:r>
                    <m:r>
                      <m:rPr>
                        <m:nor/>
                      </m:rPr>
                      <a:rPr lang="en-US" altLang="ko-KR" sz="1400" dirty="0" err="1">
                        <a:latin typeface="Cambria Math" panose="02040503050406030204" pitchFamily="18" charset="0"/>
                      </a:rPr>
                      <m:t>_</m:t>
                    </m:r>
                    <m:r>
                      <m:rPr>
                        <m:nor/>
                      </m:rPr>
                      <a:rPr lang="en-US" altLang="ko-KR" sz="1400" dirty="0" err="1">
                        <a:latin typeface="Cambria Math" panose="02040503050406030204" pitchFamily="18" charset="0"/>
                      </a:rPr>
                      <m:t>t</m:t>
                    </m:r>
                    <m:r>
                      <m:rPr>
                        <m:nor/>
                      </m:rPr>
                      <a:rPr lang="ko-KR" altLang="en-US" sz="1400" dirty="0">
                        <a:latin typeface="Cambria Math" panose="02040503050406030204" pitchFamily="18" charset="0"/>
                      </a:rPr>
                      <m:t>가</m:t>
                    </m:r>
                    <m:r>
                      <m:rPr>
                        <m:nor/>
                      </m:rPr>
                      <a:rPr lang="ko-KR" altLang="en-US" sz="1400" dirty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ko-KR" altLang="en-US" sz="1400" dirty="0">
                        <a:latin typeface="Cambria Math" panose="02040503050406030204" pitchFamily="18" charset="0"/>
                      </a:rPr>
                      <m:t>항상</m:t>
                    </m:r>
                    <m:r>
                      <m:rPr>
                        <m:nor/>
                      </m:rPr>
                      <a:rPr lang="ko-KR" altLang="en-US" sz="1400" dirty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ko-KR" altLang="en-US" sz="1400" dirty="0">
                        <a:latin typeface="Cambria Math" panose="02040503050406030204" pitchFamily="18" charset="0"/>
                      </a:rPr>
                      <m:t>수렴</m:t>
                    </m:r>
                  </m:oMath>
                </a14:m>
                <a:endParaRPr lang="en-US" altLang="ko-KR" sz="1400" dirty="0"/>
              </a:p>
              <a:p>
                <a:pPr marL="180000" lvl="1" indent="1800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400" dirty="0"/>
                  <a:t>과거의 보상보다 최근의 보상을 더 중요하게 고려한다는 의미</a:t>
                </a:r>
                <a:endParaRPr lang="en-US" altLang="ko-KR" sz="1400" b="0" dirty="0">
                  <a:latin typeface="Cambria Math" panose="02040503050406030204" pitchFamily="18" charset="0"/>
                </a:endParaRPr>
              </a:p>
              <a:p>
                <a:pPr marL="285750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dirty="0">
                    <a:latin typeface="+mn-ea"/>
                  </a:rPr>
                  <a:t>인접한 </a:t>
                </a:r>
                <a:r>
                  <a:rPr lang="en-US" altLang="ko-KR" dirty="0">
                    <a:latin typeface="+mn-ea"/>
                  </a:rPr>
                  <a:t>return </a:t>
                </a:r>
                <a:r>
                  <a:rPr lang="ko-KR" altLang="en-US" dirty="0">
                    <a:latin typeface="+mn-ea"/>
                  </a:rPr>
                  <a:t>사이의 </a:t>
                </a:r>
                <a:r>
                  <a:rPr lang="ko-KR" altLang="en-US" dirty="0" err="1">
                    <a:latin typeface="+mn-ea"/>
                  </a:rPr>
                  <a:t>점화식</a:t>
                </a:r>
                <a:endParaRPr lang="en-US" altLang="ko-KR" dirty="0">
                  <a:latin typeface="+mn-ea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ko-KR" dirty="0"/>
                  <a:t>     </a:t>
                </a:r>
                <a14:m>
                  <m:oMath xmlns:m="http://schemas.openxmlformats.org/officeDocument/2006/math">
                    <m:r>
                      <a:rPr lang="en-US" altLang="ko-KR" b="0" i="0" dirty="0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altLang="ko-KR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 dirty="0" smtClean="0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altLang="ko-KR" i="1" dirty="0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altLang="ko-KR" i="1" dirty="0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ko-KR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 dirty="0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ko-KR" i="1" dirty="0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ko-KR" i="1" dirty="0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altLang="ko-KR" i="1" dirty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ko-KR" i="1" dirty="0" smtClean="0">
                        <a:latin typeface="Cambria Math" panose="02040503050406030204" pitchFamily="18" charset="0"/>
                      </a:rPr>
                      <m:t>𝛾</m:t>
                    </m:r>
                    <m:sSub>
                      <m:sSubPr>
                        <m:ctrlPr>
                          <a:rPr lang="en-US" altLang="ko-KR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 dirty="0" smtClean="0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altLang="ko-KR" i="1" dirty="0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ko-KR" i="1" dirty="0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</m:oMath>
                </a14:m>
              </a:p>
            </p:txBody>
          </p:sp>
        </mc:Choice>
        <mc:Fallback>
          <p:sp>
            <p:nvSpPr>
              <p:cNvPr id="6" name="텍스트 개체 틀 5">
                <a:extLst>
                  <a:ext uri="{FF2B5EF4-FFF2-40B4-BE49-F238E27FC236}">
                    <a16:creationId xmlns:a16="http://schemas.microsoft.com/office/drawing/2014/main" id="{26D3FEA9-00FC-070C-F32B-EBD20ADAEE5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1"/>
              </p:nvPr>
            </p:nvSpPr>
            <p:spPr>
              <a:xfrm>
                <a:off x="362309" y="904870"/>
                <a:ext cx="9270641" cy="2617194"/>
              </a:xfrm>
              <a:blipFill>
                <a:blip r:embed="rId3"/>
                <a:stretch>
                  <a:fillRect l="-26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제목 3">
            <a:extLst>
              <a:ext uri="{FF2B5EF4-FFF2-40B4-BE49-F238E27FC236}">
                <a16:creationId xmlns:a16="http://schemas.microsoft.com/office/drawing/2014/main" id="{C8DDC290-85E1-C621-61CA-8E48903EFA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Ⅰ-2. Markov Decision Process (4/5)</a:t>
            </a:r>
            <a:endParaRPr lang="ko-KR" altLang="en-US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723F487D-BD34-F619-C195-460ECCBA989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 dirty="0"/>
              <a:t>Ⅰ </a:t>
            </a:r>
            <a:r>
              <a:rPr lang="ko-KR" altLang="en-US" dirty="0"/>
              <a:t>강화학습 기초</a:t>
            </a:r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8273B1B1-7CD0-688D-DA80-276DFD3BA4EE}"/>
              </a:ext>
            </a:extLst>
          </p:cNvPr>
          <p:cNvGraphicFramePr>
            <a:graphicFrameLocks noGrp="1"/>
          </p:cNvGraphicFramePr>
          <p:nvPr/>
        </p:nvGraphicFramePr>
        <p:xfrm>
          <a:off x="381118" y="3944232"/>
          <a:ext cx="3436280" cy="184400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59070">
                  <a:extLst>
                    <a:ext uri="{9D8B030D-6E8A-4147-A177-3AD203B41FA5}">
                      <a16:colId xmlns:a16="http://schemas.microsoft.com/office/drawing/2014/main" val="3283410258"/>
                    </a:ext>
                  </a:extLst>
                </a:gridCol>
                <a:gridCol w="859070">
                  <a:extLst>
                    <a:ext uri="{9D8B030D-6E8A-4147-A177-3AD203B41FA5}">
                      <a16:colId xmlns:a16="http://schemas.microsoft.com/office/drawing/2014/main" val="591898217"/>
                    </a:ext>
                  </a:extLst>
                </a:gridCol>
                <a:gridCol w="859070">
                  <a:extLst>
                    <a:ext uri="{9D8B030D-6E8A-4147-A177-3AD203B41FA5}">
                      <a16:colId xmlns:a16="http://schemas.microsoft.com/office/drawing/2014/main" val="1445315171"/>
                    </a:ext>
                  </a:extLst>
                </a:gridCol>
                <a:gridCol w="859070">
                  <a:extLst>
                    <a:ext uri="{9D8B030D-6E8A-4147-A177-3AD203B41FA5}">
                      <a16:colId xmlns:a16="http://schemas.microsoft.com/office/drawing/2014/main" val="856673349"/>
                    </a:ext>
                  </a:extLst>
                </a:gridCol>
              </a:tblGrid>
              <a:tr h="614669"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+1(</a:t>
                      </a:r>
                      <a:r>
                        <a:rPr lang="ko-KR" altLang="en-US" sz="1400" dirty="0"/>
                        <a:t>종료</a:t>
                      </a:r>
                      <a:r>
                        <a:rPr lang="en-US" altLang="ko-KR" sz="1400" dirty="0"/>
                        <a:t>)</a:t>
                      </a:r>
                      <a:endParaRPr lang="ko-KR" alt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37638875"/>
                  </a:ext>
                </a:extLst>
              </a:tr>
              <a:tr h="614669"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-1(</a:t>
                      </a:r>
                      <a:r>
                        <a:rPr lang="ko-KR" altLang="en-US" sz="1400" dirty="0"/>
                        <a:t>종료</a:t>
                      </a:r>
                      <a:r>
                        <a:rPr lang="en-US" altLang="ko-KR" sz="1400" dirty="0"/>
                        <a:t>)</a:t>
                      </a:r>
                      <a:endParaRPr lang="ko-KR" alt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32969099"/>
                  </a:ext>
                </a:extLst>
              </a:tr>
              <a:tr h="61466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시작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26604439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2C6B45E1-A170-CEA5-A7A0-3E12FF02AB1A}"/>
              </a:ext>
            </a:extLst>
          </p:cNvPr>
          <p:cNvSpPr txBox="1"/>
          <p:nvPr/>
        </p:nvSpPr>
        <p:spPr>
          <a:xfrm>
            <a:off x="656948" y="5823746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b="0" dirty="0">
                <a:latin typeface="+mn-ea"/>
                <a:ea typeface="+mn-ea"/>
              </a:rPr>
              <a:t>1</a:t>
            </a:r>
            <a:endParaRPr lang="ko-KR" altLang="en-US" b="0" dirty="0">
              <a:latin typeface="+mn-ea"/>
              <a:ea typeface="+mn-ea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829F331-34D4-4DE0-6F59-8691EF947FA4}"/>
              </a:ext>
            </a:extLst>
          </p:cNvPr>
          <p:cNvSpPr txBox="1"/>
          <p:nvPr/>
        </p:nvSpPr>
        <p:spPr>
          <a:xfrm>
            <a:off x="1510687" y="5834101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b="0" dirty="0">
                <a:latin typeface="+mn-ea"/>
                <a:ea typeface="+mn-ea"/>
              </a:rPr>
              <a:t>2</a:t>
            </a:r>
            <a:endParaRPr lang="ko-KR" altLang="en-US" b="0" dirty="0">
              <a:latin typeface="+mn-ea"/>
              <a:ea typeface="+mn-ea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0C684F4-6717-F187-9FB2-710C0D64B5C6}"/>
              </a:ext>
            </a:extLst>
          </p:cNvPr>
          <p:cNvSpPr txBox="1"/>
          <p:nvPr/>
        </p:nvSpPr>
        <p:spPr>
          <a:xfrm>
            <a:off x="2377269" y="5834101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b="0" dirty="0">
                <a:latin typeface="+mn-ea"/>
                <a:ea typeface="+mn-ea"/>
              </a:rPr>
              <a:t>3</a:t>
            </a:r>
            <a:endParaRPr lang="ko-KR" altLang="en-US" b="0" dirty="0">
              <a:latin typeface="+mn-ea"/>
              <a:ea typeface="+mn-ea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10D9226-D1DB-42E2-A9CD-607DB490845D}"/>
              </a:ext>
            </a:extLst>
          </p:cNvPr>
          <p:cNvSpPr txBox="1"/>
          <p:nvPr/>
        </p:nvSpPr>
        <p:spPr>
          <a:xfrm>
            <a:off x="3231008" y="5844456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b="0" dirty="0">
                <a:latin typeface="+mn-ea"/>
                <a:ea typeface="+mn-ea"/>
              </a:rPr>
              <a:t>4</a:t>
            </a:r>
            <a:endParaRPr lang="ko-KR" altLang="en-US" b="0" dirty="0">
              <a:latin typeface="+mn-ea"/>
              <a:ea typeface="+mn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11EA9C2-0C82-8F6F-BF19-2744997771D9}"/>
              </a:ext>
            </a:extLst>
          </p:cNvPr>
          <p:cNvSpPr txBox="1"/>
          <p:nvPr/>
        </p:nvSpPr>
        <p:spPr>
          <a:xfrm>
            <a:off x="19235" y="5257054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b="0" dirty="0">
                <a:latin typeface="+mn-ea"/>
                <a:ea typeface="+mn-ea"/>
              </a:rPr>
              <a:t>1</a:t>
            </a:r>
            <a:endParaRPr lang="ko-KR" altLang="en-US" b="0" dirty="0">
              <a:latin typeface="+mn-ea"/>
              <a:ea typeface="+mn-ea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8DB1B1B-4C7B-77AD-651E-517ED4C01C19}"/>
              </a:ext>
            </a:extLst>
          </p:cNvPr>
          <p:cNvSpPr txBox="1"/>
          <p:nvPr/>
        </p:nvSpPr>
        <p:spPr>
          <a:xfrm>
            <a:off x="29609" y="4712346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b="0" dirty="0">
                <a:latin typeface="+mn-ea"/>
                <a:ea typeface="+mn-ea"/>
              </a:rPr>
              <a:t>2</a:t>
            </a:r>
            <a:endParaRPr lang="ko-KR" altLang="en-US" b="0" dirty="0">
              <a:latin typeface="+mn-ea"/>
              <a:ea typeface="+mn-ea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4469D24-29E0-ACF3-D886-A3C84452CC03}"/>
              </a:ext>
            </a:extLst>
          </p:cNvPr>
          <p:cNvSpPr txBox="1"/>
          <p:nvPr/>
        </p:nvSpPr>
        <p:spPr>
          <a:xfrm>
            <a:off x="29609" y="4106794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b="0" dirty="0">
                <a:latin typeface="+mn-ea"/>
                <a:ea typeface="+mn-ea"/>
              </a:rPr>
              <a:t>3</a:t>
            </a:r>
            <a:endParaRPr lang="ko-KR" altLang="en-US" b="0" dirty="0">
              <a:latin typeface="+mn-ea"/>
              <a:ea typeface="+mn-ea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0FB11CF-9F9B-52AB-2B40-C35A67DA2F52}"/>
              </a:ext>
            </a:extLst>
          </p:cNvPr>
          <p:cNvSpPr txBox="1"/>
          <p:nvPr/>
        </p:nvSpPr>
        <p:spPr>
          <a:xfrm>
            <a:off x="1573568" y="3560983"/>
            <a:ext cx="10439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b="0" dirty="0">
                <a:latin typeface="+mn-ea"/>
                <a:ea typeface="+mn-ea"/>
              </a:rPr>
              <a:t>grid world </a:t>
            </a:r>
            <a:endParaRPr lang="ko-KR" altLang="en-US" b="0" dirty="0">
              <a:latin typeface="+mn-ea"/>
              <a:ea typeface="+mn-ea"/>
            </a:endParaRPr>
          </a:p>
        </p:txBody>
      </p:sp>
      <p:sp>
        <p:nvSpPr>
          <p:cNvPr id="19" name="화살표: 위쪽 18">
            <a:extLst>
              <a:ext uri="{FF2B5EF4-FFF2-40B4-BE49-F238E27FC236}">
                <a16:creationId xmlns:a16="http://schemas.microsoft.com/office/drawing/2014/main" id="{F4B42709-FA8B-36B6-84B8-A38426246206}"/>
              </a:ext>
            </a:extLst>
          </p:cNvPr>
          <p:cNvSpPr/>
          <p:nvPr/>
        </p:nvSpPr>
        <p:spPr bwMode="auto">
          <a:xfrm>
            <a:off x="704780" y="4363048"/>
            <a:ext cx="236220" cy="977591"/>
          </a:xfrm>
          <a:prstGeom prst="upArrow">
            <a:avLst/>
          </a:prstGeom>
          <a:solidFill>
            <a:srgbClr val="31859C"/>
          </a:solidFill>
          <a:ln>
            <a:noFill/>
          </a:ln>
          <a:effectLst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1896"/>
            <a:endParaRPr lang="ko-KR" altLang="en-US" dirty="0">
              <a:solidFill>
                <a:prstClr val="white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0" name="화살표: 위쪽 19">
            <a:extLst>
              <a:ext uri="{FF2B5EF4-FFF2-40B4-BE49-F238E27FC236}">
                <a16:creationId xmlns:a16="http://schemas.microsoft.com/office/drawing/2014/main" id="{0457D6C4-8623-9737-24E2-CE65504ACD05}"/>
              </a:ext>
            </a:extLst>
          </p:cNvPr>
          <p:cNvSpPr/>
          <p:nvPr/>
        </p:nvSpPr>
        <p:spPr bwMode="auto">
          <a:xfrm rot="5400000">
            <a:off x="1865885" y="3265620"/>
            <a:ext cx="236220" cy="2085991"/>
          </a:xfrm>
          <a:prstGeom prst="upArrow">
            <a:avLst/>
          </a:prstGeom>
          <a:solidFill>
            <a:srgbClr val="31859C"/>
          </a:solidFill>
          <a:ln>
            <a:noFill/>
          </a:ln>
          <a:effectLst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1896"/>
            <a:endParaRPr lang="ko-KR" altLang="en-US" dirty="0">
              <a:solidFill>
                <a:prstClr val="white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표 1">
                <a:extLst>
                  <a:ext uri="{FF2B5EF4-FFF2-40B4-BE49-F238E27FC236}">
                    <a16:creationId xmlns:a16="http://schemas.microsoft.com/office/drawing/2014/main" id="{03E980B4-A812-3301-AF2C-498EE133989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55368303"/>
                  </p:ext>
                </p:extLst>
              </p:nvPr>
            </p:nvGraphicFramePr>
            <p:xfrm>
              <a:off x="4036533" y="3926877"/>
              <a:ext cx="5746672" cy="7416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59167">
                      <a:extLst>
                        <a:ext uri="{9D8B030D-6E8A-4147-A177-3AD203B41FA5}">
                          <a16:colId xmlns:a16="http://schemas.microsoft.com/office/drawing/2014/main" val="3245171961"/>
                        </a:ext>
                      </a:extLst>
                    </a:gridCol>
                    <a:gridCol w="359167">
                      <a:extLst>
                        <a:ext uri="{9D8B030D-6E8A-4147-A177-3AD203B41FA5}">
                          <a16:colId xmlns:a16="http://schemas.microsoft.com/office/drawing/2014/main" val="1661526075"/>
                        </a:ext>
                      </a:extLst>
                    </a:gridCol>
                    <a:gridCol w="359167">
                      <a:extLst>
                        <a:ext uri="{9D8B030D-6E8A-4147-A177-3AD203B41FA5}">
                          <a16:colId xmlns:a16="http://schemas.microsoft.com/office/drawing/2014/main" val="1302463196"/>
                        </a:ext>
                      </a:extLst>
                    </a:gridCol>
                    <a:gridCol w="359167">
                      <a:extLst>
                        <a:ext uri="{9D8B030D-6E8A-4147-A177-3AD203B41FA5}">
                          <a16:colId xmlns:a16="http://schemas.microsoft.com/office/drawing/2014/main" val="1469477333"/>
                        </a:ext>
                      </a:extLst>
                    </a:gridCol>
                    <a:gridCol w="359167">
                      <a:extLst>
                        <a:ext uri="{9D8B030D-6E8A-4147-A177-3AD203B41FA5}">
                          <a16:colId xmlns:a16="http://schemas.microsoft.com/office/drawing/2014/main" val="630501421"/>
                        </a:ext>
                      </a:extLst>
                    </a:gridCol>
                    <a:gridCol w="359167">
                      <a:extLst>
                        <a:ext uri="{9D8B030D-6E8A-4147-A177-3AD203B41FA5}">
                          <a16:colId xmlns:a16="http://schemas.microsoft.com/office/drawing/2014/main" val="1806452162"/>
                        </a:ext>
                      </a:extLst>
                    </a:gridCol>
                    <a:gridCol w="359167">
                      <a:extLst>
                        <a:ext uri="{9D8B030D-6E8A-4147-A177-3AD203B41FA5}">
                          <a16:colId xmlns:a16="http://schemas.microsoft.com/office/drawing/2014/main" val="763839846"/>
                        </a:ext>
                      </a:extLst>
                    </a:gridCol>
                    <a:gridCol w="359167">
                      <a:extLst>
                        <a:ext uri="{9D8B030D-6E8A-4147-A177-3AD203B41FA5}">
                          <a16:colId xmlns:a16="http://schemas.microsoft.com/office/drawing/2014/main" val="354458399"/>
                        </a:ext>
                      </a:extLst>
                    </a:gridCol>
                    <a:gridCol w="359167">
                      <a:extLst>
                        <a:ext uri="{9D8B030D-6E8A-4147-A177-3AD203B41FA5}">
                          <a16:colId xmlns:a16="http://schemas.microsoft.com/office/drawing/2014/main" val="2349704990"/>
                        </a:ext>
                      </a:extLst>
                    </a:gridCol>
                    <a:gridCol w="359167">
                      <a:extLst>
                        <a:ext uri="{9D8B030D-6E8A-4147-A177-3AD203B41FA5}">
                          <a16:colId xmlns:a16="http://schemas.microsoft.com/office/drawing/2014/main" val="3263532662"/>
                        </a:ext>
                      </a:extLst>
                    </a:gridCol>
                    <a:gridCol w="359167">
                      <a:extLst>
                        <a:ext uri="{9D8B030D-6E8A-4147-A177-3AD203B41FA5}">
                          <a16:colId xmlns:a16="http://schemas.microsoft.com/office/drawing/2014/main" val="1861832497"/>
                        </a:ext>
                      </a:extLst>
                    </a:gridCol>
                    <a:gridCol w="359167">
                      <a:extLst>
                        <a:ext uri="{9D8B030D-6E8A-4147-A177-3AD203B41FA5}">
                          <a16:colId xmlns:a16="http://schemas.microsoft.com/office/drawing/2014/main" val="2642156900"/>
                        </a:ext>
                      </a:extLst>
                    </a:gridCol>
                    <a:gridCol w="359167">
                      <a:extLst>
                        <a:ext uri="{9D8B030D-6E8A-4147-A177-3AD203B41FA5}">
                          <a16:colId xmlns:a16="http://schemas.microsoft.com/office/drawing/2014/main" val="2592392835"/>
                        </a:ext>
                      </a:extLst>
                    </a:gridCol>
                    <a:gridCol w="359167">
                      <a:extLst>
                        <a:ext uri="{9D8B030D-6E8A-4147-A177-3AD203B41FA5}">
                          <a16:colId xmlns:a16="http://schemas.microsoft.com/office/drawing/2014/main" val="2974705727"/>
                        </a:ext>
                      </a:extLst>
                    </a:gridCol>
                    <a:gridCol w="359167">
                      <a:extLst>
                        <a:ext uri="{9D8B030D-6E8A-4147-A177-3AD203B41FA5}">
                          <a16:colId xmlns:a16="http://schemas.microsoft.com/office/drawing/2014/main" val="327161703"/>
                        </a:ext>
                      </a:extLst>
                    </a:gridCol>
                    <a:gridCol w="359167">
                      <a:extLst>
                        <a:ext uri="{9D8B030D-6E8A-4147-A177-3AD203B41FA5}">
                          <a16:colId xmlns:a16="http://schemas.microsoft.com/office/drawing/2014/main" val="173256928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2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i="1" dirty="0" smtClean="0"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en-US" altLang="ko-KR" sz="1200" i="1" dirty="0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2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i="1" dirty="0" smtClean="0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  <m:sub>
                                    <m:r>
                                      <a:rPr lang="en-US" altLang="ko-KR" sz="1200" i="1" dirty="0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200"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2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i="1" dirty="0" smtClean="0"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en-US" altLang="ko-KR" sz="1200" i="1" dirty="0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200"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2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i="1" dirty="0" smtClean="0"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en-US" altLang="ko-KR" sz="1200" b="1" i="1" dirty="0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2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i="1" dirty="0" smtClean="0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  <m:sub>
                                    <m:r>
                                      <a:rPr lang="en-US" altLang="ko-KR" sz="1200" b="1" i="1" dirty="0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200"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2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i="1" dirty="0" smtClean="0"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en-US" altLang="ko-KR" sz="1200" b="1" i="1" dirty="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200"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2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i="1" dirty="0" smtClean="0"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en-US" altLang="ko-KR" sz="1200" b="1" i="1" dirty="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2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i="1" dirty="0" smtClean="0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  <m:sub>
                                    <m:r>
                                      <a:rPr lang="en-US" altLang="ko-KR" sz="1200" b="1" i="1" dirty="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200"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2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i="1" dirty="0" smtClean="0"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en-US" altLang="ko-KR" sz="1200" b="1" i="1" dirty="0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200"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2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i="1" dirty="0" smtClean="0"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en-US" altLang="ko-KR" sz="1200" b="1" i="1" dirty="0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2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i="1" dirty="0" smtClean="0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  <m:sub>
                                    <m:r>
                                      <a:rPr lang="en-US" altLang="ko-KR" sz="1200" b="1" i="1" dirty="0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200"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2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i="1" dirty="0" smtClean="0"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en-US" altLang="ko-KR" sz="1200" b="1" i="1" dirty="0" smtClean="0"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200"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2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i="1" dirty="0" smtClean="0"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en-US" altLang="ko-KR" sz="1200" b="1" i="1" dirty="0" smtClean="0"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2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i="1" dirty="0" smtClean="0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  <m:sub>
                                    <m:r>
                                      <a:rPr lang="en-US" altLang="ko-KR" sz="1200" b="1" i="1" dirty="0" smtClean="0"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200"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2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i="1" dirty="0" smtClean="0"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en-US" altLang="ko-KR" sz="1200" b="1" i="1" dirty="0" smtClean="0"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200"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2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i="1" dirty="0" smtClean="0"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en-US" altLang="ko-KR" sz="1200" b="1" i="1" dirty="0" smtClean="0"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200" dirty="0"/>
                        </a:p>
                      </a:txBody>
                      <a:tcPr marL="0" marR="0" marT="0" marB="0" anchor="ctr"/>
                    </a:tc>
                    <a:extLst>
                      <a:ext uri="{0D108BD9-81ED-4DB2-BD59-A6C34878D82A}">
                        <a16:rowId xmlns:a16="http://schemas.microsoft.com/office/drawing/2014/main" val="125471939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/>
                            <a:t>(1,1)</a:t>
                          </a:r>
                          <a:endParaRPr lang="ko-KR" altLang="en-US" sz="1200"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200" dirty="0"/>
                            <a:t>↑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/>
                            <a:t>-0.1</a:t>
                          </a:r>
                          <a:endParaRPr lang="ko-KR" altLang="en-US" sz="1200"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/>
                            <a:t>(1,2)</a:t>
                          </a:r>
                          <a:endParaRPr lang="ko-KR" altLang="en-US" sz="1200"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200" dirty="0"/>
                            <a:t>↑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/>
                            <a:t>-0.1</a:t>
                          </a:r>
                          <a:endParaRPr lang="ko-KR" altLang="en-US" sz="1200"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/>
                            <a:t>(1,3)</a:t>
                          </a:r>
                          <a:endParaRPr lang="ko-KR" altLang="en-US" sz="1200"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200" dirty="0"/>
                            <a:t>→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/>
                            <a:t>-0.1</a:t>
                          </a:r>
                          <a:endParaRPr lang="ko-KR" altLang="en-US" sz="1200"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/>
                            <a:t>(2,3)</a:t>
                          </a:r>
                          <a:endParaRPr lang="ko-KR" altLang="en-US" sz="1200"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200" dirty="0"/>
                            <a:t>→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/>
                            <a:t>-0.1</a:t>
                          </a:r>
                          <a:endParaRPr lang="ko-KR" altLang="en-US" sz="1200"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/>
                            <a:t>(3,3)</a:t>
                          </a:r>
                          <a:endParaRPr lang="ko-KR" altLang="en-US" sz="1200"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200" dirty="0"/>
                            <a:t>→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/>
                            <a:t>0.9</a:t>
                          </a:r>
                          <a:endParaRPr lang="ko-KR" altLang="en-US" sz="1200"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/>
                            <a:t>(4,3)</a:t>
                          </a:r>
                          <a:endParaRPr lang="ko-KR" altLang="en-US" sz="1200" dirty="0"/>
                        </a:p>
                      </a:txBody>
                      <a:tcPr marL="0" marR="0" marT="0" marB="0" anchor="ctr"/>
                    </a:tc>
                    <a:extLst>
                      <a:ext uri="{0D108BD9-81ED-4DB2-BD59-A6C34878D82A}">
                        <a16:rowId xmlns:a16="http://schemas.microsoft.com/office/drawing/2014/main" val="69859614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표 1">
                <a:extLst>
                  <a:ext uri="{FF2B5EF4-FFF2-40B4-BE49-F238E27FC236}">
                    <a16:creationId xmlns:a16="http://schemas.microsoft.com/office/drawing/2014/main" id="{03E980B4-A812-3301-AF2C-498EE133989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55368303"/>
                  </p:ext>
                </p:extLst>
              </p:nvPr>
            </p:nvGraphicFramePr>
            <p:xfrm>
              <a:off x="4036533" y="3926877"/>
              <a:ext cx="5746672" cy="7416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59167">
                      <a:extLst>
                        <a:ext uri="{9D8B030D-6E8A-4147-A177-3AD203B41FA5}">
                          <a16:colId xmlns:a16="http://schemas.microsoft.com/office/drawing/2014/main" val="3245171961"/>
                        </a:ext>
                      </a:extLst>
                    </a:gridCol>
                    <a:gridCol w="359167">
                      <a:extLst>
                        <a:ext uri="{9D8B030D-6E8A-4147-A177-3AD203B41FA5}">
                          <a16:colId xmlns:a16="http://schemas.microsoft.com/office/drawing/2014/main" val="1661526075"/>
                        </a:ext>
                      </a:extLst>
                    </a:gridCol>
                    <a:gridCol w="359167">
                      <a:extLst>
                        <a:ext uri="{9D8B030D-6E8A-4147-A177-3AD203B41FA5}">
                          <a16:colId xmlns:a16="http://schemas.microsoft.com/office/drawing/2014/main" val="1302463196"/>
                        </a:ext>
                      </a:extLst>
                    </a:gridCol>
                    <a:gridCol w="359167">
                      <a:extLst>
                        <a:ext uri="{9D8B030D-6E8A-4147-A177-3AD203B41FA5}">
                          <a16:colId xmlns:a16="http://schemas.microsoft.com/office/drawing/2014/main" val="1469477333"/>
                        </a:ext>
                      </a:extLst>
                    </a:gridCol>
                    <a:gridCol w="359167">
                      <a:extLst>
                        <a:ext uri="{9D8B030D-6E8A-4147-A177-3AD203B41FA5}">
                          <a16:colId xmlns:a16="http://schemas.microsoft.com/office/drawing/2014/main" val="630501421"/>
                        </a:ext>
                      </a:extLst>
                    </a:gridCol>
                    <a:gridCol w="359167">
                      <a:extLst>
                        <a:ext uri="{9D8B030D-6E8A-4147-A177-3AD203B41FA5}">
                          <a16:colId xmlns:a16="http://schemas.microsoft.com/office/drawing/2014/main" val="1806452162"/>
                        </a:ext>
                      </a:extLst>
                    </a:gridCol>
                    <a:gridCol w="359167">
                      <a:extLst>
                        <a:ext uri="{9D8B030D-6E8A-4147-A177-3AD203B41FA5}">
                          <a16:colId xmlns:a16="http://schemas.microsoft.com/office/drawing/2014/main" val="763839846"/>
                        </a:ext>
                      </a:extLst>
                    </a:gridCol>
                    <a:gridCol w="359167">
                      <a:extLst>
                        <a:ext uri="{9D8B030D-6E8A-4147-A177-3AD203B41FA5}">
                          <a16:colId xmlns:a16="http://schemas.microsoft.com/office/drawing/2014/main" val="354458399"/>
                        </a:ext>
                      </a:extLst>
                    </a:gridCol>
                    <a:gridCol w="359167">
                      <a:extLst>
                        <a:ext uri="{9D8B030D-6E8A-4147-A177-3AD203B41FA5}">
                          <a16:colId xmlns:a16="http://schemas.microsoft.com/office/drawing/2014/main" val="2349704990"/>
                        </a:ext>
                      </a:extLst>
                    </a:gridCol>
                    <a:gridCol w="359167">
                      <a:extLst>
                        <a:ext uri="{9D8B030D-6E8A-4147-A177-3AD203B41FA5}">
                          <a16:colId xmlns:a16="http://schemas.microsoft.com/office/drawing/2014/main" val="3263532662"/>
                        </a:ext>
                      </a:extLst>
                    </a:gridCol>
                    <a:gridCol w="359167">
                      <a:extLst>
                        <a:ext uri="{9D8B030D-6E8A-4147-A177-3AD203B41FA5}">
                          <a16:colId xmlns:a16="http://schemas.microsoft.com/office/drawing/2014/main" val="1861832497"/>
                        </a:ext>
                      </a:extLst>
                    </a:gridCol>
                    <a:gridCol w="359167">
                      <a:extLst>
                        <a:ext uri="{9D8B030D-6E8A-4147-A177-3AD203B41FA5}">
                          <a16:colId xmlns:a16="http://schemas.microsoft.com/office/drawing/2014/main" val="2642156900"/>
                        </a:ext>
                      </a:extLst>
                    </a:gridCol>
                    <a:gridCol w="359167">
                      <a:extLst>
                        <a:ext uri="{9D8B030D-6E8A-4147-A177-3AD203B41FA5}">
                          <a16:colId xmlns:a16="http://schemas.microsoft.com/office/drawing/2014/main" val="2592392835"/>
                        </a:ext>
                      </a:extLst>
                    </a:gridCol>
                    <a:gridCol w="359167">
                      <a:extLst>
                        <a:ext uri="{9D8B030D-6E8A-4147-A177-3AD203B41FA5}">
                          <a16:colId xmlns:a16="http://schemas.microsoft.com/office/drawing/2014/main" val="2974705727"/>
                        </a:ext>
                      </a:extLst>
                    </a:gridCol>
                    <a:gridCol w="359167">
                      <a:extLst>
                        <a:ext uri="{9D8B030D-6E8A-4147-A177-3AD203B41FA5}">
                          <a16:colId xmlns:a16="http://schemas.microsoft.com/office/drawing/2014/main" val="327161703"/>
                        </a:ext>
                      </a:extLst>
                    </a:gridCol>
                    <a:gridCol w="359167">
                      <a:extLst>
                        <a:ext uri="{9D8B030D-6E8A-4147-A177-3AD203B41FA5}">
                          <a16:colId xmlns:a16="http://schemas.microsoft.com/office/drawing/2014/main" val="173256928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0" marR="0" marT="0" marB="0" anchor="ctr">
                        <a:blipFill>
                          <a:blip r:embed="rId5"/>
                          <a:stretch>
                            <a:fillRect l="-1695" t="-1639" r="-1506780" b="-1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0" marR="0" marT="0" marB="0" anchor="ctr">
                        <a:blipFill>
                          <a:blip r:embed="rId5"/>
                          <a:stretch>
                            <a:fillRect l="-101695" t="-1639" r="-1406780" b="-1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0" marR="0" marT="0" marB="0" anchor="ctr">
                        <a:blipFill>
                          <a:blip r:embed="rId5"/>
                          <a:stretch>
                            <a:fillRect l="-201695" t="-1639" r="-1306780" b="-1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0" marR="0" marT="0" marB="0" anchor="ctr">
                        <a:blipFill>
                          <a:blip r:embed="rId5"/>
                          <a:stretch>
                            <a:fillRect l="-301695" t="-1639" r="-1206780" b="-1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0" marR="0" marT="0" marB="0" anchor="ctr">
                        <a:blipFill>
                          <a:blip r:embed="rId5"/>
                          <a:stretch>
                            <a:fillRect l="-401695" t="-1639" r="-1106780" b="-1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0" marR="0" marT="0" marB="0" anchor="ctr">
                        <a:blipFill>
                          <a:blip r:embed="rId5"/>
                          <a:stretch>
                            <a:fillRect l="-501695" t="-1639" r="-1006780" b="-1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0" marR="0" marT="0" marB="0" anchor="ctr">
                        <a:blipFill>
                          <a:blip r:embed="rId5"/>
                          <a:stretch>
                            <a:fillRect l="-601695" t="-1639" r="-906780" b="-1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0" marR="0" marT="0" marB="0" anchor="ctr">
                        <a:blipFill>
                          <a:blip r:embed="rId5"/>
                          <a:stretch>
                            <a:fillRect l="-701695" t="-1639" r="-806780" b="-1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0" marR="0" marT="0" marB="0" anchor="ctr">
                        <a:blipFill>
                          <a:blip r:embed="rId5"/>
                          <a:stretch>
                            <a:fillRect l="-815517" t="-1639" r="-720690" b="-1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0" marR="0" marT="0" marB="0" anchor="ctr">
                        <a:blipFill>
                          <a:blip r:embed="rId5"/>
                          <a:stretch>
                            <a:fillRect l="-900000" t="-1639" r="-608475" b="-1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0" marR="0" marT="0" marB="0" anchor="ctr">
                        <a:blipFill>
                          <a:blip r:embed="rId5"/>
                          <a:stretch>
                            <a:fillRect l="-1000000" t="-1639" r="-508475" b="-1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0" marR="0" marT="0" marB="0" anchor="ctr">
                        <a:blipFill>
                          <a:blip r:embed="rId5"/>
                          <a:stretch>
                            <a:fillRect l="-1100000" t="-1639" r="-408475" b="-1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0" marR="0" marT="0" marB="0" anchor="ctr">
                        <a:blipFill>
                          <a:blip r:embed="rId5"/>
                          <a:stretch>
                            <a:fillRect l="-1200000" t="-1639" r="-308475" b="-1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0" marR="0" marT="0" marB="0" anchor="ctr">
                        <a:blipFill>
                          <a:blip r:embed="rId5"/>
                          <a:stretch>
                            <a:fillRect l="-1300000" t="-1639" r="-208475" b="-1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0" marR="0" marT="0" marB="0" anchor="ctr">
                        <a:blipFill>
                          <a:blip r:embed="rId5"/>
                          <a:stretch>
                            <a:fillRect l="-1400000" t="-1639" r="-108475" b="-1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0" marR="0" marT="0" marB="0" anchor="ctr">
                        <a:blipFill>
                          <a:blip r:embed="rId5"/>
                          <a:stretch>
                            <a:fillRect l="-1500000" t="-1639" r="-8475" b="-1032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5471939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/>
                            <a:t>(1,1)</a:t>
                          </a:r>
                          <a:endParaRPr lang="ko-KR" altLang="en-US" sz="1200"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200" dirty="0"/>
                            <a:t>↑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/>
                            <a:t>-0.1</a:t>
                          </a:r>
                          <a:endParaRPr lang="ko-KR" altLang="en-US" sz="1200"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/>
                            <a:t>(1,2)</a:t>
                          </a:r>
                          <a:endParaRPr lang="ko-KR" altLang="en-US" sz="1200"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200" dirty="0"/>
                            <a:t>↑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/>
                            <a:t>-0.1</a:t>
                          </a:r>
                          <a:endParaRPr lang="ko-KR" altLang="en-US" sz="1200"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/>
                            <a:t>(1,3)</a:t>
                          </a:r>
                          <a:endParaRPr lang="ko-KR" altLang="en-US" sz="1200"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200" dirty="0"/>
                            <a:t>→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/>
                            <a:t>-0.1</a:t>
                          </a:r>
                          <a:endParaRPr lang="ko-KR" altLang="en-US" sz="1200"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/>
                            <a:t>(2,3)</a:t>
                          </a:r>
                          <a:endParaRPr lang="ko-KR" altLang="en-US" sz="1200"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200" dirty="0"/>
                            <a:t>→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/>
                            <a:t>-0.1</a:t>
                          </a:r>
                          <a:endParaRPr lang="ko-KR" altLang="en-US" sz="1200"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/>
                            <a:t>(3,3)</a:t>
                          </a:r>
                          <a:endParaRPr lang="ko-KR" altLang="en-US" sz="1200"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200" dirty="0"/>
                            <a:t>→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/>
                            <a:t>0.9</a:t>
                          </a:r>
                          <a:endParaRPr lang="ko-KR" altLang="en-US" sz="1200"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/>
                            <a:t>(4,3)</a:t>
                          </a:r>
                          <a:endParaRPr lang="ko-KR" altLang="en-US" sz="1200" dirty="0"/>
                        </a:p>
                      </a:txBody>
                      <a:tcPr marL="0" marR="0" marT="0" marB="0" anchor="ctr"/>
                    </a:tc>
                    <a:extLst>
                      <a:ext uri="{0D108BD9-81ED-4DB2-BD59-A6C34878D82A}">
                        <a16:rowId xmlns:a16="http://schemas.microsoft.com/office/drawing/2014/main" val="698596143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BF1802D3-8E51-959B-0397-1C27EA0677F3}"/>
                  </a:ext>
                </a:extLst>
              </p:cNvPr>
              <p:cNvSpPr txBox="1"/>
              <p:nvPr/>
            </p:nvSpPr>
            <p:spPr>
              <a:xfrm>
                <a:off x="3956631" y="5777226"/>
                <a:ext cx="5347874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ko-KR" b="0" i="1" dirty="0" smtClean="0">
                        <a:latin typeface="Cambria Math" panose="02040503050406030204" pitchFamily="18" charset="0"/>
                        <a:ea typeface="+mn-ea"/>
                      </a:rPr>
                      <m:t>𝛾</m:t>
                    </m:r>
                    <m:r>
                      <a:rPr lang="en-US" altLang="ko-KR" b="0" i="1" dirty="0" smtClean="0">
                        <a:latin typeface="Cambria Math" panose="02040503050406030204" pitchFamily="18" charset="0"/>
                        <a:ea typeface="+mn-ea"/>
                      </a:rPr>
                      <m:t>=1</m:t>
                    </m:r>
                  </m:oMath>
                </a14:m>
                <a:r>
                  <a:rPr lang="ko-KR" altLang="en-US" b="0" dirty="0">
                    <a:latin typeface="+mn-ea"/>
                    <a:ea typeface="+mn-ea"/>
                  </a:rPr>
                  <a:t>일 때의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0" i="1" dirty="0" smtClean="0">
                            <a:latin typeface="Cambria Math" panose="02040503050406030204" pitchFamily="18" charset="0"/>
                            <a:ea typeface="+mn-ea"/>
                          </a:rPr>
                        </m:ctrlPr>
                      </m:sSubPr>
                      <m:e>
                        <m:r>
                          <a:rPr lang="en-US" altLang="ko-KR" b="0" i="1" dirty="0" smtClean="0">
                            <a:latin typeface="Cambria Math" panose="02040503050406030204" pitchFamily="18" charset="0"/>
                            <a:ea typeface="+mn-ea"/>
                          </a:rPr>
                          <m:t>𝐺</m:t>
                        </m:r>
                      </m:e>
                      <m:sub>
                        <m:r>
                          <a:rPr lang="en-US" altLang="ko-KR" b="0" i="1" dirty="0" smtClean="0">
                            <a:latin typeface="Cambria Math" panose="02040503050406030204" pitchFamily="18" charset="0"/>
                            <a:ea typeface="+mn-ea"/>
                          </a:rPr>
                          <m:t>0</m:t>
                        </m:r>
                      </m:sub>
                    </m:sSub>
                    <m:r>
                      <a:rPr lang="en-US" altLang="ko-KR" b="0" i="1" dirty="0" smtClean="0">
                        <a:latin typeface="Cambria Math" panose="02040503050406030204" pitchFamily="18" charset="0"/>
                        <a:ea typeface="+mn-ea"/>
                      </a:rPr>
                      <m:t>=</m:t>
                    </m:r>
                    <m:d>
                      <m:dPr>
                        <m:ctrlPr>
                          <a:rPr lang="en-US" altLang="ko-KR" b="0" i="1" dirty="0">
                            <a:latin typeface="Cambria Math" panose="02040503050406030204" pitchFamily="18" charset="0"/>
                            <a:ea typeface="+mn-ea"/>
                          </a:rPr>
                        </m:ctrlPr>
                      </m:dPr>
                      <m:e>
                        <m:r>
                          <a:rPr lang="en-US" altLang="ko-KR" b="0" i="1" dirty="0">
                            <a:latin typeface="Cambria Math" panose="02040503050406030204" pitchFamily="18" charset="0"/>
                          </a:rPr>
                          <m:t>−0.1</m:t>
                        </m:r>
                      </m:e>
                    </m:d>
                    <m:r>
                      <a:rPr lang="en-US" altLang="ko-KR" b="0" i="1" dirty="0" smtClean="0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en-US" altLang="ko-KR" b="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b="0" i="1" dirty="0">
                            <a:latin typeface="Cambria Math" panose="02040503050406030204" pitchFamily="18" charset="0"/>
                          </a:rPr>
                          <m:t>−0.1</m:t>
                        </m:r>
                      </m:e>
                    </m:d>
                    <m:r>
                      <a:rPr lang="en-US" altLang="ko-KR" b="0" i="1" dirty="0" smtClean="0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en-US" altLang="ko-KR" b="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b="0" i="1" dirty="0">
                            <a:latin typeface="Cambria Math" panose="02040503050406030204" pitchFamily="18" charset="0"/>
                          </a:rPr>
                          <m:t>−0.1</m:t>
                        </m:r>
                      </m:e>
                    </m:d>
                    <m:r>
                      <a:rPr lang="en-US" altLang="ko-KR" b="0" i="1" dirty="0" smtClean="0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en-US" altLang="ko-KR" b="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b="0" i="1" dirty="0">
                            <a:latin typeface="Cambria Math" panose="02040503050406030204" pitchFamily="18" charset="0"/>
                          </a:rPr>
                          <m:t>−0.1</m:t>
                        </m:r>
                      </m:e>
                    </m:d>
                    <m:r>
                      <a:rPr lang="en-US" altLang="ko-KR" b="0" i="1" dirty="0" smtClean="0">
                        <a:latin typeface="Cambria Math" panose="02040503050406030204" pitchFamily="18" charset="0"/>
                      </a:rPr>
                      <m:t>+0.9=0.5</m:t>
                    </m:r>
                  </m:oMath>
                </a14:m>
                <a:endParaRPr lang="en-US" altLang="ko-KR" b="0" dirty="0">
                  <a:latin typeface="+mn-ea"/>
                </a:endParaRPr>
              </a:p>
            </p:txBody>
          </p:sp>
        </mc:Choice>
        <mc:Fallback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BF1802D3-8E51-959B-0397-1C27EA0677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6631" y="5777226"/>
                <a:ext cx="5347874" cy="307777"/>
              </a:xfrm>
              <a:prstGeom prst="rect">
                <a:avLst/>
              </a:prstGeom>
              <a:blipFill>
                <a:blip r:embed="rId6"/>
                <a:stretch>
                  <a:fillRect t="-4000" b="-200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A7BFD093-C373-5866-BF43-489FB0253A58}"/>
                  </a:ext>
                </a:extLst>
              </p:cNvPr>
              <p:cNvSpPr txBox="1"/>
              <p:nvPr/>
            </p:nvSpPr>
            <p:spPr>
              <a:xfrm>
                <a:off x="3895229" y="4883618"/>
                <a:ext cx="3696310" cy="7386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b="0" dirty="0">
                    <a:latin typeface="+mn-ea"/>
                    <a:ea typeface="+mn-ea"/>
                  </a:rPr>
                  <a:t>※ </a:t>
                </a:r>
                <a:r>
                  <a:rPr lang="ko-KR" altLang="en-US" b="0" dirty="0">
                    <a:latin typeface="+mn-ea"/>
                    <a:ea typeface="+mn-ea"/>
                  </a:rPr>
                  <a:t>상태집합 </a:t>
                </a:r>
                <a:r>
                  <a:rPr lang="en-US" altLang="ko-KR" b="0" dirty="0">
                    <a:latin typeface="+mn-ea"/>
                    <a:ea typeface="+mn-ea"/>
                  </a:rPr>
                  <a:t>:</a:t>
                </a:r>
                <a:r>
                  <a:rPr lang="ko-KR" altLang="en-US" b="0" dirty="0">
                    <a:latin typeface="+mn-ea"/>
                    <a:ea typeface="+mn-ea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lit/>
                      </m:rPr>
                      <a:rPr lang="en-US" altLang="ko-KR" dirty="0">
                        <a:latin typeface="Cambria Math" panose="02040503050406030204" pitchFamily="18" charset="0"/>
                      </a:rPr>
                      <m:t>𝐒</m:t>
                    </m:r>
                    <m:r>
                      <m:rPr>
                        <m:lit/>
                      </m:rPr>
                      <a:rPr lang="en-US" altLang="ko-KR" b="0" dirty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lit/>
                      </m:rPr>
                      <a:rPr lang="en-US" altLang="ko-KR" i="1" dirty="0">
                        <a:latin typeface="Cambria Math" panose="02040503050406030204" pitchFamily="18" charset="0"/>
                      </a:rPr>
                      <m:t>{</m:t>
                    </m:r>
                    <m:d>
                      <m:dPr>
                        <m:ctrlPr>
                          <a:rPr lang="en-US" altLang="ko-KR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i="1" dirty="0">
                            <a:latin typeface="Cambria Math" panose="02040503050406030204" pitchFamily="18" charset="0"/>
                          </a:rPr>
                          <m:t>1,1</m:t>
                        </m:r>
                      </m:e>
                    </m:d>
                    <m:r>
                      <a:rPr lang="en-US" altLang="ko-KR" i="1" dirty="0">
                        <a:latin typeface="Cambria Math" panose="02040503050406030204" pitchFamily="18" charset="0"/>
                      </a:rPr>
                      <m:t>,</m:t>
                    </m:r>
                    <m:d>
                      <m:dPr>
                        <m:ctrlPr>
                          <a:rPr lang="en-US" altLang="ko-KR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i="1" dirty="0">
                            <a:latin typeface="Cambria Math" panose="02040503050406030204" pitchFamily="18" charset="0"/>
                          </a:rPr>
                          <m:t>1,2</m:t>
                        </m:r>
                      </m:e>
                    </m:d>
                    <m:r>
                      <a:rPr lang="en-US" altLang="ko-KR" i="1" dirty="0">
                        <a:latin typeface="Cambria Math" panose="02040503050406030204" pitchFamily="18" charset="0"/>
                      </a:rPr>
                      <m:t>,⋯,</m:t>
                    </m:r>
                    <m:d>
                      <m:dPr>
                        <m:ctrlPr>
                          <a:rPr lang="en-US" altLang="ko-KR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i="1" dirty="0">
                            <a:latin typeface="Cambria Math" panose="02040503050406030204" pitchFamily="18" charset="0"/>
                          </a:rPr>
                          <m:t>4,3</m:t>
                        </m:r>
                      </m:e>
                    </m:d>
                    <m:r>
                      <m:rPr>
                        <m:lit/>
                      </m:rPr>
                      <a:rPr lang="en-US" altLang="ko-KR" i="1" dirty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en-US" altLang="ko-KR" b="0" dirty="0">
                  <a:latin typeface="+mn-ea"/>
                  <a:ea typeface="+mn-ea"/>
                </a:endParaRPr>
              </a:p>
              <a:p>
                <a:pPr algn="l"/>
                <a:r>
                  <a:rPr lang="en-US" altLang="ko-KR" b="0" dirty="0">
                    <a:latin typeface="+mn-ea"/>
                    <a:ea typeface="+mn-ea"/>
                  </a:rPr>
                  <a:t>   </a:t>
                </a:r>
                <a:r>
                  <a:rPr lang="ko-KR" altLang="en-US" b="0" dirty="0">
                    <a:latin typeface="+mn-ea"/>
                    <a:ea typeface="+mn-ea"/>
                  </a:rPr>
                  <a:t>행동집합 </a:t>
                </a:r>
                <a:r>
                  <a:rPr lang="en-US" altLang="ko-KR" b="0" dirty="0">
                    <a:latin typeface="+mn-ea"/>
                    <a:ea typeface="+mn-ea"/>
                  </a:rPr>
                  <a:t>: </a:t>
                </a:r>
                <a14:m>
                  <m:oMath xmlns:m="http://schemas.openxmlformats.org/officeDocument/2006/math">
                    <m:r>
                      <a:rPr lang="en-US" altLang="ko-KR" b="1" i="1" dirty="0" smtClean="0">
                        <a:latin typeface="Cambria Math" panose="02040503050406030204" pitchFamily="18" charset="0"/>
                        <a:ea typeface="+mn-ea"/>
                      </a:rPr>
                      <m:t>𝑨</m:t>
                    </m:r>
                    <m:r>
                      <a:rPr lang="en-US" altLang="ko-KR" b="0" i="1" dirty="0" smtClean="0">
                        <a:latin typeface="Cambria Math" panose="02040503050406030204" pitchFamily="18" charset="0"/>
                        <a:ea typeface="+mn-ea"/>
                      </a:rPr>
                      <m:t>=</m:t>
                    </m:r>
                    <m:r>
                      <m:rPr>
                        <m:lit/>
                      </m:rPr>
                      <a:rPr lang="en-US" altLang="ko-KR" b="0" i="0" dirty="0" smtClean="0">
                        <a:latin typeface="Cambria Math" panose="02040503050406030204" pitchFamily="18" charset="0"/>
                        <a:ea typeface="+mn-ea"/>
                      </a:rPr>
                      <m:t>{</m:t>
                    </m:r>
                    <m:r>
                      <a:rPr lang="ko-KR" altLang="en-US" b="0" i="1" dirty="0" smtClean="0">
                        <a:latin typeface="Cambria Math" panose="02040503050406030204" pitchFamily="18" charset="0"/>
                        <a:ea typeface="+mn-ea"/>
                      </a:rPr>
                      <m:t>→</m:t>
                    </m:r>
                    <m:r>
                      <a:rPr lang="en-US" altLang="ko-KR" b="0" i="1" dirty="0">
                        <a:latin typeface="Cambria Math" panose="02040503050406030204" pitchFamily="18" charset="0"/>
                        <a:ea typeface="+mn-ea"/>
                      </a:rPr>
                      <m:t>, </m:t>
                    </m:r>
                    <m:r>
                      <a:rPr lang="ko-KR" altLang="en-US" b="0" i="1" dirty="0">
                        <a:latin typeface="Cambria Math" panose="02040503050406030204" pitchFamily="18" charset="0"/>
                        <a:ea typeface="+mn-ea"/>
                      </a:rPr>
                      <m:t>←</m:t>
                    </m:r>
                    <m:r>
                      <a:rPr lang="en-US" altLang="ko-KR" b="0" i="1" dirty="0">
                        <a:latin typeface="Cambria Math" panose="02040503050406030204" pitchFamily="18" charset="0"/>
                        <a:ea typeface="+mn-ea"/>
                      </a:rPr>
                      <m:t>, </m:t>
                    </m:r>
                    <m:r>
                      <a:rPr lang="ko-KR" altLang="en-US" b="0" i="1" dirty="0">
                        <a:latin typeface="Cambria Math" panose="02040503050406030204" pitchFamily="18" charset="0"/>
                        <a:ea typeface="+mn-ea"/>
                      </a:rPr>
                      <m:t>↑</m:t>
                    </m:r>
                    <m:r>
                      <a:rPr lang="en-US" altLang="ko-KR" b="0" i="1" dirty="0">
                        <a:latin typeface="Cambria Math" panose="02040503050406030204" pitchFamily="18" charset="0"/>
                        <a:ea typeface="+mn-ea"/>
                      </a:rPr>
                      <m:t>, </m:t>
                    </m:r>
                    <m:r>
                      <a:rPr lang="ko-KR" altLang="en-US" b="0" i="1" dirty="0">
                        <a:latin typeface="Cambria Math" panose="02040503050406030204" pitchFamily="18" charset="0"/>
                        <a:ea typeface="+mn-ea"/>
                      </a:rPr>
                      <m:t>↓</m:t>
                    </m:r>
                    <m:r>
                      <m:rPr>
                        <m:lit/>
                      </m:rPr>
                      <a:rPr lang="en-US" altLang="ko-KR" b="0" i="1" dirty="0" smtClean="0">
                        <a:latin typeface="Cambria Math" panose="02040503050406030204" pitchFamily="18" charset="0"/>
                        <a:ea typeface="+mn-ea"/>
                      </a:rPr>
                      <m:t>}</m:t>
                    </m:r>
                  </m:oMath>
                </a14:m>
                <a:endParaRPr lang="en-US" altLang="ko-KR" b="0" dirty="0">
                  <a:latin typeface="+mn-ea"/>
                  <a:ea typeface="+mn-ea"/>
                </a:endParaRPr>
              </a:p>
              <a:p>
                <a:pPr algn="l"/>
                <a:r>
                  <a:rPr lang="en-US" altLang="ko-KR" b="0" dirty="0">
                    <a:latin typeface="+mn-ea"/>
                    <a:ea typeface="+mn-ea"/>
                  </a:rPr>
                  <a:t>   </a:t>
                </a:r>
                <a:r>
                  <a:rPr lang="ko-KR" altLang="en-US" b="0" dirty="0">
                    <a:latin typeface="+mn-ea"/>
                    <a:ea typeface="+mn-ea"/>
                  </a:rPr>
                  <a:t>보상 </a:t>
                </a:r>
                <a:r>
                  <a:rPr lang="en-US" altLang="ko-KR" b="0" dirty="0">
                    <a:latin typeface="+mn-ea"/>
                    <a:ea typeface="+mn-ea"/>
                  </a:rPr>
                  <a:t>: </a:t>
                </a:r>
                <a:r>
                  <a:rPr lang="ko-KR" altLang="en-US" b="0" dirty="0">
                    <a:latin typeface="+mn-ea"/>
                    <a:ea typeface="+mn-ea"/>
                  </a:rPr>
                  <a:t>이동시마다 </a:t>
                </a:r>
                <a14:m>
                  <m:oMath xmlns:m="http://schemas.openxmlformats.org/officeDocument/2006/math">
                    <m:r>
                      <a:rPr lang="en-US" altLang="ko-KR" b="0" i="1" dirty="0" smtClean="0">
                        <a:latin typeface="Cambria Math" panose="02040503050406030204" pitchFamily="18" charset="0"/>
                        <a:ea typeface="+mn-ea"/>
                      </a:rPr>
                      <m:t>−0.1</m:t>
                    </m:r>
                  </m:oMath>
                </a14:m>
                <a:r>
                  <a:rPr lang="en-US" altLang="ko-KR" b="0" dirty="0">
                    <a:latin typeface="+mn-ea"/>
                    <a:ea typeface="+mn-ea"/>
                  </a:rPr>
                  <a:t>, </a:t>
                </a:r>
                <a:r>
                  <a:rPr lang="ko-KR" altLang="en-US" b="0" dirty="0">
                    <a:latin typeface="+mn-ea"/>
                    <a:ea typeface="+mn-ea"/>
                  </a:rPr>
                  <a:t>종료지점에서 </a:t>
                </a:r>
                <a14:m>
                  <m:oMath xmlns:m="http://schemas.openxmlformats.org/officeDocument/2006/math">
                    <m:r>
                      <a:rPr lang="en-US" altLang="ko-KR" b="0" i="1" dirty="0" smtClean="0">
                        <a:latin typeface="Cambria Math" panose="02040503050406030204" pitchFamily="18" charset="0"/>
                        <a:ea typeface="+mn-ea"/>
                      </a:rPr>
                      <m:t>±1</m:t>
                    </m:r>
                  </m:oMath>
                </a14:m>
                <a:endParaRPr lang="ko-KR" altLang="en-US" b="0" dirty="0">
                  <a:latin typeface="+mn-ea"/>
                  <a:ea typeface="+mn-ea"/>
                </a:endParaRPr>
              </a:p>
            </p:txBody>
          </p:sp>
        </mc:Choice>
        <mc:Fallback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A7BFD093-C373-5866-BF43-489FB0253A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95229" y="4883618"/>
                <a:ext cx="3696310" cy="738664"/>
              </a:xfrm>
              <a:prstGeom prst="rect">
                <a:avLst/>
              </a:prstGeom>
              <a:blipFill>
                <a:blip r:embed="rId7"/>
                <a:stretch>
                  <a:fillRect l="-495" t="-1653" b="-826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126755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459607-B9EA-DA65-F163-A42A2A3CED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C1E216A-DF21-40E6-7754-7951AD8E9AC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dirty="0"/>
              <a:t>정책 </a:t>
            </a:r>
            <a:r>
              <a:rPr lang="en-US" altLang="ko-KR" dirty="0"/>
              <a:t>(policy)</a:t>
            </a:r>
            <a:endParaRPr lang="ko-KR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텍스트 개체 틀 5">
                <a:extLst>
                  <a:ext uri="{FF2B5EF4-FFF2-40B4-BE49-F238E27FC236}">
                    <a16:creationId xmlns:a16="http://schemas.microsoft.com/office/drawing/2014/main" id="{3EE2077B-5D10-B133-CCFB-0B608CF0ECD2}"/>
                  </a:ext>
                </a:extLst>
              </p:cNvPr>
              <p:cNvSpPr>
                <a:spLocks noGrp="1"/>
              </p:cNvSpPr>
              <p:nvPr>
                <p:ph type="body" sz="quarter" idx="11"/>
              </p:nvPr>
            </p:nvSpPr>
            <p:spPr>
              <a:xfrm>
                <a:off x="362309" y="904870"/>
                <a:ext cx="9270641" cy="2617194"/>
              </a:xfrm>
            </p:spPr>
            <p:txBody>
              <a:bodyPr/>
              <a:lstStyle/>
              <a:p>
                <a:pPr marL="285750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dirty="0">
                    <a:latin typeface="+mn-ea"/>
                  </a:rPr>
                  <a:t>주어진 상태에 대하여 행동을 결정</a:t>
                </a:r>
                <a:endParaRPr lang="en-US" altLang="ko-KR" dirty="0">
                  <a:latin typeface="+mn-ea"/>
                </a:endParaRPr>
              </a:p>
              <a:p>
                <a:pPr marL="180000" lvl="1" indent="1800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400" b="0" dirty="0">
                    <a:latin typeface="Cambria Math" panose="02040503050406030204" pitchFamily="18" charset="0"/>
                  </a:rPr>
                  <a:t>더 정확하게는</a:t>
                </a:r>
                <a:r>
                  <a:rPr lang="en-US" altLang="ko-KR" sz="1400" b="0" dirty="0">
                    <a:latin typeface="Cambria Math" panose="02040503050406030204" pitchFamily="18" charset="0"/>
                  </a:rPr>
                  <a:t>, </a:t>
                </a:r>
                <a:r>
                  <a:rPr lang="ko-KR" altLang="en-US" sz="1400" b="0" dirty="0">
                    <a:latin typeface="Cambria Math" panose="02040503050406030204" pitchFamily="18" charset="0"/>
                  </a:rPr>
                  <a:t>정책이란</a:t>
                </a:r>
                <a:r>
                  <a:rPr lang="en-US" altLang="ko-KR" sz="1400" b="0" dirty="0">
                    <a:latin typeface="Cambria Math" panose="02040503050406030204" pitchFamily="18" charset="0"/>
                  </a:rPr>
                  <a:t> </a:t>
                </a:r>
                <a:r>
                  <a:rPr lang="ko-KR" altLang="en-US" sz="1400" b="0" dirty="0">
                    <a:latin typeface="Cambria Math" panose="02040503050406030204" pitchFamily="18" charset="0"/>
                  </a:rPr>
                  <a:t>주어진 상태에 대한 행동의 확률분포</a:t>
                </a:r>
                <a:endParaRPr lang="en-US" altLang="ko-KR" sz="1400" b="0" dirty="0">
                  <a:latin typeface="Cambria Math" panose="02040503050406030204" pitchFamily="18" charset="0"/>
                </a:endParaRPr>
              </a:p>
              <a:p>
                <a:pPr marL="285750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14:m>
                  <m:oMath xmlns:m="http://schemas.openxmlformats.org/officeDocument/2006/math">
                    <m:r>
                      <a:rPr lang="en-US" altLang="ko-KR" i="1" dirty="0">
                        <a:latin typeface="Cambria Math" panose="02040503050406030204" pitchFamily="18" charset="0"/>
                      </a:rPr>
                      <m:t>𝜋</m:t>
                    </m:r>
                    <m:d>
                      <m:dPr>
                        <m:ctrlPr>
                          <a:rPr lang="en-US" altLang="ko-KR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i="1" dirty="0" err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e>
                        <m:r>
                          <a:rPr lang="en-US" altLang="ko-KR" i="1" dirty="0" err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en-US" altLang="ko-KR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i="1" dirty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altLang="ko-KR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i="1" dirty="0" err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 dirty="0" err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altLang="ko-KR" i="1" dirty="0" err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altLang="ko-KR" i="1" dirty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ko-KR" i="1" dirty="0" err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e>
                        <m:sSub>
                          <m:sSubPr>
                            <m:ctrlPr>
                              <a:rPr lang="en-US" altLang="ko-KR" i="1" dirty="0" err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 dirty="0" err="1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altLang="ko-KR" i="1" dirty="0" err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altLang="ko-KR" i="1" dirty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ko-KR" i="1" dirty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</m:oMath>
                </a14:m>
                <a:endParaRPr lang="en-US" altLang="ko-KR" dirty="0">
                  <a:latin typeface="+mn-ea"/>
                </a:endParaRPr>
              </a:p>
              <a:p>
                <a:pPr marL="180000" lvl="1" indent="1800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ko-KR" sz="1400" dirty="0">
                    <a:latin typeface="+mn-ea"/>
                  </a:rPr>
                  <a:t>stochastic policy : </a:t>
                </a:r>
                <a:r>
                  <a:rPr lang="ko-KR" altLang="en-US" sz="1400" dirty="0">
                    <a:latin typeface="+mn-ea"/>
                  </a:rPr>
                  <a:t>상태에 대한 행동이 확률적으로 결정됨</a:t>
                </a:r>
                <a:endParaRPr lang="en-US" altLang="ko-KR" sz="1400" dirty="0">
                  <a:latin typeface="+mn-ea"/>
                </a:endParaRPr>
              </a:p>
              <a:p>
                <a:pPr marL="180000" lvl="1" indent="1800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ko-KR" sz="1400" dirty="0"/>
                  <a:t>deterministic policy : </a:t>
                </a:r>
                <a:r>
                  <a:rPr lang="ko-KR" altLang="en-US" sz="1400" dirty="0"/>
                  <a:t>상태에 대한 행동이 확정적으로 결정됨</a:t>
                </a:r>
                <a:endParaRPr lang="en-US" altLang="ko-KR" sz="1400" dirty="0">
                  <a:latin typeface="Cambria Math" panose="02040503050406030204" pitchFamily="18" charset="0"/>
                </a:endParaRPr>
              </a:p>
              <a:p>
                <a:pPr marL="285750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14:m>
                  <m:oMath xmlns:m="http://schemas.openxmlformats.org/officeDocument/2006/math">
                    <m:r>
                      <a:rPr lang="ko-KR" altLang="en-US" i="1" dirty="0" smtClean="0">
                        <a:latin typeface="Cambria Math" panose="02040503050406030204" pitchFamily="18" charset="0"/>
                      </a:rPr>
                      <m:t>강</m:t>
                    </m:r>
                  </m:oMath>
                </a14:m>
                <a:r>
                  <a:rPr lang="ko-KR" altLang="en-US" dirty="0"/>
                  <a:t>화학습의 목적 </a:t>
                </a:r>
                <a:r>
                  <a:rPr lang="en-US" altLang="ko-KR" dirty="0"/>
                  <a:t>: </a:t>
                </a:r>
                <a:r>
                  <a:rPr lang="en-US" altLang="ko-KR" b="1" dirty="0"/>
                  <a:t>return</a:t>
                </a:r>
                <a:r>
                  <a:rPr lang="ko-KR" altLang="en-US" b="1" dirty="0"/>
                  <a:t>이 최대가 되는 정책을 학습한다</a:t>
                </a:r>
                <a:r>
                  <a:rPr lang="en-US" altLang="ko-KR" b="1" dirty="0"/>
                  <a:t>.</a:t>
                </a:r>
              </a:p>
            </p:txBody>
          </p:sp>
        </mc:Choice>
        <mc:Fallback>
          <p:sp>
            <p:nvSpPr>
              <p:cNvPr id="6" name="텍스트 개체 틀 5">
                <a:extLst>
                  <a:ext uri="{FF2B5EF4-FFF2-40B4-BE49-F238E27FC236}">
                    <a16:creationId xmlns:a16="http://schemas.microsoft.com/office/drawing/2014/main" id="{3EE2077B-5D10-B133-CCFB-0B608CF0ECD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1"/>
              </p:nvPr>
            </p:nvSpPr>
            <p:spPr>
              <a:xfrm>
                <a:off x="362309" y="904870"/>
                <a:ext cx="9270641" cy="2617194"/>
              </a:xfrm>
              <a:blipFill>
                <a:blip r:embed="rId3"/>
                <a:stretch>
                  <a:fillRect l="-26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제목 3">
            <a:extLst>
              <a:ext uri="{FF2B5EF4-FFF2-40B4-BE49-F238E27FC236}">
                <a16:creationId xmlns:a16="http://schemas.microsoft.com/office/drawing/2014/main" id="{5638DBBF-5308-7C25-0930-F1C72D5D17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Ⅰ-2. Markov Decision Process (5/5)</a:t>
            </a:r>
            <a:endParaRPr lang="ko-KR" altLang="en-US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DAE3F268-A6D8-F3EA-00BD-F413235567F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 dirty="0"/>
              <a:t>Ⅰ </a:t>
            </a:r>
            <a:r>
              <a:rPr lang="ko-KR" altLang="en-US" dirty="0"/>
              <a:t>강화학습 기초</a:t>
            </a:r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A861CC38-1BDF-462C-583F-D17AA61C2588}"/>
              </a:ext>
            </a:extLst>
          </p:cNvPr>
          <p:cNvGraphicFramePr>
            <a:graphicFrameLocks noGrp="1"/>
          </p:cNvGraphicFramePr>
          <p:nvPr/>
        </p:nvGraphicFramePr>
        <p:xfrm>
          <a:off x="381118" y="3944232"/>
          <a:ext cx="3436280" cy="184400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59070">
                  <a:extLst>
                    <a:ext uri="{9D8B030D-6E8A-4147-A177-3AD203B41FA5}">
                      <a16:colId xmlns:a16="http://schemas.microsoft.com/office/drawing/2014/main" val="3283410258"/>
                    </a:ext>
                  </a:extLst>
                </a:gridCol>
                <a:gridCol w="859070">
                  <a:extLst>
                    <a:ext uri="{9D8B030D-6E8A-4147-A177-3AD203B41FA5}">
                      <a16:colId xmlns:a16="http://schemas.microsoft.com/office/drawing/2014/main" val="591898217"/>
                    </a:ext>
                  </a:extLst>
                </a:gridCol>
                <a:gridCol w="859070">
                  <a:extLst>
                    <a:ext uri="{9D8B030D-6E8A-4147-A177-3AD203B41FA5}">
                      <a16:colId xmlns:a16="http://schemas.microsoft.com/office/drawing/2014/main" val="1445315171"/>
                    </a:ext>
                  </a:extLst>
                </a:gridCol>
                <a:gridCol w="859070">
                  <a:extLst>
                    <a:ext uri="{9D8B030D-6E8A-4147-A177-3AD203B41FA5}">
                      <a16:colId xmlns:a16="http://schemas.microsoft.com/office/drawing/2014/main" val="856673349"/>
                    </a:ext>
                  </a:extLst>
                </a:gridCol>
              </a:tblGrid>
              <a:tr h="614669"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+1(</a:t>
                      </a:r>
                      <a:r>
                        <a:rPr lang="ko-KR" altLang="en-US" sz="1400" dirty="0"/>
                        <a:t>종료</a:t>
                      </a:r>
                      <a:r>
                        <a:rPr lang="en-US" altLang="ko-KR" sz="1400" dirty="0"/>
                        <a:t>)</a:t>
                      </a:r>
                      <a:endParaRPr lang="ko-KR" alt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37638875"/>
                  </a:ext>
                </a:extLst>
              </a:tr>
              <a:tr h="614669"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-1(</a:t>
                      </a:r>
                      <a:r>
                        <a:rPr lang="ko-KR" altLang="en-US" sz="1400" dirty="0"/>
                        <a:t>종료</a:t>
                      </a:r>
                      <a:r>
                        <a:rPr lang="en-US" altLang="ko-KR" sz="1400" dirty="0"/>
                        <a:t>)</a:t>
                      </a:r>
                      <a:endParaRPr lang="ko-KR" alt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32969099"/>
                  </a:ext>
                </a:extLst>
              </a:tr>
              <a:tr h="61466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시작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26604439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3663DD10-6E69-D461-2232-599ACE6B4695}"/>
              </a:ext>
            </a:extLst>
          </p:cNvPr>
          <p:cNvSpPr txBox="1"/>
          <p:nvPr/>
        </p:nvSpPr>
        <p:spPr>
          <a:xfrm>
            <a:off x="656948" y="5823746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b="0" dirty="0">
                <a:latin typeface="+mn-ea"/>
                <a:ea typeface="+mn-ea"/>
              </a:rPr>
              <a:t>1</a:t>
            </a:r>
            <a:endParaRPr lang="ko-KR" altLang="en-US" b="0" dirty="0">
              <a:latin typeface="+mn-ea"/>
              <a:ea typeface="+mn-ea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CB180B4-EC00-BB58-60F8-4E7BC876AC1F}"/>
              </a:ext>
            </a:extLst>
          </p:cNvPr>
          <p:cNvSpPr txBox="1"/>
          <p:nvPr/>
        </p:nvSpPr>
        <p:spPr>
          <a:xfrm>
            <a:off x="1510687" y="5834101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b="0" dirty="0">
                <a:latin typeface="+mn-ea"/>
                <a:ea typeface="+mn-ea"/>
              </a:rPr>
              <a:t>2</a:t>
            </a:r>
            <a:endParaRPr lang="ko-KR" altLang="en-US" b="0" dirty="0">
              <a:latin typeface="+mn-ea"/>
              <a:ea typeface="+mn-ea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AA6B127-39C9-C383-6AE1-4C838C1A579F}"/>
              </a:ext>
            </a:extLst>
          </p:cNvPr>
          <p:cNvSpPr txBox="1"/>
          <p:nvPr/>
        </p:nvSpPr>
        <p:spPr>
          <a:xfrm>
            <a:off x="2377269" y="5834101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b="0" dirty="0">
                <a:latin typeface="+mn-ea"/>
                <a:ea typeface="+mn-ea"/>
              </a:rPr>
              <a:t>3</a:t>
            </a:r>
            <a:endParaRPr lang="ko-KR" altLang="en-US" b="0" dirty="0">
              <a:latin typeface="+mn-ea"/>
              <a:ea typeface="+mn-ea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B5D0153-D779-4657-3215-FF6FBE8C337F}"/>
              </a:ext>
            </a:extLst>
          </p:cNvPr>
          <p:cNvSpPr txBox="1"/>
          <p:nvPr/>
        </p:nvSpPr>
        <p:spPr>
          <a:xfrm>
            <a:off x="3231008" y="5844456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b="0" dirty="0">
                <a:latin typeface="+mn-ea"/>
                <a:ea typeface="+mn-ea"/>
              </a:rPr>
              <a:t>4</a:t>
            </a:r>
            <a:endParaRPr lang="ko-KR" altLang="en-US" b="0" dirty="0">
              <a:latin typeface="+mn-ea"/>
              <a:ea typeface="+mn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CE24944-5287-287C-5282-72570D38F4FB}"/>
              </a:ext>
            </a:extLst>
          </p:cNvPr>
          <p:cNvSpPr txBox="1"/>
          <p:nvPr/>
        </p:nvSpPr>
        <p:spPr>
          <a:xfrm>
            <a:off x="19235" y="5257054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b="0" dirty="0">
                <a:latin typeface="+mn-ea"/>
                <a:ea typeface="+mn-ea"/>
              </a:rPr>
              <a:t>1</a:t>
            </a:r>
            <a:endParaRPr lang="ko-KR" altLang="en-US" b="0" dirty="0">
              <a:latin typeface="+mn-ea"/>
              <a:ea typeface="+mn-ea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28FE064-BC23-2BEB-97A7-87EBB0FA16D8}"/>
              </a:ext>
            </a:extLst>
          </p:cNvPr>
          <p:cNvSpPr txBox="1"/>
          <p:nvPr/>
        </p:nvSpPr>
        <p:spPr>
          <a:xfrm>
            <a:off x="29609" y="4712346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b="0" dirty="0">
                <a:latin typeface="+mn-ea"/>
                <a:ea typeface="+mn-ea"/>
              </a:rPr>
              <a:t>2</a:t>
            </a:r>
            <a:endParaRPr lang="ko-KR" altLang="en-US" b="0" dirty="0">
              <a:latin typeface="+mn-ea"/>
              <a:ea typeface="+mn-ea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B351FF9-03A4-7670-1CF7-5C58CDD213F6}"/>
              </a:ext>
            </a:extLst>
          </p:cNvPr>
          <p:cNvSpPr txBox="1"/>
          <p:nvPr/>
        </p:nvSpPr>
        <p:spPr>
          <a:xfrm>
            <a:off x="29609" y="4106794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b="0" dirty="0">
                <a:latin typeface="+mn-ea"/>
                <a:ea typeface="+mn-ea"/>
              </a:rPr>
              <a:t>3</a:t>
            </a:r>
            <a:endParaRPr lang="ko-KR" altLang="en-US" b="0" dirty="0">
              <a:latin typeface="+mn-ea"/>
              <a:ea typeface="+mn-ea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BF2AD59-C20F-E6A3-859F-E5B71B9F20EE}"/>
              </a:ext>
            </a:extLst>
          </p:cNvPr>
          <p:cNvSpPr txBox="1"/>
          <p:nvPr/>
        </p:nvSpPr>
        <p:spPr>
          <a:xfrm>
            <a:off x="1573568" y="3560983"/>
            <a:ext cx="10439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b="0" dirty="0">
                <a:latin typeface="+mn-ea"/>
                <a:ea typeface="+mn-ea"/>
              </a:rPr>
              <a:t>grid world </a:t>
            </a:r>
            <a:endParaRPr lang="ko-KR" altLang="en-US" b="0" dirty="0">
              <a:latin typeface="+mn-ea"/>
              <a:ea typeface="+mn-ea"/>
            </a:endParaRPr>
          </a:p>
        </p:txBody>
      </p:sp>
      <p:sp>
        <p:nvSpPr>
          <p:cNvPr id="19" name="화살표: 위쪽 18">
            <a:extLst>
              <a:ext uri="{FF2B5EF4-FFF2-40B4-BE49-F238E27FC236}">
                <a16:creationId xmlns:a16="http://schemas.microsoft.com/office/drawing/2014/main" id="{3A079085-6423-711E-50E1-F761B7C9CF16}"/>
              </a:ext>
            </a:extLst>
          </p:cNvPr>
          <p:cNvSpPr/>
          <p:nvPr/>
        </p:nvSpPr>
        <p:spPr bwMode="auto">
          <a:xfrm>
            <a:off x="704780" y="4363048"/>
            <a:ext cx="236220" cy="977591"/>
          </a:xfrm>
          <a:prstGeom prst="upArrow">
            <a:avLst/>
          </a:prstGeom>
          <a:solidFill>
            <a:srgbClr val="31859C"/>
          </a:solidFill>
          <a:ln>
            <a:noFill/>
          </a:ln>
          <a:effectLst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1896"/>
            <a:endParaRPr lang="ko-KR" altLang="en-US" dirty="0">
              <a:solidFill>
                <a:prstClr val="white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0" name="화살표: 위쪽 19">
            <a:extLst>
              <a:ext uri="{FF2B5EF4-FFF2-40B4-BE49-F238E27FC236}">
                <a16:creationId xmlns:a16="http://schemas.microsoft.com/office/drawing/2014/main" id="{6642875F-D54C-4671-586B-5066B191CBC5}"/>
              </a:ext>
            </a:extLst>
          </p:cNvPr>
          <p:cNvSpPr/>
          <p:nvPr/>
        </p:nvSpPr>
        <p:spPr bwMode="auto">
          <a:xfrm rot="5400000">
            <a:off x="1865885" y="3265620"/>
            <a:ext cx="236220" cy="2085991"/>
          </a:xfrm>
          <a:prstGeom prst="upArrow">
            <a:avLst/>
          </a:prstGeom>
          <a:solidFill>
            <a:srgbClr val="31859C"/>
          </a:solidFill>
          <a:ln>
            <a:noFill/>
          </a:ln>
          <a:effectLst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1896"/>
            <a:endParaRPr lang="ko-KR" altLang="en-US" dirty="0">
              <a:solidFill>
                <a:prstClr val="white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표 1">
                <a:extLst>
                  <a:ext uri="{FF2B5EF4-FFF2-40B4-BE49-F238E27FC236}">
                    <a16:creationId xmlns:a16="http://schemas.microsoft.com/office/drawing/2014/main" id="{3BC6506A-8935-5DC6-8A48-EF06A9604C27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4036533" y="3926877"/>
              <a:ext cx="5746672" cy="7416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59167">
                      <a:extLst>
                        <a:ext uri="{9D8B030D-6E8A-4147-A177-3AD203B41FA5}">
                          <a16:colId xmlns:a16="http://schemas.microsoft.com/office/drawing/2014/main" val="3245171961"/>
                        </a:ext>
                      </a:extLst>
                    </a:gridCol>
                    <a:gridCol w="359167">
                      <a:extLst>
                        <a:ext uri="{9D8B030D-6E8A-4147-A177-3AD203B41FA5}">
                          <a16:colId xmlns:a16="http://schemas.microsoft.com/office/drawing/2014/main" val="1661526075"/>
                        </a:ext>
                      </a:extLst>
                    </a:gridCol>
                    <a:gridCol w="359167">
                      <a:extLst>
                        <a:ext uri="{9D8B030D-6E8A-4147-A177-3AD203B41FA5}">
                          <a16:colId xmlns:a16="http://schemas.microsoft.com/office/drawing/2014/main" val="1302463196"/>
                        </a:ext>
                      </a:extLst>
                    </a:gridCol>
                    <a:gridCol w="359167">
                      <a:extLst>
                        <a:ext uri="{9D8B030D-6E8A-4147-A177-3AD203B41FA5}">
                          <a16:colId xmlns:a16="http://schemas.microsoft.com/office/drawing/2014/main" val="1469477333"/>
                        </a:ext>
                      </a:extLst>
                    </a:gridCol>
                    <a:gridCol w="359167">
                      <a:extLst>
                        <a:ext uri="{9D8B030D-6E8A-4147-A177-3AD203B41FA5}">
                          <a16:colId xmlns:a16="http://schemas.microsoft.com/office/drawing/2014/main" val="630501421"/>
                        </a:ext>
                      </a:extLst>
                    </a:gridCol>
                    <a:gridCol w="359167">
                      <a:extLst>
                        <a:ext uri="{9D8B030D-6E8A-4147-A177-3AD203B41FA5}">
                          <a16:colId xmlns:a16="http://schemas.microsoft.com/office/drawing/2014/main" val="1806452162"/>
                        </a:ext>
                      </a:extLst>
                    </a:gridCol>
                    <a:gridCol w="359167">
                      <a:extLst>
                        <a:ext uri="{9D8B030D-6E8A-4147-A177-3AD203B41FA5}">
                          <a16:colId xmlns:a16="http://schemas.microsoft.com/office/drawing/2014/main" val="763839846"/>
                        </a:ext>
                      </a:extLst>
                    </a:gridCol>
                    <a:gridCol w="359167">
                      <a:extLst>
                        <a:ext uri="{9D8B030D-6E8A-4147-A177-3AD203B41FA5}">
                          <a16:colId xmlns:a16="http://schemas.microsoft.com/office/drawing/2014/main" val="354458399"/>
                        </a:ext>
                      </a:extLst>
                    </a:gridCol>
                    <a:gridCol w="359167">
                      <a:extLst>
                        <a:ext uri="{9D8B030D-6E8A-4147-A177-3AD203B41FA5}">
                          <a16:colId xmlns:a16="http://schemas.microsoft.com/office/drawing/2014/main" val="2349704990"/>
                        </a:ext>
                      </a:extLst>
                    </a:gridCol>
                    <a:gridCol w="359167">
                      <a:extLst>
                        <a:ext uri="{9D8B030D-6E8A-4147-A177-3AD203B41FA5}">
                          <a16:colId xmlns:a16="http://schemas.microsoft.com/office/drawing/2014/main" val="3263532662"/>
                        </a:ext>
                      </a:extLst>
                    </a:gridCol>
                    <a:gridCol w="359167">
                      <a:extLst>
                        <a:ext uri="{9D8B030D-6E8A-4147-A177-3AD203B41FA5}">
                          <a16:colId xmlns:a16="http://schemas.microsoft.com/office/drawing/2014/main" val="1861832497"/>
                        </a:ext>
                      </a:extLst>
                    </a:gridCol>
                    <a:gridCol w="359167">
                      <a:extLst>
                        <a:ext uri="{9D8B030D-6E8A-4147-A177-3AD203B41FA5}">
                          <a16:colId xmlns:a16="http://schemas.microsoft.com/office/drawing/2014/main" val="2642156900"/>
                        </a:ext>
                      </a:extLst>
                    </a:gridCol>
                    <a:gridCol w="359167">
                      <a:extLst>
                        <a:ext uri="{9D8B030D-6E8A-4147-A177-3AD203B41FA5}">
                          <a16:colId xmlns:a16="http://schemas.microsoft.com/office/drawing/2014/main" val="2592392835"/>
                        </a:ext>
                      </a:extLst>
                    </a:gridCol>
                    <a:gridCol w="359167">
                      <a:extLst>
                        <a:ext uri="{9D8B030D-6E8A-4147-A177-3AD203B41FA5}">
                          <a16:colId xmlns:a16="http://schemas.microsoft.com/office/drawing/2014/main" val="2974705727"/>
                        </a:ext>
                      </a:extLst>
                    </a:gridCol>
                    <a:gridCol w="359167">
                      <a:extLst>
                        <a:ext uri="{9D8B030D-6E8A-4147-A177-3AD203B41FA5}">
                          <a16:colId xmlns:a16="http://schemas.microsoft.com/office/drawing/2014/main" val="327161703"/>
                        </a:ext>
                      </a:extLst>
                    </a:gridCol>
                    <a:gridCol w="359167">
                      <a:extLst>
                        <a:ext uri="{9D8B030D-6E8A-4147-A177-3AD203B41FA5}">
                          <a16:colId xmlns:a16="http://schemas.microsoft.com/office/drawing/2014/main" val="173256928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2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i="1" dirty="0" smtClean="0"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en-US" altLang="ko-KR" sz="1200" i="1" dirty="0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2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i="1" dirty="0" smtClean="0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  <m:sub>
                                    <m:r>
                                      <a:rPr lang="en-US" altLang="ko-KR" sz="1200" i="1" dirty="0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200"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2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i="1" dirty="0" smtClean="0"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en-US" altLang="ko-KR" sz="1200" i="1" dirty="0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200"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2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i="1" dirty="0" smtClean="0"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en-US" altLang="ko-KR" sz="1200" b="1" i="1" dirty="0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2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i="1" dirty="0" smtClean="0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  <m:sub>
                                    <m:r>
                                      <a:rPr lang="en-US" altLang="ko-KR" sz="1200" b="1" i="1" dirty="0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200"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2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i="1" dirty="0" smtClean="0"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en-US" altLang="ko-KR" sz="1200" b="1" i="1" dirty="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200"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2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i="1" dirty="0" smtClean="0"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en-US" altLang="ko-KR" sz="1200" b="1" i="1" dirty="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2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i="1" dirty="0" smtClean="0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  <m:sub>
                                    <m:r>
                                      <a:rPr lang="en-US" altLang="ko-KR" sz="1200" b="1" i="1" dirty="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200"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2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i="1" dirty="0" smtClean="0"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en-US" altLang="ko-KR" sz="1200" b="1" i="1" dirty="0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200"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2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i="1" dirty="0" smtClean="0"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en-US" altLang="ko-KR" sz="1200" b="1" i="1" dirty="0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2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i="1" dirty="0" smtClean="0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  <m:sub>
                                    <m:r>
                                      <a:rPr lang="en-US" altLang="ko-KR" sz="1200" b="1" i="1" dirty="0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200"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2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i="1" dirty="0" smtClean="0"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en-US" altLang="ko-KR" sz="1200" b="1" i="1" dirty="0" smtClean="0"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200"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2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i="1" dirty="0" smtClean="0"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en-US" altLang="ko-KR" sz="1200" b="1" i="1" dirty="0" smtClean="0"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2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i="1" dirty="0" smtClean="0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  <m:sub>
                                    <m:r>
                                      <a:rPr lang="en-US" altLang="ko-KR" sz="1200" b="1" i="1" dirty="0" smtClean="0"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200"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2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i="1" dirty="0" smtClean="0"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en-US" altLang="ko-KR" sz="1200" b="1" i="1" dirty="0" smtClean="0"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200"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2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i="1" dirty="0" smtClean="0"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en-US" altLang="ko-KR" sz="1200" b="1" i="1" dirty="0" smtClean="0"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200" dirty="0"/>
                        </a:p>
                      </a:txBody>
                      <a:tcPr marL="0" marR="0" marT="0" marB="0" anchor="ctr"/>
                    </a:tc>
                    <a:extLst>
                      <a:ext uri="{0D108BD9-81ED-4DB2-BD59-A6C34878D82A}">
                        <a16:rowId xmlns:a16="http://schemas.microsoft.com/office/drawing/2014/main" val="125471939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/>
                            <a:t>(1,1)</a:t>
                          </a:r>
                          <a:endParaRPr lang="ko-KR" altLang="en-US" sz="1200"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200" dirty="0"/>
                            <a:t>↑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/>
                            <a:t>-0.1</a:t>
                          </a:r>
                          <a:endParaRPr lang="ko-KR" altLang="en-US" sz="1200"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/>
                            <a:t>(1,2)</a:t>
                          </a:r>
                          <a:endParaRPr lang="ko-KR" altLang="en-US" sz="1200"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200" dirty="0"/>
                            <a:t>↑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/>
                            <a:t>-0.1</a:t>
                          </a:r>
                          <a:endParaRPr lang="ko-KR" altLang="en-US" sz="1200"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/>
                            <a:t>(1,3)</a:t>
                          </a:r>
                          <a:endParaRPr lang="ko-KR" altLang="en-US" sz="1200"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200" dirty="0"/>
                            <a:t>→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/>
                            <a:t>-0.1</a:t>
                          </a:r>
                          <a:endParaRPr lang="ko-KR" altLang="en-US" sz="1200"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/>
                            <a:t>(2,3)</a:t>
                          </a:r>
                          <a:endParaRPr lang="ko-KR" altLang="en-US" sz="1200"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200" dirty="0"/>
                            <a:t>→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/>
                            <a:t>-0.1</a:t>
                          </a:r>
                          <a:endParaRPr lang="ko-KR" altLang="en-US" sz="1200"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/>
                            <a:t>(3,3)</a:t>
                          </a:r>
                          <a:endParaRPr lang="ko-KR" altLang="en-US" sz="1200"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200" dirty="0"/>
                            <a:t>→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/>
                            <a:t>0.9</a:t>
                          </a:r>
                          <a:endParaRPr lang="ko-KR" altLang="en-US" sz="1200"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/>
                            <a:t>(4,3)</a:t>
                          </a:r>
                          <a:endParaRPr lang="ko-KR" altLang="en-US" sz="1200" dirty="0"/>
                        </a:p>
                      </a:txBody>
                      <a:tcPr marL="0" marR="0" marT="0" marB="0" anchor="ctr"/>
                    </a:tc>
                    <a:extLst>
                      <a:ext uri="{0D108BD9-81ED-4DB2-BD59-A6C34878D82A}">
                        <a16:rowId xmlns:a16="http://schemas.microsoft.com/office/drawing/2014/main" val="69859614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표 1">
                <a:extLst>
                  <a:ext uri="{FF2B5EF4-FFF2-40B4-BE49-F238E27FC236}">
                    <a16:creationId xmlns:a16="http://schemas.microsoft.com/office/drawing/2014/main" id="{03E980B4-A812-3301-AF2C-498EE133989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55368303"/>
                  </p:ext>
                </p:extLst>
              </p:nvPr>
            </p:nvGraphicFramePr>
            <p:xfrm>
              <a:off x="4036533" y="3926877"/>
              <a:ext cx="5746672" cy="7416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59167">
                      <a:extLst>
                        <a:ext uri="{9D8B030D-6E8A-4147-A177-3AD203B41FA5}">
                          <a16:colId xmlns:a16="http://schemas.microsoft.com/office/drawing/2014/main" val="3245171961"/>
                        </a:ext>
                      </a:extLst>
                    </a:gridCol>
                    <a:gridCol w="359167">
                      <a:extLst>
                        <a:ext uri="{9D8B030D-6E8A-4147-A177-3AD203B41FA5}">
                          <a16:colId xmlns:a16="http://schemas.microsoft.com/office/drawing/2014/main" val="1661526075"/>
                        </a:ext>
                      </a:extLst>
                    </a:gridCol>
                    <a:gridCol w="359167">
                      <a:extLst>
                        <a:ext uri="{9D8B030D-6E8A-4147-A177-3AD203B41FA5}">
                          <a16:colId xmlns:a16="http://schemas.microsoft.com/office/drawing/2014/main" val="1302463196"/>
                        </a:ext>
                      </a:extLst>
                    </a:gridCol>
                    <a:gridCol w="359167">
                      <a:extLst>
                        <a:ext uri="{9D8B030D-6E8A-4147-A177-3AD203B41FA5}">
                          <a16:colId xmlns:a16="http://schemas.microsoft.com/office/drawing/2014/main" val="1469477333"/>
                        </a:ext>
                      </a:extLst>
                    </a:gridCol>
                    <a:gridCol w="359167">
                      <a:extLst>
                        <a:ext uri="{9D8B030D-6E8A-4147-A177-3AD203B41FA5}">
                          <a16:colId xmlns:a16="http://schemas.microsoft.com/office/drawing/2014/main" val="630501421"/>
                        </a:ext>
                      </a:extLst>
                    </a:gridCol>
                    <a:gridCol w="359167">
                      <a:extLst>
                        <a:ext uri="{9D8B030D-6E8A-4147-A177-3AD203B41FA5}">
                          <a16:colId xmlns:a16="http://schemas.microsoft.com/office/drawing/2014/main" val="1806452162"/>
                        </a:ext>
                      </a:extLst>
                    </a:gridCol>
                    <a:gridCol w="359167">
                      <a:extLst>
                        <a:ext uri="{9D8B030D-6E8A-4147-A177-3AD203B41FA5}">
                          <a16:colId xmlns:a16="http://schemas.microsoft.com/office/drawing/2014/main" val="763839846"/>
                        </a:ext>
                      </a:extLst>
                    </a:gridCol>
                    <a:gridCol w="359167">
                      <a:extLst>
                        <a:ext uri="{9D8B030D-6E8A-4147-A177-3AD203B41FA5}">
                          <a16:colId xmlns:a16="http://schemas.microsoft.com/office/drawing/2014/main" val="354458399"/>
                        </a:ext>
                      </a:extLst>
                    </a:gridCol>
                    <a:gridCol w="359167">
                      <a:extLst>
                        <a:ext uri="{9D8B030D-6E8A-4147-A177-3AD203B41FA5}">
                          <a16:colId xmlns:a16="http://schemas.microsoft.com/office/drawing/2014/main" val="2349704990"/>
                        </a:ext>
                      </a:extLst>
                    </a:gridCol>
                    <a:gridCol w="359167">
                      <a:extLst>
                        <a:ext uri="{9D8B030D-6E8A-4147-A177-3AD203B41FA5}">
                          <a16:colId xmlns:a16="http://schemas.microsoft.com/office/drawing/2014/main" val="3263532662"/>
                        </a:ext>
                      </a:extLst>
                    </a:gridCol>
                    <a:gridCol w="359167">
                      <a:extLst>
                        <a:ext uri="{9D8B030D-6E8A-4147-A177-3AD203B41FA5}">
                          <a16:colId xmlns:a16="http://schemas.microsoft.com/office/drawing/2014/main" val="1861832497"/>
                        </a:ext>
                      </a:extLst>
                    </a:gridCol>
                    <a:gridCol w="359167">
                      <a:extLst>
                        <a:ext uri="{9D8B030D-6E8A-4147-A177-3AD203B41FA5}">
                          <a16:colId xmlns:a16="http://schemas.microsoft.com/office/drawing/2014/main" val="2642156900"/>
                        </a:ext>
                      </a:extLst>
                    </a:gridCol>
                    <a:gridCol w="359167">
                      <a:extLst>
                        <a:ext uri="{9D8B030D-6E8A-4147-A177-3AD203B41FA5}">
                          <a16:colId xmlns:a16="http://schemas.microsoft.com/office/drawing/2014/main" val="2592392835"/>
                        </a:ext>
                      </a:extLst>
                    </a:gridCol>
                    <a:gridCol w="359167">
                      <a:extLst>
                        <a:ext uri="{9D8B030D-6E8A-4147-A177-3AD203B41FA5}">
                          <a16:colId xmlns:a16="http://schemas.microsoft.com/office/drawing/2014/main" val="2974705727"/>
                        </a:ext>
                      </a:extLst>
                    </a:gridCol>
                    <a:gridCol w="359167">
                      <a:extLst>
                        <a:ext uri="{9D8B030D-6E8A-4147-A177-3AD203B41FA5}">
                          <a16:colId xmlns:a16="http://schemas.microsoft.com/office/drawing/2014/main" val="327161703"/>
                        </a:ext>
                      </a:extLst>
                    </a:gridCol>
                    <a:gridCol w="359167">
                      <a:extLst>
                        <a:ext uri="{9D8B030D-6E8A-4147-A177-3AD203B41FA5}">
                          <a16:colId xmlns:a16="http://schemas.microsoft.com/office/drawing/2014/main" val="173256928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0" marR="0" marT="0" marB="0" anchor="ctr">
                        <a:blipFill>
                          <a:blip r:embed="rId5"/>
                          <a:stretch>
                            <a:fillRect l="-1695" t="-1639" r="-1506780" b="-1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0" marR="0" marT="0" marB="0" anchor="ctr">
                        <a:blipFill>
                          <a:blip r:embed="rId5"/>
                          <a:stretch>
                            <a:fillRect l="-101695" t="-1639" r="-1406780" b="-1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0" marR="0" marT="0" marB="0" anchor="ctr">
                        <a:blipFill>
                          <a:blip r:embed="rId5"/>
                          <a:stretch>
                            <a:fillRect l="-201695" t="-1639" r="-1306780" b="-1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0" marR="0" marT="0" marB="0" anchor="ctr">
                        <a:blipFill>
                          <a:blip r:embed="rId5"/>
                          <a:stretch>
                            <a:fillRect l="-301695" t="-1639" r="-1206780" b="-1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0" marR="0" marT="0" marB="0" anchor="ctr">
                        <a:blipFill>
                          <a:blip r:embed="rId5"/>
                          <a:stretch>
                            <a:fillRect l="-401695" t="-1639" r="-1106780" b="-1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0" marR="0" marT="0" marB="0" anchor="ctr">
                        <a:blipFill>
                          <a:blip r:embed="rId5"/>
                          <a:stretch>
                            <a:fillRect l="-501695" t="-1639" r="-1006780" b="-1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0" marR="0" marT="0" marB="0" anchor="ctr">
                        <a:blipFill>
                          <a:blip r:embed="rId5"/>
                          <a:stretch>
                            <a:fillRect l="-601695" t="-1639" r="-906780" b="-1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0" marR="0" marT="0" marB="0" anchor="ctr">
                        <a:blipFill>
                          <a:blip r:embed="rId5"/>
                          <a:stretch>
                            <a:fillRect l="-701695" t="-1639" r="-806780" b="-1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0" marR="0" marT="0" marB="0" anchor="ctr">
                        <a:blipFill>
                          <a:blip r:embed="rId5"/>
                          <a:stretch>
                            <a:fillRect l="-815517" t="-1639" r="-720690" b="-1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0" marR="0" marT="0" marB="0" anchor="ctr">
                        <a:blipFill>
                          <a:blip r:embed="rId5"/>
                          <a:stretch>
                            <a:fillRect l="-900000" t="-1639" r="-608475" b="-1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0" marR="0" marT="0" marB="0" anchor="ctr">
                        <a:blipFill>
                          <a:blip r:embed="rId5"/>
                          <a:stretch>
                            <a:fillRect l="-1000000" t="-1639" r="-508475" b="-1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0" marR="0" marT="0" marB="0" anchor="ctr">
                        <a:blipFill>
                          <a:blip r:embed="rId5"/>
                          <a:stretch>
                            <a:fillRect l="-1100000" t="-1639" r="-408475" b="-1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0" marR="0" marT="0" marB="0" anchor="ctr">
                        <a:blipFill>
                          <a:blip r:embed="rId5"/>
                          <a:stretch>
                            <a:fillRect l="-1200000" t="-1639" r="-308475" b="-1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0" marR="0" marT="0" marB="0" anchor="ctr">
                        <a:blipFill>
                          <a:blip r:embed="rId5"/>
                          <a:stretch>
                            <a:fillRect l="-1300000" t="-1639" r="-208475" b="-1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0" marR="0" marT="0" marB="0" anchor="ctr">
                        <a:blipFill>
                          <a:blip r:embed="rId5"/>
                          <a:stretch>
                            <a:fillRect l="-1400000" t="-1639" r="-108475" b="-1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0" marR="0" marT="0" marB="0" anchor="ctr">
                        <a:blipFill>
                          <a:blip r:embed="rId5"/>
                          <a:stretch>
                            <a:fillRect l="-1500000" t="-1639" r="-8475" b="-1032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5471939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/>
                            <a:t>(1,1)</a:t>
                          </a:r>
                          <a:endParaRPr lang="ko-KR" altLang="en-US" sz="1200"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200" dirty="0"/>
                            <a:t>↑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/>
                            <a:t>-0.1</a:t>
                          </a:r>
                          <a:endParaRPr lang="ko-KR" altLang="en-US" sz="1200"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/>
                            <a:t>(1,2)</a:t>
                          </a:r>
                          <a:endParaRPr lang="ko-KR" altLang="en-US" sz="1200"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200" dirty="0"/>
                            <a:t>↑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/>
                            <a:t>-0.1</a:t>
                          </a:r>
                          <a:endParaRPr lang="ko-KR" altLang="en-US" sz="1200"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/>
                            <a:t>(1,3)</a:t>
                          </a:r>
                          <a:endParaRPr lang="ko-KR" altLang="en-US" sz="1200"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200" dirty="0"/>
                            <a:t>→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/>
                            <a:t>-0.1</a:t>
                          </a:r>
                          <a:endParaRPr lang="ko-KR" altLang="en-US" sz="1200"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/>
                            <a:t>(2,3)</a:t>
                          </a:r>
                          <a:endParaRPr lang="ko-KR" altLang="en-US" sz="1200"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200" dirty="0"/>
                            <a:t>→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/>
                            <a:t>-0.1</a:t>
                          </a:r>
                          <a:endParaRPr lang="ko-KR" altLang="en-US" sz="1200"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/>
                            <a:t>(3,3)</a:t>
                          </a:r>
                          <a:endParaRPr lang="ko-KR" altLang="en-US" sz="1200"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200" dirty="0"/>
                            <a:t>→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/>
                            <a:t>0.9</a:t>
                          </a:r>
                          <a:endParaRPr lang="ko-KR" altLang="en-US" sz="1200"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/>
                            <a:t>(4,3)</a:t>
                          </a:r>
                          <a:endParaRPr lang="ko-KR" altLang="en-US" sz="1200" dirty="0"/>
                        </a:p>
                      </a:txBody>
                      <a:tcPr marL="0" marR="0" marT="0" marB="0" anchor="ctr"/>
                    </a:tc>
                    <a:extLst>
                      <a:ext uri="{0D108BD9-81ED-4DB2-BD59-A6C34878D82A}">
                        <a16:rowId xmlns:a16="http://schemas.microsoft.com/office/drawing/2014/main" val="698596143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3" name="왼쪽 대괄호 2">
            <a:extLst>
              <a:ext uri="{FF2B5EF4-FFF2-40B4-BE49-F238E27FC236}">
                <a16:creationId xmlns:a16="http://schemas.microsoft.com/office/drawing/2014/main" id="{46BC76E3-374D-9DAD-50E8-D3F8F1EF8637}"/>
              </a:ext>
            </a:extLst>
          </p:cNvPr>
          <p:cNvSpPr/>
          <p:nvPr/>
        </p:nvSpPr>
        <p:spPr>
          <a:xfrm rot="5400000">
            <a:off x="4382082" y="3563433"/>
            <a:ext cx="113503" cy="514905"/>
          </a:xfrm>
          <a:prstGeom prst="leftBracket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2" name="연결선: 꺾임 21">
            <a:extLst>
              <a:ext uri="{FF2B5EF4-FFF2-40B4-BE49-F238E27FC236}">
                <a16:creationId xmlns:a16="http://schemas.microsoft.com/office/drawing/2014/main" id="{CEE56246-4752-E949-7737-876C25C9DC2C}"/>
              </a:ext>
            </a:extLst>
          </p:cNvPr>
          <p:cNvCxnSpPr>
            <a:cxnSpLocks/>
          </p:cNvCxnSpPr>
          <p:nvPr/>
        </p:nvCxnSpPr>
        <p:spPr>
          <a:xfrm rot="16200000" flipH="1">
            <a:off x="4656931" y="3554750"/>
            <a:ext cx="113503" cy="482496"/>
          </a:xfrm>
          <a:prstGeom prst="bentConnector4">
            <a:avLst>
              <a:gd name="adj1" fmla="val -201404"/>
              <a:gd name="adj2" fmla="val 99784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연결선: 꺾임 25">
            <a:extLst>
              <a:ext uri="{FF2B5EF4-FFF2-40B4-BE49-F238E27FC236}">
                <a16:creationId xmlns:a16="http://schemas.microsoft.com/office/drawing/2014/main" id="{24C4C08E-DDB4-2A65-8A10-13BC786FC38A}"/>
              </a:ext>
            </a:extLst>
          </p:cNvPr>
          <p:cNvCxnSpPr>
            <a:cxnSpLocks/>
            <a:stCxn id="3" idx="1"/>
          </p:cNvCxnSpPr>
          <p:nvPr/>
        </p:nvCxnSpPr>
        <p:spPr>
          <a:xfrm rot="16200000" flipH="1">
            <a:off x="4769723" y="3433243"/>
            <a:ext cx="145367" cy="807149"/>
          </a:xfrm>
          <a:prstGeom prst="bentConnector4">
            <a:avLst>
              <a:gd name="adj1" fmla="val -224965"/>
              <a:gd name="adj2" fmla="val 99932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4E5F3248-E6FC-A10D-ADD8-925ACE1A72D2}"/>
                  </a:ext>
                </a:extLst>
              </p:cNvPr>
              <p:cNvSpPr txBox="1"/>
              <p:nvPr/>
            </p:nvSpPr>
            <p:spPr>
              <a:xfrm>
                <a:off x="4736306" y="3427301"/>
                <a:ext cx="313676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0" i="1" dirty="0" smtClean="0">
                          <a:latin typeface="Cambria Math" panose="02040503050406030204" pitchFamily="18" charset="0"/>
                          <a:ea typeface="+mn-ea"/>
                        </a:rPr>
                        <m:t>𝑟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FD220128-CC2C-237B-AE3B-B7562FF9B5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36306" y="3427301"/>
                <a:ext cx="313676" cy="307777"/>
              </a:xfrm>
              <a:prstGeom prst="rect">
                <a:avLst/>
              </a:prstGeom>
              <a:blipFill>
                <a:blip r:embed="rId6"/>
                <a:stretch>
                  <a:fillRect t="-5882" r="-9804" b="-1764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B1CA8BB0-96AA-89D7-1CE4-63711DC98728}"/>
                  </a:ext>
                </a:extLst>
              </p:cNvPr>
              <p:cNvSpPr txBox="1"/>
              <p:nvPr/>
            </p:nvSpPr>
            <p:spPr>
              <a:xfrm>
                <a:off x="5014913" y="3357881"/>
                <a:ext cx="32630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0" i="1" dirty="0" smtClean="0">
                          <a:latin typeface="Cambria Math" panose="02040503050406030204" pitchFamily="18" charset="0"/>
                          <a:ea typeface="+mn-ea"/>
                        </a:rPr>
                        <m:t>𝑝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5AC1A885-5E67-1518-354F-883BBE6906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14913" y="3357881"/>
                <a:ext cx="326308" cy="307777"/>
              </a:xfrm>
              <a:prstGeom prst="rect">
                <a:avLst/>
              </a:prstGeom>
              <a:blipFill>
                <a:blip r:embed="rId7"/>
                <a:stretch>
                  <a:fillRect t="-6000" r="-11321" b="-180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2" name="원호 41">
            <a:extLst>
              <a:ext uri="{FF2B5EF4-FFF2-40B4-BE49-F238E27FC236}">
                <a16:creationId xmlns:a16="http://schemas.microsoft.com/office/drawing/2014/main" id="{DB82C462-656B-AEB0-ABE5-52C0472A457D}"/>
              </a:ext>
            </a:extLst>
          </p:cNvPr>
          <p:cNvSpPr/>
          <p:nvPr/>
        </p:nvSpPr>
        <p:spPr>
          <a:xfrm>
            <a:off x="4235672" y="4363048"/>
            <a:ext cx="350061" cy="514168"/>
          </a:xfrm>
          <a:prstGeom prst="arc">
            <a:avLst>
              <a:gd name="adj1" fmla="val 1630318"/>
              <a:gd name="adj2" fmla="val 9256406"/>
            </a:avLst>
          </a:prstGeom>
          <a:ln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633640FE-2444-2349-8D97-1B29902ECC7F}"/>
                  </a:ext>
                </a:extLst>
              </p:cNvPr>
              <p:cNvSpPr txBox="1"/>
              <p:nvPr/>
            </p:nvSpPr>
            <p:spPr>
              <a:xfrm>
                <a:off x="4247548" y="4795193"/>
                <a:ext cx="33214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ko-KR" b="0" i="1" dirty="0" smtClean="0">
                          <a:latin typeface="Cambria Math" panose="02040503050406030204" pitchFamily="18" charset="0"/>
                          <a:ea typeface="+mn-ea"/>
                        </a:rPr>
                        <m:t>π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944450B1-9415-6FF4-819F-1FA347F10D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47548" y="4795193"/>
                <a:ext cx="332142" cy="307777"/>
              </a:xfrm>
              <a:prstGeom prst="rect">
                <a:avLst/>
              </a:prstGeom>
              <a:blipFill>
                <a:blip r:embed="rId8"/>
                <a:stretch>
                  <a:fillRect t="-6000" r="-11111" b="-180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70BFDB21-E430-B680-8B61-8B0F67ECF14C}"/>
                  </a:ext>
                </a:extLst>
              </p:cNvPr>
              <p:cNvSpPr txBox="1"/>
              <p:nvPr/>
            </p:nvSpPr>
            <p:spPr>
              <a:xfrm>
                <a:off x="4235671" y="5243257"/>
                <a:ext cx="2552413" cy="138499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ko-KR" altLang="en-US" b="0" dirty="0">
                    <a:latin typeface="+mn-ea"/>
                    <a:ea typeface="+mn-ea"/>
                  </a:rPr>
                  <a:t>정책의 예시 </a:t>
                </a:r>
                <a:r>
                  <a:rPr lang="en-US" altLang="ko-KR" b="0" dirty="0">
                    <a:latin typeface="+mn-ea"/>
                    <a:ea typeface="+mn-ea"/>
                  </a:rPr>
                  <a:t>(</a:t>
                </a:r>
                <a:r>
                  <a:rPr lang="ko-KR" altLang="en-US" b="0" dirty="0">
                    <a:latin typeface="+mn-ea"/>
                    <a:ea typeface="+mn-ea"/>
                  </a:rPr>
                  <a:t>균등정책</a:t>
                </a:r>
                <a:r>
                  <a:rPr lang="en-US" altLang="ko-KR" b="0" dirty="0">
                    <a:latin typeface="+mn-ea"/>
                    <a:ea typeface="+mn-ea"/>
                  </a:rPr>
                  <a:t>)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ko-KR" b="0" i="1" dirty="0">
                          <a:latin typeface="Cambria Math" panose="02040503050406030204" pitchFamily="18" charset="0"/>
                        </a:rPr>
                        <m:t>π</m:t>
                      </m:r>
                      <m:d>
                        <m:dPr>
                          <m:ctrlPr>
                            <a:rPr lang="en-US" altLang="ko-KR" b="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ko-KR" altLang="en-US" b="0" i="1" dirty="0">
                              <a:latin typeface="Cambria Math" panose="02040503050406030204" pitchFamily="18" charset="0"/>
                            </a:rPr>
                            <m:t>↑</m:t>
                          </m:r>
                        </m:e>
                        <m:e>
                          <m:d>
                            <m:dPr>
                              <m:ctrlPr>
                                <a:rPr lang="en-US" altLang="ko-KR" b="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b="0" i="1" dirty="0">
                                  <a:latin typeface="Cambria Math" panose="02040503050406030204" pitchFamily="18" charset="0"/>
                                </a:rPr>
                                <m:t>1,1</m:t>
                              </m:r>
                            </m:e>
                          </m:d>
                        </m:e>
                      </m:d>
                      <m:r>
                        <a:rPr lang="en-US" altLang="ko-KR" b="0" i="1" dirty="0">
                          <a:latin typeface="Cambria Math" panose="02040503050406030204" pitchFamily="18" charset="0"/>
                        </a:rPr>
                        <m:t>=0.5</m:t>
                      </m:r>
                    </m:oMath>
                  </m:oMathPara>
                </a14:m>
                <a:endParaRPr lang="en-US" altLang="ko-KR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ko-KR" b="0" i="1" dirty="0">
                          <a:latin typeface="Cambria Math" panose="02040503050406030204" pitchFamily="18" charset="0"/>
                        </a:rPr>
                        <m:t>π</m:t>
                      </m:r>
                      <m:d>
                        <m:dPr>
                          <m:ctrlPr>
                            <a:rPr lang="en-US" altLang="ko-KR" b="0" i="1" dirty="0">
                              <a:latin typeface="Cambria Math" panose="02040503050406030204" pitchFamily="18" charset="0"/>
                              <a:ea typeface="+mn-ea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en-US" altLang="ko-KR" b="0" i="1" dirty="0">
                                  <a:latin typeface="Cambria Math" panose="02040503050406030204" pitchFamily="18" charset="0"/>
                                  <a:ea typeface="+mn-ea"/>
                                </a:rPr>
                              </m:ctrlPr>
                            </m:dPr>
                            <m:e>
                              <m:r>
                                <a:rPr lang="ko-KR" altLang="en-US" b="0" i="1" dirty="0">
                                  <a:latin typeface="Cambria Math" panose="02040503050406030204" pitchFamily="18" charset="0"/>
                                  <a:ea typeface="+mn-ea"/>
                                </a:rPr>
                                <m:t>→</m:t>
                              </m:r>
                            </m:e>
                          </m:d>
                        </m:e>
                        <m:e>
                          <m:d>
                            <m:dPr>
                              <m:ctrlPr>
                                <a:rPr lang="en-US" altLang="ko-KR" b="0" i="1" dirty="0">
                                  <a:latin typeface="Cambria Math" panose="02040503050406030204" pitchFamily="18" charset="0"/>
                                  <a:ea typeface="+mn-ea"/>
                                </a:rPr>
                              </m:ctrlPr>
                            </m:dPr>
                            <m:e>
                              <m:r>
                                <a:rPr lang="en-US" altLang="ko-KR" b="0" i="1" dirty="0">
                                  <a:latin typeface="Cambria Math" panose="02040503050406030204" pitchFamily="18" charset="0"/>
                                  <a:ea typeface="+mn-ea"/>
                                </a:rPr>
                                <m:t>1,1</m:t>
                              </m:r>
                            </m:e>
                          </m:d>
                        </m:e>
                      </m:d>
                      <m:r>
                        <a:rPr lang="en-US" altLang="ko-KR" b="0" i="1" dirty="0">
                          <a:latin typeface="Cambria Math" panose="02040503050406030204" pitchFamily="18" charset="0"/>
                          <a:ea typeface="+mn-ea"/>
                        </a:rPr>
                        <m:t>=0.5</m:t>
                      </m:r>
                    </m:oMath>
                  </m:oMathPara>
                </a14:m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l-GR" altLang="ko-KR" b="0" i="1" dirty="0">
                          <a:latin typeface="Cambria Math" panose="02040503050406030204" pitchFamily="18" charset="0"/>
                        </a:rPr>
                        <m:t>π</m:t>
                      </m:r>
                      <m:d>
                        <m:dPr>
                          <m:ctrlPr>
                            <a:rPr lang="ar-AE" altLang="ko-KR" b="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ar-AE" altLang="ko-KR" b="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ko-KR" altLang="en-US" b="0" i="1" dirty="0">
                                  <a:latin typeface="Cambria Math" panose="02040503050406030204" pitchFamily="18" charset="0"/>
                                </a:rPr>
                                <m:t>↓</m:t>
                              </m:r>
                            </m:e>
                          </m:d>
                        </m:e>
                        <m:e>
                          <m:d>
                            <m:dPr>
                              <m:ctrlPr>
                                <a:rPr lang="ar-AE" altLang="ko-KR" b="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 altLang="ko-KR" b="0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ar-AE" altLang="ko-KR" b="0" i="1" dirty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ar-AE" altLang="ko-KR" b="0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d>
                        </m:e>
                      </m:d>
                      <m:r>
                        <a:rPr lang="ar-AE" altLang="ko-KR" b="0" i="1" dirty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altLang="ko-KR" b="0" i="1" dirty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ar-AE" altLang="ko-KR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l-GR" altLang="ko-KR" b="0" i="1" dirty="0">
                          <a:latin typeface="Cambria Math" panose="02040503050406030204" pitchFamily="18" charset="0"/>
                        </a:rPr>
                        <m:t>π</m:t>
                      </m:r>
                      <m:d>
                        <m:dPr>
                          <m:ctrlPr>
                            <a:rPr lang="ar-AE" altLang="ko-KR" b="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ar-AE" altLang="ko-KR" b="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ko-KR" altLang="en-US" b="0" i="1" dirty="0">
                                  <a:latin typeface="Cambria Math" panose="02040503050406030204" pitchFamily="18" charset="0"/>
                                </a:rPr>
                                <m:t>←</m:t>
                              </m:r>
                            </m:e>
                          </m:d>
                        </m:e>
                        <m:e>
                          <m:d>
                            <m:dPr>
                              <m:ctrlPr>
                                <a:rPr lang="ar-AE" altLang="ko-KR" b="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 altLang="ko-KR" b="0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ar-AE" altLang="ko-KR" b="0" i="1" dirty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ar-AE" altLang="ko-KR" b="0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d>
                        </m:e>
                      </m:d>
                      <m:r>
                        <a:rPr lang="ar-AE" altLang="ko-KR" b="0" i="1" dirty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altLang="ko-KR" b="0" i="1" dirty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dirty="0"/>
              </a:p>
              <a:p>
                <a:endParaRPr dirty="0"/>
              </a:p>
            </p:txBody>
          </p:sp>
        </mc:Choice>
        <mc:Fallback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70BFDB21-E430-B680-8B61-8B0F67ECF1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35671" y="5243257"/>
                <a:ext cx="2552413" cy="1384995"/>
              </a:xfrm>
              <a:prstGeom prst="rect">
                <a:avLst/>
              </a:prstGeom>
              <a:blipFill>
                <a:blip r:embed="rId9"/>
                <a:stretch>
                  <a:fillRect l="-716" t="-88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DC04D520-17EE-6625-37F1-24CDB03158ED}"/>
                  </a:ext>
                </a:extLst>
              </p:cNvPr>
              <p:cNvSpPr txBox="1"/>
              <p:nvPr/>
            </p:nvSpPr>
            <p:spPr>
              <a:xfrm>
                <a:off x="6981492" y="5243257"/>
                <a:ext cx="2155270" cy="116955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ko-KR" altLang="en-US" b="0" dirty="0">
                    <a:latin typeface="+mn-ea"/>
                    <a:ea typeface="+mn-ea"/>
                  </a:rPr>
                  <a:t>최적정책</a:t>
                </a:r>
                <a:endParaRPr lang="en-US" altLang="ko-KR" b="0" dirty="0">
                  <a:latin typeface="+mn-ea"/>
                  <a:ea typeface="+mn-ea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altLang="ko-KR" b="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ar-AE" b="0" i="1" dirty="0"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  <m:sub>
                          <m:r>
                            <a:rPr lang="ar-AE" altLang="ko-KR" b="0" i="1" dirty="0">
                              <a:latin typeface="Cambria Math" panose="02040503050406030204" pitchFamily="18" charset="0"/>
                            </a:rPr>
                            <m:t>∗</m:t>
                          </m:r>
                        </m:sub>
                      </m:sSub>
                      <m:d>
                        <m:dPr>
                          <m:ctrlPr>
                            <a:rPr lang="ar-AE" altLang="ko-KR" b="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altLang="ko-KR" b="0" i="1" dirty="0">
                              <a:latin typeface="Cambria Math" panose="02040503050406030204" pitchFamily="18" charset="0"/>
                            </a:rPr>
                            <m:t>↑</m:t>
                          </m:r>
                        </m:e>
                        <m:e>
                          <m:d>
                            <m:dPr>
                              <m:ctrlPr>
                                <a:rPr lang="ar-AE" altLang="ko-KR" b="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 altLang="ko-KR" b="0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ar-AE" altLang="ko-KR" b="0" i="1" dirty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ar-AE" altLang="ko-KR" b="0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d>
                        </m:e>
                      </m:d>
                      <m:r>
                        <a:rPr lang="ar-AE" altLang="ko-KR" b="0" i="1" dirty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ko-KR" b="0" i="1" dirty="0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ar-AE" altLang="ko-KR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altLang="ko-KR" b="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ar-AE" b="0" i="1" dirty="0"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  <m:sub>
                          <m:r>
                            <a:rPr lang="ar-AE" altLang="ko-KR" b="0" i="1" dirty="0">
                              <a:latin typeface="Cambria Math" panose="02040503050406030204" pitchFamily="18" charset="0"/>
                            </a:rPr>
                            <m:t>∗</m:t>
                          </m:r>
                        </m:sub>
                      </m:sSub>
                      <m:d>
                        <m:dPr>
                          <m:ctrlPr>
                            <a:rPr lang="ar-AE" altLang="ko-KR" b="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ko-KR" altLang="en-US" b="0" i="1" dirty="0">
                              <a:latin typeface="Cambria Math" panose="02040503050406030204" pitchFamily="18" charset="0"/>
                            </a:rPr>
                            <m:t>→</m:t>
                          </m:r>
                        </m:e>
                        <m:e>
                          <m:d>
                            <m:dPr>
                              <m:ctrlPr>
                                <a:rPr lang="ar-AE" altLang="ko-KR" b="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 altLang="ko-KR" b="0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ar-AE" altLang="ko-KR" b="0" i="1" dirty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ar-AE" altLang="ko-KR" b="0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d>
                        </m:e>
                      </m:d>
                      <m:r>
                        <a:rPr lang="ar-AE" altLang="ko-KR" b="0" i="1" dirty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ko-KR" b="0" i="1" dirty="0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ar-AE" altLang="ko-KR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altLang="ko-KR" b="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ar-AE" b="0" i="1" dirty="0"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  <m:sub>
                          <m:r>
                            <a:rPr lang="ar-AE" altLang="ko-KR" b="0" i="1" dirty="0">
                              <a:latin typeface="Cambria Math" panose="02040503050406030204" pitchFamily="18" charset="0"/>
                            </a:rPr>
                            <m:t>∗</m:t>
                          </m:r>
                        </m:sub>
                      </m:sSub>
                      <m:d>
                        <m:dPr>
                          <m:ctrlPr>
                            <a:rPr lang="ar-AE" altLang="ko-KR" b="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ko-KR" altLang="en-US" b="0" i="1" dirty="0">
                              <a:latin typeface="Cambria Math" panose="02040503050406030204" pitchFamily="18" charset="0"/>
                            </a:rPr>
                            <m:t>↓</m:t>
                          </m:r>
                        </m:e>
                        <m:e>
                          <m:d>
                            <m:dPr>
                              <m:ctrlPr>
                                <a:rPr lang="ar-AE" altLang="ko-KR" b="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 altLang="ko-KR" b="0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ar-AE" altLang="ko-KR" b="0" i="1" dirty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ar-AE" altLang="ko-KR" b="0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d>
                        </m:e>
                      </m:d>
                      <m:r>
                        <a:rPr lang="ar-AE" altLang="ko-KR" b="0" i="1" dirty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altLang="ko-KR" b="0" i="1" dirty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ar-AE" altLang="ko-KR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altLang="ko-KR" b="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ar-AE" b="0" i="1" dirty="0"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  <m:sub>
                          <m:r>
                            <a:rPr lang="ar-AE" altLang="ko-KR" b="0" i="1" dirty="0">
                              <a:latin typeface="Cambria Math" panose="02040503050406030204" pitchFamily="18" charset="0"/>
                            </a:rPr>
                            <m:t>∗</m:t>
                          </m:r>
                        </m:sub>
                      </m:sSub>
                      <m:d>
                        <m:dPr>
                          <m:ctrlPr>
                            <a:rPr lang="ar-AE" altLang="ko-KR" b="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ko-KR" altLang="en-US" b="0" i="1" dirty="0">
                              <a:latin typeface="Cambria Math" panose="02040503050406030204" pitchFamily="18" charset="0"/>
                            </a:rPr>
                            <m:t>←</m:t>
                          </m:r>
                        </m:e>
                        <m:e>
                          <m:d>
                            <m:dPr>
                              <m:ctrlPr>
                                <a:rPr lang="ar-AE" altLang="ko-KR" b="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 altLang="ko-KR" b="0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ar-AE" altLang="ko-KR" b="0" i="1" dirty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ar-AE" altLang="ko-KR" b="0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d>
                        </m:e>
                      </m:d>
                      <m:r>
                        <a:rPr lang="ar-AE" altLang="ko-KR" b="0" i="1" dirty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ko-KR" b="0" i="1" dirty="0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ar-AE" altLang="ko-KR" dirty="0"/>
              </a:p>
            </p:txBody>
          </p:sp>
        </mc:Choice>
        <mc:Fallback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DC04D520-17EE-6625-37F1-24CDB03158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81492" y="5243257"/>
                <a:ext cx="2155270" cy="1169551"/>
              </a:xfrm>
              <a:prstGeom prst="rect">
                <a:avLst/>
              </a:prstGeom>
              <a:blipFill>
                <a:blip r:embed="rId10"/>
                <a:stretch>
                  <a:fillRect l="-847" t="-104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073137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4EC405-AA9D-6FEF-5D42-F3E43492C2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129B9128-3ABE-CAF0-C118-1A1795F817B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dirty="0"/>
              <a:t>가치함수 </a:t>
            </a:r>
            <a:r>
              <a:rPr lang="en-US" altLang="ko-KR" dirty="0"/>
              <a:t>(value function)</a:t>
            </a:r>
            <a:endParaRPr lang="ko-KR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텍스트 개체 틀 5">
                <a:extLst>
                  <a:ext uri="{FF2B5EF4-FFF2-40B4-BE49-F238E27FC236}">
                    <a16:creationId xmlns:a16="http://schemas.microsoft.com/office/drawing/2014/main" id="{3A0E4171-9F7E-81A1-C200-BDD4DEA9A1C3}"/>
                  </a:ext>
                </a:extLst>
              </p:cNvPr>
              <p:cNvSpPr>
                <a:spLocks noGrp="1"/>
              </p:cNvSpPr>
              <p:nvPr>
                <p:ph type="body" sz="quarter" idx="11"/>
              </p:nvPr>
            </p:nvSpPr>
            <p:spPr>
              <a:xfrm>
                <a:off x="362309" y="904870"/>
                <a:ext cx="9270641" cy="2617194"/>
              </a:xfrm>
            </p:spPr>
            <p:txBody>
              <a:bodyPr/>
              <a:lstStyle/>
              <a:p>
                <a:pPr marL="285750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en-US" altLang="ko-KR" dirty="0">
                    <a:latin typeface="+mn-ea"/>
                  </a:rPr>
                  <a:t>state-value function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sub>
                    </m:sSub>
                  </m:oMath>
                </a14:m>
                <a:endParaRPr lang="en-US" altLang="ko-KR" dirty="0">
                  <a:latin typeface="+mn-ea"/>
                </a:endParaRPr>
              </a:p>
              <a:p>
                <a:pPr marL="180000" lvl="1" indent="1800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400" dirty="0">
                    <a:latin typeface="Cambria Math" panose="02040503050406030204" pitchFamily="18" charset="0"/>
                  </a:rPr>
                  <a:t>현재 상태에서의 가치를 나타내는 값</a:t>
                </a:r>
                <a:r>
                  <a:rPr lang="en-US" altLang="ko-KR" sz="1400" dirty="0">
                    <a:latin typeface="Cambria Math" panose="02040503050406030204" pitchFamily="18" charset="0"/>
                  </a:rPr>
                  <a:t> (</a:t>
                </a:r>
                <a:r>
                  <a:rPr lang="ko-KR" altLang="en-US" sz="1400" dirty="0">
                    <a:latin typeface="Cambria Math" panose="02040503050406030204" pitchFamily="18" charset="0"/>
                  </a:rPr>
                  <a:t>정확하게는</a:t>
                </a:r>
                <a:r>
                  <a:rPr lang="en-US" altLang="ko-KR" sz="1400" dirty="0">
                    <a:latin typeface="Cambria Math" panose="02040503050406030204" pitchFamily="18" charset="0"/>
                  </a:rPr>
                  <a:t>, </a:t>
                </a:r>
                <a:r>
                  <a:rPr lang="ko-KR" altLang="en-US" sz="1400" dirty="0">
                    <a:latin typeface="Cambria Math" panose="02040503050406030204" pitchFamily="18" charset="0"/>
                  </a:rPr>
                  <a:t>주어진 상태에 대한 </a:t>
                </a:r>
                <a:r>
                  <a:rPr lang="en-US" altLang="ko-KR" sz="1400" dirty="0">
                    <a:latin typeface="Cambria Math" panose="02040503050406030204" pitchFamily="18" charset="0"/>
                  </a:rPr>
                  <a:t>return</a:t>
                </a:r>
                <a:r>
                  <a:rPr lang="ko-KR" altLang="en-US" sz="1400" dirty="0">
                    <a:latin typeface="Cambria Math" panose="02040503050406030204" pitchFamily="18" charset="0"/>
                  </a:rPr>
                  <a:t>의 </a:t>
                </a:r>
                <a:r>
                  <a:rPr lang="ko-KR" altLang="en-US" sz="1400" dirty="0" err="1">
                    <a:latin typeface="Cambria Math" panose="02040503050406030204" pitchFamily="18" charset="0"/>
                  </a:rPr>
                  <a:t>기댓값</a:t>
                </a:r>
                <a:r>
                  <a:rPr lang="en-US" altLang="ko-KR" sz="1400" dirty="0">
                    <a:latin typeface="Cambria Math" panose="02040503050406030204" pitchFamily="18" charset="0"/>
                  </a:rPr>
                  <a:t>)</a:t>
                </a:r>
              </a:p>
              <a:p>
                <a:pPr marL="180000" lvl="1" indent="1800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endParaRPr lang="en-US" altLang="ko-KR" sz="1400" dirty="0">
                  <a:latin typeface="Cambria Math" panose="02040503050406030204" pitchFamily="18" charset="0"/>
                </a:endParaRPr>
              </a:p>
              <a:p>
                <a:pPr marL="180000" lvl="1" indent="1800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endParaRPr lang="en-US" altLang="ko-KR" sz="1400" dirty="0">
                  <a:latin typeface="Cambria Math" panose="02040503050406030204" pitchFamily="18" charset="0"/>
                </a:endParaRPr>
              </a:p>
              <a:p>
                <a:pPr marL="180000" lvl="1" indent="1800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400" dirty="0">
                    <a:latin typeface="+mn-ea"/>
                  </a:rPr>
                  <a:t>균등정책</a:t>
                </a:r>
                <a:r>
                  <a:rPr lang="en-US" altLang="ko-KR" sz="1400" dirty="0">
                    <a:latin typeface="+mn-ea"/>
                  </a:rPr>
                  <a:t>(equiprobable policy) </a:t>
                </a:r>
                <a14:m>
                  <m:oMath xmlns:m="http://schemas.openxmlformats.org/officeDocument/2006/math">
                    <m:r>
                      <a:rPr lang="en-US" altLang="ko-KR" sz="1400" i="1" dirty="0" smtClean="0"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r>
                  <a:rPr lang="ko-KR" altLang="en-US" sz="1400" dirty="0">
                    <a:latin typeface="+mn-ea"/>
                  </a:rPr>
                  <a:t>에 대한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4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400" i="1" dirty="0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altLang="ko-KR" sz="1400" i="1" dirty="0" smtClean="0">
                            <a:latin typeface="Cambria Math" panose="02040503050406030204" pitchFamily="18" charset="0"/>
                          </a:rPr>
                          <m:t>𝜋</m:t>
                        </m:r>
                      </m:sub>
                    </m:sSub>
                  </m:oMath>
                </a14:m>
                <a:r>
                  <a:rPr lang="ko-KR" altLang="en-US" sz="1400" dirty="0">
                    <a:latin typeface="+mn-ea"/>
                  </a:rPr>
                  <a:t>의 값 </a:t>
                </a:r>
                <a:r>
                  <a:rPr lang="en-US" altLang="ko-KR" sz="1400" dirty="0">
                    <a:latin typeface="+mn-ea"/>
                  </a:rPr>
                  <a:t>(</a:t>
                </a:r>
                <a:r>
                  <a:rPr lang="ko-KR" altLang="en-US" sz="1400" dirty="0">
                    <a:latin typeface="+mn-ea"/>
                  </a:rPr>
                  <a:t>아래</a:t>
                </a:r>
                <a:r>
                  <a:rPr lang="en-US" altLang="ko-KR" sz="1400" dirty="0">
                    <a:latin typeface="+mn-ea"/>
                  </a:rPr>
                  <a:t>)</a:t>
                </a:r>
              </a:p>
              <a:p>
                <a:pPr marL="180000" lvl="1" indent="0">
                  <a:lnSpc>
                    <a:spcPct val="150000"/>
                  </a:lnSpc>
                  <a:buNone/>
                </a:pPr>
                <a:endParaRPr lang="en-US" altLang="ko-KR" sz="1400" i="1" dirty="0">
                  <a:latin typeface="Cambria Math" panose="02040503050406030204" pitchFamily="18" charset="0"/>
                </a:endParaRPr>
              </a:p>
              <a:p>
                <a:pPr marL="180000" lvl="1" indent="0">
                  <a:lnSpc>
                    <a:spcPct val="150000"/>
                  </a:lnSpc>
                  <a:buNone/>
                </a:pPr>
                <a:endParaRPr lang="en-US" altLang="ko-KR" sz="1400" b="0" dirty="0">
                  <a:latin typeface="Cambria Math" panose="02040503050406030204" pitchFamily="18" charset="0"/>
                </a:endParaRPr>
              </a:p>
              <a:p>
                <a:pPr marL="180000" lvl="1" indent="0">
                  <a:lnSpc>
                    <a:spcPct val="150000"/>
                  </a:lnSpc>
                  <a:buNone/>
                </a:pPr>
                <a:endParaRPr lang="en-US" altLang="ko-KR" sz="1400" dirty="0">
                  <a:latin typeface="+mn-ea"/>
                </a:endParaRPr>
              </a:p>
            </p:txBody>
          </p:sp>
        </mc:Choice>
        <mc:Fallback>
          <p:sp>
            <p:nvSpPr>
              <p:cNvPr id="6" name="텍스트 개체 틀 5">
                <a:extLst>
                  <a:ext uri="{FF2B5EF4-FFF2-40B4-BE49-F238E27FC236}">
                    <a16:creationId xmlns:a16="http://schemas.microsoft.com/office/drawing/2014/main" id="{3A0E4171-9F7E-81A1-C200-BDD4DEA9A1C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1"/>
              </p:nvPr>
            </p:nvSpPr>
            <p:spPr>
              <a:xfrm>
                <a:off x="362309" y="904870"/>
                <a:ext cx="9270641" cy="2617194"/>
              </a:xfrm>
              <a:blipFill>
                <a:blip r:embed="rId3"/>
                <a:stretch>
                  <a:fillRect l="-26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제목 3">
            <a:extLst>
              <a:ext uri="{FF2B5EF4-FFF2-40B4-BE49-F238E27FC236}">
                <a16:creationId xmlns:a16="http://schemas.microsoft.com/office/drawing/2014/main" id="{52D024CA-1010-0194-107F-043AE1B840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Ⅰ-3. </a:t>
            </a:r>
            <a:r>
              <a:rPr lang="ko-KR" altLang="en-US" dirty="0"/>
              <a:t>가치함수와 </a:t>
            </a:r>
            <a:r>
              <a:rPr lang="ko-KR" altLang="en-US" dirty="0" err="1"/>
              <a:t>벨만방정식</a:t>
            </a:r>
            <a:r>
              <a:rPr lang="en-US" altLang="ko-KR" dirty="0"/>
              <a:t> (1/2)</a:t>
            </a:r>
            <a:endParaRPr lang="ko-KR" altLang="en-US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2DFE78EF-D073-D821-FDF9-97072F357C3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 dirty="0"/>
              <a:t>Ⅰ </a:t>
            </a:r>
            <a:r>
              <a:rPr lang="ko-KR" altLang="en-US" dirty="0"/>
              <a:t>강화학습 기초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06A04ECF-23CD-7719-CB72-62772A9AE4A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70927" y="1865478"/>
            <a:ext cx="1700804" cy="266500"/>
          </a:xfrm>
          <a:prstGeom prst="rect">
            <a:avLst/>
          </a:prstGeom>
        </p:spPr>
      </p:pic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AF9EEE75-8A08-4B07-C705-32F424EB72E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0237136"/>
              </p:ext>
            </p:extLst>
          </p:nvPr>
        </p:nvGraphicFramePr>
        <p:xfrm>
          <a:off x="4953000" y="3927487"/>
          <a:ext cx="3436280" cy="184400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59070">
                  <a:extLst>
                    <a:ext uri="{9D8B030D-6E8A-4147-A177-3AD203B41FA5}">
                      <a16:colId xmlns:a16="http://schemas.microsoft.com/office/drawing/2014/main" val="3283410258"/>
                    </a:ext>
                  </a:extLst>
                </a:gridCol>
                <a:gridCol w="859070">
                  <a:extLst>
                    <a:ext uri="{9D8B030D-6E8A-4147-A177-3AD203B41FA5}">
                      <a16:colId xmlns:a16="http://schemas.microsoft.com/office/drawing/2014/main" val="591898217"/>
                    </a:ext>
                  </a:extLst>
                </a:gridCol>
                <a:gridCol w="859070">
                  <a:extLst>
                    <a:ext uri="{9D8B030D-6E8A-4147-A177-3AD203B41FA5}">
                      <a16:colId xmlns:a16="http://schemas.microsoft.com/office/drawing/2014/main" val="1445315171"/>
                    </a:ext>
                  </a:extLst>
                </a:gridCol>
                <a:gridCol w="859070">
                  <a:extLst>
                    <a:ext uri="{9D8B030D-6E8A-4147-A177-3AD203B41FA5}">
                      <a16:colId xmlns:a16="http://schemas.microsoft.com/office/drawing/2014/main" val="856673349"/>
                    </a:ext>
                  </a:extLst>
                </a:gridCol>
              </a:tblGrid>
              <a:tr h="61466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-0.761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-0.551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-0.142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0.000</a:t>
                      </a:r>
                      <a:endParaRPr lang="ko-KR" alt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37638875"/>
                  </a:ext>
                </a:extLst>
              </a:tr>
              <a:tr h="61466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-0.865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-0.715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0.000</a:t>
                      </a:r>
                      <a:endParaRPr lang="ko-KR" alt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32969099"/>
                  </a:ext>
                </a:extLst>
              </a:tr>
              <a:tr h="61466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-0.909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-0.912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-0.877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-0.950</a:t>
                      </a:r>
                      <a:endParaRPr lang="ko-KR" alt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26604439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0FA4C0F7-755E-95F6-049B-D5EE1944FDA3}"/>
              </a:ext>
            </a:extLst>
          </p:cNvPr>
          <p:cNvSpPr txBox="1"/>
          <p:nvPr/>
        </p:nvSpPr>
        <p:spPr>
          <a:xfrm>
            <a:off x="5228830" y="5807001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b="0" dirty="0">
                <a:latin typeface="+mn-ea"/>
                <a:ea typeface="+mn-ea"/>
              </a:rPr>
              <a:t>1</a:t>
            </a:r>
            <a:endParaRPr lang="ko-KR" altLang="en-US" b="0" dirty="0">
              <a:latin typeface="+mn-ea"/>
              <a:ea typeface="+mn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A609906-1A2D-5470-AAFD-D66751379971}"/>
              </a:ext>
            </a:extLst>
          </p:cNvPr>
          <p:cNvSpPr txBox="1"/>
          <p:nvPr/>
        </p:nvSpPr>
        <p:spPr>
          <a:xfrm>
            <a:off x="6082569" y="5817356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b="0" dirty="0">
                <a:latin typeface="+mn-ea"/>
                <a:ea typeface="+mn-ea"/>
              </a:rPr>
              <a:t>2</a:t>
            </a:r>
            <a:endParaRPr lang="ko-KR" altLang="en-US" b="0" dirty="0">
              <a:latin typeface="+mn-ea"/>
              <a:ea typeface="+mn-ea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30A29B3-41F7-CDB6-1200-12E135F24295}"/>
              </a:ext>
            </a:extLst>
          </p:cNvPr>
          <p:cNvSpPr txBox="1"/>
          <p:nvPr/>
        </p:nvSpPr>
        <p:spPr>
          <a:xfrm>
            <a:off x="6949151" y="5817356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b="0" dirty="0">
                <a:latin typeface="+mn-ea"/>
                <a:ea typeface="+mn-ea"/>
              </a:rPr>
              <a:t>3</a:t>
            </a:r>
            <a:endParaRPr lang="ko-KR" altLang="en-US" b="0" dirty="0">
              <a:latin typeface="+mn-ea"/>
              <a:ea typeface="+mn-ea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5492E53-1105-DEF6-04C1-FF44AA3E6CA7}"/>
              </a:ext>
            </a:extLst>
          </p:cNvPr>
          <p:cNvSpPr txBox="1"/>
          <p:nvPr/>
        </p:nvSpPr>
        <p:spPr>
          <a:xfrm>
            <a:off x="7802890" y="5827711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b="0" dirty="0">
                <a:latin typeface="+mn-ea"/>
                <a:ea typeface="+mn-ea"/>
              </a:rPr>
              <a:t>4</a:t>
            </a:r>
            <a:endParaRPr lang="ko-KR" altLang="en-US" b="0" dirty="0">
              <a:latin typeface="+mn-ea"/>
              <a:ea typeface="+mn-ea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33498F8-603F-9D62-336D-9E05C75DC6BB}"/>
              </a:ext>
            </a:extLst>
          </p:cNvPr>
          <p:cNvSpPr txBox="1"/>
          <p:nvPr/>
        </p:nvSpPr>
        <p:spPr>
          <a:xfrm>
            <a:off x="4591117" y="524030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b="0" dirty="0">
                <a:latin typeface="+mn-ea"/>
                <a:ea typeface="+mn-ea"/>
              </a:rPr>
              <a:t>1</a:t>
            </a:r>
            <a:endParaRPr lang="ko-KR" altLang="en-US" b="0" dirty="0">
              <a:latin typeface="+mn-ea"/>
              <a:ea typeface="+mn-ea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27C91B9-EB00-C08B-BE2A-9C7F1360FA36}"/>
              </a:ext>
            </a:extLst>
          </p:cNvPr>
          <p:cNvSpPr txBox="1"/>
          <p:nvPr/>
        </p:nvSpPr>
        <p:spPr>
          <a:xfrm>
            <a:off x="4601491" y="4695601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b="0" dirty="0">
                <a:latin typeface="+mn-ea"/>
                <a:ea typeface="+mn-ea"/>
              </a:rPr>
              <a:t>2</a:t>
            </a:r>
            <a:endParaRPr lang="ko-KR" altLang="en-US" b="0" dirty="0">
              <a:latin typeface="+mn-ea"/>
              <a:ea typeface="+mn-ea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E43F0E9-2643-C176-EDCF-F30D6B6D2001}"/>
              </a:ext>
            </a:extLst>
          </p:cNvPr>
          <p:cNvSpPr txBox="1"/>
          <p:nvPr/>
        </p:nvSpPr>
        <p:spPr>
          <a:xfrm>
            <a:off x="4601491" y="40900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b="0" dirty="0">
                <a:latin typeface="+mn-ea"/>
                <a:ea typeface="+mn-ea"/>
              </a:rPr>
              <a:t>3</a:t>
            </a:r>
            <a:endParaRPr lang="ko-KR" altLang="en-US" b="0" dirty="0">
              <a:latin typeface="+mn-ea"/>
              <a:ea typeface="+mn-ea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0D6E825C-52F1-0E65-A773-79A3A5DD8B36}"/>
                  </a:ext>
                </a:extLst>
              </p:cNvPr>
              <p:cNvSpPr txBox="1"/>
              <p:nvPr/>
            </p:nvSpPr>
            <p:spPr>
              <a:xfrm>
                <a:off x="6145450" y="3544238"/>
                <a:ext cx="104394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b="0" i="1" dirty="0" smtClean="0">
                              <a:latin typeface="Cambria Math" panose="02040503050406030204" pitchFamily="18" charset="0"/>
                              <a:ea typeface="+mn-ea"/>
                            </a:rPr>
                          </m:ctrlPr>
                        </m:sSubPr>
                        <m:e>
                          <m:r>
                            <a:rPr lang="en-US" altLang="ko-KR" b="0" i="1" dirty="0" smtClean="0">
                              <a:latin typeface="Cambria Math" panose="02040503050406030204" pitchFamily="18" charset="0"/>
                              <a:ea typeface="+mn-ea"/>
                            </a:rPr>
                            <m:t>𝑣</m:t>
                          </m:r>
                        </m:e>
                        <m:sub>
                          <m:r>
                            <a:rPr lang="en-US" altLang="ko-KR" b="0" i="1" dirty="0" smtClean="0">
                              <a:latin typeface="Cambria Math" panose="02040503050406030204" pitchFamily="18" charset="0"/>
                              <a:ea typeface="+mn-ea"/>
                            </a:rPr>
                            <m:t>𝜋</m:t>
                          </m:r>
                        </m:sub>
                      </m:sSub>
                      <m:d>
                        <m:dPr>
                          <m:ctrlPr>
                            <a:rPr lang="en-US" altLang="ko-KR" b="0" i="1" dirty="0" smtClean="0">
                              <a:latin typeface="Cambria Math" panose="02040503050406030204" pitchFamily="18" charset="0"/>
                              <a:ea typeface="+mn-ea"/>
                            </a:rPr>
                          </m:ctrlPr>
                        </m:dPr>
                        <m:e>
                          <m:r>
                            <a:rPr lang="en-US" altLang="ko-KR" b="0" i="1" dirty="0" smtClean="0">
                              <a:latin typeface="Cambria Math" panose="02040503050406030204" pitchFamily="18" charset="0"/>
                              <a:ea typeface="+mn-ea"/>
                            </a:rPr>
                            <m:t>𝑠</m:t>
                          </m:r>
                        </m:e>
                      </m:d>
                    </m:oMath>
                  </m:oMathPara>
                </a14:m>
              </a:p>
            </p:txBody>
          </p:sp>
        </mc:Choice>
        <mc:Fallback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0D6E825C-52F1-0E65-A773-79A3A5DD8B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45450" y="3544238"/>
                <a:ext cx="1043940" cy="307777"/>
              </a:xfrm>
              <a:prstGeom prst="rect">
                <a:avLst/>
              </a:prstGeom>
              <a:blipFill>
                <a:blip r:embed="rId5"/>
                <a:stretch>
                  <a:fillRect t="-3922" b="-1764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4" name="표 23">
            <a:extLst>
              <a:ext uri="{FF2B5EF4-FFF2-40B4-BE49-F238E27FC236}">
                <a16:creationId xmlns:a16="http://schemas.microsoft.com/office/drawing/2014/main" id="{B84F8783-9A07-C0C6-1160-F7217DC0DA3C}"/>
              </a:ext>
            </a:extLst>
          </p:cNvPr>
          <p:cNvGraphicFramePr>
            <a:graphicFrameLocks noGrp="1"/>
          </p:cNvGraphicFramePr>
          <p:nvPr/>
        </p:nvGraphicFramePr>
        <p:xfrm>
          <a:off x="381118" y="3944232"/>
          <a:ext cx="3436280" cy="184400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59070">
                  <a:extLst>
                    <a:ext uri="{9D8B030D-6E8A-4147-A177-3AD203B41FA5}">
                      <a16:colId xmlns:a16="http://schemas.microsoft.com/office/drawing/2014/main" val="3283410258"/>
                    </a:ext>
                  </a:extLst>
                </a:gridCol>
                <a:gridCol w="859070">
                  <a:extLst>
                    <a:ext uri="{9D8B030D-6E8A-4147-A177-3AD203B41FA5}">
                      <a16:colId xmlns:a16="http://schemas.microsoft.com/office/drawing/2014/main" val="591898217"/>
                    </a:ext>
                  </a:extLst>
                </a:gridCol>
                <a:gridCol w="859070">
                  <a:extLst>
                    <a:ext uri="{9D8B030D-6E8A-4147-A177-3AD203B41FA5}">
                      <a16:colId xmlns:a16="http://schemas.microsoft.com/office/drawing/2014/main" val="1445315171"/>
                    </a:ext>
                  </a:extLst>
                </a:gridCol>
                <a:gridCol w="859070">
                  <a:extLst>
                    <a:ext uri="{9D8B030D-6E8A-4147-A177-3AD203B41FA5}">
                      <a16:colId xmlns:a16="http://schemas.microsoft.com/office/drawing/2014/main" val="856673349"/>
                    </a:ext>
                  </a:extLst>
                </a:gridCol>
              </a:tblGrid>
              <a:tr h="614669"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+1(</a:t>
                      </a:r>
                      <a:r>
                        <a:rPr lang="ko-KR" altLang="en-US" sz="1400" dirty="0"/>
                        <a:t>종료</a:t>
                      </a:r>
                      <a:r>
                        <a:rPr lang="en-US" altLang="ko-KR" sz="1400" dirty="0"/>
                        <a:t>)</a:t>
                      </a:r>
                      <a:endParaRPr lang="ko-KR" alt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37638875"/>
                  </a:ext>
                </a:extLst>
              </a:tr>
              <a:tr h="614669"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-1(</a:t>
                      </a:r>
                      <a:r>
                        <a:rPr lang="ko-KR" altLang="en-US" sz="1400" dirty="0"/>
                        <a:t>종료</a:t>
                      </a:r>
                      <a:r>
                        <a:rPr lang="en-US" altLang="ko-KR" sz="1400" dirty="0"/>
                        <a:t>)</a:t>
                      </a:r>
                      <a:endParaRPr lang="ko-KR" alt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32969099"/>
                  </a:ext>
                </a:extLst>
              </a:tr>
              <a:tr h="61466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시작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26604439"/>
                  </a:ext>
                </a:extLst>
              </a:tr>
            </a:tbl>
          </a:graphicData>
        </a:graphic>
      </p:graphicFrame>
      <p:sp>
        <p:nvSpPr>
          <p:cNvPr id="25" name="TextBox 24">
            <a:extLst>
              <a:ext uri="{FF2B5EF4-FFF2-40B4-BE49-F238E27FC236}">
                <a16:creationId xmlns:a16="http://schemas.microsoft.com/office/drawing/2014/main" id="{430CF664-64FD-1747-0BF8-EBCC07D97E9E}"/>
              </a:ext>
            </a:extLst>
          </p:cNvPr>
          <p:cNvSpPr txBox="1"/>
          <p:nvPr/>
        </p:nvSpPr>
        <p:spPr>
          <a:xfrm>
            <a:off x="656948" y="5823746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b="0" dirty="0">
                <a:latin typeface="+mn-ea"/>
                <a:ea typeface="+mn-ea"/>
              </a:rPr>
              <a:t>1</a:t>
            </a:r>
            <a:endParaRPr lang="ko-KR" altLang="en-US" b="0" dirty="0">
              <a:latin typeface="+mn-ea"/>
              <a:ea typeface="+mn-ea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2F11AC3-0D1B-F488-B676-17FB4FADD056}"/>
              </a:ext>
            </a:extLst>
          </p:cNvPr>
          <p:cNvSpPr txBox="1"/>
          <p:nvPr/>
        </p:nvSpPr>
        <p:spPr>
          <a:xfrm>
            <a:off x="1510687" y="5834101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b="0" dirty="0">
                <a:latin typeface="+mn-ea"/>
                <a:ea typeface="+mn-ea"/>
              </a:rPr>
              <a:t>2</a:t>
            </a:r>
            <a:endParaRPr lang="ko-KR" altLang="en-US" b="0" dirty="0">
              <a:latin typeface="+mn-ea"/>
              <a:ea typeface="+mn-ea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C309FD9-4A49-3456-38D5-EF93D0F351D3}"/>
              </a:ext>
            </a:extLst>
          </p:cNvPr>
          <p:cNvSpPr txBox="1"/>
          <p:nvPr/>
        </p:nvSpPr>
        <p:spPr>
          <a:xfrm>
            <a:off x="2377269" y="5834101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b="0" dirty="0">
                <a:latin typeface="+mn-ea"/>
                <a:ea typeface="+mn-ea"/>
              </a:rPr>
              <a:t>3</a:t>
            </a:r>
            <a:endParaRPr lang="ko-KR" altLang="en-US" b="0" dirty="0">
              <a:latin typeface="+mn-ea"/>
              <a:ea typeface="+mn-ea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2EB0704-06BE-3C65-134E-408081217A53}"/>
              </a:ext>
            </a:extLst>
          </p:cNvPr>
          <p:cNvSpPr txBox="1"/>
          <p:nvPr/>
        </p:nvSpPr>
        <p:spPr>
          <a:xfrm>
            <a:off x="3231008" y="5844456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b="0" dirty="0">
                <a:latin typeface="+mn-ea"/>
                <a:ea typeface="+mn-ea"/>
              </a:rPr>
              <a:t>4</a:t>
            </a:r>
            <a:endParaRPr lang="ko-KR" altLang="en-US" b="0" dirty="0">
              <a:latin typeface="+mn-ea"/>
              <a:ea typeface="+mn-ea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3FEB718-ADBC-04E0-649F-573BADF3752E}"/>
              </a:ext>
            </a:extLst>
          </p:cNvPr>
          <p:cNvSpPr txBox="1"/>
          <p:nvPr/>
        </p:nvSpPr>
        <p:spPr>
          <a:xfrm>
            <a:off x="19235" y="5257054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b="0" dirty="0">
                <a:latin typeface="+mn-ea"/>
                <a:ea typeface="+mn-ea"/>
              </a:rPr>
              <a:t>1</a:t>
            </a:r>
            <a:endParaRPr lang="ko-KR" altLang="en-US" b="0" dirty="0">
              <a:latin typeface="+mn-ea"/>
              <a:ea typeface="+mn-ea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BC876D5-4121-49F3-5732-6ADEDA636851}"/>
              </a:ext>
            </a:extLst>
          </p:cNvPr>
          <p:cNvSpPr txBox="1"/>
          <p:nvPr/>
        </p:nvSpPr>
        <p:spPr>
          <a:xfrm>
            <a:off x="29609" y="4712346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b="0" dirty="0">
                <a:latin typeface="+mn-ea"/>
                <a:ea typeface="+mn-ea"/>
              </a:rPr>
              <a:t>2</a:t>
            </a:r>
            <a:endParaRPr lang="ko-KR" altLang="en-US" b="0" dirty="0">
              <a:latin typeface="+mn-ea"/>
              <a:ea typeface="+mn-ea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C283457-D3B2-D42E-FFC2-5693E8615D33}"/>
              </a:ext>
            </a:extLst>
          </p:cNvPr>
          <p:cNvSpPr txBox="1"/>
          <p:nvPr/>
        </p:nvSpPr>
        <p:spPr>
          <a:xfrm>
            <a:off x="29609" y="4106794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b="0" dirty="0">
                <a:latin typeface="+mn-ea"/>
                <a:ea typeface="+mn-ea"/>
              </a:rPr>
              <a:t>3</a:t>
            </a:r>
            <a:endParaRPr lang="ko-KR" altLang="en-US" b="0" dirty="0">
              <a:latin typeface="+mn-ea"/>
              <a:ea typeface="+mn-ea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A5FCF8B-93C4-9EE3-90F7-EE2E9FA9C681}"/>
              </a:ext>
            </a:extLst>
          </p:cNvPr>
          <p:cNvSpPr txBox="1"/>
          <p:nvPr/>
        </p:nvSpPr>
        <p:spPr>
          <a:xfrm>
            <a:off x="1573568" y="3560983"/>
            <a:ext cx="10439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b="0" dirty="0">
                <a:latin typeface="+mn-ea"/>
                <a:ea typeface="+mn-ea"/>
              </a:rPr>
              <a:t>grid world </a:t>
            </a:r>
            <a:endParaRPr lang="ko-KR" altLang="en-US" b="0" dirty="0">
              <a:latin typeface="+mn-ea"/>
              <a:ea typeface="+mn-ea"/>
            </a:endParaRPr>
          </a:p>
        </p:txBody>
      </p:sp>
      <p:sp>
        <p:nvSpPr>
          <p:cNvPr id="33" name="화살표: 위쪽 32">
            <a:extLst>
              <a:ext uri="{FF2B5EF4-FFF2-40B4-BE49-F238E27FC236}">
                <a16:creationId xmlns:a16="http://schemas.microsoft.com/office/drawing/2014/main" id="{2CD09CD2-2DF6-64B1-D933-AFCDA5CE87A1}"/>
              </a:ext>
            </a:extLst>
          </p:cNvPr>
          <p:cNvSpPr/>
          <p:nvPr/>
        </p:nvSpPr>
        <p:spPr bwMode="auto">
          <a:xfrm>
            <a:off x="704780" y="4363048"/>
            <a:ext cx="236220" cy="977591"/>
          </a:xfrm>
          <a:prstGeom prst="upArrow">
            <a:avLst/>
          </a:prstGeom>
          <a:solidFill>
            <a:srgbClr val="31859C"/>
          </a:solidFill>
          <a:ln>
            <a:noFill/>
          </a:ln>
          <a:effectLst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1896"/>
            <a:endParaRPr lang="ko-KR" altLang="en-US" dirty="0">
              <a:solidFill>
                <a:prstClr val="white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4" name="화살표: 위쪽 33">
            <a:extLst>
              <a:ext uri="{FF2B5EF4-FFF2-40B4-BE49-F238E27FC236}">
                <a16:creationId xmlns:a16="http://schemas.microsoft.com/office/drawing/2014/main" id="{1ECF5F17-4D75-A2EA-07B7-87356B726E43}"/>
              </a:ext>
            </a:extLst>
          </p:cNvPr>
          <p:cNvSpPr/>
          <p:nvPr/>
        </p:nvSpPr>
        <p:spPr bwMode="auto">
          <a:xfrm rot="5400000">
            <a:off x="1865885" y="3265620"/>
            <a:ext cx="236220" cy="2085991"/>
          </a:xfrm>
          <a:prstGeom prst="upArrow">
            <a:avLst/>
          </a:prstGeom>
          <a:solidFill>
            <a:srgbClr val="31859C"/>
          </a:solidFill>
          <a:ln>
            <a:noFill/>
          </a:ln>
          <a:effectLst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1896"/>
            <a:endParaRPr lang="ko-KR" altLang="en-US" dirty="0">
              <a:solidFill>
                <a:prstClr val="white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067451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25F9EF-A307-F81A-E41F-5232FC27F3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B6830AC1-B22B-E6FD-0370-BA888C96DB3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dirty="0"/>
              <a:t>가치함수 </a:t>
            </a:r>
            <a:r>
              <a:rPr lang="en-US" altLang="ko-KR" dirty="0"/>
              <a:t>(value function)</a:t>
            </a:r>
            <a:endParaRPr lang="ko-KR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텍스트 개체 틀 5">
                <a:extLst>
                  <a:ext uri="{FF2B5EF4-FFF2-40B4-BE49-F238E27FC236}">
                    <a16:creationId xmlns:a16="http://schemas.microsoft.com/office/drawing/2014/main" id="{16D797B8-7D91-5148-EDB5-5C29087F84B9}"/>
                  </a:ext>
                </a:extLst>
              </p:cNvPr>
              <p:cNvSpPr>
                <a:spLocks noGrp="1"/>
              </p:cNvSpPr>
              <p:nvPr>
                <p:ph type="body" sz="quarter" idx="11"/>
              </p:nvPr>
            </p:nvSpPr>
            <p:spPr>
              <a:xfrm>
                <a:off x="362309" y="904870"/>
                <a:ext cx="9270641" cy="2617194"/>
              </a:xfrm>
            </p:spPr>
            <p:txBody>
              <a:bodyPr/>
              <a:lstStyle/>
              <a:p>
                <a:pPr marL="285750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en-US" altLang="ko-KR" dirty="0">
                    <a:latin typeface="+mn-ea"/>
                  </a:rPr>
                  <a:t>action-value function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 dirty="0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altLang="ko-KR" i="1" dirty="0" smtClean="0">
                            <a:latin typeface="Cambria Math" panose="02040503050406030204" pitchFamily="18" charset="0"/>
                          </a:rPr>
                          <m:t>𝜋</m:t>
                        </m:r>
                      </m:sub>
                    </m:sSub>
                  </m:oMath>
                </a14:m>
                <a:endParaRPr lang="en-US" altLang="ko-KR" dirty="0">
                  <a:latin typeface="+mn-ea"/>
                </a:endParaRPr>
              </a:p>
              <a:p>
                <a:pPr marL="180000" lvl="1" indent="1800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400" dirty="0">
                    <a:latin typeface="+mn-ea"/>
                  </a:rPr>
                  <a:t>현재 상태 및 행동에서의 가치를 나타내는 값 </a:t>
                </a:r>
                <a:r>
                  <a:rPr lang="en-US" altLang="ko-KR" sz="1400" dirty="0">
                    <a:latin typeface="+mn-ea"/>
                  </a:rPr>
                  <a:t>(</a:t>
                </a:r>
                <a:r>
                  <a:rPr lang="ko-KR" altLang="en-US" sz="1400" dirty="0">
                    <a:latin typeface="+mn-ea"/>
                  </a:rPr>
                  <a:t>정확하게는</a:t>
                </a:r>
                <a:r>
                  <a:rPr lang="en-US" altLang="ko-KR" sz="1400" dirty="0">
                    <a:latin typeface="+mn-ea"/>
                  </a:rPr>
                  <a:t>, </a:t>
                </a:r>
                <a:r>
                  <a:rPr lang="ko-KR" altLang="en-US" sz="1400" dirty="0">
                    <a:latin typeface="+mn-ea"/>
                  </a:rPr>
                  <a:t>주어진 상태 및 행동에 대한 </a:t>
                </a:r>
                <a:r>
                  <a:rPr lang="en-US" altLang="ko-KR" sz="1400" dirty="0">
                    <a:latin typeface="+mn-ea"/>
                  </a:rPr>
                  <a:t>return</a:t>
                </a:r>
                <a:r>
                  <a:rPr lang="ko-KR" altLang="en-US" sz="1400" dirty="0">
                    <a:latin typeface="+mn-ea"/>
                  </a:rPr>
                  <a:t>의 </a:t>
                </a:r>
                <a:r>
                  <a:rPr lang="ko-KR" altLang="en-US" sz="1400" dirty="0" err="1">
                    <a:latin typeface="+mn-ea"/>
                  </a:rPr>
                  <a:t>기댓값</a:t>
                </a:r>
                <a:r>
                  <a:rPr lang="en-US" altLang="ko-KR" sz="1400" dirty="0">
                    <a:latin typeface="+mn-ea"/>
                  </a:rPr>
                  <a:t>)</a:t>
                </a:r>
                <a:endParaRPr lang="en-US" altLang="ko-KR" sz="1400" dirty="0">
                  <a:latin typeface="Cambria Math" panose="02040503050406030204" pitchFamily="18" charset="0"/>
                </a:endParaRPr>
              </a:p>
              <a:p>
                <a:pPr marL="180000" lvl="1" indent="1800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endParaRPr lang="en-US" altLang="ko-KR" sz="1400" dirty="0">
                  <a:latin typeface="Cambria Math" panose="02040503050406030204" pitchFamily="18" charset="0"/>
                </a:endParaRPr>
              </a:p>
              <a:p>
                <a:pPr marL="180000" lvl="1" indent="1800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endParaRPr lang="en-US" altLang="ko-KR" sz="1400" dirty="0">
                  <a:latin typeface="Cambria Math" panose="02040503050406030204" pitchFamily="18" charset="0"/>
                </a:endParaRPr>
              </a:p>
              <a:p>
                <a:pPr marL="180000" lvl="1" indent="1800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400" dirty="0">
                    <a:latin typeface="+mn-ea"/>
                  </a:rPr>
                  <a:t>균등정책</a:t>
                </a:r>
                <a:r>
                  <a:rPr lang="en-US" altLang="ko-KR" sz="1400" dirty="0">
                    <a:latin typeface="+mn-ea"/>
                  </a:rPr>
                  <a:t>(equiprobable policy) </a:t>
                </a:r>
                <a14:m>
                  <m:oMath xmlns:m="http://schemas.openxmlformats.org/officeDocument/2006/math">
                    <m:r>
                      <a:rPr lang="en-US" altLang="ko-KR" sz="1400" i="1" dirty="0"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r>
                  <a:rPr lang="ko-KR" altLang="en-US" sz="1400" dirty="0">
                    <a:latin typeface="+mn-ea"/>
                  </a:rPr>
                  <a:t>에 대한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1400" b="0" i="1" dirty="0" smtClean="0">
                            <a:latin typeface="Cambria Math" panose="02040503050406030204" pitchFamily="18" charset="0"/>
                          </a:rPr>
                          <m:t>q</m:t>
                        </m:r>
                      </m:e>
                      <m:sub>
                        <m:r>
                          <a:rPr lang="en-US" altLang="ko-KR" sz="1400" i="1" dirty="0">
                            <a:latin typeface="Cambria Math" panose="02040503050406030204" pitchFamily="18" charset="0"/>
                          </a:rPr>
                          <m:t>𝜋</m:t>
                        </m:r>
                      </m:sub>
                    </m:sSub>
                  </m:oMath>
                </a14:m>
                <a:r>
                  <a:rPr lang="ko-KR" altLang="en-US" sz="1400" dirty="0">
                    <a:latin typeface="+mn-ea"/>
                  </a:rPr>
                  <a:t>의 값 </a:t>
                </a:r>
                <a:r>
                  <a:rPr lang="en-US" altLang="ko-KR" sz="1400" dirty="0">
                    <a:latin typeface="+mn-ea"/>
                  </a:rPr>
                  <a:t>(</a:t>
                </a:r>
                <a:r>
                  <a:rPr lang="ko-KR" altLang="en-US" sz="1400" dirty="0">
                    <a:latin typeface="+mn-ea"/>
                  </a:rPr>
                  <a:t>아래</a:t>
                </a:r>
                <a:r>
                  <a:rPr lang="en-US" altLang="ko-KR" sz="1400" dirty="0">
                    <a:latin typeface="+mn-ea"/>
                  </a:rPr>
                  <a:t>)</a:t>
                </a:r>
              </a:p>
              <a:p>
                <a:pPr marL="180000" lvl="1" indent="1800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endParaRPr lang="en-US" altLang="ko-KR" sz="1400" dirty="0">
                  <a:latin typeface="+mn-ea"/>
                </a:endParaRPr>
              </a:p>
              <a:p>
                <a:pPr marL="180000" lvl="1" indent="0">
                  <a:lnSpc>
                    <a:spcPct val="150000"/>
                  </a:lnSpc>
                  <a:buNone/>
                </a:pPr>
                <a:endParaRPr lang="en-US" altLang="ko-KR" sz="1400" dirty="0">
                  <a:latin typeface="+mn-ea"/>
                </a:endParaRPr>
              </a:p>
            </p:txBody>
          </p:sp>
        </mc:Choice>
        <mc:Fallback>
          <p:sp>
            <p:nvSpPr>
              <p:cNvPr id="6" name="텍스트 개체 틀 5">
                <a:extLst>
                  <a:ext uri="{FF2B5EF4-FFF2-40B4-BE49-F238E27FC236}">
                    <a16:creationId xmlns:a16="http://schemas.microsoft.com/office/drawing/2014/main" id="{16D797B8-7D91-5148-EDB5-5C29087F84B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1"/>
              </p:nvPr>
            </p:nvSpPr>
            <p:spPr>
              <a:xfrm>
                <a:off x="362309" y="904870"/>
                <a:ext cx="9270641" cy="2617194"/>
              </a:xfrm>
              <a:blipFill>
                <a:blip r:embed="rId3"/>
                <a:stretch>
                  <a:fillRect l="-26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제목 3">
            <a:extLst>
              <a:ext uri="{FF2B5EF4-FFF2-40B4-BE49-F238E27FC236}">
                <a16:creationId xmlns:a16="http://schemas.microsoft.com/office/drawing/2014/main" id="{CAC2D57C-446F-D782-84EF-E985427A61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Ⅰ-3. </a:t>
            </a:r>
            <a:r>
              <a:rPr lang="ko-KR" altLang="en-US" dirty="0"/>
              <a:t>가치함수와 </a:t>
            </a:r>
            <a:r>
              <a:rPr lang="ko-KR" altLang="en-US" dirty="0" err="1"/>
              <a:t>벨만방정식</a:t>
            </a:r>
            <a:r>
              <a:rPr lang="en-US" altLang="ko-KR" dirty="0"/>
              <a:t> (1/2)</a:t>
            </a:r>
            <a:endParaRPr lang="ko-KR" altLang="en-US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48766D03-C309-B3D3-4258-D08BC3576F4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 dirty="0"/>
              <a:t>Ⅰ </a:t>
            </a:r>
            <a:r>
              <a:rPr lang="ko-KR" altLang="en-US" dirty="0"/>
              <a:t>강화학습 기초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A2FB9F84-386B-BE35-BB8F-AD3A646714B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85220" y="1863308"/>
            <a:ext cx="2224818" cy="248534"/>
          </a:xfrm>
          <a:prstGeom prst="rect">
            <a:avLst/>
          </a:prstGeom>
        </p:spPr>
      </p:pic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F6E587FD-E208-FAD4-F45C-FB05EC1A1D80}"/>
              </a:ext>
            </a:extLst>
          </p:cNvPr>
          <p:cNvGraphicFramePr>
            <a:graphicFrameLocks noGrp="1"/>
          </p:cNvGraphicFramePr>
          <p:nvPr/>
        </p:nvGraphicFramePr>
        <p:xfrm>
          <a:off x="381118" y="3944232"/>
          <a:ext cx="3436280" cy="184400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59070">
                  <a:extLst>
                    <a:ext uri="{9D8B030D-6E8A-4147-A177-3AD203B41FA5}">
                      <a16:colId xmlns:a16="http://schemas.microsoft.com/office/drawing/2014/main" val="3283410258"/>
                    </a:ext>
                  </a:extLst>
                </a:gridCol>
                <a:gridCol w="859070">
                  <a:extLst>
                    <a:ext uri="{9D8B030D-6E8A-4147-A177-3AD203B41FA5}">
                      <a16:colId xmlns:a16="http://schemas.microsoft.com/office/drawing/2014/main" val="591898217"/>
                    </a:ext>
                  </a:extLst>
                </a:gridCol>
                <a:gridCol w="859070">
                  <a:extLst>
                    <a:ext uri="{9D8B030D-6E8A-4147-A177-3AD203B41FA5}">
                      <a16:colId xmlns:a16="http://schemas.microsoft.com/office/drawing/2014/main" val="1445315171"/>
                    </a:ext>
                  </a:extLst>
                </a:gridCol>
                <a:gridCol w="859070">
                  <a:extLst>
                    <a:ext uri="{9D8B030D-6E8A-4147-A177-3AD203B41FA5}">
                      <a16:colId xmlns:a16="http://schemas.microsoft.com/office/drawing/2014/main" val="856673349"/>
                    </a:ext>
                  </a:extLst>
                </a:gridCol>
              </a:tblGrid>
              <a:tr h="614669"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+1(</a:t>
                      </a:r>
                      <a:r>
                        <a:rPr lang="ko-KR" altLang="en-US" sz="1400" dirty="0"/>
                        <a:t>종료</a:t>
                      </a:r>
                      <a:r>
                        <a:rPr lang="en-US" altLang="ko-KR" sz="1400" dirty="0"/>
                        <a:t>)</a:t>
                      </a:r>
                      <a:endParaRPr lang="ko-KR" alt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37638875"/>
                  </a:ext>
                </a:extLst>
              </a:tr>
              <a:tr h="614669"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-1(</a:t>
                      </a:r>
                      <a:r>
                        <a:rPr lang="ko-KR" altLang="en-US" sz="1400" dirty="0"/>
                        <a:t>종료</a:t>
                      </a:r>
                      <a:r>
                        <a:rPr lang="en-US" altLang="ko-KR" sz="1400" dirty="0"/>
                        <a:t>)</a:t>
                      </a:r>
                      <a:endParaRPr lang="ko-KR" alt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32969099"/>
                  </a:ext>
                </a:extLst>
              </a:tr>
              <a:tr h="61466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시작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26604439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02148796-6E82-33D5-4E22-EC179897FB8B}"/>
              </a:ext>
            </a:extLst>
          </p:cNvPr>
          <p:cNvSpPr txBox="1"/>
          <p:nvPr/>
        </p:nvSpPr>
        <p:spPr>
          <a:xfrm>
            <a:off x="656948" y="5823746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b="0" dirty="0">
                <a:latin typeface="+mn-ea"/>
                <a:ea typeface="+mn-ea"/>
              </a:rPr>
              <a:t>1</a:t>
            </a:r>
            <a:endParaRPr lang="ko-KR" altLang="en-US" b="0" dirty="0">
              <a:latin typeface="+mn-ea"/>
              <a:ea typeface="+mn-ea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696A41C-A758-59CF-6E01-1EB8DDC19B12}"/>
              </a:ext>
            </a:extLst>
          </p:cNvPr>
          <p:cNvSpPr txBox="1"/>
          <p:nvPr/>
        </p:nvSpPr>
        <p:spPr>
          <a:xfrm>
            <a:off x="1510687" y="5834101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b="0" dirty="0">
                <a:latin typeface="+mn-ea"/>
                <a:ea typeface="+mn-ea"/>
              </a:rPr>
              <a:t>2</a:t>
            </a:r>
            <a:endParaRPr lang="ko-KR" altLang="en-US" b="0" dirty="0">
              <a:latin typeface="+mn-ea"/>
              <a:ea typeface="+mn-ea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EEDA0D8-23E1-7DE5-D6E3-232A1D2236E9}"/>
              </a:ext>
            </a:extLst>
          </p:cNvPr>
          <p:cNvSpPr txBox="1"/>
          <p:nvPr/>
        </p:nvSpPr>
        <p:spPr>
          <a:xfrm>
            <a:off x="2377269" y="5834101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b="0" dirty="0">
                <a:latin typeface="+mn-ea"/>
                <a:ea typeface="+mn-ea"/>
              </a:rPr>
              <a:t>3</a:t>
            </a:r>
            <a:endParaRPr lang="ko-KR" altLang="en-US" b="0" dirty="0">
              <a:latin typeface="+mn-ea"/>
              <a:ea typeface="+mn-ea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CF70E1A-88BA-C77F-02A2-77D952703BE7}"/>
              </a:ext>
            </a:extLst>
          </p:cNvPr>
          <p:cNvSpPr txBox="1"/>
          <p:nvPr/>
        </p:nvSpPr>
        <p:spPr>
          <a:xfrm>
            <a:off x="3231008" y="5844456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b="0" dirty="0">
                <a:latin typeface="+mn-ea"/>
                <a:ea typeface="+mn-ea"/>
              </a:rPr>
              <a:t>4</a:t>
            </a:r>
            <a:endParaRPr lang="ko-KR" altLang="en-US" b="0" dirty="0">
              <a:latin typeface="+mn-ea"/>
              <a:ea typeface="+mn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8F3B55F-F46D-ED9F-6235-FAC0E029EDA0}"/>
              </a:ext>
            </a:extLst>
          </p:cNvPr>
          <p:cNvSpPr txBox="1"/>
          <p:nvPr/>
        </p:nvSpPr>
        <p:spPr>
          <a:xfrm>
            <a:off x="19235" y="5257054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b="0" dirty="0">
                <a:latin typeface="+mn-ea"/>
                <a:ea typeface="+mn-ea"/>
              </a:rPr>
              <a:t>1</a:t>
            </a:r>
            <a:endParaRPr lang="ko-KR" altLang="en-US" b="0" dirty="0">
              <a:latin typeface="+mn-ea"/>
              <a:ea typeface="+mn-ea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A5AD29F-B9F2-F69C-BBDD-5436ED88E483}"/>
              </a:ext>
            </a:extLst>
          </p:cNvPr>
          <p:cNvSpPr txBox="1"/>
          <p:nvPr/>
        </p:nvSpPr>
        <p:spPr>
          <a:xfrm>
            <a:off x="29609" y="4712346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b="0" dirty="0">
                <a:latin typeface="+mn-ea"/>
                <a:ea typeface="+mn-ea"/>
              </a:rPr>
              <a:t>2</a:t>
            </a:r>
            <a:endParaRPr lang="ko-KR" altLang="en-US" b="0" dirty="0">
              <a:latin typeface="+mn-ea"/>
              <a:ea typeface="+mn-ea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97C7AE7-8ADC-D0F8-4628-425D171D3BF8}"/>
              </a:ext>
            </a:extLst>
          </p:cNvPr>
          <p:cNvSpPr txBox="1"/>
          <p:nvPr/>
        </p:nvSpPr>
        <p:spPr>
          <a:xfrm>
            <a:off x="29609" y="4106794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b="0" dirty="0">
                <a:latin typeface="+mn-ea"/>
                <a:ea typeface="+mn-ea"/>
              </a:rPr>
              <a:t>3</a:t>
            </a:r>
            <a:endParaRPr lang="ko-KR" altLang="en-US" b="0" dirty="0">
              <a:latin typeface="+mn-ea"/>
              <a:ea typeface="+mn-ea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4897E04-25C1-64A3-579D-F3E737975892}"/>
              </a:ext>
            </a:extLst>
          </p:cNvPr>
          <p:cNvSpPr txBox="1"/>
          <p:nvPr/>
        </p:nvSpPr>
        <p:spPr>
          <a:xfrm>
            <a:off x="1573568" y="3560983"/>
            <a:ext cx="10439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b="0" dirty="0">
                <a:latin typeface="+mn-ea"/>
                <a:ea typeface="+mn-ea"/>
              </a:rPr>
              <a:t>grid world </a:t>
            </a:r>
            <a:endParaRPr lang="ko-KR" altLang="en-US" b="0" dirty="0">
              <a:latin typeface="+mn-ea"/>
              <a:ea typeface="+mn-ea"/>
            </a:endParaRPr>
          </a:p>
        </p:txBody>
      </p:sp>
      <p:sp>
        <p:nvSpPr>
          <p:cNvPr id="18" name="화살표: 위쪽 17">
            <a:extLst>
              <a:ext uri="{FF2B5EF4-FFF2-40B4-BE49-F238E27FC236}">
                <a16:creationId xmlns:a16="http://schemas.microsoft.com/office/drawing/2014/main" id="{672BCF65-596F-E8F5-CEA3-1D667C3ADC49}"/>
              </a:ext>
            </a:extLst>
          </p:cNvPr>
          <p:cNvSpPr/>
          <p:nvPr/>
        </p:nvSpPr>
        <p:spPr bwMode="auto">
          <a:xfrm>
            <a:off x="704780" y="4363048"/>
            <a:ext cx="236220" cy="977591"/>
          </a:xfrm>
          <a:prstGeom prst="upArrow">
            <a:avLst/>
          </a:prstGeom>
          <a:solidFill>
            <a:srgbClr val="31859C"/>
          </a:solidFill>
          <a:ln>
            <a:noFill/>
          </a:ln>
          <a:effectLst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1896"/>
            <a:endParaRPr lang="ko-KR" altLang="en-US" dirty="0">
              <a:solidFill>
                <a:prstClr val="white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9" name="화살표: 위쪽 18">
            <a:extLst>
              <a:ext uri="{FF2B5EF4-FFF2-40B4-BE49-F238E27FC236}">
                <a16:creationId xmlns:a16="http://schemas.microsoft.com/office/drawing/2014/main" id="{6E25A2AB-1923-B792-C319-BEEDE6212DA6}"/>
              </a:ext>
            </a:extLst>
          </p:cNvPr>
          <p:cNvSpPr/>
          <p:nvPr/>
        </p:nvSpPr>
        <p:spPr bwMode="auto">
          <a:xfrm rot="5400000">
            <a:off x="1865885" y="3265620"/>
            <a:ext cx="236220" cy="2085991"/>
          </a:xfrm>
          <a:prstGeom prst="upArrow">
            <a:avLst/>
          </a:prstGeom>
          <a:solidFill>
            <a:srgbClr val="31859C"/>
          </a:solidFill>
          <a:ln>
            <a:noFill/>
          </a:ln>
          <a:effectLst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1896"/>
            <a:endParaRPr lang="ko-KR" altLang="en-US" dirty="0">
              <a:solidFill>
                <a:prstClr val="white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20" name="표 19">
            <a:extLst>
              <a:ext uri="{FF2B5EF4-FFF2-40B4-BE49-F238E27FC236}">
                <a16:creationId xmlns:a16="http://schemas.microsoft.com/office/drawing/2014/main" id="{D1DB477D-9322-C968-D0D6-503264167E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83013934"/>
              </p:ext>
            </p:extLst>
          </p:nvPr>
        </p:nvGraphicFramePr>
        <p:xfrm>
          <a:off x="4953000" y="3927487"/>
          <a:ext cx="3436280" cy="184400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59070">
                  <a:extLst>
                    <a:ext uri="{9D8B030D-6E8A-4147-A177-3AD203B41FA5}">
                      <a16:colId xmlns:a16="http://schemas.microsoft.com/office/drawing/2014/main" val="3283410258"/>
                    </a:ext>
                  </a:extLst>
                </a:gridCol>
                <a:gridCol w="859070">
                  <a:extLst>
                    <a:ext uri="{9D8B030D-6E8A-4147-A177-3AD203B41FA5}">
                      <a16:colId xmlns:a16="http://schemas.microsoft.com/office/drawing/2014/main" val="591898217"/>
                    </a:ext>
                  </a:extLst>
                </a:gridCol>
                <a:gridCol w="859070">
                  <a:extLst>
                    <a:ext uri="{9D8B030D-6E8A-4147-A177-3AD203B41FA5}">
                      <a16:colId xmlns:a16="http://schemas.microsoft.com/office/drawing/2014/main" val="1445315171"/>
                    </a:ext>
                  </a:extLst>
                </a:gridCol>
                <a:gridCol w="859070">
                  <a:extLst>
                    <a:ext uri="{9D8B030D-6E8A-4147-A177-3AD203B41FA5}">
                      <a16:colId xmlns:a16="http://schemas.microsoft.com/office/drawing/2014/main" val="856673349"/>
                    </a:ext>
                  </a:extLst>
                </a:gridCol>
              </a:tblGrid>
              <a:tr h="61466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0.92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-0.88    -0.92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-0.88</a:t>
                      </a:r>
                      <a:endParaRPr lang="ko-KR" altLang="en-US" sz="1050" dirty="0"/>
                    </a:p>
                  </a:txBody>
                  <a:tcPr marL="0" marR="0" marT="0" marB="0" anchor="ctr"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0.92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-0.88    -0.92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-0.88</a:t>
                      </a:r>
                      <a:endParaRPr lang="ko-KR" altLang="en-US" sz="1050" dirty="0"/>
                    </a:p>
                  </a:txBody>
                  <a:tcPr marL="0" marR="0" marT="0" marB="0" anchor="ctr"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0.92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-0.88    -0.92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-0.88</a:t>
                      </a:r>
                      <a:endParaRPr lang="ko-KR" altLang="en-US" sz="1050" dirty="0"/>
                    </a:p>
                  </a:txBody>
                  <a:tcPr marL="0" marR="0" marT="0" marB="0" anchor="ctr"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0.92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-0.88    -0.92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-0.88</a:t>
                      </a:r>
                      <a:endParaRPr lang="ko-KR" altLang="en-US" sz="1050" dirty="0"/>
                    </a:p>
                  </a:txBody>
                  <a:tcPr marL="0" marR="0" marT="0" marB="0" anchor="ctr"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837638875"/>
                  </a:ext>
                </a:extLst>
              </a:tr>
              <a:tr h="61466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0.92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-0.88    -0.92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-0.88</a:t>
                      </a:r>
                      <a:endParaRPr lang="ko-KR" altLang="en-US" sz="1050" dirty="0"/>
                    </a:p>
                  </a:txBody>
                  <a:tcPr marL="0" marR="0" marT="0" marB="0" anchor="ctr"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0.92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-0.88    -0.92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-0.88</a:t>
                      </a:r>
                      <a:endParaRPr lang="ko-KR" altLang="en-US" sz="1050" dirty="0"/>
                    </a:p>
                  </a:txBody>
                  <a:tcPr marL="0" marR="0" marT="0" marB="0" anchor="ctr"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0.92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-0.88    -0.92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-0.88</a:t>
                      </a:r>
                      <a:endParaRPr lang="ko-KR" altLang="en-US" sz="1050" dirty="0"/>
                    </a:p>
                  </a:txBody>
                  <a:tcPr marL="0" marR="0" marT="0" marB="0" anchor="ctr"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0.92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-0.88    -0.92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-0.88</a:t>
                      </a:r>
                      <a:endParaRPr lang="ko-KR" altLang="en-US" sz="1050" dirty="0"/>
                    </a:p>
                  </a:txBody>
                  <a:tcPr marL="0" marR="0" marT="0" marB="0" anchor="ctr"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32969099"/>
                  </a:ext>
                </a:extLst>
              </a:tr>
              <a:tr h="61466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-0.92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-0.88    -0.92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-0.88</a:t>
                      </a:r>
                      <a:endParaRPr lang="ko-KR" altLang="en-US" sz="1100" dirty="0"/>
                    </a:p>
                  </a:txBody>
                  <a:tcPr marL="0" marR="0" marT="0" marB="0" anchor="ctr"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-0.92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-0.92    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-0.89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-0.92</a:t>
                      </a:r>
                      <a:endParaRPr lang="ko-KR" altLang="en-US" sz="1050" dirty="0"/>
                    </a:p>
                  </a:txBody>
                  <a:tcPr marL="0" marR="0" marT="0" marB="0" anchor="ctr"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0.92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-0.88    -0.92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-0.88</a:t>
                      </a:r>
                      <a:endParaRPr lang="ko-KR" altLang="en-US" sz="1050" dirty="0"/>
                    </a:p>
                  </a:txBody>
                  <a:tcPr marL="0" marR="0" marT="0" marB="0" anchor="ctr"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0.92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-0.88    -0.92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-0.88</a:t>
                      </a:r>
                      <a:endParaRPr lang="ko-KR" altLang="en-US" sz="1050" dirty="0"/>
                    </a:p>
                  </a:txBody>
                  <a:tcPr marL="0" marR="0" marT="0" marB="0" anchor="ctr"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626604439"/>
                  </a:ext>
                </a:extLst>
              </a:tr>
            </a:tbl>
          </a:graphicData>
        </a:graphic>
      </p:graphicFrame>
      <p:sp>
        <p:nvSpPr>
          <p:cNvPr id="21" name="TextBox 20">
            <a:extLst>
              <a:ext uri="{FF2B5EF4-FFF2-40B4-BE49-F238E27FC236}">
                <a16:creationId xmlns:a16="http://schemas.microsoft.com/office/drawing/2014/main" id="{162DF47F-5353-F073-B63F-E141BD61938C}"/>
              </a:ext>
            </a:extLst>
          </p:cNvPr>
          <p:cNvSpPr txBox="1"/>
          <p:nvPr/>
        </p:nvSpPr>
        <p:spPr>
          <a:xfrm>
            <a:off x="5228830" y="5807001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b="0" dirty="0">
                <a:latin typeface="+mn-ea"/>
                <a:ea typeface="+mn-ea"/>
              </a:rPr>
              <a:t>1</a:t>
            </a:r>
            <a:endParaRPr lang="ko-KR" altLang="en-US" b="0" dirty="0">
              <a:latin typeface="+mn-ea"/>
              <a:ea typeface="+mn-ea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EE1D4A9-BA2D-9F82-6E83-1861A646159A}"/>
              </a:ext>
            </a:extLst>
          </p:cNvPr>
          <p:cNvSpPr txBox="1"/>
          <p:nvPr/>
        </p:nvSpPr>
        <p:spPr>
          <a:xfrm>
            <a:off x="6082569" y="5817356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b="0" dirty="0">
                <a:latin typeface="+mn-ea"/>
                <a:ea typeface="+mn-ea"/>
              </a:rPr>
              <a:t>2</a:t>
            </a:r>
            <a:endParaRPr lang="ko-KR" altLang="en-US" b="0" dirty="0">
              <a:latin typeface="+mn-ea"/>
              <a:ea typeface="+mn-ea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7254CEE-D302-E1B1-601A-DD53435DE351}"/>
              </a:ext>
            </a:extLst>
          </p:cNvPr>
          <p:cNvSpPr txBox="1"/>
          <p:nvPr/>
        </p:nvSpPr>
        <p:spPr>
          <a:xfrm>
            <a:off x="6949151" y="5817356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b="0" dirty="0">
                <a:latin typeface="+mn-ea"/>
                <a:ea typeface="+mn-ea"/>
              </a:rPr>
              <a:t>3</a:t>
            </a:r>
            <a:endParaRPr lang="ko-KR" altLang="en-US" b="0" dirty="0">
              <a:latin typeface="+mn-ea"/>
              <a:ea typeface="+mn-ea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C6C3CBD-B06E-3EDE-A924-81BF068881BF}"/>
              </a:ext>
            </a:extLst>
          </p:cNvPr>
          <p:cNvSpPr txBox="1"/>
          <p:nvPr/>
        </p:nvSpPr>
        <p:spPr>
          <a:xfrm>
            <a:off x="7802890" y="5827711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b="0" dirty="0">
                <a:latin typeface="+mn-ea"/>
                <a:ea typeface="+mn-ea"/>
              </a:rPr>
              <a:t>4</a:t>
            </a:r>
            <a:endParaRPr lang="ko-KR" altLang="en-US" b="0" dirty="0">
              <a:latin typeface="+mn-ea"/>
              <a:ea typeface="+mn-ea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E62526C-1E90-39FF-C14E-BBEBFC41B5E3}"/>
              </a:ext>
            </a:extLst>
          </p:cNvPr>
          <p:cNvSpPr txBox="1"/>
          <p:nvPr/>
        </p:nvSpPr>
        <p:spPr>
          <a:xfrm>
            <a:off x="4591117" y="524030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b="0" dirty="0">
                <a:latin typeface="+mn-ea"/>
                <a:ea typeface="+mn-ea"/>
              </a:rPr>
              <a:t>1</a:t>
            </a:r>
            <a:endParaRPr lang="ko-KR" altLang="en-US" b="0" dirty="0">
              <a:latin typeface="+mn-ea"/>
              <a:ea typeface="+mn-ea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7E49AC0-B665-29F7-C5F4-94669D54673E}"/>
              </a:ext>
            </a:extLst>
          </p:cNvPr>
          <p:cNvSpPr txBox="1"/>
          <p:nvPr/>
        </p:nvSpPr>
        <p:spPr>
          <a:xfrm>
            <a:off x="4601491" y="4695601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b="0" dirty="0">
                <a:latin typeface="+mn-ea"/>
                <a:ea typeface="+mn-ea"/>
              </a:rPr>
              <a:t>2</a:t>
            </a:r>
            <a:endParaRPr lang="ko-KR" altLang="en-US" b="0" dirty="0">
              <a:latin typeface="+mn-ea"/>
              <a:ea typeface="+mn-ea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71DE000-B1DF-BA69-4711-27E876662067}"/>
              </a:ext>
            </a:extLst>
          </p:cNvPr>
          <p:cNvSpPr txBox="1"/>
          <p:nvPr/>
        </p:nvSpPr>
        <p:spPr>
          <a:xfrm>
            <a:off x="4601491" y="40900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b="0" dirty="0">
                <a:latin typeface="+mn-ea"/>
                <a:ea typeface="+mn-ea"/>
              </a:rPr>
              <a:t>3</a:t>
            </a:r>
            <a:endParaRPr lang="ko-KR" altLang="en-US" b="0" dirty="0">
              <a:latin typeface="+mn-ea"/>
              <a:ea typeface="+mn-ea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78050D78-51B6-E952-0CB7-DC992BB4E001}"/>
                  </a:ext>
                </a:extLst>
              </p:cNvPr>
              <p:cNvSpPr txBox="1"/>
              <p:nvPr/>
            </p:nvSpPr>
            <p:spPr>
              <a:xfrm>
                <a:off x="6145450" y="3544238"/>
                <a:ext cx="104394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b="0" i="1" dirty="0" smtClean="0">
                              <a:latin typeface="Cambria Math" panose="02040503050406030204" pitchFamily="18" charset="0"/>
                              <a:ea typeface="+mn-ea"/>
                            </a:rPr>
                          </m:ctrlPr>
                        </m:sSubPr>
                        <m:e>
                          <m:r>
                            <a:rPr lang="en-US" altLang="ko-KR" b="0" i="1" dirty="0" smtClean="0">
                              <a:latin typeface="Cambria Math" panose="02040503050406030204" pitchFamily="18" charset="0"/>
                              <a:ea typeface="+mn-ea"/>
                            </a:rPr>
                            <m:t>𝑣</m:t>
                          </m:r>
                        </m:e>
                        <m:sub>
                          <m:r>
                            <a:rPr lang="en-US" altLang="ko-KR" b="0" i="1" dirty="0" smtClean="0">
                              <a:latin typeface="Cambria Math" panose="02040503050406030204" pitchFamily="18" charset="0"/>
                              <a:ea typeface="+mn-ea"/>
                            </a:rPr>
                            <m:t>𝜋</m:t>
                          </m:r>
                        </m:sub>
                      </m:sSub>
                      <m:d>
                        <m:dPr>
                          <m:ctrlPr>
                            <a:rPr lang="en-US" altLang="ko-KR" b="0" i="1" dirty="0" smtClean="0">
                              <a:latin typeface="Cambria Math" panose="02040503050406030204" pitchFamily="18" charset="0"/>
                              <a:ea typeface="+mn-ea"/>
                            </a:rPr>
                          </m:ctrlPr>
                        </m:dPr>
                        <m:e>
                          <m:r>
                            <a:rPr lang="en-US" altLang="ko-KR" b="0" i="1" dirty="0" smtClean="0">
                              <a:latin typeface="Cambria Math" panose="02040503050406030204" pitchFamily="18" charset="0"/>
                              <a:ea typeface="+mn-ea"/>
                            </a:rPr>
                            <m:t>𝑠</m:t>
                          </m:r>
                        </m:e>
                      </m:d>
                    </m:oMath>
                  </m:oMathPara>
                </a14:m>
              </a:p>
            </p:txBody>
          </p:sp>
        </mc:Choice>
        <mc:Fallback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78050D78-51B6-E952-0CB7-DC992BB4E0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45450" y="3544238"/>
                <a:ext cx="1043940" cy="307777"/>
              </a:xfrm>
              <a:prstGeom prst="rect">
                <a:avLst/>
              </a:prstGeom>
              <a:blipFill>
                <a:blip r:embed="rId5"/>
                <a:stretch>
                  <a:fillRect t="-3922" b="-1764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3430214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4DB572-E87E-243A-6664-536DB4086B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BB68D864-81C2-10E4-4C6F-DD85A4FE266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dirty="0"/>
              <a:t>가치함수 </a:t>
            </a:r>
            <a:r>
              <a:rPr lang="en-US" altLang="ko-KR" dirty="0"/>
              <a:t>(value function)</a:t>
            </a:r>
            <a:endParaRPr lang="ko-KR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텍스트 개체 틀 5">
                <a:extLst>
                  <a:ext uri="{FF2B5EF4-FFF2-40B4-BE49-F238E27FC236}">
                    <a16:creationId xmlns:a16="http://schemas.microsoft.com/office/drawing/2014/main" id="{05AA2C06-C634-3FAA-1726-290C7803A06F}"/>
                  </a:ext>
                </a:extLst>
              </p:cNvPr>
              <p:cNvSpPr>
                <a:spLocks noGrp="1"/>
              </p:cNvSpPr>
              <p:nvPr>
                <p:ph type="body" sz="quarter" idx="11"/>
              </p:nvPr>
            </p:nvSpPr>
            <p:spPr>
              <a:xfrm>
                <a:off x="362309" y="904870"/>
                <a:ext cx="9270641" cy="2617194"/>
              </a:xfrm>
            </p:spPr>
            <p:txBody>
              <a:bodyPr/>
              <a:lstStyle/>
              <a:p>
                <a:pPr marL="285750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en-US" altLang="ko-KR" dirty="0">
                    <a:latin typeface="+mn-ea"/>
                  </a:rPr>
                  <a:t>state-value function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sub>
                    </m:sSub>
                  </m:oMath>
                </a14:m>
                <a:endParaRPr lang="en-US" altLang="ko-KR" dirty="0">
                  <a:latin typeface="+mn-ea"/>
                </a:endParaRPr>
              </a:p>
              <a:p>
                <a:pPr marL="180000" lvl="1" indent="1800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400" dirty="0">
                    <a:latin typeface="Cambria Math" panose="02040503050406030204" pitchFamily="18" charset="0"/>
                  </a:rPr>
                  <a:t>현재 상태에서의 가치를 나타내는 값</a:t>
                </a:r>
                <a:r>
                  <a:rPr lang="en-US" altLang="ko-KR" sz="1400" dirty="0">
                    <a:latin typeface="Cambria Math" panose="02040503050406030204" pitchFamily="18" charset="0"/>
                  </a:rPr>
                  <a:t> (</a:t>
                </a:r>
                <a:r>
                  <a:rPr lang="ko-KR" altLang="en-US" sz="1400" dirty="0">
                    <a:latin typeface="Cambria Math" panose="02040503050406030204" pitchFamily="18" charset="0"/>
                  </a:rPr>
                  <a:t>정확하게는</a:t>
                </a:r>
                <a:r>
                  <a:rPr lang="en-US" altLang="ko-KR" sz="1400" dirty="0">
                    <a:latin typeface="Cambria Math" panose="02040503050406030204" pitchFamily="18" charset="0"/>
                  </a:rPr>
                  <a:t>, </a:t>
                </a:r>
                <a:r>
                  <a:rPr lang="ko-KR" altLang="en-US" sz="1400" dirty="0">
                    <a:latin typeface="Cambria Math" panose="02040503050406030204" pitchFamily="18" charset="0"/>
                  </a:rPr>
                  <a:t>주어진 상태에 대한 </a:t>
                </a:r>
                <a:r>
                  <a:rPr lang="en-US" altLang="ko-KR" sz="1400" dirty="0">
                    <a:latin typeface="Cambria Math" panose="02040503050406030204" pitchFamily="18" charset="0"/>
                  </a:rPr>
                  <a:t>return</a:t>
                </a:r>
                <a:r>
                  <a:rPr lang="ko-KR" altLang="en-US" sz="1400" dirty="0">
                    <a:latin typeface="Cambria Math" panose="02040503050406030204" pitchFamily="18" charset="0"/>
                  </a:rPr>
                  <a:t>의 </a:t>
                </a:r>
                <a:r>
                  <a:rPr lang="ko-KR" altLang="en-US" sz="1400" dirty="0" err="1">
                    <a:latin typeface="Cambria Math" panose="02040503050406030204" pitchFamily="18" charset="0"/>
                  </a:rPr>
                  <a:t>기댓값</a:t>
                </a:r>
                <a:r>
                  <a:rPr lang="en-US" altLang="ko-KR" sz="1400" dirty="0">
                    <a:latin typeface="Cambria Math" panose="02040503050406030204" pitchFamily="18" charset="0"/>
                  </a:rPr>
                  <a:t>)</a:t>
                </a:r>
              </a:p>
              <a:p>
                <a:pPr marL="180000" lvl="1" indent="0">
                  <a:lnSpc>
                    <a:spcPct val="150000"/>
                  </a:lnSpc>
                  <a:buNone/>
                </a:pPr>
                <a:endParaRPr lang="en-US" altLang="ko-KR" sz="1400" i="1" dirty="0">
                  <a:latin typeface="Cambria Math" panose="02040503050406030204" pitchFamily="18" charset="0"/>
                </a:endParaRPr>
              </a:p>
              <a:p>
                <a:pPr marL="180000" lvl="1" indent="0">
                  <a:lnSpc>
                    <a:spcPct val="150000"/>
                  </a:lnSpc>
                  <a:buNone/>
                </a:pPr>
                <a:endParaRPr lang="en-US" altLang="ko-KR" sz="1400" b="0" dirty="0">
                  <a:latin typeface="Cambria Math" panose="02040503050406030204" pitchFamily="18" charset="0"/>
                </a:endParaRPr>
              </a:p>
              <a:p>
                <a:pPr marL="285750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en-US" altLang="ko-KR" dirty="0">
                    <a:latin typeface="+mn-ea"/>
                  </a:rPr>
                  <a:t>action-value function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 dirty="0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altLang="ko-KR" i="1" dirty="0" smtClean="0">
                            <a:latin typeface="Cambria Math" panose="02040503050406030204" pitchFamily="18" charset="0"/>
                          </a:rPr>
                          <m:t>𝜋</m:t>
                        </m:r>
                      </m:sub>
                    </m:sSub>
                  </m:oMath>
                </a14:m>
                <a:endParaRPr lang="en-US" altLang="ko-KR" dirty="0">
                  <a:latin typeface="+mn-ea"/>
                </a:endParaRPr>
              </a:p>
              <a:p>
                <a:pPr marL="180000" lvl="1" indent="1800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400" dirty="0">
                    <a:latin typeface="+mn-ea"/>
                  </a:rPr>
                  <a:t>현재 상태 및 행동에서의 가치를 나타내는 값 </a:t>
                </a:r>
                <a:r>
                  <a:rPr lang="en-US" altLang="ko-KR" sz="1400" dirty="0">
                    <a:latin typeface="+mn-ea"/>
                  </a:rPr>
                  <a:t>(</a:t>
                </a:r>
                <a:r>
                  <a:rPr lang="ko-KR" altLang="en-US" sz="1400" dirty="0">
                    <a:latin typeface="+mn-ea"/>
                  </a:rPr>
                  <a:t>정확하게는</a:t>
                </a:r>
                <a:r>
                  <a:rPr lang="en-US" altLang="ko-KR" sz="1400" dirty="0">
                    <a:latin typeface="+mn-ea"/>
                  </a:rPr>
                  <a:t>, </a:t>
                </a:r>
                <a:r>
                  <a:rPr lang="ko-KR" altLang="en-US" sz="1400" dirty="0">
                    <a:latin typeface="+mn-ea"/>
                  </a:rPr>
                  <a:t>주어진 상태 및 행동에 대한 </a:t>
                </a:r>
                <a:r>
                  <a:rPr lang="en-US" altLang="ko-KR" sz="1400" dirty="0">
                    <a:latin typeface="+mn-ea"/>
                  </a:rPr>
                  <a:t>return</a:t>
                </a:r>
                <a:r>
                  <a:rPr lang="ko-KR" altLang="en-US" sz="1400" dirty="0">
                    <a:latin typeface="+mn-ea"/>
                  </a:rPr>
                  <a:t>의 </a:t>
                </a:r>
                <a:r>
                  <a:rPr lang="ko-KR" altLang="en-US" sz="1400" dirty="0" err="1">
                    <a:latin typeface="+mn-ea"/>
                  </a:rPr>
                  <a:t>기댓값</a:t>
                </a:r>
                <a:r>
                  <a:rPr lang="en-US" altLang="ko-KR" sz="1400" dirty="0">
                    <a:latin typeface="+mn-ea"/>
                  </a:rPr>
                  <a:t>)</a:t>
                </a:r>
              </a:p>
              <a:p>
                <a:pPr marL="180000" lvl="1" indent="0">
                  <a:lnSpc>
                    <a:spcPct val="150000"/>
                  </a:lnSpc>
                  <a:buNone/>
                </a:pPr>
                <a:endParaRPr lang="en-US" altLang="ko-KR" sz="1400" dirty="0">
                  <a:latin typeface="+mn-ea"/>
                </a:endParaRPr>
              </a:p>
            </p:txBody>
          </p:sp>
        </mc:Choice>
        <mc:Fallback>
          <p:sp>
            <p:nvSpPr>
              <p:cNvPr id="6" name="텍스트 개체 틀 5">
                <a:extLst>
                  <a:ext uri="{FF2B5EF4-FFF2-40B4-BE49-F238E27FC236}">
                    <a16:creationId xmlns:a16="http://schemas.microsoft.com/office/drawing/2014/main" id="{05AA2C06-C634-3FAA-1726-290C7803A06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1"/>
              </p:nvPr>
            </p:nvSpPr>
            <p:spPr>
              <a:xfrm>
                <a:off x="362309" y="904870"/>
                <a:ext cx="9270641" cy="2617194"/>
              </a:xfrm>
              <a:blipFill>
                <a:blip r:embed="rId3"/>
                <a:stretch>
                  <a:fillRect l="-26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제목 3">
            <a:extLst>
              <a:ext uri="{FF2B5EF4-FFF2-40B4-BE49-F238E27FC236}">
                <a16:creationId xmlns:a16="http://schemas.microsoft.com/office/drawing/2014/main" id="{C4A6679B-D3B4-4857-7A7C-47497EAAC6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Ⅰ-3. </a:t>
            </a:r>
            <a:r>
              <a:rPr lang="ko-KR" altLang="en-US" dirty="0"/>
              <a:t>가치함수와 </a:t>
            </a:r>
            <a:r>
              <a:rPr lang="ko-KR" altLang="en-US" dirty="0" err="1"/>
              <a:t>벨만방정식</a:t>
            </a:r>
            <a:r>
              <a:rPr lang="en-US" altLang="ko-KR" dirty="0"/>
              <a:t> (1/2)</a:t>
            </a:r>
            <a:endParaRPr lang="ko-KR" altLang="en-US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C2EFC852-BF9F-2D7A-AE60-AE63B90CD8C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 dirty="0"/>
              <a:t>Ⅰ </a:t>
            </a:r>
            <a:r>
              <a:rPr lang="ko-KR" altLang="en-US" dirty="0"/>
              <a:t>강화학습 기초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661CDE4C-82EE-0EE9-50DE-80B8BFA35A9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70927" y="2022234"/>
            <a:ext cx="1700804" cy="266500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7FDF6260-C919-1D63-0549-7666EF7F65C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85220" y="3261037"/>
            <a:ext cx="2224818" cy="248534"/>
          </a:xfrm>
          <a:prstGeom prst="rect">
            <a:avLst/>
          </a:prstGeom>
        </p:spPr>
      </p:pic>
      <p:sp>
        <p:nvSpPr>
          <p:cNvPr id="10" name="텍스트 개체 틀 4">
            <a:extLst>
              <a:ext uri="{FF2B5EF4-FFF2-40B4-BE49-F238E27FC236}">
                <a16:creationId xmlns:a16="http://schemas.microsoft.com/office/drawing/2014/main" id="{95AA504B-2AC6-4BAF-D2EA-5AB9F89E8827}"/>
              </a:ext>
            </a:extLst>
          </p:cNvPr>
          <p:cNvSpPr txBox="1">
            <a:spLocks/>
          </p:cNvSpPr>
          <p:nvPr/>
        </p:nvSpPr>
        <p:spPr>
          <a:xfrm>
            <a:off x="209708" y="3944216"/>
            <a:ext cx="9423242" cy="400110"/>
          </a:xfrm>
          <a:prstGeom prst="rect">
            <a:avLst/>
          </a:prstGeom>
        </p:spPr>
        <p:txBody>
          <a:bodyPr lIns="72000" tIns="108000" anchor="ctr"/>
          <a:lstStyle>
            <a:lvl1pPr marL="182563" indent="-182563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tabLst>
                <a:tab pos="0" algn="l"/>
              </a:tabLst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0" lang="ko-KR" altLang="en-US" dirty="0"/>
              <a:t>최적 정책 </a:t>
            </a:r>
            <a:r>
              <a:rPr kumimoji="0" lang="en-US" altLang="ko-KR" dirty="0"/>
              <a:t>(optimal policy)</a:t>
            </a:r>
            <a:endParaRPr kumimoji="0" lang="ko-KR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텍스트 개체 틀 5">
                <a:extLst>
                  <a:ext uri="{FF2B5EF4-FFF2-40B4-BE49-F238E27FC236}">
                    <a16:creationId xmlns:a16="http://schemas.microsoft.com/office/drawing/2014/main" id="{E31293D8-9277-2EDC-E14F-910F808FE9A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62309" y="4276228"/>
                <a:ext cx="9270641" cy="717254"/>
              </a:xfrm>
              <a:prstGeom prst="rect">
                <a:avLst/>
              </a:prstGeom>
            </p:spPr>
            <p:txBody>
              <a:bodyPr lIns="72000" tIns="36000"/>
              <a:lstStyle>
                <a:lvl1pPr marL="0" indent="0" algn="l" rtl="0" eaLnBrk="0" fontAlgn="base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ct val="0"/>
                  </a:spcAft>
                  <a:buFont typeface="Arial" charset="0"/>
                  <a:buNone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1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1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1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1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285750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kumimoji="0" lang="ko-KR" altLang="en-US" sz="1200" b="0" dirty="0">
                    <a:latin typeface="+mn-ea"/>
                  </a:rPr>
                  <a:t>최적 정책이란 가치함수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altLang="ko-KR" sz="12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0" lang="en-US" altLang="ko-KR" sz="1200" b="0" i="1" dirty="0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kumimoji="0" lang="en-US" altLang="ko-KR" sz="1200" b="0" i="1" dirty="0" smtClean="0">
                            <a:latin typeface="Cambria Math" panose="02040503050406030204" pitchFamily="18" charset="0"/>
                          </a:rPr>
                          <m:t>𝜋</m:t>
                        </m:r>
                      </m:sub>
                    </m:sSub>
                  </m:oMath>
                </a14:m>
                <a:r>
                  <a:rPr kumimoji="0" lang="ko-KR" altLang="en-US" sz="1200" b="0" dirty="0">
                    <a:latin typeface="+mn-ea"/>
                  </a:rPr>
                  <a:t>의 관점에서 가장 높은 가치를 가지는 정책</a:t>
                </a:r>
                <a:endParaRPr kumimoji="0" lang="en-US" altLang="ko-KR" sz="1200" b="0" dirty="0">
                  <a:latin typeface="+mn-ea"/>
                </a:endParaRPr>
              </a:p>
              <a:p>
                <a:pPr marL="285750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kumimoji="0" lang="ko-KR" altLang="en-US" sz="1200" b="0" dirty="0">
                    <a:latin typeface="+mn-ea"/>
                  </a:rPr>
                  <a:t>정확하게는</a:t>
                </a:r>
                <a:r>
                  <a:rPr kumimoji="0" lang="en-US" altLang="ko-KR" sz="1200" b="0" dirty="0">
                    <a:latin typeface="+mn-ea"/>
                  </a:rPr>
                  <a:t>, </a:t>
                </a:r>
                <a:r>
                  <a:rPr kumimoji="0" lang="ko-KR" altLang="en-US" sz="1200" b="0" dirty="0">
                    <a:latin typeface="+mn-ea"/>
                  </a:rPr>
                  <a:t>모든 정책 </a:t>
                </a:r>
                <a14:m>
                  <m:oMath xmlns:m="http://schemas.openxmlformats.org/officeDocument/2006/math">
                    <m:r>
                      <a:rPr kumimoji="0" lang="en-US" altLang="ko-KR" sz="1200" b="0" i="1" dirty="0" smtClean="0"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r>
                  <a:rPr kumimoji="0" lang="ko-KR" altLang="en-US" sz="1200" b="0" dirty="0">
                    <a:latin typeface="+mn-ea"/>
                  </a:rPr>
                  <a:t>와</a:t>
                </a:r>
                <a:r>
                  <a:rPr kumimoji="0" lang="en-US" altLang="ko-KR" sz="1200" b="0" dirty="0">
                    <a:latin typeface="+mn-ea"/>
                  </a:rPr>
                  <a:t> </a:t>
                </a:r>
                <a:r>
                  <a:rPr kumimoji="0" lang="ko-KR" altLang="en-US" sz="1200" b="0" dirty="0">
                    <a:latin typeface="+mn-ea"/>
                  </a:rPr>
                  <a:t>모든 </a:t>
                </a:r>
                <a14:m>
                  <m:oMath xmlns:m="http://schemas.openxmlformats.org/officeDocument/2006/math">
                    <m:r>
                      <a:rPr kumimoji="0" lang="en-US" altLang="ko-KR" sz="1200" b="0" i="1" dirty="0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kumimoji="0" lang="en-US" altLang="ko-KR" sz="1200" b="0" i="1" dirty="0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kumimoji="0" lang="en-US" altLang="ko-KR" sz="1200" b="1" i="1" dirty="0" smtClean="0">
                        <a:latin typeface="Cambria Math" panose="02040503050406030204" pitchFamily="18" charset="0"/>
                      </a:rPr>
                      <m:t>𝑺</m:t>
                    </m:r>
                  </m:oMath>
                </a14:m>
                <a:r>
                  <a:rPr kumimoji="0" lang="ko-KR" altLang="en-US" sz="1200" b="0" dirty="0">
                    <a:latin typeface="+mn-ea"/>
                  </a:rPr>
                  <a:t>에 대하여 다음 식이 성립하는 정책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altLang="ko-KR" sz="1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0" lang="en-US" altLang="ko-KR" sz="1200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kumimoji="0" lang="en-US" altLang="ko-KR" sz="1200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b>
                    </m:sSub>
                  </m:oMath>
                </a14:m>
                <a:endParaRPr kumimoji="0" lang="en-US" altLang="ko-KR" sz="1200" b="0" dirty="0">
                  <a:latin typeface="+mn-ea"/>
                </a:endParaRPr>
              </a:p>
            </p:txBody>
          </p:sp>
        </mc:Choice>
        <mc:Fallback>
          <p:sp>
            <p:nvSpPr>
              <p:cNvPr id="11" name="텍스트 개체 틀 5">
                <a:extLst>
                  <a:ext uri="{FF2B5EF4-FFF2-40B4-BE49-F238E27FC236}">
                    <a16:creationId xmlns:a16="http://schemas.microsoft.com/office/drawing/2014/main" id="{E31293D8-9277-2EDC-E14F-910F808FE9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2309" y="4276228"/>
                <a:ext cx="9270641" cy="717254"/>
              </a:xfrm>
              <a:prstGeom prst="rect">
                <a:avLst/>
              </a:prstGeom>
              <a:blipFill>
                <a:blip r:embed="rId6"/>
                <a:stretch>
                  <a:fillRect l="-13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6" name="그림 15">
            <a:extLst>
              <a:ext uri="{FF2B5EF4-FFF2-40B4-BE49-F238E27FC236}">
                <a16:creationId xmlns:a16="http://schemas.microsoft.com/office/drawing/2014/main" id="{0E2A9F78-67B1-4595-6E52-46AE7B5387C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97680" y="5302428"/>
            <a:ext cx="1310640" cy="3356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785829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B716BD-5F0A-670C-B225-336DB48D74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E7B9DDB9-5B8A-88FA-63E1-4E4DDF6A72E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dirty="0" err="1"/>
              <a:t>벨만방정식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텍스트 개체 틀 5">
                <a:extLst>
                  <a:ext uri="{FF2B5EF4-FFF2-40B4-BE49-F238E27FC236}">
                    <a16:creationId xmlns:a16="http://schemas.microsoft.com/office/drawing/2014/main" id="{F9C8E683-A2B0-3349-DCD6-FA0B299D9B21}"/>
                  </a:ext>
                </a:extLst>
              </p:cNvPr>
              <p:cNvSpPr>
                <a:spLocks noGrp="1"/>
              </p:cNvSpPr>
              <p:nvPr>
                <p:ph type="body" sz="quarter" idx="11"/>
              </p:nvPr>
            </p:nvSpPr>
            <p:spPr>
              <a:xfrm>
                <a:off x="362309" y="904870"/>
                <a:ext cx="9270641" cy="2617194"/>
              </a:xfrm>
            </p:spPr>
            <p:txBody>
              <a:bodyPr/>
              <a:lstStyle/>
              <a:p>
                <a:pPr marL="285750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dirty="0" err="1">
                    <a:latin typeface="+mn-ea"/>
                  </a:rPr>
                  <a:t>벨만방정식</a:t>
                </a:r>
                <a:r>
                  <a:rPr lang="ko-KR" altLang="en-US" dirty="0">
                    <a:latin typeface="+mn-ea"/>
                  </a:rPr>
                  <a:t> </a:t>
                </a:r>
                <a:r>
                  <a:rPr lang="en-US" altLang="ko-KR" dirty="0">
                    <a:latin typeface="+mn-ea"/>
                  </a:rPr>
                  <a:t>(Bellman equation)</a:t>
                </a:r>
              </a:p>
              <a:p>
                <a:pPr marL="180000" lvl="1" indent="1800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200" dirty="0">
                    <a:latin typeface="Cambria Math" panose="02040503050406030204" pitchFamily="18" charset="0"/>
                  </a:rPr>
                  <a:t>정책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1200" b="0" i="1" smtClean="0">
                        <a:latin typeface="Cambria Math" panose="02040503050406030204" pitchFamily="18" charset="0"/>
                      </a:rPr>
                      <m:t>π</m:t>
                    </m:r>
                    <m:r>
                      <a:rPr lang="ko-KR" altLang="en-US" sz="1200" i="1">
                        <a:latin typeface="Cambria Math" panose="02040503050406030204" pitchFamily="18" charset="0"/>
                      </a:rPr>
                      <m:t>에</m:t>
                    </m:r>
                  </m:oMath>
                </a14:m>
                <a:r>
                  <a:rPr lang="ko-KR" altLang="en-US" sz="1200" dirty="0">
                    <a:latin typeface="Cambria Math" panose="02040503050406030204" pitchFamily="18" charset="0"/>
                  </a:rPr>
                  <a:t> 대한 가치함수가 만족시켜야 하는 식</a:t>
                </a:r>
                <a:endParaRPr lang="en-US" altLang="ko-KR" sz="1200" dirty="0">
                  <a:latin typeface="Cambria Math" panose="02040503050406030204" pitchFamily="18" charset="0"/>
                </a:endParaRPr>
              </a:p>
              <a:p>
                <a:pPr marL="180000" lvl="1" indent="1800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ko-KR" sz="1200" dirty="0">
                    <a:latin typeface="+mn-ea"/>
                  </a:rPr>
                  <a:t>DP, TD(0) </a:t>
                </a:r>
                <a:r>
                  <a:rPr lang="ko-KR" altLang="en-US" sz="1200" dirty="0">
                    <a:latin typeface="+mn-ea"/>
                  </a:rPr>
                  <a:t>등 거의 모든 강화학습 알고리즘의 기본이 되는 식</a:t>
                </a:r>
                <a:endParaRPr lang="en-US" altLang="ko-KR" sz="1200" dirty="0">
                  <a:latin typeface="+mn-ea"/>
                </a:endParaRPr>
              </a:p>
              <a:p>
                <a:pPr marL="180000" lvl="1" indent="0">
                  <a:lnSpc>
                    <a:spcPct val="150000"/>
                  </a:lnSpc>
                  <a:buNone/>
                </a:pPr>
                <a:endParaRPr lang="en-US" altLang="ko-KR" sz="1200" b="0" dirty="0">
                  <a:latin typeface="Cambria Math" panose="02040503050406030204" pitchFamily="18" charset="0"/>
                </a:endParaRPr>
              </a:p>
              <a:p>
                <a:pPr marL="180000" lvl="1" indent="0">
                  <a:lnSpc>
                    <a:spcPct val="150000"/>
                  </a:lnSpc>
                  <a:buNone/>
                </a:pPr>
                <a:endParaRPr lang="en-US" altLang="ko-KR" sz="1200" dirty="0">
                  <a:latin typeface="Cambria Math" panose="02040503050406030204" pitchFamily="18" charset="0"/>
                </a:endParaRPr>
              </a:p>
              <a:p>
                <a:pPr marL="180000" lvl="1" indent="0">
                  <a:lnSpc>
                    <a:spcPct val="150000"/>
                  </a:lnSpc>
                  <a:buNone/>
                </a:pPr>
                <a:endParaRPr lang="en-US" altLang="ko-KR" sz="1200" b="0" dirty="0">
                  <a:latin typeface="Cambria Math" panose="02040503050406030204" pitchFamily="18" charset="0"/>
                </a:endParaRPr>
              </a:p>
              <a:p>
                <a:pPr marL="180000" lvl="1" indent="0">
                  <a:lnSpc>
                    <a:spcPct val="150000"/>
                  </a:lnSpc>
                  <a:buNone/>
                </a:pPr>
                <a:endParaRPr lang="en-US" altLang="ko-KR" sz="1200" b="0" dirty="0">
                  <a:latin typeface="Cambria Math" panose="02040503050406030204" pitchFamily="18" charset="0"/>
                </a:endParaRPr>
              </a:p>
              <a:p>
                <a:pPr marL="180000" lvl="1" indent="0">
                  <a:lnSpc>
                    <a:spcPct val="150000"/>
                  </a:lnSpc>
                  <a:buNone/>
                </a:pPr>
                <a:endParaRPr lang="en-US" altLang="ko-KR" sz="1200" b="0" dirty="0">
                  <a:latin typeface="Cambria Math" panose="02040503050406030204" pitchFamily="18" charset="0"/>
                </a:endParaRPr>
              </a:p>
              <a:p>
                <a:pPr marL="180000" lvl="1" indent="0">
                  <a:lnSpc>
                    <a:spcPct val="150000"/>
                  </a:lnSpc>
                  <a:buNone/>
                </a:pPr>
                <a:endParaRPr lang="en-US" altLang="ko-KR" sz="1200" b="0" dirty="0">
                  <a:latin typeface="Cambria Math" panose="02040503050406030204" pitchFamily="18" charset="0"/>
                </a:endParaRPr>
              </a:p>
              <a:p>
                <a:pPr marL="285750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dirty="0" err="1">
                    <a:latin typeface="+mn-ea"/>
                  </a:rPr>
                  <a:t>벨만최적방정식</a:t>
                </a:r>
                <a:r>
                  <a:rPr lang="ko-KR" altLang="en-US" dirty="0">
                    <a:latin typeface="+mn-ea"/>
                  </a:rPr>
                  <a:t> </a:t>
                </a:r>
                <a:r>
                  <a:rPr lang="en-US" altLang="ko-KR" dirty="0">
                    <a:latin typeface="+mn-ea"/>
                  </a:rPr>
                  <a:t>(Bellman optimal equation)</a:t>
                </a:r>
              </a:p>
              <a:p>
                <a:pPr marL="180000" lvl="1" indent="1800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200" dirty="0">
                    <a:latin typeface="+mn-ea"/>
                  </a:rPr>
                  <a:t>최적 정책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2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US" altLang="ko-KR" sz="1200" i="1" dirty="0" smtClean="0">
                            <a:latin typeface="Cambria Math" panose="02040503050406030204" pitchFamily="18" charset="0"/>
                          </a:rPr>
                          <m:t>∗</m:t>
                        </m:r>
                      </m:sub>
                    </m:sSub>
                  </m:oMath>
                </a14:m>
                <a:r>
                  <a:rPr lang="ko-KR" altLang="en-US" sz="1200" dirty="0">
                    <a:latin typeface="+mn-ea"/>
                  </a:rPr>
                  <a:t>에 대한 가치함수가 만족시켜야 하는 식</a:t>
                </a:r>
                <a:endParaRPr lang="en-US" altLang="ko-KR" sz="1200" dirty="0">
                  <a:latin typeface="+mn-ea"/>
                </a:endParaRPr>
              </a:p>
              <a:p>
                <a:pPr marL="180000" lvl="1" indent="0">
                  <a:lnSpc>
                    <a:spcPct val="150000"/>
                  </a:lnSpc>
                  <a:buNone/>
                </a:pPr>
                <a:endParaRPr lang="en-US" altLang="ko-KR" sz="1200" dirty="0">
                  <a:latin typeface="+mn-ea"/>
                </a:endParaRPr>
              </a:p>
            </p:txBody>
          </p:sp>
        </mc:Choice>
        <mc:Fallback xmlns="">
          <p:sp>
            <p:nvSpPr>
              <p:cNvPr id="6" name="텍스트 개체 틀 5">
                <a:extLst>
                  <a:ext uri="{FF2B5EF4-FFF2-40B4-BE49-F238E27FC236}">
                    <a16:creationId xmlns:a16="http://schemas.microsoft.com/office/drawing/2014/main" id="{F9C8E683-A2B0-3349-DCD6-FA0B299D9B2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1"/>
              </p:nvPr>
            </p:nvSpPr>
            <p:spPr>
              <a:xfrm>
                <a:off x="362309" y="904870"/>
                <a:ext cx="9270641" cy="2617194"/>
              </a:xfrm>
              <a:blipFill>
                <a:blip r:embed="rId3"/>
                <a:stretch>
                  <a:fillRect l="-263" b="-3511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제목 3">
            <a:extLst>
              <a:ext uri="{FF2B5EF4-FFF2-40B4-BE49-F238E27FC236}">
                <a16:creationId xmlns:a16="http://schemas.microsoft.com/office/drawing/2014/main" id="{EF735B29-60D8-FB49-BCB0-C2357093D6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Ⅰ-3. </a:t>
            </a:r>
            <a:r>
              <a:rPr lang="ko-KR" altLang="en-US" dirty="0"/>
              <a:t>가치함수와 </a:t>
            </a:r>
            <a:r>
              <a:rPr lang="ko-KR" altLang="en-US" dirty="0" err="1"/>
              <a:t>벨만방정식</a:t>
            </a:r>
            <a:r>
              <a:rPr lang="en-US" altLang="ko-KR" dirty="0"/>
              <a:t> (2/2)</a:t>
            </a:r>
            <a:endParaRPr lang="ko-KR" altLang="en-US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D70D2A82-BFB9-4450-E376-D4968A39B42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 dirty="0"/>
              <a:t>Ⅰ </a:t>
            </a:r>
            <a:r>
              <a:rPr lang="ko-KR" altLang="en-US" dirty="0"/>
              <a:t>강화학습 기초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1CD8DDD8-E6F4-4D0B-AA3D-9506160463F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13321" y="4705004"/>
            <a:ext cx="3893156" cy="571683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26032840-16DA-3E9F-23D6-C52105027D5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18133" y="5308043"/>
            <a:ext cx="4325542" cy="645087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5879D2BE-67FF-44B6-B1A5-50851F2521D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04669" y="2106068"/>
            <a:ext cx="4139006" cy="163326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55AEFF4-6044-3F1E-B463-38207F4211AE}"/>
              </a:ext>
            </a:extLst>
          </p:cNvPr>
          <p:cNvSpPr txBox="1"/>
          <p:nvPr/>
        </p:nvSpPr>
        <p:spPr>
          <a:xfrm>
            <a:off x="6935096" y="5462016"/>
            <a:ext cx="247869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b="0" dirty="0">
                <a:latin typeface="+mn-ea"/>
                <a:ea typeface="+mn-ea"/>
              </a:rPr>
              <a:t>→ </a:t>
            </a:r>
            <a:r>
              <a:rPr lang="en-US" altLang="ko-KR" b="0" dirty="0">
                <a:latin typeface="+mn-ea"/>
                <a:ea typeface="+mn-ea"/>
              </a:rPr>
              <a:t>Q</a:t>
            </a:r>
            <a:r>
              <a:rPr lang="ko-KR" altLang="en-US" b="0" dirty="0">
                <a:latin typeface="+mn-ea"/>
                <a:ea typeface="+mn-ea"/>
              </a:rPr>
              <a:t>러닝</a:t>
            </a:r>
            <a:r>
              <a:rPr lang="en-US" altLang="ko-KR" b="0" dirty="0">
                <a:latin typeface="+mn-ea"/>
                <a:ea typeface="+mn-ea"/>
              </a:rPr>
              <a:t>, policy iteration </a:t>
            </a:r>
            <a:r>
              <a:rPr lang="ko-KR" altLang="en-US" b="0" dirty="0">
                <a:latin typeface="+mn-ea"/>
                <a:ea typeface="+mn-ea"/>
              </a:rPr>
              <a:t>등</a:t>
            </a:r>
          </a:p>
        </p:txBody>
      </p:sp>
    </p:spTree>
    <p:extLst>
      <p:ext uri="{BB962C8B-B14F-4D97-AF65-F5344CB8AC3E}">
        <p14:creationId xmlns:p14="http://schemas.microsoft.com/office/powerpoint/2010/main" val="429237475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0D5365-C184-AFCE-2600-6B0D7B92E1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1C753AF4-85ED-B71F-C79D-E9812AF437C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29904" y="1407161"/>
            <a:ext cx="5643476" cy="419702"/>
          </a:xfrm>
        </p:spPr>
        <p:txBody>
          <a:bodyPr/>
          <a:lstStyle/>
          <a:p>
            <a:r>
              <a:rPr lang="en-US" altLang="ko-KR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Ⅱ</a:t>
            </a:r>
            <a:r>
              <a:rPr lang="ko-KR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강화학습 알고리즘</a:t>
            </a:r>
            <a:endParaRPr lang="en-US" altLang="ko-KR" sz="2000" dirty="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3E30211-7DDA-F99E-C57E-EB4454D062A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894235" y="2132856"/>
            <a:ext cx="5479145" cy="3317983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ko-KR" altLang="en-US" sz="1800" dirty="0">
                <a:latin typeface="+mn-ea"/>
                <a:ea typeface="+mn-ea"/>
              </a:rPr>
              <a:t>동적계획법 </a:t>
            </a:r>
            <a:r>
              <a:rPr lang="en-US" altLang="ko-KR" sz="1800" dirty="0">
                <a:latin typeface="+mn-ea"/>
                <a:ea typeface="+mn-ea"/>
              </a:rPr>
              <a:t>(dynamic programming) </a:t>
            </a:r>
          </a:p>
          <a:p>
            <a:pPr>
              <a:lnSpc>
                <a:spcPct val="100000"/>
              </a:lnSpc>
            </a:pPr>
            <a:r>
              <a:rPr lang="en-US" altLang="ko-KR" sz="1800" dirty="0">
                <a:latin typeface="+mn-ea"/>
                <a:ea typeface="+mn-ea"/>
              </a:rPr>
              <a:t>Monte Carlo</a:t>
            </a:r>
          </a:p>
          <a:p>
            <a:pPr>
              <a:lnSpc>
                <a:spcPct val="100000"/>
              </a:lnSpc>
            </a:pPr>
            <a:r>
              <a:rPr lang="en-US" altLang="ko-KR" sz="1800" dirty="0">
                <a:latin typeface="+mn-ea"/>
                <a:ea typeface="+mn-ea"/>
              </a:rPr>
              <a:t>TD(0)</a:t>
            </a:r>
          </a:p>
          <a:p>
            <a:pPr>
              <a:lnSpc>
                <a:spcPct val="100000"/>
              </a:lnSpc>
            </a:pPr>
            <a:r>
              <a:rPr lang="en-US" altLang="ko-KR" sz="1800" dirty="0">
                <a:latin typeface="+mn-ea"/>
                <a:ea typeface="+mn-ea"/>
              </a:rPr>
              <a:t>Q-learning</a:t>
            </a:r>
          </a:p>
          <a:p>
            <a:pPr>
              <a:lnSpc>
                <a:spcPct val="100000"/>
              </a:lnSpc>
            </a:pPr>
            <a:r>
              <a:rPr lang="en-US" altLang="ko-KR" sz="1800" dirty="0">
                <a:latin typeface="+mn-ea"/>
                <a:ea typeface="+mn-ea"/>
              </a:rPr>
              <a:t>DQN</a:t>
            </a:r>
          </a:p>
          <a:p>
            <a:pPr>
              <a:lnSpc>
                <a:spcPct val="100000"/>
              </a:lnSpc>
            </a:pPr>
            <a:r>
              <a:rPr lang="en-US" altLang="ko-KR" sz="1800" dirty="0">
                <a:latin typeface="+mn-ea"/>
                <a:ea typeface="+mn-ea"/>
              </a:rPr>
              <a:t>continuous action </a:t>
            </a:r>
            <a:r>
              <a:rPr lang="ko-KR" altLang="en-US" sz="1800" dirty="0">
                <a:latin typeface="+mn-ea"/>
                <a:ea typeface="+mn-ea"/>
              </a:rPr>
              <a:t>문제 </a:t>
            </a:r>
            <a:r>
              <a:rPr lang="en-US" altLang="ko-KR" sz="1800" dirty="0">
                <a:latin typeface="+mn-ea"/>
                <a:ea typeface="+mn-ea"/>
              </a:rPr>
              <a:t>: REINFORCE</a:t>
            </a:r>
          </a:p>
          <a:p>
            <a:pPr>
              <a:lnSpc>
                <a:spcPct val="100000"/>
              </a:lnSpc>
            </a:pPr>
            <a:r>
              <a:rPr lang="en-US" altLang="ko-KR" sz="1800" dirty="0">
                <a:latin typeface="+mn-ea"/>
                <a:ea typeface="+mn-ea"/>
              </a:rPr>
              <a:t>DDPG</a:t>
            </a:r>
          </a:p>
          <a:p>
            <a:pPr>
              <a:lnSpc>
                <a:spcPct val="100000"/>
              </a:lnSpc>
            </a:pPr>
            <a:r>
              <a:rPr lang="en-US" altLang="ko-KR" sz="1800" dirty="0">
                <a:latin typeface="+mn-ea"/>
                <a:ea typeface="+mn-ea"/>
              </a:rPr>
              <a:t>TD3</a:t>
            </a:r>
          </a:p>
        </p:txBody>
      </p:sp>
    </p:spTree>
    <p:extLst>
      <p:ext uri="{BB962C8B-B14F-4D97-AF65-F5344CB8AC3E}">
        <p14:creationId xmlns:p14="http://schemas.microsoft.com/office/powerpoint/2010/main" val="47074713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B8A51B-BC13-160D-9902-AB8F2774B2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F84A0AE0-96ED-0298-44F2-3E5710223E1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dirty="0"/>
              <a:t>동적계획법 </a:t>
            </a:r>
            <a:r>
              <a:rPr lang="en-US" altLang="ko-KR" dirty="0"/>
              <a:t>(dynamic programming)</a:t>
            </a:r>
            <a:r>
              <a:rPr lang="ko-KR" altLang="en-US" dirty="0"/>
              <a:t> 개요</a:t>
            </a:r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A9A3113E-A8B6-B125-71B8-57048ECF8D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Ⅱ-1. </a:t>
            </a:r>
            <a:r>
              <a:rPr lang="ko-KR" altLang="en-US" dirty="0"/>
              <a:t>동적계획법 </a:t>
            </a:r>
            <a:r>
              <a:rPr lang="en-US" altLang="ko-KR" dirty="0"/>
              <a:t>(1/4)</a:t>
            </a:r>
            <a:endParaRPr lang="ko-KR" altLang="en-US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40E59072-516E-BB04-BE02-18322A9FE78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 dirty="0"/>
              <a:t>Ⅰ </a:t>
            </a:r>
            <a:r>
              <a:rPr lang="ko-KR" altLang="en-US" dirty="0"/>
              <a:t>강화학습 기초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텍스트 개체 틀 5">
                <a:extLst>
                  <a:ext uri="{FF2B5EF4-FFF2-40B4-BE49-F238E27FC236}">
                    <a16:creationId xmlns:a16="http://schemas.microsoft.com/office/drawing/2014/main" id="{B10E0844-EC63-0AEA-7582-1FC796FF6AA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62309" y="904870"/>
                <a:ext cx="9270641" cy="1387226"/>
              </a:xfrm>
              <a:prstGeom prst="rect">
                <a:avLst/>
              </a:prstGeom>
            </p:spPr>
            <p:txBody>
              <a:bodyPr lIns="72000" tIns="36000"/>
              <a:lstStyle>
                <a:lvl1pPr marL="0" indent="0" algn="l" rtl="0" eaLnBrk="0" fontAlgn="base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ct val="0"/>
                  </a:spcAft>
                  <a:buFont typeface="Arial" charset="0"/>
                  <a:buNone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1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1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1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1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285750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kumimoji="0" lang="en-US" altLang="ko-KR" b="0" dirty="0">
                    <a:latin typeface="+mn-ea"/>
                  </a:rPr>
                  <a:t>MDP</a:t>
                </a:r>
                <a:r>
                  <a:rPr kumimoji="0" lang="ko-KR" altLang="en-US" b="0" dirty="0">
                    <a:latin typeface="+mn-ea"/>
                  </a:rPr>
                  <a:t>의 환경모델을 알 때 최적정책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altLang="ko-KR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0" lang="en-US" altLang="ko-KR" b="0" i="1" dirty="0" smtClean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kumimoji="0" lang="en-US" altLang="ko-KR" b="0" i="1" dirty="0" smtClean="0">
                            <a:latin typeface="Cambria Math" panose="02040503050406030204" pitchFamily="18" charset="0"/>
                          </a:rPr>
                          <m:t>∗</m:t>
                        </m:r>
                      </m:sub>
                    </m:sSub>
                  </m:oMath>
                </a14:m>
                <a:r>
                  <a:rPr kumimoji="0" lang="ko-KR" altLang="en-US" b="0" dirty="0">
                    <a:latin typeface="+mn-ea"/>
                  </a:rPr>
                  <a:t>을 순차적으로 </a:t>
                </a:r>
                <a:r>
                  <a:rPr kumimoji="0" lang="ko-KR" altLang="en-US" b="0" dirty="0" err="1">
                    <a:latin typeface="+mn-ea"/>
                  </a:rPr>
                  <a:t>계산해나가는</a:t>
                </a:r>
                <a:r>
                  <a:rPr kumimoji="0" lang="ko-KR" altLang="en-US" b="0" dirty="0">
                    <a:latin typeface="+mn-ea"/>
                  </a:rPr>
                  <a:t> 방법 </a:t>
                </a:r>
                <a:r>
                  <a:rPr kumimoji="0" lang="en-US" altLang="ko-KR" b="0" dirty="0">
                    <a:latin typeface="+mn-ea"/>
                  </a:rPr>
                  <a:t>(model-based)</a:t>
                </a:r>
              </a:p>
              <a:p>
                <a:pPr marL="285750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kumimoji="0" lang="ko-KR" altLang="en-US" b="0" dirty="0">
                    <a:latin typeface="+mn-ea"/>
                  </a:rPr>
                  <a:t>대표적인 알고리즘 </a:t>
                </a:r>
                <a:r>
                  <a:rPr kumimoji="0" lang="en-US" altLang="ko-KR" b="0" dirty="0">
                    <a:latin typeface="+mn-ea"/>
                  </a:rPr>
                  <a:t>: policy iteration(</a:t>
                </a:r>
                <a:r>
                  <a:rPr kumimoji="0" lang="ko-KR" altLang="en-US" b="0" dirty="0">
                    <a:latin typeface="+mn-ea"/>
                  </a:rPr>
                  <a:t>정책 반복</a:t>
                </a:r>
                <a:r>
                  <a:rPr kumimoji="0" lang="en-US" altLang="ko-KR" b="0" dirty="0">
                    <a:latin typeface="+mn-ea"/>
                  </a:rPr>
                  <a:t>), value iteration(</a:t>
                </a:r>
                <a:r>
                  <a:rPr kumimoji="0" lang="ko-KR" altLang="en-US" b="0" dirty="0">
                    <a:latin typeface="+mn-ea"/>
                  </a:rPr>
                  <a:t>가치 반복</a:t>
                </a:r>
                <a:r>
                  <a:rPr kumimoji="0" lang="en-US" altLang="ko-KR" b="0" dirty="0">
                    <a:latin typeface="+mn-ea"/>
                  </a:rPr>
                  <a:t>)</a:t>
                </a:r>
              </a:p>
              <a:p>
                <a:pPr marL="285750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altLang="ko-KR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0" lang="en-US" altLang="ko-KR" b="0" i="1" dirty="0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kumimoji="0" lang="en-US" altLang="ko-KR" b="0" i="1" dirty="0" smtClean="0">
                            <a:latin typeface="Cambria Math" panose="02040503050406030204" pitchFamily="18" charset="0"/>
                          </a:rPr>
                          <m:t>𝜋</m:t>
                        </m:r>
                      </m:sub>
                    </m:sSub>
                  </m:oMath>
                </a14:m>
                <a:r>
                  <a:rPr kumimoji="0" lang="ko-KR" altLang="en-US" b="0" dirty="0">
                    <a:latin typeface="+mn-ea"/>
                  </a:rPr>
                  <a:t>에 대한 </a:t>
                </a:r>
                <a:r>
                  <a:rPr kumimoji="0" lang="ko-KR" altLang="en-US" b="0" dirty="0" err="1">
                    <a:latin typeface="+mn-ea"/>
                  </a:rPr>
                  <a:t>벨만방정식을</a:t>
                </a:r>
                <a:r>
                  <a:rPr kumimoji="0" lang="ko-KR" altLang="en-US" b="0" dirty="0">
                    <a:latin typeface="+mn-ea"/>
                  </a:rPr>
                  <a:t> 점화식처럼 반복적으로 적용</a:t>
                </a:r>
                <a:endParaRPr kumimoji="0" lang="en-US" altLang="ko-KR" sz="1200" b="0" dirty="0">
                  <a:latin typeface="+mn-ea"/>
                </a:endParaRPr>
              </a:p>
              <a:p>
                <a:pPr marL="180000" lvl="1" indent="1800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kumimoji="0" lang="ko-KR" altLang="en-US" sz="1200" b="0" dirty="0">
                    <a:latin typeface="+mn-ea"/>
                  </a:rPr>
                  <a:t>특징 </a:t>
                </a:r>
                <a:r>
                  <a:rPr kumimoji="0" lang="en-US" altLang="ko-KR" sz="1200" b="0" dirty="0">
                    <a:latin typeface="+mn-ea"/>
                  </a:rPr>
                  <a:t>: full-backup, bootstrapping</a:t>
                </a:r>
              </a:p>
              <a:p>
                <a:pPr marL="180000" lvl="1" indent="1800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kumimoji="0" lang="ko-KR" altLang="en-US" sz="1200" b="0" dirty="0">
                    <a:latin typeface="+mn-ea"/>
                  </a:rPr>
                  <a:t>한계 </a:t>
                </a:r>
                <a:r>
                  <a:rPr kumimoji="0" lang="en-US" altLang="ko-KR" sz="1200" b="0" dirty="0">
                    <a:latin typeface="+mn-ea"/>
                  </a:rPr>
                  <a:t>: </a:t>
                </a:r>
                <a:r>
                  <a:rPr kumimoji="0" lang="ko-KR" altLang="en-US" sz="1200" b="0" dirty="0">
                    <a:latin typeface="+mn-ea"/>
                  </a:rPr>
                  <a:t>환경모델 필요</a:t>
                </a:r>
                <a:r>
                  <a:rPr kumimoji="0" lang="en-US" altLang="ko-KR" sz="1200" b="0" dirty="0">
                    <a:latin typeface="+mn-ea"/>
                  </a:rPr>
                  <a:t>, </a:t>
                </a:r>
                <a:r>
                  <a:rPr kumimoji="0" lang="ko-KR" altLang="en-US" sz="1200" b="0" dirty="0">
                    <a:latin typeface="+mn-ea"/>
                  </a:rPr>
                  <a:t>상태공간이 크면</a:t>
                </a:r>
                <a:r>
                  <a:rPr kumimoji="0" lang="en-US" altLang="ko-KR" sz="1200" b="0" dirty="0">
                    <a:latin typeface="+mn-ea"/>
                  </a:rPr>
                  <a:t> </a:t>
                </a:r>
                <a:r>
                  <a:rPr kumimoji="0" lang="ko-KR" altLang="en-US" sz="1200" b="0" dirty="0" err="1">
                    <a:latin typeface="+mn-ea"/>
                  </a:rPr>
                  <a:t>계산량</a:t>
                </a:r>
                <a:r>
                  <a:rPr kumimoji="0" lang="ko-KR" altLang="en-US" sz="1200" b="0" dirty="0">
                    <a:latin typeface="+mn-ea"/>
                  </a:rPr>
                  <a:t> 증가</a:t>
                </a:r>
                <a:endParaRPr lang="en-US" altLang="ko-KR" dirty="0">
                  <a:latin typeface="+mn-ea"/>
                </a:endParaRPr>
              </a:p>
              <a:p>
                <a:pPr marL="180000" lvl="1" indent="1800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kumimoji="0" lang="ko-KR" altLang="en-US" sz="1200" b="0" dirty="0">
                    <a:latin typeface="+mn-ea"/>
                  </a:rPr>
                  <a:t>의의 </a:t>
                </a:r>
                <a:r>
                  <a:rPr kumimoji="0" lang="en-US" altLang="ko-KR" sz="1200" b="0" dirty="0">
                    <a:latin typeface="+mn-ea"/>
                  </a:rPr>
                  <a:t>: </a:t>
                </a:r>
                <a:r>
                  <a:rPr kumimoji="0" lang="ko-KR" altLang="en-US" sz="1200" b="0" dirty="0">
                    <a:latin typeface="+mn-ea"/>
                  </a:rPr>
                  <a:t>강화학습 알고리즘의 이론적 토대</a:t>
                </a:r>
                <a:endParaRPr kumimoji="0" lang="en-US" altLang="ko-KR" b="0" dirty="0">
                  <a:latin typeface="+mn-ea"/>
                </a:endParaRPr>
              </a:p>
              <a:p>
                <a:pPr marL="285750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endParaRPr kumimoji="0" lang="en-US" altLang="ko-KR" sz="1200" b="0" dirty="0">
                  <a:latin typeface="+mn-ea"/>
                </a:endParaRPr>
              </a:p>
            </p:txBody>
          </p:sp>
        </mc:Choice>
        <mc:Fallback xmlns="">
          <p:sp>
            <p:nvSpPr>
              <p:cNvPr id="10" name="텍스트 개체 틀 5">
                <a:extLst>
                  <a:ext uri="{FF2B5EF4-FFF2-40B4-BE49-F238E27FC236}">
                    <a16:creationId xmlns:a16="http://schemas.microsoft.com/office/drawing/2014/main" id="{B10E0844-EC63-0AEA-7582-1FC796FF6A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2309" y="904870"/>
                <a:ext cx="9270641" cy="1387226"/>
              </a:xfrm>
              <a:prstGeom prst="rect">
                <a:avLst/>
              </a:prstGeom>
              <a:blipFill>
                <a:blip r:embed="rId3"/>
                <a:stretch>
                  <a:fillRect l="-263" b="-4298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" name="그림 10">
            <a:extLst>
              <a:ext uri="{FF2B5EF4-FFF2-40B4-BE49-F238E27FC236}">
                <a16:creationId xmlns:a16="http://schemas.microsoft.com/office/drawing/2014/main" id="{95C0E43F-C978-DB44-8BA5-31C7B3AC8F5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67712" y="3149161"/>
            <a:ext cx="5307234" cy="2917592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D88B6F59-A978-C96D-7D34-2C1F72A4322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33196" y="2116696"/>
            <a:ext cx="3411201" cy="486653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4DF52B74-203B-2FFD-FDBF-36FEF488AEDC}"/>
              </a:ext>
            </a:extLst>
          </p:cNvPr>
          <p:cNvSpPr txBox="1"/>
          <p:nvPr/>
        </p:nvSpPr>
        <p:spPr>
          <a:xfrm>
            <a:off x="8778240" y="2173801"/>
            <a:ext cx="95410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1200" b="0" dirty="0" err="1">
                <a:latin typeface="+mn-ea"/>
                <a:ea typeface="+mn-ea"/>
              </a:rPr>
              <a:t>벨만방정식</a:t>
            </a:r>
            <a:endParaRPr lang="ko-KR" altLang="en-US" sz="1200" b="0" dirty="0"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7795296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0854E4-01AE-31E5-0B77-796EE26D59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28ACA88C-4CA7-35B2-38D1-E09A557AEFB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dirty="0"/>
              <a:t>정책 반복 </a:t>
            </a:r>
            <a:r>
              <a:rPr lang="en-US" altLang="ko-KR" dirty="0"/>
              <a:t>(policy iteration)</a:t>
            </a:r>
            <a:endParaRPr lang="ko-KR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FD6E16EE-54D3-3620-063E-7D9872F6F4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Ⅱ-1. </a:t>
            </a:r>
            <a:r>
              <a:rPr lang="ko-KR" altLang="en-US" dirty="0"/>
              <a:t>동적계획법 </a:t>
            </a:r>
            <a:r>
              <a:rPr lang="en-US" altLang="ko-KR" dirty="0"/>
              <a:t>(2/4)</a:t>
            </a:r>
            <a:endParaRPr lang="ko-KR" altLang="en-US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C3A98540-6154-5320-479C-E35E09934BA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 dirty="0"/>
              <a:t>Ⅰ </a:t>
            </a:r>
            <a:r>
              <a:rPr lang="ko-KR" altLang="en-US" dirty="0"/>
              <a:t>강화학습 기초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텍스트 개체 틀 5">
                <a:extLst>
                  <a:ext uri="{FF2B5EF4-FFF2-40B4-BE49-F238E27FC236}">
                    <a16:creationId xmlns:a16="http://schemas.microsoft.com/office/drawing/2014/main" id="{0FDAF527-3764-5040-0F52-71D53E215FA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62309" y="904870"/>
                <a:ext cx="9270641" cy="2617194"/>
              </a:xfrm>
              <a:prstGeom prst="rect">
                <a:avLst/>
              </a:prstGeom>
            </p:spPr>
            <p:txBody>
              <a:bodyPr lIns="72000" tIns="36000"/>
              <a:lstStyle>
                <a:lvl1pPr marL="0" indent="0" algn="l" rtl="0" eaLnBrk="0" fontAlgn="base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ct val="0"/>
                  </a:spcAft>
                  <a:buFont typeface="Arial" charset="0"/>
                  <a:buNone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1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1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1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1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285750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kumimoji="0" lang="ko-KR" altLang="en-US" b="0" dirty="0">
                    <a:latin typeface="+mn-ea"/>
                  </a:rPr>
                  <a:t>정책평가와 정책개선을 통해 순차적으로 정책을 최적정책에 수렴시키는 방법</a:t>
                </a:r>
                <a:endParaRPr kumimoji="0" lang="en-US" altLang="ko-KR" b="0" dirty="0">
                  <a:latin typeface="+mn-ea"/>
                </a:endParaRPr>
              </a:p>
              <a:p>
                <a:pPr marL="180000" lvl="1" indent="1800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kumimoji="0" lang="ko-KR" altLang="en-US" sz="1200" b="0" dirty="0">
                    <a:latin typeface="+mn-ea"/>
                  </a:rPr>
                  <a:t>정책평가</a:t>
                </a:r>
                <a:r>
                  <a:rPr kumimoji="0" lang="en-US" altLang="ko-KR" sz="1200" b="0" dirty="0">
                    <a:latin typeface="+mn-ea"/>
                  </a:rPr>
                  <a:t>(policy evaluation)</a:t>
                </a:r>
                <a:r>
                  <a:rPr kumimoji="0" lang="ko-KR" altLang="en-US" sz="1200" b="0" dirty="0">
                    <a:latin typeface="+mn-ea"/>
                  </a:rPr>
                  <a:t> </a:t>
                </a:r>
                <a:r>
                  <a:rPr kumimoji="0" lang="en-US" altLang="ko-KR" sz="1200" b="0" dirty="0">
                    <a:latin typeface="+mn-ea"/>
                  </a:rPr>
                  <a:t>: </a:t>
                </a:r>
                <a:r>
                  <a:rPr kumimoji="0" lang="ko-KR" altLang="en-US" sz="1200" b="0" dirty="0" err="1">
                    <a:latin typeface="+mn-ea"/>
                  </a:rPr>
                  <a:t>벨만방정식을</a:t>
                </a:r>
                <a:r>
                  <a:rPr kumimoji="0" lang="ko-KR" altLang="en-US" sz="1200" b="0" dirty="0">
                    <a:latin typeface="+mn-ea"/>
                  </a:rPr>
                  <a:t> 점화식으로 사용하여 정책 </a:t>
                </a:r>
                <a14:m>
                  <m:oMath xmlns:m="http://schemas.openxmlformats.org/officeDocument/2006/math">
                    <m:r>
                      <a:rPr kumimoji="0" lang="en-US" altLang="ko-KR" sz="1200" b="0" i="1" dirty="0" smtClean="0"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r>
                  <a:rPr kumimoji="0" lang="ko-KR" altLang="en-US" sz="1200" b="0" dirty="0">
                    <a:latin typeface="+mn-ea"/>
                  </a:rPr>
                  <a:t>에 대하여 그에 대한 가치함수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altLang="ko-KR" sz="12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0" lang="en-US" altLang="ko-KR" sz="1200" b="0" i="1" dirty="0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kumimoji="0" lang="en-US" altLang="ko-KR" sz="1200" b="0" i="1" dirty="0" smtClean="0">
                            <a:latin typeface="Cambria Math" panose="02040503050406030204" pitchFamily="18" charset="0"/>
                          </a:rPr>
                          <m:t>𝜋</m:t>
                        </m:r>
                      </m:sub>
                    </m:sSub>
                  </m:oMath>
                </a14:m>
                <a:r>
                  <a:rPr kumimoji="0" lang="ko-KR" altLang="en-US" sz="1200" b="0" dirty="0">
                    <a:latin typeface="+mn-ea"/>
                  </a:rPr>
                  <a:t>를 추정</a:t>
                </a:r>
                <a:endParaRPr kumimoji="0" lang="en-US" altLang="ko-KR" sz="1200" b="0" dirty="0">
                  <a:latin typeface="+mn-ea"/>
                </a:endParaRPr>
              </a:p>
              <a:p>
                <a:pPr marL="180000" lvl="1" indent="1800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kumimoji="0" lang="ko-KR" altLang="en-US" sz="1200" b="0" dirty="0">
                    <a:latin typeface="+mn-ea"/>
                  </a:rPr>
                  <a:t>정책개선</a:t>
                </a:r>
                <a:r>
                  <a:rPr kumimoji="0" lang="en-US" altLang="ko-KR" sz="1200" b="0" dirty="0">
                    <a:latin typeface="+mn-ea"/>
                  </a:rPr>
                  <a:t>(policy improvement)</a:t>
                </a:r>
                <a:r>
                  <a:rPr kumimoji="0" lang="ko-KR" altLang="en-US" sz="1200" b="0" dirty="0">
                    <a:latin typeface="+mn-ea"/>
                  </a:rPr>
                  <a:t> </a:t>
                </a:r>
                <a:r>
                  <a:rPr kumimoji="0" lang="en-US" altLang="ko-KR" sz="1200" b="0" dirty="0">
                    <a:latin typeface="+mn-ea"/>
                  </a:rPr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altLang="ko-KR" sz="12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0" lang="en-US" altLang="ko-KR" sz="1200" b="0" i="1" dirty="0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kumimoji="0" lang="en-US" altLang="ko-KR" sz="1200" b="0" i="1" dirty="0" smtClean="0">
                            <a:latin typeface="Cambria Math" panose="02040503050406030204" pitchFamily="18" charset="0"/>
                          </a:rPr>
                          <m:t>𝜋</m:t>
                        </m:r>
                      </m:sub>
                    </m:sSub>
                    <m:r>
                      <a:rPr kumimoji="0" lang="ko-KR" altLang="en-US" sz="1200" b="0" i="1" dirty="0">
                        <a:latin typeface="Cambria Math" panose="02040503050406030204" pitchFamily="18" charset="0"/>
                      </a:rPr>
                      <m:t>를</m:t>
                    </m:r>
                  </m:oMath>
                </a14:m>
                <a:r>
                  <a:rPr kumimoji="0" lang="en-US" altLang="ko-KR" sz="1200" b="0" dirty="0">
                    <a:latin typeface="Cambria Math" panose="02040503050406030204" pitchFamily="18" charset="0"/>
                  </a:rPr>
                  <a:t> </a:t>
                </a:r>
                <a:r>
                  <a:rPr kumimoji="0" lang="ko-KR" altLang="en-US" sz="1200" b="0" dirty="0">
                    <a:latin typeface="Cambria Math" panose="02040503050406030204" pitchFamily="18" charset="0"/>
                  </a:rPr>
                  <a:t>사용하여 이전보다 개선된 정책 </a:t>
                </a:r>
                <a14:m>
                  <m:oMath xmlns:m="http://schemas.openxmlformats.org/officeDocument/2006/math">
                    <m:r>
                      <a:rPr kumimoji="0" lang="en-US" altLang="ko-KR" sz="1200" b="0" i="1" dirty="0" smtClean="0">
                        <a:latin typeface="Cambria Math" panose="02040503050406030204" pitchFamily="18" charset="0"/>
                      </a:rPr>
                      <m:t>𝜋</m:t>
                    </m:r>
                    <m:r>
                      <a:rPr kumimoji="0" lang="en-US" altLang="ko-KR" sz="1200" b="0" i="1" dirty="0" smtClean="0">
                        <a:latin typeface="Cambria Math" panose="02040503050406030204" pitchFamily="18" charset="0"/>
                      </a:rPr>
                      <m:t>’</m:t>
                    </m:r>
                  </m:oMath>
                </a14:m>
                <a:r>
                  <a:rPr kumimoji="0" lang="ko-KR" altLang="en-US" sz="1200" b="0" dirty="0">
                    <a:latin typeface="Cambria Math" panose="02040503050406030204" pitchFamily="18" charset="0"/>
                  </a:rPr>
                  <a:t>을 얻어냄</a:t>
                </a:r>
                <a:r>
                  <a:rPr kumimoji="0" lang="en-US" altLang="ko-KR" sz="1200" b="0" dirty="0">
                    <a:latin typeface="Cambria Math" panose="02040503050406030204" pitchFamily="18" charset="0"/>
                  </a:rPr>
                  <a:t> (</a:t>
                </a:r>
                <a:r>
                  <a:rPr kumimoji="0" lang="en-US" altLang="ko-KR" sz="1200" b="0">
                    <a:latin typeface="+mn-ea"/>
                  </a:rPr>
                  <a:t>greedy policy)</a:t>
                </a:r>
                <a:endParaRPr kumimoji="0" lang="en-US" altLang="ko-KR" sz="1200" b="0" dirty="0">
                  <a:latin typeface="+mn-ea"/>
                </a:endParaRPr>
              </a:p>
            </p:txBody>
          </p:sp>
        </mc:Choice>
        <mc:Fallback xmlns="">
          <p:sp>
            <p:nvSpPr>
              <p:cNvPr id="10" name="텍스트 개체 틀 5">
                <a:extLst>
                  <a:ext uri="{FF2B5EF4-FFF2-40B4-BE49-F238E27FC236}">
                    <a16:creationId xmlns:a16="http://schemas.microsoft.com/office/drawing/2014/main" id="{0FDAF527-3764-5040-0F52-71D53E215F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2309" y="904870"/>
                <a:ext cx="9270641" cy="2617194"/>
              </a:xfrm>
              <a:prstGeom prst="rect">
                <a:avLst/>
              </a:prstGeom>
              <a:blipFill>
                <a:blip r:embed="rId2"/>
                <a:stretch>
                  <a:fillRect l="-26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" name="그림 10">
            <a:extLst>
              <a:ext uri="{FF2B5EF4-FFF2-40B4-BE49-F238E27FC236}">
                <a16:creationId xmlns:a16="http://schemas.microsoft.com/office/drawing/2014/main" id="{43769D03-CAB2-3C98-52EC-170D29F62E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10769" y="2006936"/>
            <a:ext cx="5684462" cy="338573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E1F92BF5-D0B3-B9C5-A55C-B022142E83C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09321" y="2441985"/>
            <a:ext cx="6224016" cy="4228094"/>
          </a:xfrm>
          <a:prstGeom prst="rect">
            <a:avLst/>
          </a:prstGeom>
        </p:spPr>
      </p:pic>
      <p:sp>
        <p:nvSpPr>
          <p:cNvPr id="6" name="오른쪽 중괄호 5">
            <a:extLst>
              <a:ext uri="{FF2B5EF4-FFF2-40B4-BE49-F238E27FC236}">
                <a16:creationId xmlns:a16="http://schemas.microsoft.com/office/drawing/2014/main" id="{05EBD44E-D980-2EB3-51E2-463393E5D43B}"/>
              </a:ext>
            </a:extLst>
          </p:cNvPr>
          <p:cNvSpPr/>
          <p:nvPr/>
        </p:nvSpPr>
        <p:spPr>
          <a:xfrm>
            <a:off x="5737225" y="4108450"/>
            <a:ext cx="311150" cy="539750"/>
          </a:xfrm>
          <a:prstGeom prst="rightBrace">
            <a:avLst/>
          </a:prstGeom>
          <a:noFill/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E2A904B-B6B1-3163-A22B-544BAED57809}"/>
              </a:ext>
            </a:extLst>
          </p:cNvPr>
          <p:cNvSpPr txBox="1"/>
          <p:nvPr/>
        </p:nvSpPr>
        <p:spPr>
          <a:xfrm>
            <a:off x="6060131" y="4171950"/>
            <a:ext cx="204838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1200" b="0" dirty="0">
                <a:solidFill>
                  <a:srgbClr val="FF0000"/>
                </a:solidFill>
                <a:latin typeface="+mn-ea"/>
                <a:ea typeface="+mn-ea"/>
              </a:rPr>
              <a:t>full-backup, bootstrapping</a:t>
            </a:r>
            <a:endParaRPr lang="ko-KR" altLang="en-US" sz="1200" b="0" dirty="0">
              <a:solidFill>
                <a:srgbClr val="FF0000"/>
              </a:solidFill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67851531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C47AAF-2E3F-6D5B-1901-03BE63281C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25B30B77-619A-B1AC-AB01-1E79A4B869D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GPI</a:t>
            </a:r>
            <a:r>
              <a:rPr lang="ko-KR" altLang="en-US" dirty="0"/>
              <a:t> </a:t>
            </a:r>
            <a:r>
              <a:rPr lang="en-US" altLang="ko-KR" dirty="0"/>
              <a:t>(generalized policy iteration)</a:t>
            </a:r>
            <a:endParaRPr lang="ko-KR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E40FFA30-5CD5-E365-0D46-58052CA026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Ⅱ-1. </a:t>
            </a:r>
            <a:r>
              <a:rPr lang="ko-KR" altLang="en-US" dirty="0"/>
              <a:t>동적계획법 </a:t>
            </a:r>
            <a:r>
              <a:rPr lang="en-US" altLang="ko-KR" dirty="0"/>
              <a:t>(3/4)</a:t>
            </a:r>
            <a:endParaRPr lang="ko-KR" altLang="en-US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907214CD-EC7C-3942-2F46-13645105D93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 dirty="0"/>
              <a:t>Ⅰ </a:t>
            </a:r>
            <a:r>
              <a:rPr lang="ko-KR" altLang="en-US" dirty="0"/>
              <a:t>강화학습 기초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텍스트 개체 틀 5">
                <a:extLst>
                  <a:ext uri="{FF2B5EF4-FFF2-40B4-BE49-F238E27FC236}">
                    <a16:creationId xmlns:a16="http://schemas.microsoft.com/office/drawing/2014/main" id="{397808F8-06EE-21F8-56D1-291F7372A16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62309" y="904870"/>
                <a:ext cx="9270641" cy="2617194"/>
              </a:xfrm>
              <a:prstGeom prst="rect">
                <a:avLst/>
              </a:prstGeom>
            </p:spPr>
            <p:txBody>
              <a:bodyPr lIns="72000" tIns="36000"/>
              <a:lstStyle>
                <a:lvl1pPr marL="0" indent="0" algn="l" rtl="0" eaLnBrk="0" fontAlgn="base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ct val="0"/>
                  </a:spcAft>
                  <a:buFont typeface="Arial" charset="0"/>
                  <a:buNone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1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1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1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1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285750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kumimoji="0" lang="en-US" altLang="ko-KR" b="0" dirty="0">
                    <a:latin typeface="+mn-ea"/>
                  </a:rPr>
                  <a:t>GPI</a:t>
                </a:r>
                <a:r>
                  <a:rPr kumimoji="0" lang="ko-KR" altLang="en-US" b="0" dirty="0">
                    <a:latin typeface="+mn-ea"/>
                  </a:rPr>
                  <a:t>는 정책개선</a:t>
                </a:r>
                <a:r>
                  <a:rPr kumimoji="0" lang="en-US" altLang="ko-KR" b="0" dirty="0">
                    <a:latin typeface="+mn-ea"/>
                  </a:rPr>
                  <a:t>(policy iteration)</a:t>
                </a:r>
                <a:r>
                  <a:rPr kumimoji="0" lang="ko-KR" altLang="en-US" b="0" dirty="0">
                    <a:latin typeface="+mn-ea"/>
                  </a:rPr>
                  <a:t>의 일반화된 개념</a:t>
                </a:r>
                <a:endParaRPr kumimoji="0" lang="en-US" altLang="ko-KR" b="0" dirty="0">
                  <a:latin typeface="+mn-ea"/>
                </a:endParaRPr>
              </a:p>
              <a:p>
                <a:pPr marL="285750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kumimoji="0" lang="ko-KR" altLang="en-US" b="0" dirty="0">
                    <a:latin typeface="+mn-ea"/>
                  </a:rPr>
                  <a:t>거의 모든 강화학습 알고리즘은 정책평가와 정책개선이 반복되는 형태</a:t>
                </a:r>
                <a:endParaRPr kumimoji="0" lang="en-US" altLang="ko-KR" b="0" dirty="0">
                  <a:latin typeface="+mn-ea"/>
                </a:endParaRPr>
              </a:p>
              <a:p>
                <a:pPr marL="180000" lvl="1" indent="1800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kumimoji="0" lang="ko-KR" altLang="en-US" sz="1200" b="0" dirty="0">
                    <a:latin typeface="+mn-ea"/>
                  </a:rPr>
                  <a:t>정책평가</a:t>
                </a:r>
                <a:r>
                  <a:rPr kumimoji="0" lang="en-US" altLang="ko-KR" sz="1200" b="0" dirty="0">
                    <a:latin typeface="+mn-ea"/>
                  </a:rPr>
                  <a:t>(policy evaluation)</a:t>
                </a:r>
                <a:r>
                  <a:rPr kumimoji="0" lang="ko-KR" altLang="en-US" sz="1200" b="0" dirty="0">
                    <a:latin typeface="+mn-ea"/>
                  </a:rPr>
                  <a:t> </a:t>
                </a:r>
                <a:r>
                  <a:rPr kumimoji="0" lang="en-US" altLang="ko-KR" sz="1200" b="0" dirty="0">
                    <a:latin typeface="+mn-ea"/>
                  </a:rPr>
                  <a:t>: </a:t>
                </a:r>
                <a:r>
                  <a:rPr kumimoji="0" lang="ko-KR" altLang="en-US" sz="1200" b="0" dirty="0">
                    <a:latin typeface="+mn-ea"/>
                  </a:rPr>
                  <a:t>현재 정책 </a:t>
                </a:r>
                <a14:m>
                  <m:oMath xmlns:m="http://schemas.openxmlformats.org/officeDocument/2006/math">
                    <m:r>
                      <a:rPr kumimoji="0" lang="en-US" altLang="ko-KR" sz="1200" b="0" i="1" dirty="0"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r>
                  <a:rPr kumimoji="0" lang="ko-KR" altLang="en-US" sz="1200" b="0" dirty="0">
                    <a:latin typeface="+mn-ea"/>
                  </a:rPr>
                  <a:t>에 대한 가치 평가 </a:t>
                </a:r>
                <a:r>
                  <a:rPr kumimoji="0" lang="en-US" altLang="ko-KR" sz="1200" b="0" dirty="0">
                    <a:latin typeface="+mn-ea"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altLang="ko-KR" sz="12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0" lang="en-US" altLang="ko-KR" sz="1200" b="0" i="1" dirty="0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kumimoji="0" lang="en-US" altLang="ko-KR" sz="1200" b="0" i="1" dirty="0" smtClean="0">
                            <a:latin typeface="Cambria Math" panose="02040503050406030204" pitchFamily="18" charset="0"/>
                          </a:rPr>
                          <m:t>𝜋</m:t>
                        </m:r>
                      </m:sub>
                    </m:sSub>
                  </m:oMath>
                </a14:m>
                <a:r>
                  <a:rPr kumimoji="0" lang="en-US" altLang="ko-KR" sz="1200" b="0" dirty="0">
                    <a:latin typeface="+mn-ea"/>
                  </a:rPr>
                  <a:t> </a:t>
                </a:r>
                <a:r>
                  <a:rPr kumimoji="0" lang="ko-KR" altLang="en-US" sz="1200" b="0" dirty="0">
                    <a:latin typeface="+mn-ea"/>
                  </a:rPr>
                  <a:t>또는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altLang="ko-KR" sz="12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0" lang="en-US" altLang="ko-KR" sz="1200" b="0" i="1" dirty="0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kumimoji="0" lang="en-US" altLang="ko-KR" sz="1200" b="0" i="1" dirty="0" smtClean="0">
                            <a:latin typeface="Cambria Math" panose="02040503050406030204" pitchFamily="18" charset="0"/>
                          </a:rPr>
                          <m:t>𝜋</m:t>
                        </m:r>
                      </m:sub>
                    </m:sSub>
                  </m:oMath>
                </a14:m>
                <a:r>
                  <a:rPr kumimoji="0" lang="en-US" altLang="ko-KR" sz="1200" b="0" dirty="0">
                    <a:latin typeface="+mn-ea"/>
                  </a:rPr>
                  <a:t>)</a:t>
                </a:r>
              </a:p>
              <a:p>
                <a:pPr marL="180000" lvl="1" indent="1800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kumimoji="0" lang="ko-KR" altLang="en-US" sz="1200" b="0" dirty="0">
                    <a:latin typeface="+mn-ea"/>
                  </a:rPr>
                  <a:t>정책개선</a:t>
                </a:r>
                <a:r>
                  <a:rPr kumimoji="0" lang="en-US" altLang="ko-KR" sz="1200" b="0" dirty="0">
                    <a:latin typeface="+mn-ea"/>
                  </a:rPr>
                  <a:t>(policy improvement)</a:t>
                </a:r>
                <a:r>
                  <a:rPr kumimoji="0" lang="ko-KR" altLang="en-US" sz="1200" b="0" dirty="0">
                    <a:latin typeface="+mn-ea"/>
                  </a:rPr>
                  <a:t> </a:t>
                </a:r>
                <a:r>
                  <a:rPr kumimoji="0" lang="en-US" altLang="ko-KR" sz="1200" b="0" dirty="0">
                    <a:latin typeface="+mn-ea"/>
                  </a:rPr>
                  <a:t>: </a:t>
                </a:r>
                <a14:m>
                  <m:oMath xmlns:m="http://schemas.openxmlformats.org/officeDocument/2006/math">
                    <m:r>
                      <a:rPr kumimoji="0" lang="ko-KR" altLang="en-US" sz="1200" b="0" i="1" dirty="0" smtClean="0">
                        <a:latin typeface="Cambria Math" panose="02040503050406030204" pitchFamily="18" charset="0"/>
                      </a:rPr>
                      <m:t>가</m:t>
                    </m:r>
                  </m:oMath>
                </a14:m>
                <a:r>
                  <a:rPr kumimoji="0" lang="ko-KR" altLang="en-US" sz="1200" b="0" dirty="0">
                    <a:latin typeface="Cambria Math" panose="02040503050406030204" pitchFamily="18" charset="0"/>
                  </a:rPr>
                  <a:t>치함수에 기반하여 개선된 정책</a:t>
                </a:r>
                <a:r>
                  <a:rPr kumimoji="0" lang="en-US" altLang="ko-KR" sz="1200" b="0" dirty="0">
                    <a:latin typeface="Cambria Math" panose="02040503050406030204" pitchFamily="18" charset="0"/>
                  </a:rPr>
                  <a:t> </a:t>
                </a:r>
                <a:r>
                  <a:rPr kumimoji="0" lang="ko-KR" altLang="en-US" sz="1200" b="0" dirty="0">
                    <a:latin typeface="Cambria Math" panose="02040503050406030204" pitchFamily="18" charset="0"/>
                  </a:rPr>
                  <a:t>도출</a:t>
                </a:r>
                <a:r>
                  <a:rPr kumimoji="0" lang="en-US" altLang="ko-KR" sz="1200" b="0" dirty="0">
                    <a:latin typeface="Cambria Math" panose="02040503050406030204" pitchFamily="18" charset="0"/>
                  </a:rPr>
                  <a:t> (</a:t>
                </a:r>
                <a:r>
                  <a:rPr kumimoji="0" lang="en-US" altLang="ko-KR" sz="1200" b="0" dirty="0">
                    <a:latin typeface="+mn-ea"/>
                  </a:rPr>
                  <a:t>greedy </a:t>
                </a:r>
                <a:r>
                  <a:rPr kumimoji="0" lang="ko-KR" altLang="en-US" sz="1200" b="0" dirty="0">
                    <a:latin typeface="+mn-ea"/>
                  </a:rPr>
                  <a:t>정책</a:t>
                </a:r>
                <a:r>
                  <a:rPr kumimoji="0" lang="en-US" altLang="ko-KR" sz="1200" b="0" dirty="0">
                    <a:latin typeface="+mn-ea"/>
                  </a:rPr>
                  <a:t>)</a:t>
                </a:r>
              </a:p>
            </p:txBody>
          </p:sp>
        </mc:Choice>
        <mc:Fallback xmlns="">
          <p:sp>
            <p:nvSpPr>
              <p:cNvPr id="10" name="텍스트 개체 틀 5">
                <a:extLst>
                  <a:ext uri="{FF2B5EF4-FFF2-40B4-BE49-F238E27FC236}">
                    <a16:creationId xmlns:a16="http://schemas.microsoft.com/office/drawing/2014/main" id="{397808F8-06EE-21F8-56D1-291F7372A1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2309" y="904870"/>
                <a:ext cx="9270641" cy="2617194"/>
              </a:xfrm>
              <a:prstGeom prst="rect">
                <a:avLst/>
              </a:prstGeom>
              <a:blipFill>
                <a:blip r:embed="rId2"/>
                <a:stretch>
                  <a:fillRect l="-26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그림 2">
            <a:extLst>
              <a:ext uri="{FF2B5EF4-FFF2-40B4-BE49-F238E27FC236}">
                <a16:creationId xmlns:a16="http://schemas.microsoft.com/office/drawing/2014/main" id="{EFB574E5-19A5-EEFA-CCF6-39021B4D50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72434" y="2706955"/>
            <a:ext cx="4675634" cy="2997200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363045D5-2F16-96BB-B759-1FBFE4D871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03345" y="2789098"/>
            <a:ext cx="1952898" cy="2915057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7BD39A51-E18E-A176-95CB-FBDAC6000A75}"/>
              </a:ext>
            </a:extLst>
          </p:cNvPr>
          <p:cNvSpPr txBox="1"/>
          <p:nvPr/>
        </p:nvSpPr>
        <p:spPr>
          <a:xfrm>
            <a:off x="6609521" y="1656459"/>
            <a:ext cx="80342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b="0" dirty="0">
                <a:latin typeface="+mn-ea"/>
                <a:ea typeface="+mn-ea"/>
              </a:rPr>
              <a:t>→ </a:t>
            </a:r>
            <a:r>
              <a:rPr lang="en-US" altLang="ko-KR" b="0" dirty="0">
                <a:latin typeface="+mn-ea"/>
                <a:ea typeface="+mn-ea"/>
              </a:rPr>
              <a:t>critic</a:t>
            </a:r>
            <a:endParaRPr lang="ko-KR" altLang="en-US" b="0" dirty="0">
              <a:latin typeface="+mn-ea"/>
              <a:ea typeface="+mn-ea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451C14B-5F7B-0692-7C22-19A067939CD5}"/>
              </a:ext>
            </a:extLst>
          </p:cNvPr>
          <p:cNvSpPr txBox="1"/>
          <p:nvPr/>
        </p:nvSpPr>
        <p:spPr>
          <a:xfrm>
            <a:off x="6615617" y="1942971"/>
            <a:ext cx="82759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b="0" dirty="0">
                <a:latin typeface="+mn-ea"/>
                <a:ea typeface="+mn-ea"/>
              </a:rPr>
              <a:t>→ </a:t>
            </a:r>
            <a:r>
              <a:rPr lang="en-US" altLang="ko-KR" b="0" dirty="0">
                <a:latin typeface="+mn-ea"/>
                <a:ea typeface="+mn-ea"/>
              </a:rPr>
              <a:t>actor</a:t>
            </a:r>
            <a:endParaRPr lang="ko-KR" altLang="en-US" b="0" dirty="0"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76448326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1ADCF6-9B8C-A11E-87B4-318E9B0B13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673EC319-F5BD-7B63-4CDB-9092A0301DB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grid</a:t>
            </a:r>
            <a:r>
              <a:rPr lang="ko-KR" altLang="en-US" dirty="0"/>
              <a:t> </a:t>
            </a:r>
            <a:r>
              <a:rPr lang="en-US" altLang="ko-KR" dirty="0"/>
              <a:t>world</a:t>
            </a:r>
            <a:r>
              <a:rPr lang="ko-KR" altLang="en-US" dirty="0"/>
              <a:t> 예시</a:t>
            </a:r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AEB3AD5F-F1F7-0612-C1A5-8E94796B31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Ⅱ-1. </a:t>
            </a:r>
            <a:r>
              <a:rPr lang="ko-KR" altLang="en-US" dirty="0"/>
              <a:t>동적계획법 </a:t>
            </a:r>
            <a:r>
              <a:rPr lang="en-US" altLang="ko-KR" dirty="0"/>
              <a:t>(3/4)</a:t>
            </a:r>
            <a:endParaRPr lang="ko-KR" altLang="en-US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9BFD1474-E6B8-376A-1A8B-15F5D5D4E8C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 dirty="0"/>
              <a:t>Ⅰ </a:t>
            </a:r>
            <a:r>
              <a:rPr lang="ko-KR" altLang="en-US" dirty="0"/>
              <a:t>강화학습 기초</a:t>
            </a:r>
          </a:p>
        </p:txBody>
      </p:sp>
      <p:sp>
        <p:nvSpPr>
          <p:cNvPr id="10" name="텍스트 개체 틀 5">
            <a:extLst>
              <a:ext uri="{FF2B5EF4-FFF2-40B4-BE49-F238E27FC236}">
                <a16:creationId xmlns:a16="http://schemas.microsoft.com/office/drawing/2014/main" id="{8043DDBB-3FD0-2CAB-C33A-FB53D9E6C29C}"/>
              </a:ext>
            </a:extLst>
          </p:cNvPr>
          <p:cNvSpPr txBox="1">
            <a:spLocks/>
          </p:cNvSpPr>
          <p:nvPr/>
        </p:nvSpPr>
        <p:spPr>
          <a:xfrm>
            <a:off x="362309" y="904870"/>
            <a:ext cx="9270641" cy="2617194"/>
          </a:xfrm>
          <a:prstGeom prst="rect">
            <a:avLst/>
          </a:prstGeom>
        </p:spPr>
        <p:txBody>
          <a:bodyPr lIns="72000" tIns="36000"/>
          <a:lstStyle>
            <a:lvl1pPr marL="0" indent="0" algn="l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Font typeface="Arial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kumimoji="0" lang="en-US" altLang="ko-KR" b="0" dirty="0">
                <a:latin typeface="+mn-ea"/>
              </a:rPr>
              <a:t>GPI</a:t>
            </a:r>
            <a:r>
              <a:rPr kumimoji="0" lang="ko-KR" altLang="en-US" b="0" dirty="0">
                <a:latin typeface="+mn-ea"/>
              </a:rPr>
              <a:t>는</a:t>
            </a:r>
            <a:r>
              <a:rPr kumimoji="0" lang="en-US" altLang="ko-KR" sz="1200" b="0" dirty="0">
                <a:latin typeface="+mn-ea"/>
              </a:rPr>
              <a:t>)</a:t>
            </a:r>
          </a:p>
          <a:p>
            <a:pPr marL="180000" lvl="1" indent="1800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0" lang="ko-KR" altLang="en-US" sz="1200" b="0" dirty="0">
                <a:latin typeface="+mn-ea"/>
              </a:rPr>
              <a:t>정책개선</a:t>
            </a:r>
            <a:r>
              <a:rPr kumimoji="0" lang="en-US" altLang="ko-KR" sz="1200" b="0" dirty="0">
                <a:latin typeface="+mn-ea"/>
              </a:rPr>
              <a:t>(policy)</a:t>
            </a:r>
          </a:p>
        </p:txBody>
      </p:sp>
    </p:spTree>
    <p:extLst>
      <p:ext uri="{BB962C8B-B14F-4D97-AF65-F5344CB8AC3E}">
        <p14:creationId xmlns:p14="http://schemas.microsoft.com/office/powerpoint/2010/main" val="104402037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C93D0E-9AE6-3969-96E1-CD85002A43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99CC0B9D-F507-B4F9-735B-E4F4E13D2EC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29904" y="1407161"/>
            <a:ext cx="5643476" cy="419702"/>
          </a:xfrm>
        </p:spPr>
        <p:txBody>
          <a:bodyPr/>
          <a:lstStyle/>
          <a:p>
            <a:r>
              <a:rPr lang="en-US" altLang="ko-KR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Ⅲ</a:t>
            </a:r>
            <a:r>
              <a:rPr lang="ko-KR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offline </a:t>
            </a:r>
            <a:r>
              <a:rPr lang="ko-KR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강화학습</a:t>
            </a:r>
            <a:endParaRPr lang="en-US" altLang="ko-KR" sz="2000" dirty="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1CD1DD2-CD92-24C7-B8D5-6B260F33207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894235" y="2132856"/>
            <a:ext cx="5479145" cy="3317983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altLang="ko-KR" sz="1800" dirty="0">
                <a:latin typeface="+mn-ea"/>
                <a:ea typeface="+mn-ea"/>
              </a:rPr>
              <a:t>offline </a:t>
            </a:r>
            <a:r>
              <a:rPr lang="ko-KR" altLang="en-US" sz="1800" dirty="0">
                <a:latin typeface="+mn-ea"/>
                <a:ea typeface="+mn-ea"/>
              </a:rPr>
              <a:t>강화학습 개요</a:t>
            </a:r>
            <a:endParaRPr lang="en-US" altLang="ko-KR" sz="1800" dirty="0">
              <a:latin typeface="+mn-ea"/>
              <a:ea typeface="+mn-ea"/>
            </a:endParaRPr>
          </a:p>
          <a:p>
            <a:pPr>
              <a:lnSpc>
                <a:spcPct val="100000"/>
              </a:lnSpc>
            </a:pPr>
            <a:r>
              <a:rPr lang="en-US" altLang="ko-KR" sz="1800" dirty="0">
                <a:latin typeface="+mn-ea"/>
                <a:ea typeface="+mn-ea"/>
              </a:rPr>
              <a:t>weighted BC</a:t>
            </a:r>
          </a:p>
          <a:p>
            <a:pPr>
              <a:lnSpc>
                <a:spcPct val="100000"/>
              </a:lnSpc>
            </a:pPr>
            <a:r>
              <a:rPr lang="en-US" altLang="ko-KR" sz="1800" dirty="0">
                <a:latin typeface="+mn-ea"/>
                <a:ea typeface="+mn-ea"/>
              </a:rPr>
              <a:t>TD3BC</a:t>
            </a:r>
          </a:p>
          <a:p>
            <a:pPr>
              <a:lnSpc>
                <a:spcPct val="100000"/>
              </a:lnSpc>
            </a:pPr>
            <a:r>
              <a:rPr lang="ko-KR" altLang="en-US" sz="1800" dirty="0">
                <a:latin typeface="+mn-ea"/>
                <a:ea typeface="+mn-ea"/>
              </a:rPr>
              <a:t>적용사례 </a:t>
            </a:r>
            <a:r>
              <a:rPr lang="en-US" altLang="ko-KR" sz="1800" dirty="0">
                <a:latin typeface="+mn-ea"/>
                <a:ea typeface="+mn-ea"/>
              </a:rPr>
              <a:t>: half-cheetah</a:t>
            </a:r>
          </a:p>
          <a:p>
            <a:pPr>
              <a:lnSpc>
                <a:spcPct val="100000"/>
              </a:lnSpc>
            </a:pPr>
            <a:r>
              <a:rPr lang="ko-KR" altLang="en-US" sz="1800" dirty="0">
                <a:latin typeface="+mn-ea"/>
                <a:ea typeface="+mn-ea"/>
              </a:rPr>
              <a:t>적용사례 </a:t>
            </a:r>
            <a:r>
              <a:rPr lang="en-US" altLang="ko-KR" sz="1800" dirty="0">
                <a:latin typeface="+mn-ea"/>
                <a:ea typeface="+mn-ea"/>
              </a:rPr>
              <a:t>:</a:t>
            </a:r>
            <a:r>
              <a:rPr lang="ko-KR" altLang="en-US" sz="1800" dirty="0">
                <a:latin typeface="+mn-ea"/>
                <a:ea typeface="+mn-ea"/>
              </a:rPr>
              <a:t> 서부발전</a:t>
            </a:r>
            <a:endParaRPr lang="en-US" altLang="ko-KR" sz="1800" dirty="0"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02295886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8F89C861-04FC-494C-6BF7-CDF8B8EC7F4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27B9A01-0D2C-6077-B6EA-ABDB0CDAF48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7349686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4D4C202D-2764-270B-2BB9-AEAAC6C6CF2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086909" y="1215854"/>
            <a:ext cx="6803594" cy="5299282"/>
          </a:xfrm>
        </p:spPr>
        <p:txBody>
          <a:bodyPr/>
          <a:lstStyle/>
          <a:p>
            <a:pPr>
              <a:lnSpc>
                <a:spcPct val="100000"/>
              </a:lnSpc>
              <a:buFont typeface="+mj-lt"/>
              <a:buAutoNum type="arabicPeriod"/>
            </a:pPr>
            <a:r>
              <a:rPr lang="ko-KR" altLang="en-US" sz="2000" dirty="0"/>
              <a:t>강화학습 기초</a:t>
            </a:r>
            <a:endParaRPr lang="en-US" altLang="ko-KR" sz="2000" dirty="0"/>
          </a:p>
          <a:p>
            <a:pPr marL="720000" lvl="1" indent="-360000">
              <a:buFont typeface="+mj-lt"/>
              <a:buAutoNum type="arabicPeriod"/>
            </a:pPr>
            <a:r>
              <a:rPr lang="ko-KR" altLang="en-US" sz="1600" dirty="0"/>
              <a:t>강화학습 개요</a:t>
            </a:r>
            <a:endParaRPr lang="en-US" altLang="ko-KR" sz="1600" dirty="0"/>
          </a:p>
          <a:p>
            <a:pPr marL="720000" lvl="1" indent="-360000">
              <a:buFont typeface="+mj-lt"/>
              <a:buAutoNum type="arabicPeriod"/>
            </a:pPr>
            <a:r>
              <a:rPr lang="en-US" altLang="ko-KR" sz="1600" dirty="0"/>
              <a:t>finite</a:t>
            </a:r>
            <a:r>
              <a:rPr lang="ko-KR" altLang="en-US" sz="1600" dirty="0"/>
              <a:t> </a:t>
            </a:r>
            <a:r>
              <a:rPr lang="en-US" altLang="ko-KR" sz="1600" dirty="0"/>
              <a:t>MDP</a:t>
            </a:r>
          </a:p>
          <a:p>
            <a:pPr marL="720000" lvl="1" indent="-360000">
              <a:buFont typeface="+mj-lt"/>
              <a:buAutoNum type="arabicPeriod"/>
            </a:pPr>
            <a:r>
              <a:rPr lang="ko-KR" altLang="en-US" sz="1600" dirty="0"/>
              <a:t>가치함수와 </a:t>
            </a:r>
            <a:r>
              <a:rPr lang="ko-KR" altLang="en-US" sz="1600" dirty="0" err="1"/>
              <a:t>벨만방정식</a:t>
            </a:r>
            <a:endParaRPr lang="en-US" altLang="ko-KR" sz="1600" dirty="0"/>
          </a:p>
          <a:p>
            <a:pPr marL="720000" lvl="1" indent="-360000">
              <a:buFont typeface="+mj-lt"/>
              <a:buAutoNum type="arabicPeriod"/>
            </a:pPr>
            <a:r>
              <a:rPr lang="ko-KR" altLang="en-US" sz="1600" dirty="0"/>
              <a:t>시간차 학습 </a:t>
            </a:r>
            <a:r>
              <a:rPr lang="en-US" altLang="ko-KR" sz="1600" dirty="0"/>
              <a:t>(time difference)</a:t>
            </a:r>
          </a:p>
          <a:p>
            <a:pPr>
              <a:lnSpc>
                <a:spcPct val="100000"/>
              </a:lnSpc>
              <a:buFont typeface="+mj-lt"/>
              <a:buAutoNum type="arabicPeriod"/>
            </a:pPr>
            <a:r>
              <a:rPr lang="ko-KR" altLang="en-US" sz="2000" dirty="0"/>
              <a:t>강화학습 알고리즘</a:t>
            </a:r>
            <a:endParaRPr lang="en-US" altLang="ko-KR" sz="2000" dirty="0"/>
          </a:p>
          <a:p>
            <a:pPr marL="720000" lvl="1" indent="-360000">
              <a:buFont typeface="+mj-lt"/>
              <a:buAutoNum type="arabicPeriod"/>
            </a:pPr>
            <a:r>
              <a:rPr lang="en-US" altLang="ko-KR" sz="1600" dirty="0"/>
              <a:t>Q-learning</a:t>
            </a:r>
          </a:p>
          <a:p>
            <a:pPr marL="720000" lvl="1" indent="-360000">
              <a:buFont typeface="+mj-lt"/>
              <a:buAutoNum type="arabicPeriod"/>
            </a:pPr>
            <a:r>
              <a:rPr lang="en-US" altLang="ko-KR" sz="1600" dirty="0"/>
              <a:t>DQN</a:t>
            </a:r>
          </a:p>
          <a:p>
            <a:pPr marL="720000" lvl="1" indent="-360000">
              <a:buFont typeface="+mj-lt"/>
              <a:buAutoNum type="arabicPeriod"/>
            </a:pPr>
            <a:r>
              <a:rPr lang="en-US" altLang="ko-KR" sz="1600" dirty="0"/>
              <a:t>DDPG</a:t>
            </a:r>
          </a:p>
          <a:p>
            <a:pPr marL="720000" lvl="1" indent="-360000">
              <a:buFont typeface="+mj-lt"/>
              <a:buAutoNum type="arabicPeriod"/>
            </a:pPr>
            <a:r>
              <a:rPr lang="en-US" altLang="ko-KR" sz="1600" dirty="0"/>
              <a:t>TD3</a:t>
            </a:r>
          </a:p>
          <a:p>
            <a:pPr marL="720000" lvl="1" indent="-360000">
              <a:buFont typeface="+mj-lt"/>
              <a:buAutoNum type="arabicPeriod"/>
            </a:pPr>
            <a:r>
              <a:rPr lang="en-US" altLang="ko-KR" sz="1600" dirty="0"/>
              <a:t>TD3BC</a:t>
            </a:r>
          </a:p>
          <a:p>
            <a:pPr>
              <a:lnSpc>
                <a:spcPct val="100000"/>
              </a:lnSpc>
              <a:buFont typeface="+mj-lt"/>
              <a:buAutoNum type="arabicPeriod"/>
            </a:pPr>
            <a:r>
              <a:rPr lang="ko-KR" altLang="en-US" sz="2000" dirty="0"/>
              <a:t>강화학습 적용 사례</a:t>
            </a:r>
            <a:endParaRPr lang="en-US" altLang="ko-KR" sz="2000" dirty="0"/>
          </a:p>
          <a:p>
            <a:pPr marL="720000" lvl="1" indent="-360000">
              <a:buFont typeface="+mj-lt"/>
              <a:buAutoNum type="arabicPeriod"/>
            </a:pPr>
            <a:r>
              <a:rPr lang="ko-KR" altLang="en-US" sz="1600" dirty="0"/>
              <a:t>서부발전 희석질소 제어 문제</a:t>
            </a:r>
            <a:endParaRPr lang="en-US" altLang="ko-KR" sz="1600" dirty="0"/>
          </a:p>
          <a:p>
            <a:pPr marL="720000" lvl="1" indent="-360000">
              <a:buFont typeface="+mj-lt"/>
              <a:buAutoNum type="arabicPeriod"/>
            </a:pPr>
            <a:r>
              <a:rPr lang="en-US" altLang="ko-KR" sz="1600" dirty="0"/>
              <a:t>half-cheetah </a:t>
            </a:r>
          </a:p>
        </p:txBody>
      </p:sp>
    </p:spTree>
    <p:extLst>
      <p:ext uri="{BB962C8B-B14F-4D97-AF65-F5344CB8AC3E}">
        <p14:creationId xmlns:p14="http://schemas.microsoft.com/office/powerpoint/2010/main" val="407399172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57D9F2-45C3-4E6A-9DCD-C1DE302C10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42665EBB-89E7-BBB6-6B98-DDC5F3CD2F7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086909" y="1215854"/>
            <a:ext cx="6803594" cy="5299282"/>
          </a:xfrm>
        </p:spPr>
        <p:txBody>
          <a:bodyPr/>
          <a:lstStyle/>
          <a:p>
            <a:pPr>
              <a:lnSpc>
                <a:spcPct val="100000"/>
              </a:lnSpc>
              <a:buFont typeface="+mj-lt"/>
              <a:buAutoNum type="arabicPeriod"/>
            </a:pPr>
            <a:r>
              <a:rPr lang="ko-KR" altLang="en-US" sz="2000" dirty="0"/>
              <a:t>강화학습 기초</a:t>
            </a:r>
            <a:endParaRPr lang="en-US" altLang="ko-KR" sz="2000" dirty="0"/>
          </a:p>
          <a:p>
            <a:pPr marL="720000" lvl="1" indent="-360000">
              <a:buFont typeface="+mj-lt"/>
              <a:buAutoNum type="arabicPeriod"/>
            </a:pPr>
            <a:r>
              <a:rPr lang="ko-KR" altLang="en-US" sz="1600" dirty="0"/>
              <a:t>강화학습 개요</a:t>
            </a:r>
            <a:endParaRPr lang="en-US" altLang="ko-KR" sz="1600" dirty="0"/>
          </a:p>
          <a:p>
            <a:pPr marL="720000" lvl="1" indent="-360000">
              <a:buFont typeface="+mj-lt"/>
              <a:buAutoNum type="arabicPeriod"/>
            </a:pPr>
            <a:r>
              <a:rPr lang="en-US" altLang="ko-KR" sz="1600" dirty="0"/>
              <a:t>finite</a:t>
            </a:r>
            <a:r>
              <a:rPr lang="ko-KR" altLang="en-US" sz="1600" dirty="0"/>
              <a:t> </a:t>
            </a:r>
            <a:r>
              <a:rPr lang="en-US" altLang="ko-KR" sz="1600" dirty="0"/>
              <a:t>MDP</a:t>
            </a:r>
          </a:p>
          <a:p>
            <a:pPr marL="720000" lvl="1" indent="-360000">
              <a:buFont typeface="+mj-lt"/>
              <a:buAutoNum type="arabicPeriod"/>
            </a:pPr>
            <a:r>
              <a:rPr lang="ko-KR" altLang="en-US" sz="1600" dirty="0"/>
              <a:t>가치함수와 </a:t>
            </a:r>
            <a:r>
              <a:rPr lang="ko-KR" altLang="en-US" sz="1600" dirty="0" err="1"/>
              <a:t>벨만방정식</a:t>
            </a:r>
            <a:endParaRPr lang="en-US" altLang="ko-KR" sz="1600" dirty="0"/>
          </a:p>
          <a:p>
            <a:pPr marL="720000" lvl="1" indent="-360000">
              <a:buFont typeface="+mj-lt"/>
              <a:buAutoNum type="arabicPeriod"/>
            </a:pPr>
            <a:r>
              <a:rPr lang="ko-KR" altLang="en-US" sz="1600" dirty="0"/>
              <a:t>시간차 학습 </a:t>
            </a:r>
            <a:r>
              <a:rPr lang="en-US" altLang="ko-KR" sz="1600" dirty="0"/>
              <a:t>(time difference)</a:t>
            </a:r>
          </a:p>
          <a:p>
            <a:pPr>
              <a:lnSpc>
                <a:spcPct val="100000"/>
              </a:lnSpc>
              <a:buFont typeface="+mj-lt"/>
              <a:buAutoNum type="arabicPeriod"/>
            </a:pPr>
            <a:r>
              <a:rPr lang="ko-KR" altLang="en-US" sz="2000" dirty="0"/>
              <a:t>강화학습 알고리즘</a:t>
            </a:r>
            <a:endParaRPr lang="en-US" altLang="ko-KR" sz="2000" dirty="0"/>
          </a:p>
          <a:p>
            <a:pPr marL="720000" lvl="1" indent="-360000">
              <a:buFont typeface="+mj-lt"/>
              <a:buAutoNum type="arabicPeriod"/>
            </a:pPr>
            <a:r>
              <a:rPr lang="en-US" altLang="ko-KR" sz="1600" dirty="0"/>
              <a:t>Q-learning</a:t>
            </a:r>
          </a:p>
          <a:p>
            <a:pPr marL="720000" lvl="1" indent="-360000">
              <a:buFont typeface="+mj-lt"/>
              <a:buAutoNum type="arabicPeriod"/>
            </a:pPr>
            <a:r>
              <a:rPr lang="en-US" altLang="ko-KR" sz="1600" dirty="0"/>
              <a:t>DQN</a:t>
            </a:r>
          </a:p>
          <a:p>
            <a:pPr marL="720000" lvl="1" indent="-360000">
              <a:buFont typeface="+mj-lt"/>
              <a:buAutoNum type="arabicPeriod"/>
            </a:pPr>
            <a:r>
              <a:rPr lang="en-US" altLang="ko-KR" sz="1600" dirty="0"/>
              <a:t>DDPG</a:t>
            </a:r>
          </a:p>
          <a:p>
            <a:pPr marL="720000" lvl="1" indent="-360000">
              <a:buFont typeface="+mj-lt"/>
              <a:buAutoNum type="arabicPeriod"/>
            </a:pPr>
            <a:r>
              <a:rPr lang="en-US" altLang="ko-KR" sz="1600" dirty="0"/>
              <a:t>TD3</a:t>
            </a:r>
          </a:p>
          <a:p>
            <a:pPr marL="720000" lvl="1" indent="-360000">
              <a:buFont typeface="+mj-lt"/>
              <a:buAutoNum type="arabicPeriod"/>
            </a:pPr>
            <a:r>
              <a:rPr lang="en-US" altLang="ko-KR" sz="1600" dirty="0"/>
              <a:t>TD3BC</a:t>
            </a:r>
          </a:p>
          <a:p>
            <a:pPr>
              <a:lnSpc>
                <a:spcPct val="100000"/>
              </a:lnSpc>
              <a:buFont typeface="+mj-lt"/>
              <a:buAutoNum type="arabicPeriod"/>
            </a:pPr>
            <a:r>
              <a:rPr lang="ko-KR" altLang="en-US" sz="2000" dirty="0"/>
              <a:t>강화학습 적용 사례</a:t>
            </a:r>
            <a:endParaRPr lang="en-US" altLang="ko-KR" sz="2000" dirty="0"/>
          </a:p>
          <a:p>
            <a:pPr marL="720000" lvl="1" indent="-360000">
              <a:buFont typeface="+mj-lt"/>
              <a:buAutoNum type="arabicPeriod"/>
            </a:pPr>
            <a:r>
              <a:rPr lang="ko-KR" altLang="en-US" sz="1600" dirty="0"/>
              <a:t>서부발전 희석질소 제어 문제</a:t>
            </a:r>
            <a:endParaRPr lang="en-US" altLang="ko-KR" sz="1600" dirty="0"/>
          </a:p>
          <a:p>
            <a:pPr marL="720000" lvl="1" indent="-360000">
              <a:buFont typeface="+mj-lt"/>
              <a:buAutoNum type="arabicPeriod"/>
            </a:pPr>
            <a:r>
              <a:rPr lang="en-US" altLang="ko-KR" sz="1600" dirty="0"/>
              <a:t>half-cheetah </a:t>
            </a:r>
          </a:p>
        </p:txBody>
      </p:sp>
    </p:spTree>
    <p:extLst>
      <p:ext uri="{BB962C8B-B14F-4D97-AF65-F5344CB8AC3E}">
        <p14:creationId xmlns:p14="http://schemas.microsoft.com/office/powerpoint/2010/main" val="126125956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55842A-1982-9B79-4C4B-4674FF1423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2389355"/>
      </p:ext>
    </p:extLst>
  </p:cSld>
  <p:clrMapOvr>
    <a:masterClrMapping/>
  </p:clrMapOvr>
</p:sld>
</file>

<file path=ppt/theme/theme1.xml><?xml version="1.0" encoding="utf-8"?>
<a:theme xmlns:a="http://schemas.openxmlformats.org/drawingml/2006/main" name="1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rgbClr val="1AA0CA"/>
        </a:solidFill>
        <a:ln>
          <a:noFill/>
        </a:ln>
        <a:effectLst/>
      </a:spPr>
      <a:bodyPr rtlCol="0" anchor="ctr"/>
      <a:lstStyle>
        <a:defPPr algn="ctr" defTabSz="911896">
          <a:defRPr dirty="0">
            <a:solidFill>
              <a:prstClr val="white"/>
            </a:solidFill>
            <a:latin typeface="맑은 고딕" panose="020B0503020000020004" pitchFamily="50" charset="-127"/>
            <a:ea typeface="맑은 고딕" panose="020B0503020000020004" pitchFamily="50" charset="-127"/>
          </a:defRPr>
        </a:defPPr>
      </a:lstStyle>
      <a:style>
        <a:lnRef idx="2">
          <a:schemeClr val="accent2">
            <a:shade val="50000"/>
          </a:schemeClr>
        </a:lnRef>
        <a:fillRef idx="1">
          <a:schemeClr val="accent2"/>
        </a:fillRef>
        <a:effectRef idx="0">
          <a:schemeClr val="accent2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 algn="l">
          <a:defRPr b="0" smtClean="0">
            <a:latin typeface="+mn-ea"/>
            <a:ea typeface="+mn-ea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제조분야 사업 실적_수정안</Template>
  <TotalTime>105657</TotalTime>
  <Words>5922</Words>
  <Application>Microsoft Office PowerPoint</Application>
  <PresentationFormat>A4 용지(210x297mm)</PresentationFormat>
  <Paragraphs>828</Paragraphs>
  <Slides>25</Slides>
  <Notes>18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25</vt:i4>
      </vt:variant>
    </vt:vector>
  </HeadingPairs>
  <TitlesOfParts>
    <vt:vector size="32" baseType="lpstr">
      <vt:lpstr>굴림</vt:lpstr>
      <vt:lpstr>맑은 고딕</vt:lpstr>
      <vt:lpstr>Arial</vt:lpstr>
      <vt:lpstr>Cambria Math</vt:lpstr>
      <vt:lpstr>Times New Roman</vt:lpstr>
      <vt:lpstr>Wingdings</vt:lpstr>
      <vt:lpstr>1_디자인 사용자 지정</vt:lpstr>
      <vt:lpstr>PowerPoint 프레젠테이션</vt:lpstr>
      <vt:lpstr>PowerPoint 프레젠테이션</vt:lpstr>
      <vt:lpstr>PowerPoint 프레젠테이션</vt:lpstr>
      <vt:lpstr>Ⅰ-1. 강화학습 개요</vt:lpstr>
      <vt:lpstr>Ⅰ-1. 강화학습 개요 (2/3)</vt:lpstr>
      <vt:lpstr>Ⅰ-1. 강화학습 개요 (3/3)</vt:lpstr>
      <vt:lpstr>Ⅰ-2. Markov Decision Process (1/5)</vt:lpstr>
      <vt:lpstr>Ⅰ-2. Markov Decision Process (2/5)</vt:lpstr>
      <vt:lpstr>Ⅰ-2. Markov Decision Process (3/5)</vt:lpstr>
      <vt:lpstr>Ⅰ-2. Markov Decision Process (4/5)</vt:lpstr>
      <vt:lpstr>Ⅰ-2. Markov Decision Process (5/5)</vt:lpstr>
      <vt:lpstr>Ⅰ-3. 가치함수와 벨만방정식 (1/2)</vt:lpstr>
      <vt:lpstr>Ⅰ-3. 가치함수와 벨만방정식 (1/2)</vt:lpstr>
      <vt:lpstr>Ⅰ-3. 가치함수와 벨만방정식 (1/2)</vt:lpstr>
      <vt:lpstr>Ⅰ-3. 가치함수와 벨만방정식 (2/2)</vt:lpstr>
      <vt:lpstr>PowerPoint 프레젠테이션</vt:lpstr>
      <vt:lpstr>Ⅱ-1. 동적계획법 (1/4)</vt:lpstr>
      <vt:lpstr>Ⅱ-1. 동적계획법 (2/4)</vt:lpstr>
      <vt:lpstr>Ⅱ-1. 동적계획법 (3/4)</vt:lpstr>
      <vt:lpstr>Ⅱ-1. 동적계획법 (3/4)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ECMIner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0</dc:title>
  <dc:creator>ECMiner</dc:creator>
  <cp:lastModifiedBy>ECM</cp:lastModifiedBy>
  <cp:revision>7910</cp:revision>
  <cp:lastPrinted>2025-07-14T07:44:34Z</cp:lastPrinted>
  <dcterms:created xsi:type="dcterms:W3CDTF">2011-12-28T05:39:44Z</dcterms:created>
  <dcterms:modified xsi:type="dcterms:W3CDTF">2025-11-02T14:05:36Z</dcterms:modified>
</cp:coreProperties>
</file>