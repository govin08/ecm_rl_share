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33"/>
  </p:notesMasterIdLst>
  <p:handoutMasterIdLst>
    <p:handoutMasterId r:id="rId34"/>
  </p:handoutMasterIdLst>
  <p:sldIdLst>
    <p:sldId id="5704" r:id="rId2"/>
    <p:sldId id="9021" r:id="rId3"/>
    <p:sldId id="8936" r:id="rId4"/>
    <p:sldId id="9763" r:id="rId5"/>
    <p:sldId id="9764" r:id="rId6"/>
    <p:sldId id="9760" r:id="rId7"/>
    <p:sldId id="9762" r:id="rId8"/>
    <p:sldId id="9761" r:id="rId9"/>
    <p:sldId id="9725" r:id="rId10"/>
    <p:sldId id="9759" r:id="rId11"/>
    <p:sldId id="9758" r:id="rId12"/>
    <p:sldId id="9639" r:id="rId13"/>
    <p:sldId id="9727" r:id="rId14"/>
    <p:sldId id="9754" r:id="rId15"/>
    <p:sldId id="9740" r:id="rId16"/>
    <p:sldId id="9738" r:id="rId17"/>
    <p:sldId id="9745" r:id="rId18"/>
    <p:sldId id="9744" r:id="rId19"/>
    <p:sldId id="9741" r:id="rId20"/>
    <p:sldId id="9742" r:id="rId21"/>
    <p:sldId id="9743" r:id="rId22"/>
    <p:sldId id="9753" r:id="rId23"/>
    <p:sldId id="9755" r:id="rId24"/>
    <p:sldId id="9728" r:id="rId25"/>
    <p:sldId id="9731" r:id="rId26"/>
    <p:sldId id="9757" r:id="rId27"/>
    <p:sldId id="9756" r:id="rId28"/>
    <p:sldId id="9735" r:id="rId29"/>
    <p:sldId id="9736" r:id="rId30"/>
    <p:sldId id="9750" r:id="rId31"/>
    <p:sldId id="8796" r:id="rId32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2B775552-7DB0-4D4F-B871-D6FF3BB1E486}">
          <p14:sldIdLst>
            <p14:sldId id="5704"/>
          </p14:sldIdLst>
        </p14:section>
        <p14:section name="목차" id="{5E49B5C1-BFC6-4572-A539-731E4DEE6BFE}">
          <p14:sldIdLst>
            <p14:sldId id="9021"/>
          </p14:sldIdLst>
        </p14:section>
        <p14:section name="Ⅰ 강화학습 기초" id="{74337E82-EC53-47AA-AD9E-D01E03BC8C2B}">
          <p14:sldIdLst>
            <p14:sldId id="8936"/>
            <p14:sldId id="9763"/>
            <p14:sldId id="9764"/>
          </p14:sldIdLst>
        </p14:section>
        <p14:section name="Ⅱ 강화학습 알고리즘" id="{DAB419D3-0E42-42D9-B46C-1C3467039D6F}">
          <p14:sldIdLst>
            <p14:sldId id="9760"/>
            <p14:sldId id="9762"/>
            <p14:sldId id="9761"/>
            <p14:sldId id="9725"/>
            <p14:sldId id="9759"/>
            <p14:sldId id="9758"/>
            <p14:sldId id="9639"/>
            <p14:sldId id="9727"/>
            <p14:sldId id="9754"/>
            <p14:sldId id="9740"/>
            <p14:sldId id="9738"/>
            <p14:sldId id="9745"/>
            <p14:sldId id="9744"/>
            <p14:sldId id="9741"/>
            <p14:sldId id="9742"/>
            <p14:sldId id="9743"/>
            <p14:sldId id="9753"/>
            <p14:sldId id="9755"/>
            <p14:sldId id="9728"/>
            <p14:sldId id="9731"/>
            <p14:sldId id="9757"/>
            <p14:sldId id="9756"/>
            <p14:sldId id="9735"/>
            <p14:sldId id="9736"/>
            <p14:sldId id="9750"/>
            <p14:sldId id="879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B8B"/>
    <a:srgbClr val="CECECE"/>
    <a:srgbClr val="2F2F2F"/>
    <a:srgbClr val="F38F15"/>
    <a:srgbClr val="0000FF"/>
    <a:srgbClr val="3072C2"/>
    <a:srgbClr val="FFFFCC"/>
    <a:srgbClr val="31859C"/>
    <a:srgbClr val="325F96"/>
    <a:srgbClr val="EE5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242" autoAdjust="0"/>
  </p:normalViewPr>
  <p:slideViewPr>
    <p:cSldViewPr snapToGrid="0" snapToObjects="1" showGuides="1">
      <p:cViewPr varScale="1">
        <p:scale>
          <a:sx n="82" d="100"/>
          <a:sy n="82" d="100"/>
        </p:scale>
        <p:origin x="1195" y="72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53156" y="9428717"/>
            <a:ext cx="2942905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700" tIns="45347" rIns="90700" bIns="45347" anchor="b"/>
          <a:lstStyle/>
          <a:p>
            <a:pPr algn="r" defTabSz="905785"/>
            <a:fld id="{3C817677-1D2D-4299-AF74-336E1045B5D4}" type="slidenum"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defTabSz="905785"/>
              <a:t>1</a:t>
            </a:fld>
            <a:endParaRPr lang="en-US" altLang="ko-KR" sz="11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0725" y="746125"/>
            <a:ext cx="5370513" cy="3717925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74" y="4713569"/>
            <a:ext cx="5433929" cy="4466988"/>
          </a:xfrm>
          <a:noFill/>
          <a:ln/>
        </p:spPr>
        <p:txBody>
          <a:bodyPr lIns="90700" tIns="45347" rIns="90700" bIns="45347"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8043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959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909D-5DA0-027C-5ECA-ABC67D31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FC4ED8-2073-9865-2208-1E4A6CDF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42AE8-8569-DA07-9035-54C68E17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52D55-69B8-7771-E657-731B899ED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7481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sz="1200" b="0" kern="1200" dirty="0"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311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4156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/>
              <a:t>I. 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9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2" r:id="rId6"/>
    <p:sldLayoutId id="2147483813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0951" y="1740473"/>
            <a:ext cx="9207078" cy="1216815"/>
          </a:xfrm>
        </p:spPr>
        <p:txBody>
          <a:bodyPr/>
          <a:lstStyle/>
          <a:p>
            <a:r>
              <a:rPr lang="ko-KR" altLang="en-US" dirty="0"/>
              <a:t>강화학습 세미나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43" y="4509119"/>
            <a:ext cx="3019307" cy="970278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 </a:t>
            </a:r>
            <a:r>
              <a:rPr lang="en-US" altLang="ko-KR" dirty="0"/>
              <a:t>28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"/>
          <p:cNvSpPr txBox="1">
            <a:spLocks/>
          </p:cNvSpPr>
          <p:nvPr/>
        </p:nvSpPr>
        <p:spPr>
          <a:xfrm>
            <a:off x="498029" y="248846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컴돋움" pitchFamily="18" charset="2"/>
              </a:rPr>
              <a:t>CONTENTS</a:t>
            </a:r>
            <a:endParaRPr lang="ko-KR" altLang="en-US" sz="2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한컴돋움" pitchFamily="18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70356-5398-4117-BE9B-872AFE7AE7C3}"/>
              </a:ext>
            </a:extLst>
          </p:cNvPr>
          <p:cNvSpPr/>
          <p:nvPr/>
        </p:nvSpPr>
        <p:spPr>
          <a:xfrm>
            <a:off x="3209061" y="2079688"/>
            <a:ext cx="3275256" cy="1990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기초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알고리즘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212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A6F44-18B5-18ED-5E11-8D8722A703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Ⅰ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기초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16EF7B-61A7-BDC4-6C6B-FF09DB80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상태와 행동</a:t>
            </a:r>
            <a:r>
              <a:rPr lang="en-US" altLang="ko-KR" sz="1800" dirty="0">
                <a:latin typeface="+mn-ea"/>
                <a:ea typeface="+mn-ea"/>
              </a:rPr>
              <a:t>, </a:t>
            </a:r>
            <a:r>
              <a:rPr lang="ko-KR" altLang="en-US" sz="1800" dirty="0">
                <a:latin typeface="+mn-ea"/>
                <a:ea typeface="+mn-ea"/>
              </a:rPr>
              <a:t>보상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finite MDP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가치함수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Bellman </a:t>
            </a:r>
            <a:r>
              <a:rPr lang="ko-KR" altLang="en-US" sz="1800" dirty="0">
                <a:latin typeface="+mn-ea"/>
                <a:ea typeface="+mn-ea"/>
              </a:rPr>
              <a:t>방정식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Bellman </a:t>
            </a:r>
            <a:r>
              <a:rPr lang="ko-KR" altLang="en-US" sz="1800" dirty="0">
                <a:latin typeface="+mn-ea"/>
                <a:ea typeface="+mn-ea"/>
              </a:rPr>
              <a:t>최적 방정식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76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9A728B-8B7E-BC56-BEEA-62D0648828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세가지 갈래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7713223B-3339-22A3-F1FD-D00130AC55D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24630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지도학습 </a:t>
                </a:r>
                <a:r>
                  <a:rPr lang="en-US" altLang="ko-KR" dirty="0"/>
                  <a:t>(supervised learning)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이 포함된 데이터셋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 1≤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사용하여 예측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분류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비지도학습 </a:t>
                </a:r>
                <a:r>
                  <a:rPr lang="en-US" altLang="ko-KR" dirty="0">
                    <a:latin typeface="+mn-ea"/>
                  </a:rPr>
                  <a:t>(unsupervised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라벨이 포함되지 않은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1≤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 사용하여 데이터 구조 파악 </a:t>
                </a:r>
                <a:r>
                  <a:rPr lang="en-US" altLang="ko-KR" sz="1400" dirty="0">
                    <a:latin typeface="+mn-ea"/>
                  </a:rPr>
                  <a:t>(PCA, clustering </a:t>
                </a:r>
                <a:r>
                  <a:rPr lang="ko-KR" altLang="en-US" sz="1400" dirty="0">
                    <a:latin typeface="+mn-ea"/>
                  </a:rPr>
                  <a:t>등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 </a:t>
                </a:r>
                <a:r>
                  <a:rPr lang="en-US" altLang="ko-KR" dirty="0">
                    <a:latin typeface="+mn-ea"/>
                  </a:rPr>
                  <a:t>(reinforcement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시행착오를 통해 보상을 최대화하는 최적의 행동을 학습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en-US" altLang="ko-KR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endParaRPr lang="ko-KR" altLang="en-US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7713223B-3339-22A3-F1FD-D00130AC5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24630"/>
              </a:xfrm>
              <a:blipFill>
                <a:blip r:embed="rId2"/>
                <a:stretch>
                  <a:fillRect l="-263" t="-1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D5AFC7F7-C10A-455B-07E0-58F8B4E78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B2A779-6CD2-020A-97A5-7527A648D5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DAF9FD-7C8B-5A65-DF1F-E869DF9E2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401" y="2626256"/>
            <a:ext cx="4625695" cy="373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1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38B6-A585-1D57-34D6-1E47C844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F47AB-A764-AECC-FE82-9C49A385F8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세가지 갈래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3173512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지도학습 </a:t>
                </a:r>
                <a:r>
                  <a:rPr lang="en-US" altLang="ko-KR" dirty="0"/>
                  <a:t>(supervised learning)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이 포함된 데이터셋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 1≤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사용하여 예측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분류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비지도학습 </a:t>
                </a:r>
                <a:r>
                  <a:rPr lang="en-US" altLang="ko-KR" dirty="0">
                    <a:latin typeface="+mn-ea"/>
                  </a:rPr>
                  <a:t>(unsupervised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라벨이 포함되지 않은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1≤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 사용하여 데이터 구조 파악 </a:t>
                </a:r>
                <a:r>
                  <a:rPr lang="en-US" altLang="ko-KR" sz="1400" dirty="0">
                    <a:latin typeface="+mn-ea"/>
                  </a:rPr>
                  <a:t>(PCA, clustering </a:t>
                </a:r>
                <a:r>
                  <a:rPr lang="ko-KR" altLang="en-US" sz="1400" dirty="0">
                    <a:latin typeface="+mn-ea"/>
                  </a:rPr>
                  <a:t>등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 </a:t>
                </a:r>
                <a:r>
                  <a:rPr lang="en-US" altLang="ko-KR" dirty="0">
                    <a:latin typeface="+mn-ea"/>
                  </a:rPr>
                  <a:t>(reinforcement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데이터셋 없이 환경과 상호작용하며 보상을 최대화하는 최적의 행동을 학습</a:t>
                </a:r>
                <a:endParaRPr lang="en-US" altLang="ko-KR" sz="1400" dirty="0">
                  <a:latin typeface="+mn-ea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에이전트는 각 상태</a:t>
                </a:r>
                <a:r>
                  <a:rPr lang="en-US" altLang="ko-KR" sz="1400" dirty="0">
                    <a:latin typeface="+mn-ea"/>
                  </a:rPr>
                  <a:t>(state)</a:t>
                </a:r>
                <a:r>
                  <a:rPr lang="ko-KR" altLang="en-US" sz="1400" dirty="0">
                    <a:latin typeface="+mn-ea"/>
                  </a:rPr>
                  <a:t>마다 행동</a:t>
                </a:r>
                <a:r>
                  <a:rPr lang="en-US" altLang="ko-KR" sz="1400" dirty="0">
                    <a:latin typeface="+mn-ea"/>
                  </a:rPr>
                  <a:t>(action)</a:t>
                </a:r>
                <a:r>
                  <a:rPr lang="ko-KR" altLang="en-US" sz="1400" dirty="0">
                    <a:latin typeface="+mn-ea"/>
                  </a:rPr>
                  <a:t>을 선택하고 그때마다 보상</a:t>
                </a:r>
                <a:r>
                  <a:rPr lang="en-US" altLang="ko-KR" sz="1400" dirty="0">
                    <a:latin typeface="+mn-ea"/>
                  </a:rPr>
                  <a:t>(reward)</a:t>
                </a:r>
                <a:r>
                  <a:rPr lang="ko-KR" altLang="en-US" sz="1400" dirty="0">
                    <a:latin typeface="+mn-ea"/>
                  </a:rPr>
                  <a:t>을 얻음</a:t>
                </a:r>
                <a:endParaRPr lang="en-US" altLang="ko-KR" sz="1400" dirty="0">
                  <a:latin typeface="+mn-ea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보상의 합</a:t>
                </a:r>
                <a:r>
                  <a:rPr lang="en-US" altLang="ko-KR" sz="1400" dirty="0">
                    <a:latin typeface="+mn-ea"/>
                  </a:rPr>
                  <a:t>(return)</a:t>
                </a:r>
                <a:r>
                  <a:rPr lang="ko-KR" altLang="en-US" sz="1400" dirty="0">
                    <a:latin typeface="+mn-ea"/>
                  </a:rPr>
                  <a:t>을 최대화하는 정책</a:t>
                </a:r>
                <a:r>
                  <a:rPr lang="en-US" altLang="ko-KR" sz="1400" dirty="0">
                    <a:latin typeface="+mn-ea"/>
                  </a:rPr>
                  <a:t>(policy)</a:t>
                </a:r>
                <a:r>
                  <a:rPr lang="ko-KR" altLang="en-US" sz="1400" dirty="0">
                    <a:latin typeface="+mn-ea"/>
                  </a:rPr>
                  <a:t>을 학습</a:t>
                </a:r>
                <a:endParaRPr lang="en-US" altLang="ko-KR" sz="14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3173512"/>
              </a:xfrm>
              <a:blipFill>
                <a:blip r:embed="rId2"/>
                <a:stretch>
                  <a:fillRect l="-263" t="-5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F6AC97F9-D139-557B-21F4-A5FC832B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B3E2BB4-D9C6-0459-2E26-4428AD4AE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102B02-B6AC-7183-1B4E-8689EF96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93" y="3290548"/>
            <a:ext cx="3807341" cy="30760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A3CA3C4-9889-1842-4E84-F7E3DB73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470" y="3916090"/>
            <a:ext cx="4584974" cy="164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0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5365-C184-AFCE-2600-6B0D7B9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753AF4-85ED-B71F-C79D-E9812AF4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알고리즘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30211-7DDA-F99E-C57E-EB4454D062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Dynamic Programming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GPI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Monte Carlo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TD(0)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Q-learning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DQN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continuous action </a:t>
            </a:r>
            <a:r>
              <a:rPr lang="ko-KR" altLang="en-US" sz="1800" dirty="0">
                <a:latin typeface="+mn-ea"/>
                <a:ea typeface="+mn-ea"/>
              </a:rPr>
              <a:t>문제 </a:t>
            </a:r>
            <a:r>
              <a:rPr lang="en-US" altLang="ko-KR" sz="1800" dirty="0">
                <a:latin typeface="+mn-ea"/>
                <a:ea typeface="+mn-ea"/>
              </a:rPr>
              <a:t>: REINFORCE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DDPG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</a:t>
            </a:r>
          </a:p>
        </p:txBody>
      </p:sp>
    </p:spTree>
    <p:extLst>
      <p:ext uri="{BB962C8B-B14F-4D97-AF65-F5344CB8AC3E}">
        <p14:creationId xmlns:p14="http://schemas.microsoft.com/office/powerpoint/2010/main" val="47074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3D0E-9AE6-3969-96E1-CD85002A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CC0B9D-F507-B4F9-735B-E4F4E13D2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D1DD2-CD92-24C7-B8D5-6B260F3320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offline </a:t>
            </a: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weighted BC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TD3BC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 half-cheetah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</a:t>
            </a:r>
            <a:r>
              <a:rPr lang="ko-KR" altLang="en-US" sz="1800" dirty="0">
                <a:latin typeface="+mn-ea"/>
                <a:ea typeface="+mn-ea"/>
              </a:rPr>
              <a:t> 서부발전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295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89C861-04FC-494C-6BF7-CDF8B8EC7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B9A01-0D2C-6077-B6EA-ABDB0CDA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9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4C202D-2764-270B-2BB9-AEAAC6C6C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407399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D9F2-45C3-4E6A-9DCD-C1DE302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65EBB-89E7-BBB6-6B98-DDC5F3CD2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126125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0D09A6-1FB3-E535-4C15-1943E6F471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275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AC7E-8824-54AE-EA04-13B7FB04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6D7C7B0-2866-FD47-371A-F3D87471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1.1 </a:t>
            </a:r>
            <a:r>
              <a:rPr lang="ko-KR" altLang="en-US" dirty="0">
                <a:latin typeface="+mn-ea"/>
              </a:rPr>
              <a:t>공정 소개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E8F0F4-B986-85E6-F3AC-FF47188895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3ADE295-BEDC-BD3C-C758-27B37F0F7BAF}"/>
              </a:ext>
            </a:extLst>
          </p:cNvPr>
          <p:cNvGrpSpPr/>
          <p:nvPr/>
        </p:nvGrpSpPr>
        <p:grpSpPr>
          <a:xfrm>
            <a:off x="952770" y="2269462"/>
            <a:ext cx="8000460" cy="3903424"/>
            <a:chOff x="0" y="432012"/>
            <a:chExt cx="12192000" cy="599397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8DCC9EA-4FB2-ABCF-0317-86EECA62B69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2012"/>
              <a:ext cx="12192000" cy="5993975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07D45028-C683-B314-6502-19117F9F4C6D}"/>
                </a:ext>
              </a:extLst>
            </p:cNvPr>
            <p:cNvSpPr/>
            <p:nvPr/>
          </p:nvSpPr>
          <p:spPr>
            <a:xfrm>
              <a:off x="1455420" y="701040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1</a:t>
              </a:r>
              <a:endParaRPr lang="ko-KR" altLang="en-US" sz="900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9837D84-80B1-E1F6-0FED-450B6CC20821}"/>
                </a:ext>
              </a:extLst>
            </p:cNvPr>
            <p:cNvSpPr/>
            <p:nvPr/>
          </p:nvSpPr>
          <p:spPr>
            <a:xfrm>
              <a:off x="1455420" y="882015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2</a:t>
              </a:r>
              <a:endParaRPr lang="ko-KR" altLang="en-US" sz="900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2580BD9-98F2-2149-7128-AC1BD6ED8AB8}"/>
                </a:ext>
              </a:extLst>
            </p:cNvPr>
            <p:cNvSpPr/>
            <p:nvPr/>
          </p:nvSpPr>
          <p:spPr>
            <a:xfrm>
              <a:off x="1455420" y="1032695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3</a:t>
              </a:r>
              <a:endParaRPr lang="ko-KR" altLang="en-US" sz="900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2A35491-8786-9EE8-4309-B6BD98EDFAF6}"/>
                </a:ext>
              </a:extLst>
            </p:cNvPr>
            <p:cNvSpPr/>
            <p:nvPr/>
          </p:nvSpPr>
          <p:spPr>
            <a:xfrm>
              <a:off x="1455420" y="1189751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4</a:t>
              </a:r>
              <a:endParaRPr lang="ko-KR" altLang="en-US" sz="900" dirty="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AB31EAE-35E9-1ECD-6AB1-DB0D1EF862EC}"/>
                </a:ext>
              </a:extLst>
            </p:cNvPr>
            <p:cNvSpPr/>
            <p:nvPr/>
          </p:nvSpPr>
          <p:spPr>
            <a:xfrm>
              <a:off x="3238977" y="1227296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5</a:t>
              </a:r>
              <a:endParaRPr lang="ko-KR" altLang="en-US" sz="900" dirty="0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A4E44AA-C548-C75A-AA9D-E98C3470B007}"/>
                </a:ext>
              </a:extLst>
            </p:cNvPr>
            <p:cNvSpPr/>
            <p:nvPr/>
          </p:nvSpPr>
          <p:spPr>
            <a:xfrm>
              <a:off x="4334352" y="846296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6</a:t>
              </a:r>
              <a:endParaRPr lang="ko-KR" altLang="en-US" sz="900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8385D29-50F3-72D5-DB28-2E75C6144382}"/>
                </a:ext>
              </a:extLst>
            </p:cNvPr>
            <p:cNvSpPr/>
            <p:nvPr/>
          </p:nvSpPr>
          <p:spPr>
            <a:xfrm>
              <a:off x="5613083" y="1379696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7</a:t>
              </a:r>
              <a:endParaRPr lang="ko-KR" altLang="en-US" sz="9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8AC5530-A252-F264-5169-0B1D1DC5A7AD}"/>
                </a:ext>
              </a:extLst>
            </p:cNvPr>
            <p:cNvSpPr/>
            <p:nvPr/>
          </p:nvSpPr>
          <p:spPr>
            <a:xfrm>
              <a:off x="6551295" y="1007269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8</a:t>
              </a:r>
              <a:endParaRPr lang="ko-KR" altLang="en-US" sz="90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A6E590-2E0D-DC22-3EF1-214DF42D1941}"/>
                </a:ext>
              </a:extLst>
            </p:cNvPr>
            <p:cNvSpPr/>
            <p:nvPr/>
          </p:nvSpPr>
          <p:spPr>
            <a:xfrm>
              <a:off x="7575233" y="1550194"/>
              <a:ext cx="120968" cy="12525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9</a:t>
              </a:r>
              <a:endParaRPr lang="ko-KR" altLang="en-US" sz="9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D71C83-E61F-AB1D-9D13-55B2E56E4F56}"/>
                </a:ext>
              </a:extLst>
            </p:cNvPr>
            <p:cNvSpPr txBox="1"/>
            <p:nvPr/>
          </p:nvSpPr>
          <p:spPr>
            <a:xfrm>
              <a:off x="8372475" y="1719264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10</a:t>
              </a:r>
              <a:endParaRPr lang="ko-KR" altLang="en-US" sz="11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E1CE5E-D424-0B2F-E768-C491BB5008E9}"/>
                </a:ext>
              </a:extLst>
            </p:cNvPr>
            <p:cNvSpPr txBox="1"/>
            <p:nvPr/>
          </p:nvSpPr>
          <p:spPr>
            <a:xfrm>
              <a:off x="4689474" y="2417763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11</a:t>
              </a:r>
              <a:endParaRPr lang="ko-KR" altLang="en-US" sz="11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80D7A9-610D-0FF2-FEFA-35BFE1A16FED}"/>
                </a:ext>
              </a:extLst>
            </p:cNvPr>
            <p:cNvSpPr txBox="1"/>
            <p:nvPr/>
          </p:nvSpPr>
          <p:spPr>
            <a:xfrm>
              <a:off x="5580410" y="1835925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12</a:t>
              </a:r>
              <a:endParaRPr lang="ko-KR" altLang="en-US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749F92-D08A-91C3-C5B8-6C2404CB0C3F}"/>
                </a:ext>
              </a:extLst>
            </p:cNvPr>
            <p:cNvSpPr txBox="1"/>
            <p:nvPr/>
          </p:nvSpPr>
          <p:spPr>
            <a:xfrm>
              <a:off x="5580410" y="1996262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13</a:t>
              </a:r>
              <a:endParaRPr lang="ko-KR" altLang="en-US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73D01B-EB79-705E-A7DB-4B3B1E032A4C}"/>
                </a:ext>
              </a:extLst>
            </p:cNvPr>
            <p:cNvSpPr txBox="1"/>
            <p:nvPr/>
          </p:nvSpPr>
          <p:spPr>
            <a:xfrm>
              <a:off x="5580410" y="2156600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14</a:t>
              </a:r>
              <a:endParaRPr lang="ko-KR" altLang="en-US" sz="11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065718-9B88-C313-9956-53C2269DE302}"/>
                </a:ext>
              </a:extLst>
            </p:cNvPr>
            <p:cNvSpPr txBox="1"/>
            <p:nvPr/>
          </p:nvSpPr>
          <p:spPr>
            <a:xfrm>
              <a:off x="5815360" y="2944000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15</a:t>
              </a:r>
              <a:endParaRPr lang="ko-KR" altLang="en-US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2318253-7565-954F-1371-81A12BCC3370}"/>
                </a:ext>
              </a:extLst>
            </p:cNvPr>
            <p:cNvSpPr txBox="1"/>
            <p:nvPr/>
          </p:nvSpPr>
          <p:spPr>
            <a:xfrm>
              <a:off x="7331999" y="2256960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16</a:t>
              </a:r>
              <a:endParaRPr lang="ko-KR" altLang="en-US" sz="11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19FB2F-A336-AAA6-6591-B0FB04500603}"/>
                </a:ext>
              </a:extLst>
            </p:cNvPr>
            <p:cNvSpPr txBox="1"/>
            <p:nvPr/>
          </p:nvSpPr>
          <p:spPr>
            <a:xfrm>
              <a:off x="7331999" y="2655129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17</a:t>
              </a:r>
              <a:endParaRPr lang="ko-KR" altLang="en-US" sz="11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D9396C-CD5A-634B-AE57-DEC4592D8DCE}"/>
                </a:ext>
              </a:extLst>
            </p:cNvPr>
            <p:cNvSpPr txBox="1"/>
            <p:nvPr/>
          </p:nvSpPr>
          <p:spPr>
            <a:xfrm>
              <a:off x="7308649" y="3787372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18</a:t>
              </a:r>
              <a:endParaRPr lang="ko-KR" altLang="en-US" sz="11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072044-2752-FC67-26B7-B092AE617A1C}"/>
                </a:ext>
              </a:extLst>
            </p:cNvPr>
            <p:cNvSpPr txBox="1"/>
            <p:nvPr/>
          </p:nvSpPr>
          <p:spPr>
            <a:xfrm>
              <a:off x="10515399" y="2193522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19</a:t>
              </a:r>
              <a:endParaRPr lang="ko-KR" altLang="en-US" sz="11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CDF112-3B7D-7672-A614-2C134E02D0FA}"/>
                </a:ext>
              </a:extLst>
            </p:cNvPr>
            <p:cNvSpPr txBox="1"/>
            <p:nvPr/>
          </p:nvSpPr>
          <p:spPr>
            <a:xfrm>
              <a:off x="10528098" y="2345922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20</a:t>
              </a:r>
              <a:endParaRPr lang="ko-KR" altLang="en-US" sz="11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1EB79B-7218-FC07-3099-9589971F0F16}"/>
                </a:ext>
              </a:extLst>
            </p:cNvPr>
            <p:cNvSpPr txBox="1"/>
            <p:nvPr/>
          </p:nvSpPr>
          <p:spPr>
            <a:xfrm>
              <a:off x="10528098" y="2485622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21</a:t>
              </a:r>
              <a:endParaRPr lang="ko-KR" altLang="en-US" sz="11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32A867-47D4-6FB7-710A-3A4D70F11E9A}"/>
                </a:ext>
              </a:extLst>
            </p:cNvPr>
            <p:cNvSpPr txBox="1"/>
            <p:nvPr/>
          </p:nvSpPr>
          <p:spPr>
            <a:xfrm>
              <a:off x="10515399" y="3615922"/>
              <a:ext cx="389061" cy="2841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22</a:t>
              </a:r>
              <a:endParaRPr lang="ko-KR" altLang="en-US" sz="1100" dirty="0"/>
            </a:p>
          </p:txBody>
        </p:sp>
      </p:grpSp>
      <p:sp>
        <p:nvSpPr>
          <p:cNvPr id="31" name="텍스트 개체 틀 4">
            <a:extLst>
              <a:ext uri="{FF2B5EF4-FFF2-40B4-BE49-F238E27FC236}">
                <a16:creationId xmlns:a16="http://schemas.microsoft.com/office/drawing/2014/main" id="{FE630B84-A7B7-1998-EB78-B300CCA40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708" y="572858"/>
            <a:ext cx="9423242" cy="400110"/>
          </a:xfrm>
        </p:spPr>
        <p:txBody>
          <a:bodyPr/>
          <a:lstStyle/>
          <a:p>
            <a:r>
              <a:rPr lang="ko-KR" altLang="en-US" dirty="0"/>
              <a:t>석탄가스화 복합발전 </a:t>
            </a:r>
            <a:r>
              <a:rPr lang="en-US" altLang="ko-KR" dirty="0"/>
              <a:t>(IGCC)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가스터빈</a:t>
            </a:r>
          </a:p>
        </p:txBody>
      </p:sp>
      <p:sp>
        <p:nvSpPr>
          <p:cNvPr id="32" name="텍스트 개체 틀 5">
            <a:extLst>
              <a:ext uri="{FF2B5EF4-FFF2-40B4-BE49-F238E27FC236}">
                <a16:creationId xmlns:a16="http://schemas.microsoft.com/office/drawing/2014/main" id="{D7CE43FF-D0F4-C54D-1FEB-283A0829DC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91858"/>
            <a:ext cx="9270641" cy="708950"/>
          </a:xfrm>
        </p:spPr>
        <p:txBody>
          <a:bodyPr/>
          <a:lstStyle/>
          <a:p>
            <a:r>
              <a:rPr lang="ko-KR" altLang="en-US" dirty="0"/>
              <a:t>석탄을 </a:t>
            </a:r>
            <a:r>
              <a:rPr lang="ko-KR" altLang="en-US" dirty="0" err="1"/>
              <a:t>고온에서</a:t>
            </a:r>
            <a:r>
              <a:rPr lang="ko-KR" altLang="en-US" dirty="0"/>
              <a:t> </a:t>
            </a:r>
            <a:r>
              <a:rPr lang="ko-KR" altLang="en-US" dirty="0" err="1"/>
              <a:t>가스화하여</a:t>
            </a:r>
            <a:r>
              <a:rPr lang="ko-KR" altLang="en-US" dirty="0"/>
              <a:t> 생성된 합성가스를 연료로 사용하는 가스터빈 발전 시스템</a:t>
            </a:r>
            <a:r>
              <a:rPr lang="en-US" altLang="ko-KR" dirty="0"/>
              <a:t>. </a:t>
            </a:r>
            <a:r>
              <a:rPr lang="ko-KR" altLang="en-US" dirty="0"/>
              <a:t>압축기에서 압축된 공기와 합성가스가 연소기에서 연소하여 고온</a:t>
            </a:r>
            <a:r>
              <a:rPr lang="en-US" altLang="ko-KR" dirty="0"/>
              <a:t>·</a:t>
            </a:r>
            <a:r>
              <a:rPr lang="ko-KR" altLang="en-US" dirty="0"/>
              <a:t>고압의 연소가스를 생성하며 이 연소가스가 터빈을 구동하여 전기를 생산</a:t>
            </a:r>
            <a:r>
              <a:rPr lang="en-US" altLang="ko-KR" dirty="0"/>
              <a:t>. </a:t>
            </a:r>
            <a:r>
              <a:rPr lang="ko-KR" altLang="en-US" dirty="0"/>
              <a:t>연소과정에서 </a:t>
            </a:r>
            <a:r>
              <a:rPr lang="ko-KR" altLang="en-US" b="1" dirty="0"/>
              <a:t>열적 질소산화물</a:t>
            </a:r>
            <a:r>
              <a:rPr lang="en-US" altLang="ko-KR" b="1" dirty="0"/>
              <a:t>(thermal NOx) </a:t>
            </a:r>
            <a:r>
              <a:rPr lang="ko-KR" altLang="en-US" b="1" dirty="0"/>
              <a:t>이 생성되며 이를 저감하기 위해 희석질소를 연소기에 주입함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9212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4C74-84CD-1C59-64B4-7953401DA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A8C3C77-D2B7-3832-5BDC-77664623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1.2 </a:t>
            </a:r>
            <a:r>
              <a:rPr lang="ko-KR" altLang="en-US" dirty="0">
                <a:latin typeface="+mn-ea"/>
              </a:rPr>
              <a:t>사용한 데이터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13C77B-4928-7229-D770-FEEE6C3435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074F06-78CA-9AC6-FD4A-48C7F4C678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공정 데이터 정보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5F8DC2FA-2290-2F4D-CDAD-C4C845FF6D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6"/>
            <a:ext cx="9270641" cy="924281"/>
          </a:xfrm>
        </p:spPr>
        <p:txBody>
          <a:bodyPr/>
          <a:lstStyle/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Timestep : 5</a:t>
            </a:r>
            <a:r>
              <a:rPr lang="ko-KR" altLang="en-US" dirty="0"/>
              <a:t>초</a:t>
            </a:r>
            <a:r>
              <a:rPr lang="en-US" altLang="ko-KR" dirty="0"/>
              <a:t> (</a:t>
            </a:r>
            <a:r>
              <a:rPr lang="ko-KR" altLang="en-US" dirty="0"/>
              <a:t>연료유입 → </a:t>
            </a:r>
            <a:r>
              <a:rPr lang="en-US" altLang="ko-KR" dirty="0"/>
              <a:t>NOx </a:t>
            </a:r>
            <a:r>
              <a:rPr lang="ko-KR" altLang="en-US" dirty="0"/>
              <a:t>방출 지연시간</a:t>
            </a:r>
            <a:r>
              <a:rPr lang="en-US" altLang="ko-KR" dirty="0"/>
              <a:t>)</a:t>
            </a:r>
          </a:p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State : </a:t>
            </a:r>
            <a:r>
              <a:rPr lang="ko-KR" altLang="en-US" dirty="0"/>
              <a:t>합성가스 압력</a:t>
            </a:r>
            <a:r>
              <a:rPr lang="en-US" altLang="ko-KR" dirty="0"/>
              <a:t>, </a:t>
            </a:r>
            <a:r>
              <a:rPr lang="ko-KR" altLang="en-US" dirty="0"/>
              <a:t>발전기 출력</a:t>
            </a:r>
            <a:r>
              <a:rPr lang="en-US" altLang="ko-KR" dirty="0"/>
              <a:t>, NPR 2nd manifold, </a:t>
            </a:r>
            <a:r>
              <a:rPr lang="ko-KR" altLang="en-US" dirty="0"/>
              <a:t>후단 </a:t>
            </a:r>
            <a:r>
              <a:rPr lang="en-US" altLang="ko-KR" dirty="0"/>
              <a:t>NOx</a:t>
            </a:r>
            <a:r>
              <a:rPr lang="ko-KR" altLang="en-US" dirty="0"/>
              <a:t>농도 등 </a:t>
            </a:r>
            <a:r>
              <a:rPr lang="en-US" altLang="ko-KR" dirty="0"/>
              <a:t>(11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Action : </a:t>
            </a:r>
            <a:r>
              <a:rPr lang="ko-KR" altLang="en-US" dirty="0"/>
              <a:t>희석질소 유량 </a:t>
            </a:r>
            <a:r>
              <a:rPr lang="en-US" altLang="ko-KR" dirty="0"/>
              <a:t>(1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EBD4A8-D7DB-B791-C501-FE991B0E0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42" y="3136366"/>
            <a:ext cx="8839200" cy="2060844"/>
          </a:xfrm>
          <a:prstGeom prst="rect">
            <a:avLst/>
          </a:prstGeom>
        </p:spPr>
      </p:pic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BFB62841-3952-7247-4558-2BC991E89367}"/>
              </a:ext>
            </a:extLst>
          </p:cNvPr>
          <p:cNvSpPr/>
          <p:nvPr/>
        </p:nvSpPr>
        <p:spPr>
          <a:xfrm rot="5400000">
            <a:off x="4990407" y="-106542"/>
            <a:ext cx="315920" cy="6040550"/>
          </a:xfrm>
          <a:prstGeom prst="leftBrace">
            <a:avLst>
              <a:gd name="adj1" fmla="val 686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065C1-6F50-8EA5-5FE1-12E1457E30D8}"/>
              </a:ext>
            </a:extLst>
          </p:cNvPr>
          <p:cNvSpPr txBox="1"/>
          <p:nvPr/>
        </p:nvSpPr>
        <p:spPr>
          <a:xfrm>
            <a:off x="4248877" y="2482042"/>
            <a:ext cx="1408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0" dirty="0">
                <a:latin typeface="+mn-ea"/>
                <a:ea typeface="+mn-ea"/>
              </a:rPr>
              <a:t>상태변수</a:t>
            </a:r>
            <a:r>
              <a:rPr lang="en-US" altLang="ko-KR" sz="1200" b="0" dirty="0">
                <a:latin typeface="+mn-ea"/>
                <a:ea typeface="+mn-ea"/>
              </a:rPr>
              <a:t>(state)</a:t>
            </a:r>
            <a:endParaRPr lang="ko-KR" altLang="en-US" sz="1200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E763E-E8F5-5994-93BB-498740B8EE71}"/>
              </a:ext>
            </a:extLst>
          </p:cNvPr>
          <p:cNvSpPr txBox="1"/>
          <p:nvPr/>
        </p:nvSpPr>
        <p:spPr>
          <a:xfrm>
            <a:off x="8149841" y="2503324"/>
            <a:ext cx="1408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0" dirty="0">
                <a:latin typeface="+mn-ea"/>
                <a:ea typeface="+mn-ea"/>
              </a:rPr>
              <a:t>행동변수</a:t>
            </a:r>
            <a:r>
              <a:rPr lang="en-US" altLang="ko-KR" sz="1200" b="0" dirty="0">
                <a:latin typeface="+mn-ea"/>
                <a:ea typeface="+mn-ea"/>
              </a:rPr>
              <a:t>(action)</a:t>
            </a:r>
            <a:endParaRPr lang="ko-KR" altLang="en-US" sz="1200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6572EF-1B74-0B88-57AB-A15C55367FCE}"/>
              </a:ext>
            </a:extLst>
          </p:cNvPr>
          <p:cNvSpPr txBox="1"/>
          <p:nvPr/>
        </p:nvSpPr>
        <p:spPr>
          <a:xfrm>
            <a:off x="1054304" y="2525811"/>
            <a:ext cx="7919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latin typeface="+mn-ea"/>
                <a:ea typeface="+mn-ea"/>
              </a:rPr>
              <a:t>timestep</a:t>
            </a:r>
            <a:endParaRPr lang="ko-KR" altLang="en-US" sz="1200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CE74A5-405A-AF4D-A72E-F7C4BA092C70}"/>
              </a:ext>
            </a:extLst>
          </p:cNvPr>
          <p:cNvSpPr txBox="1"/>
          <p:nvPr/>
        </p:nvSpPr>
        <p:spPr>
          <a:xfrm>
            <a:off x="7083517" y="5276254"/>
            <a:ext cx="1408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0" dirty="0">
                <a:latin typeface="+mn-ea"/>
                <a:ea typeface="+mn-ea"/>
              </a:rPr>
              <a:t>목표변수</a:t>
            </a:r>
            <a:r>
              <a:rPr lang="en-US" altLang="ko-KR" sz="1200" b="0" dirty="0">
                <a:latin typeface="+mn-ea"/>
                <a:ea typeface="+mn-ea"/>
              </a:rPr>
              <a:t>(target)</a:t>
            </a:r>
            <a:endParaRPr lang="ko-KR" altLang="en-US" sz="1200" b="0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EF847-8C0C-A2B3-FF00-51F4F1724C10}"/>
              </a:ext>
            </a:extLst>
          </p:cNvPr>
          <p:cNvSpPr txBox="1"/>
          <p:nvPr/>
        </p:nvSpPr>
        <p:spPr>
          <a:xfrm>
            <a:off x="584042" y="5467741"/>
            <a:ext cx="5891356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빨간 글씨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최동구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교수님의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comment)</a:t>
            </a:r>
          </a:p>
          <a:p>
            <a:pPr algn="l"/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행동변수가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정말 상태변수에 영향을 미치는 것이 분명한지 확인이 필요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/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s, a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가 정말로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s’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에 영향을 미쳐야 강화학습 문제가 성립함</a:t>
            </a:r>
          </a:p>
        </p:txBody>
      </p:sp>
    </p:spTree>
    <p:extLst>
      <p:ext uri="{BB962C8B-B14F-4D97-AF65-F5344CB8AC3E}">
        <p14:creationId xmlns:p14="http://schemas.microsoft.com/office/powerpoint/2010/main" val="2890025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358F-3AF7-5D7C-6EDC-A0AA982D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30389BC-2243-6D9A-8540-BCD7EE54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1.3 </a:t>
            </a:r>
            <a:r>
              <a:rPr lang="ko-KR" altLang="en-US" dirty="0">
                <a:latin typeface="+mn-ea"/>
              </a:rPr>
              <a:t>문제 개요 </a:t>
            </a:r>
            <a:r>
              <a:rPr lang="en-US" altLang="ko-KR" dirty="0">
                <a:latin typeface="+mn-ea"/>
              </a:rPr>
              <a:t>(offline RL)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4F4B85-BEB3-E683-F8D9-E4089156F3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259E38-6CF4-3F12-0747-6AF537E9E9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계절별 강화학습</a:t>
            </a:r>
            <a:r>
              <a:rPr lang="en-US" altLang="ko-KR" dirty="0"/>
              <a:t> </a:t>
            </a:r>
            <a:r>
              <a:rPr lang="ko-KR" altLang="en-US" dirty="0"/>
              <a:t>모델 개발 </a:t>
            </a:r>
            <a:r>
              <a:rPr lang="en-US" altLang="ko-KR" dirty="0"/>
              <a:t>(</a:t>
            </a:r>
            <a:r>
              <a:rPr lang="ko-KR" altLang="en-US" dirty="0"/>
              <a:t>동계</a:t>
            </a:r>
            <a:r>
              <a:rPr lang="en-US" altLang="ko-KR" dirty="0"/>
              <a:t>, </a:t>
            </a:r>
            <a:r>
              <a:rPr lang="ko-KR" altLang="en-US" dirty="0"/>
              <a:t>하계</a:t>
            </a:r>
            <a:r>
              <a:rPr lang="en-US" altLang="ko-KR" dirty="0"/>
              <a:t>, </a:t>
            </a:r>
            <a:r>
              <a:rPr lang="ko-KR" altLang="en-US" dirty="0" err="1"/>
              <a:t>춘추계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35CD9C78-5233-7539-91D7-6FA3B0FDB9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6"/>
            <a:ext cx="9270641" cy="1959911"/>
          </a:xfrm>
        </p:spPr>
        <p:txBody>
          <a:bodyPr/>
          <a:lstStyle/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계절별 데이터로 독립적인 정책 학습</a:t>
            </a:r>
            <a:endParaRPr lang="en-US" altLang="ko-KR" dirty="0"/>
          </a:p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계절별로 </a:t>
            </a:r>
            <a:r>
              <a:rPr lang="en-US" altLang="ko-KR" dirty="0"/>
              <a:t>NOx </a:t>
            </a:r>
            <a:r>
              <a:rPr lang="ko-KR" altLang="en-US" dirty="0"/>
              <a:t>농도</a:t>
            </a:r>
            <a:r>
              <a:rPr lang="en-US" altLang="ko-KR" dirty="0"/>
              <a:t> </a:t>
            </a:r>
            <a:r>
              <a:rPr lang="ko-KR" altLang="en-US" dirty="0"/>
              <a:t>목표 값 지정 </a:t>
            </a:r>
            <a:r>
              <a:rPr lang="en-US" altLang="ko-KR" dirty="0"/>
              <a:t>(</a:t>
            </a:r>
            <a:r>
              <a:rPr lang="ko-KR" altLang="en-US" dirty="0"/>
              <a:t>고정치</a:t>
            </a:r>
            <a:r>
              <a:rPr lang="en-US" altLang="ko-KR" dirty="0"/>
              <a:t>, </a:t>
            </a:r>
            <a:r>
              <a:rPr lang="ko-KR" altLang="en-US" dirty="0"/>
              <a:t>계절별 하위 </a:t>
            </a:r>
            <a:r>
              <a:rPr lang="en-US" altLang="ko-KR" dirty="0"/>
              <a:t>10%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</a:p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희석질소유량을</a:t>
            </a:r>
            <a:r>
              <a:rPr lang="ko-KR" altLang="en-US" dirty="0"/>
              <a:t> 조정하여 </a:t>
            </a:r>
            <a:r>
              <a:rPr lang="en-US" altLang="ko-KR" dirty="0"/>
              <a:t>NOx </a:t>
            </a:r>
            <a:r>
              <a:rPr lang="ko-KR" altLang="en-US" dirty="0"/>
              <a:t>농도를 </a:t>
            </a:r>
            <a:r>
              <a:rPr lang="ko-KR" altLang="en-US" dirty="0" err="1"/>
              <a:t>목표값에</a:t>
            </a:r>
            <a:r>
              <a:rPr lang="ko-KR" altLang="en-US" dirty="0"/>
              <a:t> 근접하게 만드는 것이 목적</a:t>
            </a:r>
            <a:endParaRPr lang="en-US" altLang="ko-KR" b="1" dirty="0"/>
          </a:p>
          <a:p>
            <a:pPr marL="540000" lvl="1" indent="-1800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dirty="0"/>
              <a:t>환경모델</a:t>
            </a:r>
            <a:r>
              <a:rPr lang="en-US" altLang="ko-KR" sz="1400" b="1" dirty="0"/>
              <a:t>(transition dynamics)</a:t>
            </a:r>
            <a:r>
              <a:rPr lang="ko-KR" altLang="en-US" sz="1400" b="1" dirty="0"/>
              <a:t>의 부재로 인한 </a:t>
            </a:r>
            <a:r>
              <a:rPr lang="en-US" altLang="ko-KR" sz="1400" b="1" dirty="0"/>
              <a:t>offline RL </a:t>
            </a:r>
            <a:r>
              <a:rPr lang="ko-KR" altLang="en-US" sz="1400" b="1" dirty="0"/>
              <a:t>사용</a:t>
            </a:r>
            <a:endParaRPr lang="en-US" altLang="ko-KR" sz="1400" b="1" dirty="0"/>
          </a:p>
          <a:p>
            <a:pPr marL="36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학습된 결과 </a:t>
            </a:r>
            <a:r>
              <a:rPr lang="en-US" altLang="ko-KR" dirty="0"/>
              <a:t>(</a:t>
            </a:r>
            <a:r>
              <a:rPr lang="ko-KR" altLang="en-US" dirty="0"/>
              <a:t>희석질소 </a:t>
            </a:r>
            <a:r>
              <a:rPr lang="ko-KR" altLang="en-US" dirty="0" err="1"/>
              <a:t>추천량</a:t>
            </a:r>
            <a:r>
              <a:rPr lang="en-US" altLang="ko-KR" dirty="0"/>
              <a:t>)</a:t>
            </a:r>
            <a:r>
              <a:rPr lang="ko-KR" altLang="en-US" dirty="0"/>
              <a:t>를 활용하여 다음시점의 </a:t>
            </a:r>
            <a:r>
              <a:rPr lang="en-US" altLang="ko-KR" dirty="0"/>
              <a:t>NOx </a:t>
            </a:r>
            <a:r>
              <a:rPr lang="ko-KR" altLang="en-US" dirty="0"/>
              <a:t>예측 및 </a:t>
            </a:r>
            <a:r>
              <a:rPr lang="en-US" altLang="ko-KR" dirty="0"/>
              <a:t>NOx </a:t>
            </a:r>
            <a:r>
              <a:rPr lang="ko-KR" altLang="en-US" dirty="0"/>
              <a:t>저감 여부 확인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53E613C-B02F-B5F0-865B-BC7B38B76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9659"/>
            <a:ext cx="9906000" cy="32598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5E84A2-C1AC-45D1-C85D-7C1560E71CEF}"/>
              </a:ext>
            </a:extLst>
          </p:cNvPr>
          <p:cNvSpPr txBox="1"/>
          <p:nvPr/>
        </p:nvSpPr>
        <p:spPr>
          <a:xfrm>
            <a:off x="8592820" y="87601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b="0" dirty="0">
                <a:latin typeface="+mn-ea"/>
                <a:ea typeface="+mn-ea"/>
              </a:rPr>
              <a:t>※ </a:t>
            </a:r>
            <a:r>
              <a:rPr lang="ko-KR" altLang="en-US" sz="1100" b="0" dirty="0">
                <a:latin typeface="+mn-ea"/>
                <a:ea typeface="+mn-ea"/>
              </a:rPr>
              <a:t>계절구분 기준</a:t>
            </a:r>
            <a:endParaRPr lang="en-US" altLang="ko-KR" sz="1100" b="0" dirty="0">
              <a:latin typeface="+mn-ea"/>
              <a:ea typeface="+mn-ea"/>
            </a:endParaRPr>
          </a:p>
          <a:p>
            <a:pPr algn="l"/>
            <a:r>
              <a:rPr lang="en-US" altLang="ko-KR" sz="1100" b="0" dirty="0">
                <a:latin typeface="+mn-ea"/>
                <a:ea typeface="+mn-ea"/>
              </a:rPr>
              <a:t>- </a:t>
            </a:r>
            <a:r>
              <a:rPr lang="ko-KR" altLang="en-US" sz="1100" b="0" dirty="0">
                <a:latin typeface="+mn-ea"/>
                <a:ea typeface="+mn-ea"/>
              </a:rPr>
              <a:t>동계 </a:t>
            </a:r>
            <a:r>
              <a:rPr lang="en-US" altLang="ko-KR" sz="1100" b="0" dirty="0">
                <a:latin typeface="+mn-ea"/>
                <a:ea typeface="+mn-ea"/>
              </a:rPr>
              <a:t>: 12, 1, 2</a:t>
            </a:r>
            <a:r>
              <a:rPr lang="ko-KR" altLang="en-US" sz="1100" b="0" dirty="0">
                <a:latin typeface="+mn-ea"/>
                <a:ea typeface="+mn-ea"/>
              </a:rPr>
              <a:t>월</a:t>
            </a:r>
            <a:endParaRPr lang="en-US" altLang="ko-KR" sz="1100" b="0" dirty="0">
              <a:latin typeface="+mn-ea"/>
              <a:ea typeface="+mn-ea"/>
            </a:endParaRPr>
          </a:p>
          <a:p>
            <a:pPr algn="l"/>
            <a:r>
              <a:rPr lang="en-US" altLang="ko-KR" sz="1100" b="0" dirty="0">
                <a:latin typeface="+mn-ea"/>
                <a:ea typeface="+mn-ea"/>
              </a:rPr>
              <a:t>- </a:t>
            </a:r>
            <a:r>
              <a:rPr lang="ko-KR" altLang="en-US" sz="1100" b="0" dirty="0">
                <a:latin typeface="+mn-ea"/>
                <a:ea typeface="+mn-ea"/>
              </a:rPr>
              <a:t>하계 </a:t>
            </a:r>
            <a:r>
              <a:rPr lang="en-US" altLang="ko-KR" sz="1100" b="0" dirty="0">
                <a:latin typeface="+mn-ea"/>
                <a:ea typeface="+mn-ea"/>
              </a:rPr>
              <a:t>: 6, 7, 8</a:t>
            </a:r>
            <a:r>
              <a:rPr lang="ko-KR" altLang="en-US" sz="1100" b="0" dirty="0">
                <a:latin typeface="+mn-ea"/>
                <a:ea typeface="+mn-ea"/>
              </a:rPr>
              <a:t>월</a:t>
            </a:r>
            <a:endParaRPr lang="en-US" altLang="ko-KR" sz="1100" b="0" dirty="0">
              <a:latin typeface="+mn-ea"/>
              <a:ea typeface="+mn-ea"/>
            </a:endParaRPr>
          </a:p>
          <a:p>
            <a:pPr algn="l"/>
            <a:r>
              <a:rPr lang="en-US" altLang="ko-KR" sz="1100" b="0" dirty="0">
                <a:latin typeface="+mn-ea"/>
                <a:ea typeface="+mn-ea"/>
              </a:rPr>
              <a:t>- </a:t>
            </a:r>
            <a:r>
              <a:rPr lang="ko-KR" altLang="en-US" sz="1100" b="0" dirty="0" err="1">
                <a:latin typeface="+mn-ea"/>
                <a:ea typeface="+mn-ea"/>
              </a:rPr>
              <a:t>춘추계</a:t>
            </a:r>
            <a:r>
              <a:rPr lang="ko-KR" altLang="en-US" sz="1100" b="0" dirty="0">
                <a:latin typeface="+mn-ea"/>
                <a:ea typeface="+mn-ea"/>
              </a:rPr>
              <a:t> </a:t>
            </a:r>
            <a:r>
              <a:rPr lang="en-US" altLang="ko-KR" sz="1100" b="0" dirty="0">
                <a:latin typeface="+mn-ea"/>
                <a:ea typeface="+mn-ea"/>
              </a:rPr>
              <a:t>: </a:t>
            </a:r>
            <a:r>
              <a:rPr lang="ko-KR" altLang="en-US" sz="1100" b="0" dirty="0">
                <a:latin typeface="+mn-ea"/>
                <a:ea typeface="+mn-ea"/>
              </a:rPr>
              <a:t>나머지</a:t>
            </a:r>
          </a:p>
        </p:txBody>
      </p:sp>
    </p:spTree>
    <p:extLst>
      <p:ext uri="{BB962C8B-B14F-4D97-AF65-F5344CB8AC3E}">
        <p14:creationId xmlns:p14="http://schemas.microsoft.com/office/powerpoint/2010/main" val="960375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FDF01-D373-0F7A-6E4A-B62F70D8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4591DD0-498B-6828-6A23-7BB7294F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2.1 TD3+BC </a:t>
            </a:r>
            <a:r>
              <a:rPr lang="ko-KR" altLang="en-US" dirty="0">
                <a:latin typeface="+mn-ea"/>
              </a:rPr>
              <a:t>코드 </a:t>
            </a:r>
            <a:r>
              <a:rPr lang="en-US" altLang="ko-KR" dirty="0">
                <a:latin typeface="+mn-ea"/>
              </a:rPr>
              <a:t>(1/4)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7D954C-0D87-CA1F-3FD7-8D186555BB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95BC9341-004A-7C06-5120-6CB263A49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85055"/>
            <a:ext cx="9270641" cy="708950"/>
          </a:xfrm>
        </p:spPr>
        <p:txBody>
          <a:bodyPr/>
          <a:lstStyle/>
          <a:p>
            <a:pPr marL="180000" indent="-1800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/>
              <a:t>기본 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180000" indent="-1800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/>
              <a:t>TD3+BC </a:t>
            </a:r>
            <a:r>
              <a:rPr lang="ko-KR" altLang="en-US" dirty="0"/>
              <a:t>훈련</a:t>
            </a:r>
            <a:endParaRPr lang="en-US" altLang="ko-KR" dirty="0"/>
          </a:p>
          <a:p>
            <a:pPr marL="180000" indent="-1800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/>
              <a:t>훈련결과 평가</a:t>
            </a:r>
            <a:endParaRPr lang="en-US" altLang="ko-KR" dirty="0"/>
          </a:p>
          <a:p>
            <a:pPr marL="360000" lvl="1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3.1) action </a:t>
            </a:r>
            <a:r>
              <a:rPr lang="ko-KR" altLang="en-US" sz="1400" dirty="0"/>
              <a:t>평가 </a:t>
            </a:r>
            <a:r>
              <a:rPr lang="en-US" altLang="ko-KR" sz="1400" dirty="0"/>
              <a:t>: </a:t>
            </a:r>
            <a:r>
              <a:rPr lang="ko-KR" altLang="en-US" sz="1400" dirty="0"/>
              <a:t>추천한 </a:t>
            </a:r>
            <a:r>
              <a:rPr lang="ko-KR" altLang="en-US" sz="1400" dirty="0" err="1"/>
              <a:t>희석질소유량이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실제값과</a:t>
            </a:r>
            <a:r>
              <a:rPr lang="ko-KR" altLang="en-US" sz="1400" dirty="0"/>
              <a:t> 얼마나 </a:t>
            </a:r>
            <a:r>
              <a:rPr lang="ko-KR" altLang="en-US" sz="1400" dirty="0" err="1"/>
              <a:t>다른지</a:t>
            </a:r>
            <a:r>
              <a:rPr lang="ko-KR" altLang="en-US" sz="1400" dirty="0"/>
              <a:t> 계산 및 그래프 플롯</a:t>
            </a:r>
            <a:endParaRPr lang="en-US" altLang="ko-KR" sz="1400" dirty="0"/>
          </a:p>
          <a:p>
            <a:pPr marL="360000" lvl="1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3.2) NOx </a:t>
            </a:r>
            <a:r>
              <a:rPr lang="ko-KR" altLang="en-US" sz="1400" dirty="0"/>
              <a:t>평가 </a:t>
            </a:r>
            <a:r>
              <a:rPr lang="en-US" altLang="ko-KR" sz="1400" dirty="0"/>
              <a:t>: </a:t>
            </a:r>
            <a:r>
              <a:rPr lang="ko-KR" altLang="en-US" sz="1400" dirty="0"/>
              <a:t>예측한 </a:t>
            </a:r>
            <a:r>
              <a:rPr lang="en-US" altLang="ko-KR" sz="1400" dirty="0"/>
              <a:t>NOx </a:t>
            </a:r>
            <a:r>
              <a:rPr lang="ko-KR" altLang="en-US" sz="1400" dirty="0"/>
              <a:t>가 실제 </a:t>
            </a:r>
            <a:r>
              <a:rPr lang="en-US" altLang="ko-KR" sz="1400" dirty="0"/>
              <a:t>NOx </a:t>
            </a:r>
            <a:r>
              <a:rPr lang="ko-KR" altLang="en-US" sz="1400" dirty="0"/>
              <a:t>에 비해 저감되었는지 계산 및 그래프 플롯</a:t>
            </a:r>
            <a:endParaRPr lang="en-US" altLang="ko-KR" sz="1400" dirty="0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C4CCA423-0DED-85E1-6542-47D71DBB8F9A}"/>
              </a:ext>
            </a:extLst>
          </p:cNvPr>
          <p:cNvCxnSpPr>
            <a:cxnSpLocks/>
            <a:stCxn id="29" idx="3"/>
            <a:endCxn id="33" idx="3"/>
          </p:cNvCxnSpPr>
          <p:nvPr/>
        </p:nvCxnSpPr>
        <p:spPr>
          <a:xfrm flipH="1">
            <a:off x="6549020" y="2173010"/>
            <a:ext cx="1219911" cy="1505872"/>
          </a:xfrm>
          <a:prstGeom prst="bentConnector3">
            <a:avLst>
              <a:gd name="adj1" fmla="val -18739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EA5515D-50A0-2AA9-D9D9-FBDED00C6A0E}"/>
              </a:ext>
            </a:extLst>
          </p:cNvPr>
          <p:cNvGrpSpPr/>
          <p:nvPr/>
        </p:nvGrpSpPr>
        <p:grpSpPr>
          <a:xfrm>
            <a:off x="5821433" y="1912455"/>
            <a:ext cx="1947498" cy="2026982"/>
            <a:chOff x="5821433" y="1850027"/>
            <a:chExt cx="1947498" cy="202698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B400023-66EE-1180-A7A6-C2006FCF323E}"/>
                </a:ext>
              </a:extLst>
            </p:cNvPr>
            <p:cNvSpPr/>
            <p:nvPr/>
          </p:nvSpPr>
          <p:spPr bwMode="auto">
            <a:xfrm>
              <a:off x="7041344" y="1850027"/>
              <a:ext cx="727587" cy="5211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D178EEB-5721-6AA2-69A9-A1C79811C7C5}"/>
                </a:ext>
              </a:extLst>
            </p:cNvPr>
            <p:cNvSpPr/>
            <p:nvPr/>
          </p:nvSpPr>
          <p:spPr bwMode="auto">
            <a:xfrm>
              <a:off x="5821433" y="3355899"/>
              <a:ext cx="727587" cy="5211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D50B764-0BA3-C4AD-67D3-70A66F9CFD95}"/>
              </a:ext>
            </a:extLst>
          </p:cNvPr>
          <p:cNvGrpSpPr/>
          <p:nvPr/>
        </p:nvGrpSpPr>
        <p:grpSpPr>
          <a:xfrm>
            <a:off x="5821432" y="2303331"/>
            <a:ext cx="1841251" cy="3199946"/>
            <a:chOff x="7038690" y="2656331"/>
            <a:chExt cx="1841251" cy="319994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A481E02-0654-62BA-144E-D547F04DDFB9}"/>
                </a:ext>
              </a:extLst>
            </p:cNvPr>
            <p:cNvSpPr/>
            <p:nvPr/>
          </p:nvSpPr>
          <p:spPr bwMode="auto">
            <a:xfrm>
              <a:off x="8152354" y="2656331"/>
              <a:ext cx="727587" cy="5211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5EC79CF-F170-B5B2-62FE-FE9ADFDF488F}"/>
                </a:ext>
              </a:extLst>
            </p:cNvPr>
            <p:cNvSpPr/>
            <p:nvPr/>
          </p:nvSpPr>
          <p:spPr bwMode="auto">
            <a:xfrm>
              <a:off x="7038690" y="5335167"/>
              <a:ext cx="727587" cy="5211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2" name="연결선: 꺾임 41">
              <a:extLst>
                <a:ext uri="{FF2B5EF4-FFF2-40B4-BE49-F238E27FC236}">
                  <a16:creationId xmlns:a16="http://schemas.microsoft.com/office/drawing/2014/main" id="{CA2BF507-788C-E444-038D-8240F7E7C91F}"/>
                </a:ext>
              </a:extLst>
            </p:cNvPr>
            <p:cNvCxnSpPr>
              <a:cxnSpLocks/>
              <a:stCxn id="39" idx="3"/>
              <a:endCxn id="40" idx="3"/>
            </p:cNvCxnSpPr>
            <p:nvPr/>
          </p:nvCxnSpPr>
          <p:spPr>
            <a:xfrm flipH="1">
              <a:off x="7766277" y="2916886"/>
              <a:ext cx="1113664" cy="2678836"/>
            </a:xfrm>
            <a:prstGeom prst="bentConnector3">
              <a:avLst>
                <a:gd name="adj1" fmla="val -2052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BB72229-1034-E5F0-6F0D-4D6D80138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708" y="572858"/>
            <a:ext cx="9423242" cy="400110"/>
          </a:xfrm>
        </p:spPr>
        <p:txBody>
          <a:bodyPr/>
          <a:lstStyle/>
          <a:p>
            <a:r>
              <a:rPr lang="ko-KR" altLang="en-US" dirty="0"/>
              <a:t>코드 개요</a:t>
            </a:r>
          </a:p>
        </p:txBody>
      </p:sp>
      <p:pic>
        <p:nvPicPr>
          <p:cNvPr id="6" name="그림 5" descr="라인, 그래프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F0F199-EF8E-5C97-A24E-1E2EA1485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8" y="4606990"/>
            <a:ext cx="6080463" cy="1480665"/>
          </a:xfrm>
          <a:prstGeom prst="rect">
            <a:avLst/>
          </a:prstGeom>
        </p:spPr>
      </p:pic>
      <p:pic>
        <p:nvPicPr>
          <p:cNvPr id="7" name="그림 6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63739C-7E1B-F52C-016A-701BD06D77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" y="2874107"/>
            <a:ext cx="6080463" cy="1782841"/>
          </a:xfrm>
          <a:prstGeom prst="rect">
            <a:avLst/>
          </a:prstGeom>
        </p:spPr>
      </p:pic>
      <p:pic>
        <p:nvPicPr>
          <p:cNvPr id="9" name="그림 8" descr="텍스트, 그래프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CF9997-3669-66A8-A267-ACF39318F2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397" y="268443"/>
            <a:ext cx="4953000" cy="1627890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5E4E2A2B-6E94-792B-DC7A-281D33DB7D66}"/>
              </a:ext>
            </a:extLst>
          </p:cNvPr>
          <p:cNvCxnSpPr/>
          <p:nvPr/>
        </p:nvCxnSpPr>
        <p:spPr>
          <a:xfrm flipV="1">
            <a:off x="1856792" y="1082388"/>
            <a:ext cx="1934605" cy="429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A81CA38-64E3-59EC-95BB-15EE8A56B035}"/>
              </a:ext>
            </a:extLst>
          </p:cNvPr>
          <p:cNvSpPr txBox="1"/>
          <p:nvPr/>
        </p:nvSpPr>
        <p:spPr>
          <a:xfrm>
            <a:off x="7041344" y="2022118"/>
            <a:ext cx="351106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critic loss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의 확실한 수렴이 필요한데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이 그래프는 분명한 수렴성을 보이지는 않음</a:t>
            </a:r>
          </a:p>
        </p:txBody>
      </p:sp>
    </p:spTree>
    <p:extLst>
      <p:ext uri="{BB962C8B-B14F-4D97-AF65-F5344CB8AC3E}">
        <p14:creationId xmlns:p14="http://schemas.microsoft.com/office/powerpoint/2010/main" val="3561560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800A-0420-FB08-9778-32BD8607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8C9937-B1BD-6DF1-F202-1DA447D1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2.1 TD3+BC </a:t>
            </a:r>
            <a:r>
              <a:rPr lang="ko-KR" altLang="en-US" dirty="0">
                <a:latin typeface="+mn-ea"/>
              </a:rPr>
              <a:t>코드 </a:t>
            </a:r>
            <a:r>
              <a:rPr lang="en-US" altLang="ko-KR" dirty="0">
                <a:latin typeface="+mn-ea"/>
              </a:rPr>
              <a:t>(2/4)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A337D4-E8ED-5B96-F42F-A6EFA63621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0E74B-7A53-FE6B-ABDD-934B20844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보상함수 설정</a:t>
            </a:r>
          </a:p>
        </p:txBody>
      </p:sp>
      <p:grpSp>
        <p:nvGrpSpPr>
          <p:cNvPr id="22" name="Group 5">
            <a:extLst>
              <a:ext uri="{FF2B5EF4-FFF2-40B4-BE49-F238E27FC236}">
                <a16:creationId xmlns:a16="http://schemas.microsoft.com/office/drawing/2014/main" id="{2B84E2EB-30E9-3EAD-0197-124EDAE06C32}"/>
              </a:ext>
            </a:extLst>
          </p:cNvPr>
          <p:cNvGrpSpPr>
            <a:grpSpLocks/>
          </p:cNvGrpSpPr>
          <p:nvPr/>
        </p:nvGrpSpPr>
        <p:grpSpPr bwMode="auto">
          <a:xfrm>
            <a:off x="5128720" y="1760273"/>
            <a:ext cx="4504510" cy="4776329"/>
            <a:chOff x="2655" y="907"/>
            <a:chExt cx="2354" cy="2669"/>
          </a:xfrm>
        </p:grpSpPr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DFFA6EEF-B11C-A6BC-1953-FEDEF4490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907"/>
              <a:ext cx="2354" cy="26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189D3D55-232F-C8AE-486C-9915F438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907"/>
              <a:ext cx="2354" cy="36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E9F54CC1-C4E3-D68E-EB29-DFBC5E736A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5" y="1011"/>
                  <a:ext cx="20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defTabSz="895350">
                    <a:buSzPct val="120000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1pPr>
                  <a:lvl2pPr marL="144463" indent="-142875" defTabSz="895350">
                    <a:buSzPct val="120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2pPr>
                  <a:lvl3pPr marL="295275" indent="-149225" defTabSz="895350"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3pPr>
                  <a:lvl4pPr marL="431800" indent="-134938" defTabSz="895350">
                    <a:buSzPct val="89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4pPr>
                  <a:lvl5pPr marL="582613" indent="-149225" defTabSz="895350"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5pPr>
                  <a:lvl6pPr marL="10398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6pPr>
                  <a:lvl7pPr marL="14970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7pPr>
                  <a:lvl8pPr marL="19542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8pPr>
                  <a:lvl9pPr marL="24114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9pPr>
                </a:lstStyle>
                <a:p>
                  <a:pPr lvl="0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NPR 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값</a:t>
                  </a: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 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유지용 보상함수</a:t>
                  </a: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sz="1400" b="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400" b="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400" b="0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npr</m:t>
                          </m:r>
                        </m:sub>
                      </m:sSub>
                    </m:oMath>
                  </a14:m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5" name="Rectangle 8">
                  <a:extLst>
                    <a:ext uri="{FF2B5EF4-FFF2-40B4-BE49-F238E27FC236}">
                      <a16:creationId xmlns:a16="http://schemas.microsoft.com/office/drawing/2014/main" id="{E9F54CC1-C4E3-D68E-EB29-DFBC5E736A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5" y="1011"/>
                  <a:ext cx="2085" cy="154"/>
                </a:xfrm>
                <a:prstGeom prst="rect">
                  <a:avLst/>
                </a:prstGeom>
                <a:blipFill>
                  <a:blip r:embed="rId2"/>
                  <a:stretch>
                    <a:fillRect l="-2752" t="-22222" b="-1555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9">
                  <a:extLst>
                    <a:ext uri="{FF2B5EF4-FFF2-40B4-BE49-F238E27FC236}">
                      <a16:creationId xmlns:a16="http://schemas.microsoft.com/office/drawing/2014/main" id="{A035C89D-AEE7-4E1A-08D6-CB71F3489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5" y="1348"/>
                  <a:ext cx="2245" cy="3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defTabSz="895350">
                    <a:buSzPct val="120000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1pPr>
                  <a:lvl2pPr marL="144463" indent="-142875" defTabSz="895350">
                    <a:buSzPct val="120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2pPr>
                  <a:lvl3pPr marL="295275" indent="-149225" defTabSz="895350"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3pPr>
                  <a:lvl4pPr marL="431800" indent="-134938" defTabSz="895350">
                    <a:buSzPct val="89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4pPr>
                  <a:lvl5pPr marL="582613" indent="-149225" defTabSz="895350"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5pPr>
                  <a:lvl6pPr marL="10398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6pPr>
                  <a:lvl7pPr marL="14970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7pPr>
                  <a:lvl8pPr marL="19542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8pPr>
                  <a:lvl9pPr marL="24114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9pPr>
                </a:lstStyle>
                <a:p>
                  <a:pPr lvl="1" fontAlgn="auto" latinLnBrk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en-US" altLang="ko-KR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NPR</a:t>
                  </a:r>
                  <a:r>
                    <a:rPr kumimoji="0" lang="ko-KR" altLang="en-US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이 안정범위 </a:t>
                  </a:r>
                  <a:r>
                    <a:rPr kumimoji="0" lang="en-US" altLang="ko-KR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(1.26 ~ 1.30 ppm) </a:t>
                  </a:r>
                  <a:r>
                    <a:rPr kumimoji="0" lang="ko-KR" altLang="en-US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내에 위치하면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200" b="0" dirty="0" err="1">
                              <a:latin typeface="Cambria Math" panose="02040503050406030204" pitchFamily="18" charset="0"/>
                            </a:rPr>
                            <m:t>npr</m:t>
                          </m:r>
                        </m:sub>
                      </m:sSub>
                    </m:oMath>
                  </a14:m>
                  <a:r>
                    <a:rPr kumimoji="0" lang="ko-KR" altLang="en-US" sz="12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값을</a:t>
                  </a:r>
                  <a:r>
                    <a:rPr kumimoji="0" lang="ko-KR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 높게 부여</a:t>
                  </a:r>
                  <a:r>
                    <a:rPr kumimoji="0" lang="en-US" altLang="ko-KR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. </a:t>
                  </a:r>
                  <a:r>
                    <a:rPr kumimoji="0" lang="ko-KR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해당 범위를 벗어나면 심각한 페널티 </a:t>
                  </a:r>
                  <a:endParaRPr kumimoji="0" lang="en-US" altLang="ko-KR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6" name="Rectangle 9">
                  <a:extLst>
                    <a:ext uri="{FF2B5EF4-FFF2-40B4-BE49-F238E27FC236}">
                      <a16:creationId xmlns:a16="http://schemas.microsoft.com/office/drawing/2014/main" id="{A035C89D-AEE7-4E1A-08D6-CB71F3489B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5" y="1348"/>
                  <a:ext cx="2245" cy="311"/>
                </a:xfrm>
                <a:prstGeom prst="rect">
                  <a:avLst/>
                </a:prstGeom>
                <a:blipFill>
                  <a:blip r:embed="rId3"/>
                  <a:stretch>
                    <a:fillRect l="-2983" t="-6522" r="-1847" b="-1521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10">
            <a:extLst>
              <a:ext uri="{FF2B5EF4-FFF2-40B4-BE49-F238E27FC236}">
                <a16:creationId xmlns:a16="http://schemas.microsoft.com/office/drawing/2014/main" id="{3797C440-A114-5A75-3287-4E5D4DEDE059}"/>
              </a:ext>
            </a:extLst>
          </p:cNvPr>
          <p:cNvGrpSpPr>
            <a:grpSpLocks/>
          </p:cNvGrpSpPr>
          <p:nvPr/>
        </p:nvGrpSpPr>
        <p:grpSpPr bwMode="auto">
          <a:xfrm>
            <a:off x="711200" y="1760273"/>
            <a:ext cx="4295932" cy="4776329"/>
            <a:chOff x="2655" y="907"/>
            <a:chExt cx="2245" cy="2669"/>
          </a:xfrm>
        </p:grpSpPr>
        <p:sp>
          <p:nvSpPr>
            <p:cNvPr id="28" name="Rectangle 11">
              <a:extLst>
                <a:ext uri="{FF2B5EF4-FFF2-40B4-BE49-F238E27FC236}">
                  <a16:creationId xmlns:a16="http://schemas.microsoft.com/office/drawing/2014/main" id="{8200676F-31B0-2804-F3CB-893E90386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907"/>
              <a:ext cx="2245" cy="26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207E4055-F582-B70A-51DF-97BD82795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907"/>
              <a:ext cx="2245" cy="36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13">
                  <a:extLst>
                    <a:ext uri="{FF2B5EF4-FFF2-40B4-BE49-F238E27FC236}">
                      <a16:creationId xmlns:a16="http://schemas.microsoft.com/office/drawing/2014/main" id="{EC90D933-C605-A124-52FC-C58F8EF42F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5" y="1011"/>
                  <a:ext cx="2085" cy="1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defTabSz="895350">
                    <a:buSzPct val="120000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1pPr>
                  <a:lvl2pPr marL="144463" indent="-142875" defTabSz="895350">
                    <a:buSzPct val="120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2pPr>
                  <a:lvl3pPr marL="295275" indent="-149225" defTabSz="895350"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3pPr>
                  <a:lvl4pPr marL="431800" indent="-134938" defTabSz="895350">
                    <a:buSzPct val="89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4pPr>
                  <a:lvl5pPr marL="582613" indent="-149225" defTabSz="895350"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5pPr>
                  <a:lvl6pPr marL="10398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6pPr>
                  <a:lvl7pPr marL="14970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7pPr>
                  <a:lvl8pPr marL="19542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8pPr>
                  <a:lvl9pPr marL="24114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9pPr>
                </a:lstStyle>
                <a:p>
                  <a:pPr lvl="0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NOx </a:t>
                  </a:r>
                  <a:r>
                    <a:rPr kumimoji="0" lang="ko-KR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저감용 보상함수</a:t>
                  </a:r>
                  <a:r>
                    <a:rPr kumimoji="0" lang="en-US" altLang="ko-KR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+mn-ea"/>
                      <a:ea typeface="+mn-ea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sz="1400" b="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400" b="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400" b="0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nox</m:t>
                          </m:r>
                        </m:sub>
                      </m:sSub>
                      <m:r>
                        <a:rPr lang="en-US" altLang="ko-KR" sz="1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kumimoji="0" lang="en-US" altLang="ko-KR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0" name="Rectangle 13">
                  <a:extLst>
                    <a:ext uri="{FF2B5EF4-FFF2-40B4-BE49-F238E27FC236}">
                      <a16:creationId xmlns:a16="http://schemas.microsoft.com/office/drawing/2014/main" id="{EC90D933-C605-A124-52FC-C58F8EF42F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5" y="1011"/>
                  <a:ext cx="2085" cy="136"/>
                </a:xfrm>
                <a:prstGeom prst="rect">
                  <a:avLst/>
                </a:prstGeom>
                <a:blipFill>
                  <a:blip r:embed="rId4"/>
                  <a:stretch>
                    <a:fillRect l="-2752" t="-22500" b="-325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14">
                  <a:extLst>
                    <a:ext uri="{FF2B5EF4-FFF2-40B4-BE49-F238E27FC236}">
                      <a16:creationId xmlns:a16="http://schemas.microsoft.com/office/drawing/2014/main" id="{8C6AEE9B-78EC-F0F2-581A-8DD993195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5" y="1348"/>
                  <a:ext cx="2085" cy="2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defTabSz="895350">
                    <a:buSzPct val="120000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1pPr>
                  <a:lvl2pPr marL="144463" indent="-142875" defTabSz="895350">
                    <a:buSzPct val="120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2pPr>
                  <a:lvl3pPr marL="295275" indent="-149225" defTabSz="895350"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3pPr>
                  <a:lvl4pPr marL="431800" indent="-134938" defTabSz="895350">
                    <a:buSzPct val="89000"/>
                    <a:buChar char="•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4pPr>
                  <a:lvl5pPr marL="582613" indent="-149225" defTabSz="895350"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5pPr>
                  <a:lvl6pPr marL="10398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6pPr>
                  <a:lvl7pPr marL="14970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7pPr>
                  <a:lvl8pPr marL="19542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8pPr>
                  <a:lvl9pPr marL="2411413" indent="-149225" defTabSz="895350" fontAlgn="base">
                    <a:spcBef>
                      <a:spcPct val="0"/>
                    </a:spcBef>
                    <a:spcAft>
                      <a:spcPct val="0"/>
                    </a:spcAft>
                    <a:buSzPct val="75000"/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ea typeface="-윤고딕130" pitchFamily="18" charset="-127"/>
                    </a:defRPr>
                  </a:lvl9pPr>
                </a:lstStyle>
                <a:p>
                  <a:pPr lvl="1" fontAlgn="auto" latinLnBrk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en-US" altLang="ko-KR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NOx</a:t>
                  </a:r>
                  <a:r>
                    <a:rPr kumimoji="0" lang="ko-KR" altLang="en-US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값이 </a:t>
                  </a:r>
                  <a:r>
                    <a:rPr kumimoji="0" lang="ko-KR" altLang="en-US" sz="1200" b="0" kern="0" dirty="0" err="1">
                      <a:solidFill>
                        <a:srgbClr val="000000"/>
                      </a:solidFill>
                      <a:latin typeface="+mn-ea"/>
                      <a:ea typeface="+mn-ea"/>
                    </a:rPr>
                    <a:t>목표값에</a:t>
                  </a:r>
                  <a:r>
                    <a:rPr kumimoji="0" lang="ko-KR" altLang="en-US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가까울수록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2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200" b="0" dirty="0" err="1">
                              <a:latin typeface="Cambria Math" panose="02040503050406030204" pitchFamily="18" charset="0"/>
                            </a:rPr>
                            <m:t>nox</m:t>
                          </m:r>
                        </m:sub>
                      </m:sSub>
                    </m:oMath>
                  </a14:m>
                  <a:r>
                    <a:rPr kumimoji="0" lang="ko-KR" altLang="en-US" sz="1200" b="0" kern="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 값을 높게 부여</a:t>
                  </a:r>
                  <a:endParaRPr kumimoji="0" lang="en-US" altLang="ko-KR" sz="1200" b="0" kern="0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  <a:p>
                  <a:pPr lvl="1" fontAlgn="auto" latinLnBrk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ar-AE" altLang="ko-KR" sz="12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200" b="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200" b="0" dirty="0" err="1">
                              <a:latin typeface="Cambria Math" panose="02040503050406030204" pitchFamily="18" charset="0"/>
                            </a:rPr>
                            <m:t>nox</m:t>
                          </m:r>
                        </m:sub>
                      </m:sSub>
                      <m:r>
                        <a:rPr lang="ar-AE" altLang="ko-KR" sz="1200" b="0" i="1" dirty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|"/>
                          <m:endChr m:val="|"/>
                          <m:ctrlPr>
                            <a:rPr lang="ar-AE" altLang="ko-KR" sz="12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ar-AE" altLang="ko-KR" sz="1200" b="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NOx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sz="1200" b="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target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NOx</m:t>
                          </m:r>
                          <m:r>
                            <m:rPr>
                              <m:nor/>
                            </m:rPr>
                            <a:rPr lang="en-US" altLang="ko-KR" sz="1200" b="0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a14:m>
                  <a:endParaRPr lang="ar-AE" altLang="ko-KR" sz="1200" dirty="0"/>
                </a:p>
              </p:txBody>
            </p:sp>
          </mc:Choice>
          <mc:Fallback xmlns="">
            <p:sp>
              <p:nvSpPr>
                <p:cNvPr id="31" name="Rectangle 14">
                  <a:extLst>
                    <a:ext uri="{FF2B5EF4-FFF2-40B4-BE49-F238E27FC236}">
                      <a16:creationId xmlns:a16="http://schemas.microsoft.com/office/drawing/2014/main" id="{8C6AEE9B-78EC-F0F2-581A-8DD993195D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5" y="1348"/>
                  <a:ext cx="2085" cy="290"/>
                </a:xfrm>
                <a:prstGeom prst="rect">
                  <a:avLst/>
                </a:prstGeom>
                <a:blipFill>
                  <a:blip r:embed="rId5"/>
                  <a:stretch>
                    <a:fillRect l="-3211" t="-10588" b="-2352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텍스트 개체 틀 2">
                <a:extLst>
                  <a:ext uri="{FF2B5EF4-FFF2-40B4-BE49-F238E27FC236}">
                    <a16:creationId xmlns:a16="http://schemas.microsoft.com/office/drawing/2014/main" id="{67EF3FE4-74B2-138B-9DAD-1CC032A03E1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924281"/>
              </a:xfrm>
            </p:spPr>
            <p:txBody>
              <a:bodyPr/>
              <a:lstStyle/>
              <a:p>
                <a:pPr marL="180000" indent="-1800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ar-AE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ar-AE" altLang="ko-KR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ko-KR" dirty="0" err="1">
                            <a:latin typeface="Cambria Math" panose="02040503050406030204" pitchFamily="18" charset="0"/>
                          </a:rPr>
                          <m:t>nox</m:t>
                        </m:r>
                      </m:sub>
                    </m:sSub>
                    <m:r>
                      <a:rPr lang="ar-AE" altLang="ko-K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ar-AE" i="1" dirty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ar-AE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ko-KR" dirty="0" err="1">
                            <a:latin typeface="Cambria Math" panose="02040503050406030204" pitchFamily="18" charset="0"/>
                          </a:rPr>
                          <m:t>npr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180000" indent="-1800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ko-KR" altLang="en-US" dirty="0"/>
                  <a:t> 는 </a:t>
                </a:r>
                <a:r>
                  <a:rPr lang="ko-KR" altLang="en-US" dirty="0" err="1"/>
                  <a:t>하이퍼파라미터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기본값 </a:t>
                </a:r>
                <a:r>
                  <a:rPr lang="en-US" altLang="ko-KR" dirty="0"/>
                  <a:t>= 1)</a:t>
                </a:r>
                <a:endParaRPr lang="ar-AE" altLang="ko-KR" dirty="0"/>
              </a:p>
            </p:txBody>
          </p:sp>
        </mc:Choice>
        <mc:Fallback xmlns="">
          <p:sp>
            <p:nvSpPr>
              <p:cNvPr id="32" name="텍스트 개체 틀 2">
                <a:extLst>
                  <a:ext uri="{FF2B5EF4-FFF2-40B4-BE49-F238E27FC236}">
                    <a16:creationId xmlns:a16="http://schemas.microsoft.com/office/drawing/2014/main" id="{67EF3FE4-74B2-138B-9DAD-1CC032A03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924281"/>
              </a:xfrm>
              <a:blipFill>
                <a:blip r:embed="rId6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그림 32">
            <a:extLst>
              <a:ext uri="{FF2B5EF4-FFF2-40B4-BE49-F238E27FC236}">
                <a16:creationId xmlns:a16="http://schemas.microsoft.com/office/drawing/2014/main" id="{4FF4EB73-A87E-1AFC-0A21-32341B005E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0939" y="3619199"/>
            <a:ext cx="3742710" cy="253336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B81C101-54CF-AF44-FBDF-BB09C1D506CF}"/>
              </a:ext>
            </a:extLst>
          </p:cNvPr>
          <p:cNvSpPr txBox="1"/>
          <p:nvPr/>
        </p:nvSpPr>
        <p:spPr>
          <a:xfrm>
            <a:off x="5234436" y="6229167"/>
            <a:ext cx="4190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0" dirty="0">
                <a:latin typeface="+mn-ea"/>
                <a:ea typeface="+mn-ea"/>
              </a:rPr>
              <a:t>※ </a:t>
            </a:r>
            <a:r>
              <a:rPr lang="ko-KR" altLang="en-US" sz="900" b="0" dirty="0">
                <a:latin typeface="+mn-ea"/>
                <a:ea typeface="+mn-ea"/>
              </a:rPr>
              <a:t>위 그래프에서는 </a:t>
            </a:r>
            <a:r>
              <a:rPr lang="en-US" altLang="ko-KR" sz="900" b="0" dirty="0">
                <a:latin typeface="+mn-ea"/>
                <a:ea typeface="+mn-ea"/>
              </a:rPr>
              <a:t>penalty </a:t>
            </a:r>
            <a:r>
              <a:rPr lang="ko-KR" altLang="en-US" sz="900" b="0" dirty="0">
                <a:latin typeface="+mn-ea"/>
                <a:ea typeface="+mn-ea"/>
              </a:rPr>
              <a:t>값을 </a:t>
            </a:r>
            <a:r>
              <a:rPr lang="en-US" altLang="ko-KR" sz="900" b="0" dirty="0">
                <a:latin typeface="+mn-ea"/>
                <a:ea typeface="+mn-ea"/>
              </a:rPr>
              <a:t>-1</a:t>
            </a:r>
            <a:r>
              <a:rPr lang="ko-KR" altLang="en-US" sz="900" b="0" dirty="0">
                <a:latin typeface="+mn-ea"/>
                <a:ea typeface="+mn-ea"/>
              </a:rPr>
              <a:t>로 두었으나 실제 적용된 </a:t>
            </a:r>
            <a:r>
              <a:rPr lang="en-US" altLang="ko-KR" sz="900" b="0" dirty="0">
                <a:latin typeface="+mn-ea"/>
                <a:ea typeface="+mn-ea"/>
              </a:rPr>
              <a:t>penalty </a:t>
            </a:r>
            <a:r>
              <a:rPr lang="ko-KR" altLang="en-US" sz="900" b="0" dirty="0">
                <a:latin typeface="+mn-ea"/>
                <a:ea typeface="+mn-ea"/>
              </a:rPr>
              <a:t>값은 </a:t>
            </a:r>
            <a:r>
              <a:rPr lang="en-US" altLang="ko-KR" sz="900" b="0" dirty="0">
                <a:latin typeface="+mn-ea"/>
                <a:ea typeface="+mn-ea"/>
              </a:rPr>
              <a:t>-5</a:t>
            </a:r>
            <a:endParaRPr lang="ko-KR" altLang="en-US" sz="900" b="0" dirty="0">
              <a:latin typeface="+mn-ea"/>
              <a:ea typeface="+mn-ea"/>
            </a:endParaRPr>
          </a:p>
        </p:txBody>
      </p:sp>
      <p:pic>
        <p:nvPicPr>
          <p:cNvPr id="36" name="그림 35" descr="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DB0A3D-4432-0127-4F20-ABCA9E64ACA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532" y="3619199"/>
            <a:ext cx="2145538" cy="2356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BCEDF2-394D-8009-BA4E-EAF5386A5EC1}"/>
              </a:ext>
            </a:extLst>
          </p:cNvPr>
          <p:cNvSpPr txBox="1"/>
          <p:nvPr/>
        </p:nvSpPr>
        <p:spPr>
          <a:xfrm>
            <a:off x="5822265" y="603245"/>
            <a:ext cx="41902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900" b="0" dirty="0">
                <a:latin typeface="+mn-ea"/>
                <a:ea typeface="+mn-ea"/>
              </a:rPr>
              <a:t>※ NPR (nozzle pressure ratio) : </a:t>
            </a:r>
            <a:r>
              <a:rPr lang="ko-KR" altLang="en-US" sz="900" b="0" dirty="0">
                <a:latin typeface="+mn-ea"/>
                <a:ea typeface="+mn-ea"/>
              </a:rPr>
              <a:t>연료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공기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희석질소 등이 분사될 </a:t>
            </a:r>
            <a:r>
              <a:rPr lang="ko-KR" altLang="en-US" sz="900" b="0" dirty="0" err="1">
                <a:latin typeface="+mn-ea"/>
                <a:ea typeface="+mn-ea"/>
              </a:rPr>
              <a:t>떄의</a:t>
            </a:r>
            <a:r>
              <a:rPr lang="ko-KR" altLang="en-US" sz="900" b="0" dirty="0">
                <a:latin typeface="+mn-ea"/>
                <a:ea typeface="+mn-ea"/>
              </a:rPr>
              <a:t> 압력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9300C-61F8-6BD0-1E90-CC7CBDC2D3D0}"/>
              </a:ext>
            </a:extLst>
          </p:cNvPr>
          <p:cNvSpPr txBox="1"/>
          <p:nvPr/>
        </p:nvSpPr>
        <p:spPr>
          <a:xfrm>
            <a:off x="3369817" y="779192"/>
            <a:ext cx="6631071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##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중요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##</a:t>
            </a:r>
          </a:p>
          <a:p>
            <a:pPr algn="l"/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현재 코드에는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 (NOx)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는 현재시점의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NOx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가 적용되어 있지만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실제로는 현재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action(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희석질소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의 영향을 받은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NOx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값이 적용되어야 함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.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다시 말해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장표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2.2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에서의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PLS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모델의 결과가 적용되어야 강화학습으로의 의미가 있음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lang="ko-KR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4623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68F3-23FF-8B28-4086-16F71838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B22B87B-985D-F5C9-A066-7151483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2.1 TD3+BC </a:t>
            </a:r>
            <a:r>
              <a:rPr lang="ko-KR" altLang="en-US" dirty="0">
                <a:latin typeface="+mn-ea"/>
              </a:rPr>
              <a:t>코드 </a:t>
            </a:r>
            <a:r>
              <a:rPr lang="en-US" altLang="ko-KR" dirty="0">
                <a:latin typeface="+mn-ea"/>
              </a:rPr>
              <a:t>(3/4)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B185CE-5935-8D73-CDDA-8E343EBCF0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B984F-94DD-B859-1F38-12607F6D7E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사용 데이터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81D44CA-13F7-4CDF-2935-6BAF2DD0FD77}"/>
              </a:ext>
            </a:extLst>
          </p:cNvPr>
          <p:cNvSpPr txBox="1">
            <a:spLocks/>
          </p:cNvSpPr>
          <p:nvPr/>
        </p:nvSpPr>
        <p:spPr>
          <a:xfrm>
            <a:off x="200472" y="3555749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dirty="0"/>
              <a:t>리플레이 버퍼로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7ADFAD46-19C3-1651-243D-F78C3F842D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588538"/>
                  </p:ext>
                </p:extLst>
              </p:nvPr>
            </p:nvGraphicFramePr>
            <p:xfrm>
              <a:off x="227813" y="1432477"/>
              <a:ext cx="5593566" cy="20137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2261">
                      <a:extLst>
                        <a:ext uri="{9D8B030D-6E8A-4147-A177-3AD203B41FA5}">
                          <a16:colId xmlns:a16="http://schemas.microsoft.com/office/drawing/2014/main" val="4291833148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1103677909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1158978066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1963254219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4117976673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2768584361"/>
                        </a:ext>
                      </a:extLst>
                    </a:gridCol>
                  </a:tblGrid>
                  <a:tr h="39549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7071772"/>
                      </a:ext>
                    </a:extLst>
                  </a:tr>
                  <a:tr h="40576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823539"/>
                      </a:ext>
                    </a:extLst>
                  </a:tr>
                  <a:tr h="40397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맑은 고딕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5247757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맑은 고딕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3605506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맑은 고딕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117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7ADFAD46-19C3-1651-243D-F78C3F842D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588538"/>
                  </p:ext>
                </p:extLst>
              </p:nvPr>
            </p:nvGraphicFramePr>
            <p:xfrm>
              <a:off x="227813" y="1432477"/>
              <a:ext cx="5593566" cy="20137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2261">
                      <a:extLst>
                        <a:ext uri="{9D8B030D-6E8A-4147-A177-3AD203B41FA5}">
                          <a16:colId xmlns:a16="http://schemas.microsoft.com/office/drawing/2014/main" val="4291833148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1103677909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1158978066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1963254219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4117976673"/>
                        </a:ext>
                      </a:extLst>
                    </a:gridCol>
                    <a:gridCol w="932261">
                      <a:extLst>
                        <a:ext uri="{9D8B030D-6E8A-4147-A177-3AD203B41FA5}">
                          <a16:colId xmlns:a16="http://schemas.microsoft.com/office/drawing/2014/main" val="2768584361"/>
                        </a:ext>
                      </a:extLst>
                    </a:gridCol>
                  </a:tblGrid>
                  <a:tr h="39549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654" t="-3077" r="-50326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654" t="-3077" r="-40326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654" t="-3077" r="-30326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654" t="-3077" r="-20326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0654" t="-3077" r="-10326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00654" t="-3077" r="-3268" b="-4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7071772"/>
                      </a:ext>
                    </a:extLst>
                  </a:tr>
                  <a:tr h="40576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654" t="-100000" r="-503268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654" t="-100000" r="-403268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654" t="-100000" r="-303268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654" t="-100000" r="-203268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0654" t="-100000" r="-103268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00654" t="-100000" r="-3268" b="-301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8823539"/>
                      </a:ext>
                    </a:extLst>
                  </a:tr>
                  <a:tr h="4039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654" t="-200000" r="-503268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654" t="-200000" r="-403268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654" t="-200000" r="-303268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654" t="-200000" r="-203268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0654" t="-200000" r="-103268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00654" t="-200000" r="-3268" b="-201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5247757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654" t="-304545" r="-503268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654" t="-304545" r="-403268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654" t="-304545" r="-303268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654" t="-304545" r="-203268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0654" t="-304545" r="-103268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00654" t="-304545" r="-3268" b="-1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3605506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654" t="-398507" r="-503268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654" t="-398507" r="-403268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0654" t="-398507" r="-303268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654" t="-398507" r="-203268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400654" t="-398507" r="-103268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500654" t="-398507" r="-3268" b="-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17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3CAFC0C8-6F0C-D366-CE44-DF1AFDEB0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7151266"/>
                  </p:ext>
                </p:extLst>
              </p:nvPr>
            </p:nvGraphicFramePr>
            <p:xfrm>
              <a:off x="227813" y="4364255"/>
              <a:ext cx="9296430" cy="20137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9643">
                      <a:extLst>
                        <a:ext uri="{9D8B030D-6E8A-4147-A177-3AD203B41FA5}">
                          <a16:colId xmlns:a16="http://schemas.microsoft.com/office/drawing/2014/main" val="4291833148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103677909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158978066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963254219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4117976673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2768584361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2383445432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488080302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2726909257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466895604"/>
                        </a:ext>
                      </a:extLst>
                    </a:gridCol>
                  </a:tblGrid>
                  <a:tr h="395494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  <m:sup>
                                    <m:r>
                                      <a:rPr lang="en-US" altLang="ko-KR" sz="1400" b="1" i="1" dirty="0" smtClean="0"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done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7071772"/>
                      </a:ext>
                    </a:extLst>
                  </a:tr>
                  <a:tr h="405763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823539"/>
                      </a:ext>
                    </a:extLst>
                  </a:tr>
                  <a:tr h="40397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맑은 고딕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5247757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맑은 고딕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3605506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ko-KR" altLang="en-US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맑은 고딕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4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ko-KR" sz="1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117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3CAFC0C8-6F0C-D366-CE44-DF1AFDEB0C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7151266"/>
                  </p:ext>
                </p:extLst>
              </p:nvPr>
            </p:nvGraphicFramePr>
            <p:xfrm>
              <a:off x="227813" y="4364255"/>
              <a:ext cx="9296430" cy="20137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9643">
                      <a:extLst>
                        <a:ext uri="{9D8B030D-6E8A-4147-A177-3AD203B41FA5}">
                          <a16:colId xmlns:a16="http://schemas.microsoft.com/office/drawing/2014/main" val="4291833148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103677909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158978066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963254219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4117976673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2768584361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2383445432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1488080302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2726909257"/>
                        </a:ext>
                      </a:extLst>
                    </a:gridCol>
                    <a:gridCol w="929643">
                      <a:extLst>
                        <a:ext uri="{9D8B030D-6E8A-4147-A177-3AD203B41FA5}">
                          <a16:colId xmlns:a16="http://schemas.microsoft.com/office/drawing/2014/main" val="466895604"/>
                        </a:ext>
                      </a:extLst>
                    </a:gridCol>
                  </a:tblGrid>
                  <a:tr h="39549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54" t="-3077" r="-900000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316" t="-3077" r="-805921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77" r="-700654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974" t="-3077" r="-605263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99346" t="-3077" r="-501307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99346" t="-3077" r="-401307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03289" t="-3077" r="-303947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98693" t="-3077" r="-201961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803947" t="-3077" r="-103289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done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7071772"/>
                      </a:ext>
                    </a:extLst>
                  </a:tr>
                  <a:tr h="40576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54" t="-100000" r="-900000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316" t="-100000" r="-805921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0000" r="-700654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974" t="-100000" r="-605263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99346" t="-100000" r="-501307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99346" t="-100000" r="-401307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03289" t="-100000" r="-303947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98693" t="-100000" r="-201961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803947" t="-100000" r="-103289" b="-3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8823539"/>
                      </a:ext>
                    </a:extLst>
                  </a:tr>
                  <a:tr h="4039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54" t="-200000" r="-900000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316" t="-200000" r="-805921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0000" r="-700654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974" t="-200000" r="-605263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99346" t="-200000" r="-501307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99346" t="-200000" r="-401307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03289" t="-200000" r="-303947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98693" t="-200000" r="-201961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803947" t="-200000" r="-103289" b="-2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5247757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54" t="-304545" r="-900000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316" t="-304545" r="-805921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4545" r="-700654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974" t="-304545" r="-605263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99346" t="-304545" r="-501307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99346" t="-304545" r="-401307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03289" t="-304545" r="-303947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98693" t="-304545" r="-201961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803947" t="-304545" r="-103289" b="-1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3605506"/>
                      </a:ext>
                    </a:extLst>
                  </a:tr>
                  <a:tr h="4042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54" t="-398507" r="-900000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316" t="-398507" r="-805921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98507" r="-700654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1974" t="-398507" r="-605263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99346" t="-398507" r="-501307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99346" t="-398507" r="-401307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03289" t="-398507" r="-303947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98693" t="-398507" r="-201961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803947" t="-398507" r="-103289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</a:rPr>
                            <a:t>false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117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AB47C547-7351-5947-E474-71E32047842B}"/>
              </a:ext>
            </a:extLst>
          </p:cNvPr>
          <p:cNvSpPr/>
          <p:nvPr/>
        </p:nvSpPr>
        <p:spPr bwMode="auto">
          <a:xfrm>
            <a:off x="1249378" y="5189814"/>
            <a:ext cx="2453489" cy="2965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205520-B6D9-30EA-5701-7074AFD47D31}"/>
              </a:ext>
            </a:extLst>
          </p:cNvPr>
          <p:cNvSpPr/>
          <p:nvPr/>
        </p:nvSpPr>
        <p:spPr bwMode="auto">
          <a:xfrm>
            <a:off x="5957607" y="4799006"/>
            <a:ext cx="2453489" cy="2965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84E2A0-941A-B357-4240-36DFAD60D239}"/>
              </a:ext>
            </a:extLst>
          </p:cNvPr>
          <p:cNvSpPr/>
          <p:nvPr/>
        </p:nvSpPr>
        <p:spPr bwMode="auto">
          <a:xfrm>
            <a:off x="1249377" y="5603577"/>
            <a:ext cx="2453489" cy="2965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C6E563-1914-FB00-38A4-9C2C268BC128}"/>
              </a:ext>
            </a:extLst>
          </p:cNvPr>
          <p:cNvSpPr/>
          <p:nvPr/>
        </p:nvSpPr>
        <p:spPr bwMode="auto">
          <a:xfrm>
            <a:off x="1249376" y="5990279"/>
            <a:ext cx="2453489" cy="2965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6FB7D8-8BAA-22FF-C8AB-BBD49A4086AA}"/>
              </a:ext>
            </a:extLst>
          </p:cNvPr>
          <p:cNvSpPr/>
          <p:nvPr/>
        </p:nvSpPr>
        <p:spPr bwMode="auto">
          <a:xfrm>
            <a:off x="5957607" y="5603576"/>
            <a:ext cx="2453489" cy="2965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0BC253-8453-A410-189C-F9BF682CAA29}"/>
              </a:ext>
            </a:extLst>
          </p:cNvPr>
          <p:cNvSpPr/>
          <p:nvPr/>
        </p:nvSpPr>
        <p:spPr bwMode="auto">
          <a:xfrm>
            <a:off x="5957606" y="5201018"/>
            <a:ext cx="2453489" cy="29658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AA394C9-C9B9-5C8C-F442-B543F2D19811}"/>
              </a:ext>
            </a:extLst>
          </p:cNvPr>
          <p:cNvCxnSpPr>
            <a:stCxn id="2" idx="3"/>
          </p:cNvCxnSpPr>
          <p:nvPr/>
        </p:nvCxnSpPr>
        <p:spPr>
          <a:xfrm flipV="1">
            <a:off x="3702867" y="4947297"/>
            <a:ext cx="2254740" cy="3908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2EC654-C4CC-1672-F7F2-F3BF7377E691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3702865" y="5349310"/>
            <a:ext cx="2254741" cy="393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CE5C0E2-F1AB-8D6D-1E94-464B0C5A0A5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702867" y="5751868"/>
            <a:ext cx="2254740" cy="3867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오른쪽 중괄호 23">
            <a:extLst>
              <a:ext uri="{FF2B5EF4-FFF2-40B4-BE49-F238E27FC236}">
                <a16:creationId xmlns:a16="http://schemas.microsoft.com/office/drawing/2014/main" id="{47A5B892-2DDA-01A7-540D-B45DDEF5E467}"/>
              </a:ext>
            </a:extLst>
          </p:cNvPr>
          <p:cNvSpPr/>
          <p:nvPr/>
        </p:nvSpPr>
        <p:spPr>
          <a:xfrm rot="16200000">
            <a:off x="2478881" y="-84241"/>
            <a:ext cx="134814" cy="2802052"/>
          </a:xfrm>
          <a:prstGeom prst="rightBrace">
            <a:avLst>
              <a:gd name="adj1" fmla="val 58333"/>
              <a:gd name="adj2" fmla="val 509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B8997-1465-44AE-05E9-114CEE770530}"/>
              </a:ext>
            </a:extLst>
          </p:cNvPr>
          <p:cNvSpPr txBox="1"/>
          <p:nvPr/>
        </p:nvSpPr>
        <p:spPr>
          <a:xfrm>
            <a:off x="2224633" y="106245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000" b="0" dirty="0">
                <a:latin typeface="+mn-ea"/>
                <a:ea typeface="+mn-ea"/>
              </a:rPr>
              <a:t>상태변수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FE09B0-C0A5-8780-C52B-7519E2522E90}"/>
              </a:ext>
            </a:extLst>
          </p:cNvPr>
          <p:cNvSpPr txBox="1"/>
          <p:nvPr/>
        </p:nvSpPr>
        <p:spPr>
          <a:xfrm>
            <a:off x="4039668" y="122350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000" b="0" dirty="0">
                <a:latin typeface="+mn-ea"/>
                <a:ea typeface="+mn-ea"/>
              </a:rPr>
              <a:t>행동변수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ACFB2-797C-75CF-B050-BE9DB4F489B1}"/>
              </a:ext>
            </a:extLst>
          </p:cNvPr>
          <p:cNvSpPr txBox="1"/>
          <p:nvPr/>
        </p:nvSpPr>
        <p:spPr>
          <a:xfrm>
            <a:off x="5122135" y="123125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000" b="0" dirty="0">
                <a:latin typeface="+mn-ea"/>
                <a:ea typeface="+mn-ea"/>
              </a:rPr>
              <a:t>보상</a:t>
            </a:r>
          </a:p>
        </p:txBody>
      </p:sp>
      <p:sp>
        <p:nvSpPr>
          <p:cNvPr id="28" name="오른쪽 중괄호 27">
            <a:extLst>
              <a:ext uri="{FF2B5EF4-FFF2-40B4-BE49-F238E27FC236}">
                <a16:creationId xmlns:a16="http://schemas.microsoft.com/office/drawing/2014/main" id="{6A5F9467-96AC-7848-A928-4205A6E1E462}"/>
              </a:ext>
            </a:extLst>
          </p:cNvPr>
          <p:cNvSpPr/>
          <p:nvPr/>
        </p:nvSpPr>
        <p:spPr>
          <a:xfrm rot="16200000">
            <a:off x="2478881" y="2866519"/>
            <a:ext cx="134814" cy="2802052"/>
          </a:xfrm>
          <a:prstGeom prst="rightBrace">
            <a:avLst>
              <a:gd name="adj1" fmla="val 58333"/>
              <a:gd name="adj2" fmla="val 509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5BF873-88B9-541D-03AA-0E98C9E7352B}"/>
                  </a:ext>
                </a:extLst>
              </p:cNvPr>
              <p:cNvSpPr txBox="1"/>
              <p:nvPr/>
            </p:nvSpPr>
            <p:spPr>
              <a:xfrm>
                <a:off x="2106944" y="4005112"/>
                <a:ext cx="105509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000" b="0" dirty="0">
                    <a:latin typeface="+mn-ea"/>
                    <a:ea typeface="+mn-ea"/>
                  </a:rPr>
                  <a:t>현재상태변수 </a:t>
                </a:r>
                <a14:m>
                  <m:oMath xmlns:m="http://schemas.openxmlformats.org/officeDocument/2006/math">
                    <m:r>
                      <a:rPr lang="en-US" altLang="ko-KR" sz="1000" b="0" i="1" dirty="0" smtClean="0">
                        <a:latin typeface="Cambria Math" panose="02040503050406030204" pitchFamily="18" charset="0"/>
                        <a:ea typeface="+mn-ea"/>
                      </a:rPr>
                      <m:t>𝑠</m:t>
                    </m:r>
                  </m:oMath>
                </a14:m>
                <a:endParaRPr lang="ko-KR" altLang="en-US" sz="10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5BF873-88B9-541D-03AA-0E98C9E73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944" y="4005112"/>
                <a:ext cx="1055097" cy="246221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오른쪽 중괄호 29">
            <a:extLst>
              <a:ext uri="{FF2B5EF4-FFF2-40B4-BE49-F238E27FC236}">
                <a16:creationId xmlns:a16="http://schemas.microsoft.com/office/drawing/2014/main" id="{742E880C-5063-6D3D-1253-EFB2BABDCB23}"/>
              </a:ext>
            </a:extLst>
          </p:cNvPr>
          <p:cNvSpPr/>
          <p:nvPr/>
        </p:nvSpPr>
        <p:spPr>
          <a:xfrm rot="16200000">
            <a:off x="7118786" y="2857466"/>
            <a:ext cx="134814" cy="2802052"/>
          </a:xfrm>
          <a:prstGeom prst="rightBrace">
            <a:avLst>
              <a:gd name="adj1" fmla="val 58333"/>
              <a:gd name="adj2" fmla="val 509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8A02ED-9E5B-91E4-3D37-05AE6B759FF3}"/>
                  </a:ext>
                </a:extLst>
              </p:cNvPr>
              <p:cNvSpPr txBox="1"/>
              <p:nvPr/>
            </p:nvSpPr>
            <p:spPr>
              <a:xfrm>
                <a:off x="6746849" y="3996059"/>
                <a:ext cx="108555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1000" b="0" dirty="0">
                    <a:latin typeface="+mn-ea"/>
                    <a:ea typeface="+mn-ea"/>
                  </a:rPr>
                  <a:t>다음상태변수 </a:t>
                </a:r>
                <a14:m>
                  <m:oMath xmlns:m="http://schemas.openxmlformats.org/officeDocument/2006/math">
                    <m:r>
                      <a:rPr lang="en-US" altLang="ko-KR" sz="1000" b="0" i="1" dirty="0" smtClean="0">
                        <a:latin typeface="Cambria Math" panose="02040503050406030204" pitchFamily="18" charset="0"/>
                        <a:ea typeface="+mn-ea"/>
                      </a:rPr>
                      <m:t>𝑠</m:t>
                    </m:r>
                    <m:r>
                      <a:rPr lang="en-US" altLang="ko-KR" sz="1000" b="0" i="1" dirty="0" smtClean="0">
                        <a:latin typeface="Cambria Math" panose="02040503050406030204" pitchFamily="18" charset="0"/>
                        <a:ea typeface="+mn-ea"/>
                      </a:rPr>
                      <m:t>’</m:t>
                    </m:r>
                  </m:oMath>
                </a14:m>
                <a:endParaRPr lang="ko-KR" altLang="en-US" sz="10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8A02ED-9E5B-91E4-3D37-05AE6B759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849" y="3996059"/>
                <a:ext cx="1085554" cy="246221"/>
              </a:xfrm>
              <a:prstGeom prst="rect">
                <a:avLst/>
              </a:prstGeom>
              <a:blipFill>
                <a:blip r:embed="rId5"/>
                <a:stretch>
                  <a:fillRect t="-2500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E78F2CC0-FA11-77E6-89B9-A78BF5CBDE8A}"/>
              </a:ext>
            </a:extLst>
          </p:cNvPr>
          <p:cNvSpPr txBox="1"/>
          <p:nvPr/>
        </p:nvSpPr>
        <p:spPr>
          <a:xfrm>
            <a:off x="4039668" y="412822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000" b="0" dirty="0">
                <a:latin typeface="+mn-ea"/>
                <a:ea typeface="+mn-ea"/>
              </a:rPr>
              <a:t>행동변수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B750EC-0BD3-052C-3571-450F02214EC7}"/>
              </a:ext>
            </a:extLst>
          </p:cNvPr>
          <p:cNvSpPr txBox="1"/>
          <p:nvPr/>
        </p:nvSpPr>
        <p:spPr>
          <a:xfrm>
            <a:off x="5122135" y="4135975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000" b="0" dirty="0">
                <a:latin typeface="+mn-ea"/>
                <a:ea typeface="+mn-ea"/>
              </a:rPr>
              <a:t>보상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9C657D-C32B-7D93-CAD8-B7A029A6EF85}"/>
              </a:ext>
            </a:extLst>
          </p:cNvPr>
          <p:cNvSpPr txBox="1"/>
          <p:nvPr/>
        </p:nvSpPr>
        <p:spPr>
          <a:xfrm>
            <a:off x="380551" y="4135767"/>
            <a:ext cx="6896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00" b="0" dirty="0">
                <a:latin typeface="+mn-ea"/>
                <a:ea typeface="+mn-ea"/>
              </a:rPr>
              <a:t>timestep</a:t>
            </a:r>
            <a:endParaRPr lang="ko-KR" altLang="en-US" sz="10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0259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AD411-A97E-B894-3E10-224A0C554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31ECF6F-0ACD-FAF3-B160-9A497641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2.1 TD3+BC </a:t>
            </a:r>
            <a:r>
              <a:rPr lang="ko-KR" altLang="en-US" dirty="0">
                <a:latin typeface="+mn-ea"/>
              </a:rPr>
              <a:t>코드 </a:t>
            </a:r>
            <a:r>
              <a:rPr lang="en-US" altLang="ko-KR" dirty="0">
                <a:latin typeface="+mn-ea"/>
              </a:rPr>
              <a:t>(4/4)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1325BC-3724-3D6E-7D4B-A13720D412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8E49FD-E1C0-3FF9-7F05-3E5662347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훈련과정 상세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텍스트 개체 틀 5">
                <a:extLst>
                  <a:ext uri="{FF2B5EF4-FFF2-40B4-BE49-F238E27FC236}">
                    <a16:creationId xmlns:a16="http://schemas.microsoft.com/office/drawing/2014/main" id="{4CE255D4-5AC5-A4AC-07FD-607D50455A8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91858"/>
                <a:ext cx="5156748" cy="4820322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리플레이버퍼에서 배치사이즈만큼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’,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done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샘플링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/>
                  <a:t>critic</a:t>
                </a:r>
                <a:r>
                  <a:rPr lang="ko-KR" altLang="en-US" dirty="0"/>
                  <a:t>은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상태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행동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의 가치를 평가하는 </a:t>
                </a:r>
                <a:r>
                  <a:rPr lang="en-US" altLang="ko-KR" dirty="0"/>
                  <a:t>Q</a:t>
                </a:r>
                <a:r>
                  <a:rPr lang="ko-KR" altLang="en-US" dirty="0"/>
                  <a:t>함수를 추정</a:t>
                </a:r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/>
                  <a:t>critic </a:t>
                </a:r>
                <a:r>
                  <a:rPr lang="ko-KR" altLang="en-US" dirty="0"/>
                  <a:t>학습 과정</a:t>
                </a:r>
                <a:endParaRPr lang="en-US" altLang="ko-KR" dirty="0"/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목표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Q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와 현재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Q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를 만들고 그 차이를 최소화함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 err="1">
                    <a:latin typeface="Cambria Math" panose="02040503050406030204" pitchFamily="18" charset="0"/>
                  </a:rPr>
                  <a:t>벨만최적방정식을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통하여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400" dirty="0" err="1">
                    <a:latin typeface="Cambria Math" panose="02040503050406030204" pitchFamily="18" charset="0"/>
                  </a:rPr>
                  <a:t>목표Ｑ를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정함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Cambria Math" panose="02040503050406030204" pitchFamily="18" charset="0"/>
                  </a:rPr>
                  <a:t>actor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는 주어진 상태에 대하여 최적의 행동을 선택</a:t>
                </a:r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Cambria Math" panose="02040503050406030204" pitchFamily="18" charset="0"/>
                  </a:rPr>
                  <a:t>actor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의 학습과정</a:t>
                </a:r>
                <a:endParaRPr lang="en-US" altLang="ko-KR" dirty="0"/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latin typeface="Cambria Math" panose="02040503050406030204" pitchFamily="18" charset="0"/>
                  </a:rPr>
                  <a:t>Q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함수의 </a:t>
                </a:r>
                <a:r>
                  <a:rPr lang="ko-KR" altLang="en-US" sz="1400" dirty="0" err="1">
                    <a:latin typeface="Cambria Math" panose="02040503050406030204" pitchFamily="18" charset="0"/>
                  </a:rPr>
                  <a:t>기댓값이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 최대가 되도록 업데이트함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또한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, actor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가 추천하는 행동이 실제 행동과 크게</a:t>
                </a:r>
                <a:endParaRPr lang="en-US" altLang="ko-KR" sz="14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r>
                  <a:rPr lang="ko-KR" altLang="en-US" sz="1400" dirty="0">
                    <a:latin typeface="Cambria Math" panose="02040503050406030204" pitchFamily="18" charset="0"/>
                  </a:rPr>
                  <a:t>　다르지 않도록 업데이트함 </a:t>
                </a:r>
                <a:r>
                  <a:rPr lang="en-US" altLang="ko-KR" sz="1400" dirty="0">
                    <a:latin typeface="Cambria Math" panose="02040503050406030204" pitchFamily="18" charset="0"/>
                  </a:rPr>
                  <a:t>(behavior cloning)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상세 세팅</a:t>
                </a:r>
                <a:endParaRPr lang="en-US" altLang="ko-KR" dirty="0"/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11" name="텍스트 개체 틀 5">
                <a:extLst>
                  <a:ext uri="{FF2B5EF4-FFF2-40B4-BE49-F238E27FC236}">
                    <a16:creationId xmlns:a16="http://schemas.microsoft.com/office/drawing/2014/main" id="{4CE255D4-5AC5-A4AC-07FD-607D50455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91858"/>
                <a:ext cx="5156748" cy="4820322"/>
              </a:xfrm>
              <a:blipFill>
                <a:blip r:embed="rId3"/>
                <a:stretch>
                  <a:fillRect l="-4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그림 28">
            <a:extLst>
              <a:ext uri="{FF2B5EF4-FFF2-40B4-BE49-F238E27FC236}">
                <a16:creationId xmlns:a16="http://schemas.microsoft.com/office/drawing/2014/main" id="{C6FD631E-B825-00FD-989A-BD9616138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089" y="1715954"/>
            <a:ext cx="4768491" cy="460468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8AD0536-3E2B-1A34-078D-C5D562675F07}"/>
              </a:ext>
            </a:extLst>
          </p:cNvPr>
          <p:cNvSpPr txBox="1"/>
          <p:nvPr/>
        </p:nvSpPr>
        <p:spPr>
          <a:xfrm>
            <a:off x="5016089" y="6285142"/>
            <a:ext cx="49840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0" dirty="0">
                <a:latin typeface="+mn-ea"/>
                <a:ea typeface="+mn-ea"/>
              </a:rPr>
              <a:t>※ </a:t>
            </a:r>
            <a:r>
              <a:rPr lang="ko-KR" altLang="en-US" sz="1000" b="0" dirty="0">
                <a:latin typeface="+mn-ea"/>
                <a:ea typeface="+mn-ea"/>
              </a:rPr>
              <a:t>빨간색으로 표시된 것들은 모두 신경망 </a:t>
            </a:r>
            <a:r>
              <a:rPr lang="en-US" altLang="ko-KR" sz="1000" b="0" dirty="0">
                <a:latin typeface="+mn-ea"/>
                <a:ea typeface="+mn-ea"/>
              </a:rPr>
              <a:t>: </a:t>
            </a:r>
            <a:r>
              <a:rPr lang="en-US" altLang="ko-KR" sz="1000" b="0" dirty="0">
                <a:solidFill>
                  <a:schemeClr val="accent2"/>
                </a:solidFill>
                <a:latin typeface="+mn-ea"/>
                <a:ea typeface="+mn-ea"/>
              </a:rPr>
              <a:t>critic</a:t>
            </a:r>
            <a:r>
              <a:rPr lang="en-US" altLang="ko-KR" sz="1000" b="0" dirty="0">
                <a:latin typeface="+mn-ea"/>
                <a:ea typeface="+mn-ea"/>
              </a:rPr>
              <a:t>,  </a:t>
            </a:r>
            <a:r>
              <a:rPr lang="en-US" altLang="ko-KR" sz="1000" b="0" dirty="0">
                <a:solidFill>
                  <a:schemeClr val="accent2"/>
                </a:solidFill>
                <a:latin typeface="+mn-ea"/>
                <a:ea typeface="+mn-ea"/>
              </a:rPr>
              <a:t>actor</a:t>
            </a:r>
            <a:r>
              <a:rPr lang="en-US" altLang="ko-KR" sz="1000" b="0" dirty="0">
                <a:latin typeface="+mn-ea"/>
                <a:ea typeface="+mn-ea"/>
              </a:rPr>
              <a:t>,  </a:t>
            </a:r>
            <a:r>
              <a:rPr lang="en-US" altLang="ko-KR" sz="1000" b="0" dirty="0" err="1">
                <a:solidFill>
                  <a:schemeClr val="accent2"/>
                </a:solidFill>
                <a:latin typeface="+mn-ea"/>
                <a:ea typeface="+mn-ea"/>
              </a:rPr>
              <a:t>critic_target</a:t>
            </a:r>
            <a:r>
              <a:rPr lang="en-US" altLang="ko-KR" sz="1000" b="0" dirty="0">
                <a:latin typeface="+mn-ea"/>
                <a:ea typeface="+mn-ea"/>
              </a:rPr>
              <a:t>,  </a:t>
            </a:r>
            <a:r>
              <a:rPr lang="en-US" altLang="ko-KR" sz="1000" b="0" dirty="0" err="1">
                <a:solidFill>
                  <a:schemeClr val="accent2"/>
                </a:solidFill>
                <a:latin typeface="+mn-ea"/>
                <a:ea typeface="+mn-ea"/>
              </a:rPr>
              <a:t>actor_target</a:t>
            </a:r>
            <a:endParaRPr lang="en-US" altLang="ko-KR" sz="1000" b="0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l"/>
            <a:endParaRPr lang="ko-KR" altLang="en-US" sz="1000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7B5724-A018-45C0-6077-760EBBCEBF1A}"/>
                  </a:ext>
                </a:extLst>
              </p:cNvPr>
              <p:cNvSpPr txBox="1"/>
              <p:nvPr/>
            </p:nvSpPr>
            <p:spPr>
              <a:xfrm>
                <a:off x="261022" y="4757896"/>
                <a:ext cx="5954721" cy="2377574"/>
              </a:xfrm>
              <a:prstGeom prst="rect">
                <a:avLst/>
              </a:prstGeom>
              <a:noFill/>
            </p:spPr>
            <p:txBody>
              <a:bodyPr wrap="square" numCol="2">
                <a:spAutoFit/>
              </a:bodyPr>
              <a:lstStyle/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 dirty="0">
                    <a:latin typeface="+mn-ea"/>
                    <a:ea typeface="+mn-ea"/>
                  </a:rPr>
                  <a:t>(critic </a:t>
                </a:r>
                <a:r>
                  <a:rPr lang="ko-KR" altLang="en-US" sz="1100" b="0" dirty="0">
                    <a:latin typeface="+mn-ea"/>
                    <a:ea typeface="+mn-ea"/>
                  </a:rPr>
                  <a:t>학습빈도</a:t>
                </a:r>
                <a:r>
                  <a:rPr lang="en-US" altLang="ko-KR" sz="1100" b="0" dirty="0">
                    <a:latin typeface="+mn-ea"/>
                    <a:ea typeface="+mn-ea"/>
                  </a:rPr>
                  <a:t>)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(actor </a:t>
                </a:r>
                <a:r>
                  <a:rPr lang="ko-KR" altLang="en-US" sz="1100" b="0" dirty="0">
                    <a:latin typeface="+mn-ea"/>
                    <a:ea typeface="+mn-ea"/>
                  </a:rPr>
                  <a:t>학습빈도</a:t>
                </a:r>
                <a:r>
                  <a:rPr lang="en-US" altLang="ko-KR" sz="1100" b="0" dirty="0">
                    <a:latin typeface="+mn-ea"/>
                    <a:ea typeface="+mn-ea"/>
                  </a:rPr>
                  <a:t>)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= 4:1</a:t>
                </a: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 dirty="0">
                    <a:latin typeface="+mn-ea"/>
                    <a:ea typeface="+mn-ea"/>
                  </a:rPr>
                  <a:t>신경망의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은닉층</a:t>
                </a:r>
                <a:r>
                  <a:rPr lang="ko-KR" altLang="en-US" sz="1100" b="0" dirty="0">
                    <a:latin typeface="+mn-ea"/>
                    <a:ea typeface="+mn-ea"/>
                  </a:rPr>
                  <a:t> 수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4</a:t>
                </a:r>
                <a:r>
                  <a:rPr lang="ko-KR" altLang="en-US" sz="1100" b="0" dirty="0">
                    <a:latin typeface="+mn-ea"/>
                    <a:ea typeface="+mn-ea"/>
                  </a:rPr>
                  <a:t>개</a:t>
                </a: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 dirty="0">
                    <a:latin typeface="+mn-ea"/>
                    <a:ea typeface="+mn-ea"/>
                  </a:rPr>
                  <a:t>은닉층의 노드 수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128</a:t>
                </a:r>
                <a:r>
                  <a:rPr lang="ko-KR" altLang="en-US" sz="1100" b="0" dirty="0">
                    <a:latin typeface="+mn-ea"/>
                    <a:ea typeface="+mn-ea"/>
                  </a:rPr>
                  <a:t>개</a:t>
                </a: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 dirty="0">
                    <a:latin typeface="+mn-ea"/>
                    <a:ea typeface="+mn-ea"/>
                  </a:rPr>
                  <a:t>배치사이즈 </a:t>
                </a:r>
                <a:r>
                  <a:rPr lang="en-US" altLang="ko-KR" sz="1100" b="0" dirty="0">
                    <a:latin typeface="+mn-ea"/>
                    <a:ea typeface="+mn-ea"/>
                  </a:rPr>
                  <a:t>= 512</a:t>
                </a: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 dirty="0" err="1">
                    <a:latin typeface="+mn-ea"/>
                    <a:ea typeface="+mn-ea"/>
                  </a:rPr>
                  <a:t>학습률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= 1e-05</a:t>
                </a: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 dirty="0">
                    <a:latin typeface="+mn-ea"/>
                    <a:ea typeface="+mn-ea"/>
                  </a:rPr>
                  <a:t>최대 </a:t>
                </a:r>
                <a:r>
                  <a:rPr lang="en-US" altLang="ko-KR" sz="1100" b="0" dirty="0">
                    <a:latin typeface="+mn-ea"/>
                    <a:ea typeface="+mn-ea"/>
                  </a:rPr>
                  <a:t>timestep = 2400</a:t>
                </a: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>
                        <a:latin typeface="Cambria Math" panose="02040503050406030204" pitchFamily="18" charset="0"/>
                        <a:ea typeface="+mn-ea"/>
                      </a:rPr>
                      <m:t>𝛼</m:t>
                    </m:r>
                    <m:r>
                      <a:rPr lang="en-US" altLang="ko-KR" sz="1100" b="0">
                        <a:latin typeface="Cambria Math" panose="02040503050406030204" pitchFamily="18" charset="0"/>
                        <a:ea typeface="+mn-ea"/>
                      </a:rPr>
                      <m:t>=2.5</m:t>
                    </m:r>
                  </m:oMath>
                </a14:m>
                <a:endParaRPr lang="en-US" altLang="ko-KR" sz="1100" b="0" dirty="0">
                  <a:latin typeface="+mn-ea"/>
                  <a:ea typeface="+mn-ea"/>
                </a:endParaRPr>
              </a:p>
              <a:p>
                <a:pPr marL="360000" lvl="1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lang="en-US" altLang="ko-KR" sz="1100" b="0" i="1">
                        <a:latin typeface="Cambria Math" panose="02040503050406030204" pitchFamily="18" charset="0"/>
                        <a:ea typeface="+mn-ea"/>
                      </a:rPr>
                      <m:t>=0.99</m:t>
                    </m:r>
                  </m:oMath>
                </a14:m>
                <a:endParaRPr lang="en-US" altLang="ko-KR" sz="11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7B5724-A018-45C0-6077-760EBBCEB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22" y="4757896"/>
                <a:ext cx="5954721" cy="23775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448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1FA3-D5AF-A4AE-10AA-F5081AC2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B470E71-CAAA-4A14-FDF4-FF4DA690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2.2 </a:t>
            </a:r>
            <a:r>
              <a:rPr lang="ko-KR" altLang="en-US" dirty="0" err="1">
                <a:latin typeface="+mn-ea"/>
              </a:rPr>
              <a:t>희석질소유량</a:t>
            </a:r>
            <a:r>
              <a:rPr lang="ko-KR" altLang="en-US" dirty="0">
                <a:latin typeface="+mn-ea"/>
              </a:rPr>
              <a:t> 추천 및 </a:t>
            </a:r>
            <a:r>
              <a:rPr lang="en-US" altLang="ko-KR" dirty="0">
                <a:latin typeface="+mn-ea"/>
              </a:rPr>
              <a:t>NOx </a:t>
            </a:r>
            <a:r>
              <a:rPr lang="ko-KR" altLang="en-US" dirty="0">
                <a:latin typeface="+mn-ea"/>
              </a:rPr>
              <a:t>예측 로직 상세 </a:t>
            </a:r>
            <a:r>
              <a:rPr lang="en-US" altLang="ko-KR" dirty="0">
                <a:latin typeface="+mn-ea"/>
              </a:rPr>
              <a:t>(1/3)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D74C53-0C78-D82B-0189-EDF1663DF5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E1A68-5621-8B68-C96E-75D80B5C6D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희석질소유량</a:t>
            </a:r>
            <a:r>
              <a:rPr lang="ko-KR" altLang="en-US" dirty="0"/>
              <a:t> 추천 </a:t>
            </a:r>
            <a:r>
              <a:rPr lang="en-US" altLang="ko-KR" dirty="0"/>
              <a:t>(</a:t>
            </a:r>
            <a:r>
              <a:rPr lang="ko-KR" altLang="en-US" dirty="0"/>
              <a:t>강화학습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B479A135-F6F4-8A38-838C-8D159802E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2" y="1785092"/>
            <a:ext cx="9116697" cy="1905266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ACC49954-2174-17FF-FF4E-4B15F0624EB5}"/>
              </a:ext>
            </a:extLst>
          </p:cNvPr>
          <p:cNvSpPr/>
          <p:nvPr/>
        </p:nvSpPr>
        <p:spPr bwMode="auto">
          <a:xfrm>
            <a:off x="866775" y="2183038"/>
            <a:ext cx="2038350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D1E6477-378A-BC99-8401-4865F97D3B9F}"/>
              </a:ext>
            </a:extLst>
          </p:cNvPr>
          <p:cNvSpPr/>
          <p:nvPr/>
        </p:nvSpPr>
        <p:spPr bwMode="auto">
          <a:xfrm>
            <a:off x="4648200" y="2183038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BD79F94D-4365-9DFB-B4A6-74B68ADD08A2}"/>
              </a:ext>
            </a:extLst>
          </p:cNvPr>
          <p:cNvSpPr/>
          <p:nvPr/>
        </p:nvSpPr>
        <p:spPr>
          <a:xfrm rot="5400000">
            <a:off x="1728228" y="508228"/>
            <a:ext cx="315920" cy="1919761"/>
          </a:xfrm>
          <a:prstGeom prst="leftBrace">
            <a:avLst>
              <a:gd name="adj1" fmla="val 686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06A19A55-0361-1B34-B874-E00EF3EE4D38}"/>
              </a:ext>
            </a:extLst>
          </p:cNvPr>
          <p:cNvSpPr/>
          <p:nvPr/>
        </p:nvSpPr>
        <p:spPr>
          <a:xfrm rot="5400000">
            <a:off x="4520960" y="31978"/>
            <a:ext cx="315920" cy="2872261"/>
          </a:xfrm>
          <a:prstGeom prst="leftBrace">
            <a:avLst>
              <a:gd name="adj1" fmla="val 1289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333086-CBEF-F1E4-F857-C16F29AFA765}"/>
              </a:ext>
            </a:extLst>
          </p:cNvPr>
          <p:cNvSpPr/>
          <p:nvPr/>
        </p:nvSpPr>
        <p:spPr>
          <a:xfrm rot="5400000">
            <a:off x="7779283" y="-147863"/>
            <a:ext cx="315920" cy="3231943"/>
          </a:xfrm>
          <a:prstGeom prst="leftBrace">
            <a:avLst>
              <a:gd name="adj1" fmla="val 10481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42A64-D953-B33C-FA5C-0E4BC8A180C1}"/>
              </a:ext>
            </a:extLst>
          </p:cNvPr>
          <p:cNvSpPr txBox="1"/>
          <p:nvPr/>
        </p:nvSpPr>
        <p:spPr>
          <a:xfrm>
            <a:off x="1129214" y="1014381"/>
            <a:ext cx="1408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상태변수</a:t>
            </a:r>
            <a:r>
              <a:rPr lang="en-US" altLang="ko-KR" b="0" dirty="0">
                <a:latin typeface="+mn-ea"/>
                <a:ea typeface="+mn-ea"/>
              </a:rPr>
              <a:t>(state)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A9704-27D1-FC14-939B-5DA7E8CE8D91}"/>
              </a:ext>
            </a:extLst>
          </p:cNvPr>
          <p:cNvSpPr txBox="1"/>
          <p:nvPr/>
        </p:nvSpPr>
        <p:spPr>
          <a:xfrm>
            <a:off x="3892181" y="1006092"/>
            <a:ext cx="148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행동변수</a:t>
            </a:r>
            <a:r>
              <a:rPr lang="en-US" altLang="ko-KR" b="0" dirty="0">
                <a:latin typeface="+mn-ea"/>
                <a:ea typeface="+mn-ea"/>
              </a:rPr>
              <a:t>(action)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388C71-719B-E19A-A26D-FC3E2FCE2811}"/>
              </a:ext>
            </a:extLst>
          </p:cNvPr>
          <p:cNvSpPr txBox="1"/>
          <p:nvPr/>
        </p:nvSpPr>
        <p:spPr>
          <a:xfrm>
            <a:off x="7024001" y="997236"/>
            <a:ext cx="148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목표변수</a:t>
            </a:r>
            <a:r>
              <a:rPr lang="en-US" altLang="ko-KR" b="0" dirty="0">
                <a:latin typeface="+mn-ea"/>
                <a:ea typeface="+mn-ea"/>
              </a:rPr>
              <a:t>(target)</a:t>
            </a:r>
            <a:endParaRPr lang="ko-KR" altLang="en-US" b="0" dirty="0">
              <a:latin typeface="+mn-ea"/>
              <a:ea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36B6C05-6870-C5AE-5F6E-2C8486945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3" y="4324658"/>
            <a:ext cx="9116697" cy="190526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630C7B-6C45-BF46-8F53-C869DD11BCEF}"/>
              </a:ext>
            </a:extLst>
          </p:cNvPr>
          <p:cNvSpPr/>
          <p:nvPr/>
        </p:nvSpPr>
        <p:spPr bwMode="auto">
          <a:xfrm>
            <a:off x="866776" y="4722604"/>
            <a:ext cx="2038350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54B57B-CDD9-73DF-CA72-EB0E94845F72}"/>
              </a:ext>
            </a:extLst>
          </p:cNvPr>
          <p:cNvSpPr/>
          <p:nvPr/>
        </p:nvSpPr>
        <p:spPr bwMode="auto">
          <a:xfrm>
            <a:off x="4648201" y="4722604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97A7FF-2DB1-E946-0185-0FAAC528095A}"/>
              </a:ext>
            </a:extLst>
          </p:cNvPr>
          <p:cNvSpPr/>
          <p:nvPr/>
        </p:nvSpPr>
        <p:spPr bwMode="auto">
          <a:xfrm>
            <a:off x="8086367" y="5022220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BF946E1-CFAB-69CF-09EB-990AFDCB8608}"/>
              </a:ext>
            </a:extLst>
          </p:cNvPr>
          <p:cNvCxnSpPr>
            <a:stCxn id="19" idx="2"/>
            <a:endCxn id="20" idx="1"/>
          </p:cNvCxnSpPr>
          <p:nvPr/>
        </p:nvCxnSpPr>
        <p:spPr>
          <a:xfrm rot="16200000" flipH="1">
            <a:off x="6643193" y="3697057"/>
            <a:ext cx="181606" cy="270474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96DB22A6-ACB0-034D-35A5-C122FED00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621" y="2440626"/>
            <a:ext cx="872568" cy="122322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EBD4558-A510-3B85-32FB-018B0267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647" y="2440626"/>
            <a:ext cx="872568" cy="1223226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3A6B753-4640-C1B0-81D4-D2DB6924E2CF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905125" y="2301049"/>
            <a:ext cx="174307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132334A-DD1F-F465-CA87-537F20AB19BB}"/>
              </a:ext>
            </a:extLst>
          </p:cNvPr>
          <p:cNvSpPr txBox="1"/>
          <p:nvPr/>
        </p:nvSpPr>
        <p:spPr>
          <a:xfrm>
            <a:off x="3297886" y="230104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solidFill>
                  <a:srgbClr val="FF0000"/>
                </a:solidFill>
                <a:latin typeface="+mn-ea"/>
                <a:ea typeface="+mn-ea"/>
              </a:rPr>
              <a:t>강화학습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FB89665-DE4B-1D8B-4281-2D143EA8B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062" y="4980978"/>
            <a:ext cx="872568" cy="122322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2777313-DE45-A544-621F-AB7CF0951A6F}"/>
              </a:ext>
            </a:extLst>
          </p:cNvPr>
          <p:cNvSpPr txBox="1"/>
          <p:nvPr/>
        </p:nvSpPr>
        <p:spPr>
          <a:xfrm>
            <a:off x="5156747" y="5097070"/>
            <a:ext cx="471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solidFill>
                  <a:srgbClr val="FF0000"/>
                </a:solidFill>
                <a:latin typeface="+mn-ea"/>
                <a:ea typeface="+mn-ea"/>
              </a:rPr>
              <a:t>PLS</a:t>
            </a:r>
            <a:endParaRPr lang="ko-KR" altLang="en-US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080F9EB0-1017-E897-9CD5-D108CDD7B446}"/>
              </a:ext>
            </a:extLst>
          </p:cNvPr>
          <p:cNvCxnSpPr>
            <a:cxnSpLocks/>
            <a:stCxn id="18" idx="2"/>
            <a:endCxn id="20" idx="1"/>
          </p:cNvCxnSpPr>
          <p:nvPr/>
        </p:nvCxnSpPr>
        <p:spPr>
          <a:xfrm rot="16200000" flipH="1">
            <a:off x="4895356" y="1949220"/>
            <a:ext cx="181606" cy="620041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2ACA6156-51FD-E24E-BC73-EB5CBA43E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397" y="5358267"/>
            <a:ext cx="847843" cy="838317"/>
          </a:xfrm>
          <a:prstGeom prst="rect">
            <a:avLst/>
          </a:prstGeom>
        </p:spPr>
      </p:pic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8ED716ED-50FD-43AA-AD0A-A37DD33B70DD}"/>
              </a:ext>
            </a:extLst>
          </p:cNvPr>
          <p:cNvSpPr txBox="1">
            <a:spLocks/>
          </p:cNvSpPr>
          <p:nvPr/>
        </p:nvSpPr>
        <p:spPr>
          <a:xfrm>
            <a:off x="209708" y="3814961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dirty="0"/>
              <a:t>NOx </a:t>
            </a:r>
            <a:r>
              <a:rPr kumimoji="0" lang="ko-KR" altLang="en-US" dirty="0"/>
              <a:t>예측 </a:t>
            </a:r>
            <a:r>
              <a:rPr kumimoji="0" lang="en-US" altLang="ko-KR" dirty="0"/>
              <a:t>(PLS)</a:t>
            </a:r>
            <a:endParaRPr kumimoji="0"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6A550CF-47F8-5E66-24C7-E3D1C0982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484" y="2148276"/>
            <a:ext cx="1113274" cy="24568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491B27A-D2BE-FA9F-0500-A80ADC1AE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096" y="4730144"/>
            <a:ext cx="1113274" cy="24568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9D614A6-7BF9-1E43-FF8B-C699AD4A2F4E}"/>
              </a:ext>
            </a:extLst>
          </p:cNvPr>
          <p:cNvSpPr txBox="1"/>
          <p:nvPr/>
        </p:nvSpPr>
        <p:spPr>
          <a:xfrm>
            <a:off x="8411096" y="604193"/>
            <a:ext cx="15149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dirty="0">
                <a:latin typeface="+mn-ea"/>
                <a:ea typeface="+mn-ea"/>
              </a:rPr>
              <a:t>※ </a:t>
            </a:r>
            <a:r>
              <a:rPr lang="ko-KR" altLang="en-US" sz="1100" b="0" dirty="0">
                <a:latin typeface="+mn-ea"/>
                <a:ea typeface="+mn-ea"/>
              </a:rPr>
              <a:t>실험결과 </a:t>
            </a:r>
            <a:r>
              <a:rPr lang="en-US" altLang="ko-KR" sz="1100" b="0" dirty="0">
                <a:latin typeface="+mn-ea"/>
                <a:ea typeface="+mn-ea"/>
              </a:rPr>
              <a:t>(</a:t>
            </a:r>
            <a:r>
              <a:rPr lang="ko-KR" altLang="en-US" sz="1100" b="0" dirty="0">
                <a:latin typeface="+mn-ea"/>
                <a:ea typeface="+mn-ea"/>
              </a:rPr>
              <a:t>2509</a:t>
            </a:r>
            <a:r>
              <a:rPr lang="en-US" altLang="ko-KR" sz="1100" b="0" dirty="0">
                <a:latin typeface="+mn-ea"/>
                <a:ea typeface="+mn-ea"/>
              </a:rPr>
              <a:t>23)</a:t>
            </a:r>
            <a:endParaRPr lang="ko-KR" altLang="en-US" sz="1100" b="0" dirty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433610-D867-322E-C36E-580FAD5C3740}"/>
              </a:ext>
            </a:extLst>
          </p:cNvPr>
          <p:cNvSpPr/>
          <p:nvPr/>
        </p:nvSpPr>
        <p:spPr bwMode="auto">
          <a:xfrm>
            <a:off x="5628351" y="4436883"/>
            <a:ext cx="486698" cy="172959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1896"/>
            <a:r>
              <a:rPr lang="ko-KR" altLang="en-US" sz="1200" dirty="0" err="1">
                <a:solidFill>
                  <a:srgbClr val="CECE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추천값</a:t>
            </a:r>
            <a:endParaRPr lang="ko-KR" altLang="en-US" dirty="0">
              <a:solidFill>
                <a:srgbClr val="CECEC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896D39-7D96-6E27-F675-831BF29C34D6}"/>
              </a:ext>
            </a:extLst>
          </p:cNvPr>
          <p:cNvSpPr/>
          <p:nvPr/>
        </p:nvSpPr>
        <p:spPr bwMode="auto">
          <a:xfrm>
            <a:off x="5628353" y="1890261"/>
            <a:ext cx="486698" cy="172959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1896"/>
            <a:r>
              <a:rPr lang="ko-KR" altLang="en-US" sz="1200" dirty="0" err="1">
                <a:solidFill>
                  <a:srgbClr val="CECE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추천값</a:t>
            </a:r>
            <a:endParaRPr lang="ko-KR" altLang="en-US" dirty="0">
              <a:solidFill>
                <a:srgbClr val="CECEC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213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E2DE5-29DD-2E13-494C-ABD3D8A8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CA70DE-EDB1-92FA-F9D0-FF191413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2.2 </a:t>
            </a:r>
            <a:r>
              <a:rPr lang="ko-KR" altLang="en-US" dirty="0" err="1">
                <a:latin typeface="+mn-ea"/>
              </a:rPr>
              <a:t>희석질소유량</a:t>
            </a:r>
            <a:r>
              <a:rPr lang="ko-KR" altLang="en-US" dirty="0">
                <a:latin typeface="+mn-ea"/>
              </a:rPr>
              <a:t> 추천 및 </a:t>
            </a:r>
            <a:r>
              <a:rPr lang="en-US" altLang="ko-KR" dirty="0">
                <a:latin typeface="+mn-ea"/>
              </a:rPr>
              <a:t>NOx </a:t>
            </a:r>
            <a:r>
              <a:rPr lang="ko-KR" altLang="en-US" dirty="0">
                <a:latin typeface="+mn-ea"/>
              </a:rPr>
              <a:t>예측 로직 상세 </a:t>
            </a:r>
            <a:r>
              <a:rPr lang="en-US" altLang="ko-KR" dirty="0">
                <a:latin typeface="+mn-ea"/>
              </a:rPr>
              <a:t>(2/3)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2F337A-8EC5-24F8-D76A-9231D07E3E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AB7240-8397-CDB4-458A-997203E71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희석질소유량</a:t>
            </a:r>
            <a:r>
              <a:rPr lang="ko-KR" altLang="en-US" dirty="0"/>
              <a:t> 추천 </a:t>
            </a:r>
            <a:r>
              <a:rPr lang="en-US" altLang="ko-KR" dirty="0"/>
              <a:t>(</a:t>
            </a:r>
            <a:r>
              <a:rPr lang="ko-KR" altLang="en-US" dirty="0"/>
              <a:t>강화학습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41C180B1-A4E7-990C-A139-DB3397FCF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2" y="1785092"/>
            <a:ext cx="9116697" cy="1905266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38242176-5FC8-6DE0-0ACA-0CEABDB08549}"/>
              </a:ext>
            </a:extLst>
          </p:cNvPr>
          <p:cNvSpPr/>
          <p:nvPr/>
        </p:nvSpPr>
        <p:spPr bwMode="auto">
          <a:xfrm>
            <a:off x="866775" y="2472598"/>
            <a:ext cx="2038350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E63CA20-E786-15F4-6E1B-FD34FBD679C3}"/>
              </a:ext>
            </a:extLst>
          </p:cNvPr>
          <p:cNvSpPr/>
          <p:nvPr/>
        </p:nvSpPr>
        <p:spPr bwMode="auto">
          <a:xfrm>
            <a:off x="4648200" y="2472598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0F3E8E12-2040-9713-1AD6-F1410B85C695}"/>
              </a:ext>
            </a:extLst>
          </p:cNvPr>
          <p:cNvSpPr/>
          <p:nvPr/>
        </p:nvSpPr>
        <p:spPr>
          <a:xfrm rot="5400000">
            <a:off x="1728228" y="508228"/>
            <a:ext cx="315920" cy="1919761"/>
          </a:xfrm>
          <a:prstGeom prst="leftBrace">
            <a:avLst>
              <a:gd name="adj1" fmla="val 686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646B1298-7A55-4870-A6C4-3B393C77ECC3}"/>
              </a:ext>
            </a:extLst>
          </p:cNvPr>
          <p:cNvSpPr/>
          <p:nvPr/>
        </p:nvSpPr>
        <p:spPr>
          <a:xfrm rot="5400000">
            <a:off x="4520960" y="31978"/>
            <a:ext cx="315920" cy="2872261"/>
          </a:xfrm>
          <a:prstGeom prst="leftBrace">
            <a:avLst>
              <a:gd name="adj1" fmla="val 1289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E00A98AD-08C4-91CB-2512-2821F6A740B4}"/>
              </a:ext>
            </a:extLst>
          </p:cNvPr>
          <p:cNvSpPr/>
          <p:nvPr/>
        </p:nvSpPr>
        <p:spPr>
          <a:xfrm rot="5400000">
            <a:off x="7779283" y="-147863"/>
            <a:ext cx="315920" cy="3231943"/>
          </a:xfrm>
          <a:prstGeom prst="leftBrace">
            <a:avLst>
              <a:gd name="adj1" fmla="val 10481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41625C-2C88-11D0-BCA1-32D2C303A07F}"/>
              </a:ext>
            </a:extLst>
          </p:cNvPr>
          <p:cNvSpPr txBox="1"/>
          <p:nvPr/>
        </p:nvSpPr>
        <p:spPr>
          <a:xfrm>
            <a:off x="1129214" y="1014381"/>
            <a:ext cx="1408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상태변수</a:t>
            </a:r>
            <a:r>
              <a:rPr lang="en-US" altLang="ko-KR" b="0" dirty="0">
                <a:latin typeface="+mn-ea"/>
                <a:ea typeface="+mn-ea"/>
              </a:rPr>
              <a:t>(state)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FC8894-24D6-C6C0-B8D6-15E35E1CAA53}"/>
              </a:ext>
            </a:extLst>
          </p:cNvPr>
          <p:cNvSpPr txBox="1"/>
          <p:nvPr/>
        </p:nvSpPr>
        <p:spPr>
          <a:xfrm>
            <a:off x="3892181" y="1006092"/>
            <a:ext cx="148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행동변수</a:t>
            </a:r>
            <a:r>
              <a:rPr lang="en-US" altLang="ko-KR" b="0" dirty="0">
                <a:latin typeface="+mn-ea"/>
                <a:ea typeface="+mn-ea"/>
              </a:rPr>
              <a:t>(action)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BBC8D-E479-412F-8357-ADF27B5C14C7}"/>
              </a:ext>
            </a:extLst>
          </p:cNvPr>
          <p:cNvSpPr txBox="1"/>
          <p:nvPr/>
        </p:nvSpPr>
        <p:spPr>
          <a:xfrm>
            <a:off x="7024001" y="997236"/>
            <a:ext cx="148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목표변수</a:t>
            </a:r>
            <a:r>
              <a:rPr lang="en-US" altLang="ko-KR" b="0" dirty="0">
                <a:latin typeface="+mn-ea"/>
                <a:ea typeface="+mn-ea"/>
              </a:rPr>
              <a:t>(target)</a:t>
            </a:r>
            <a:endParaRPr lang="ko-KR" altLang="en-US" b="0" dirty="0">
              <a:latin typeface="+mn-ea"/>
              <a:ea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81ABBA0-574F-529D-4081-967BE293C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3" y="4324658"/>
            <a:ext cx="9116697" cy="190526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F2074B-F314-A874-0058-0690FCEA280B}"/>
              </a:ext>
            </a:extLst>
          </p:cNvPr>
          <p:cNvSpPr/>
          <p:nvPr/>
        </p:nvSpPr>
        <p:spPr bwMode="auto">
          <a:xfrm>
            <a:off x="866776" y="5027404"/>
            <a:ext cx="2038350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189DF4-AC3E-1607-ADC0-7DBE0E4E3592}"/>
              </a:ext>
            </a:extLst>
          </p:cNvPr>
          <p:cNvSpPr/>
          <p:nvPr/>
        </p:nvSpPr>
        <p:spPr bwMode="auto">
          <a:xfrm>
            <a:off x="4648201" y="5027404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B67869-67D0-284E-C058-5DA83475D359}"/>
              </a:ext>
            </a:extLst>
          </p:cNvPr>
          <p:cNvSpPr/>
          <p:nvPr/>
        </p:nvSpPr>
        <p:spPr bwMode="auto">
          <a:xfrm>
            <a:off x="8086367" y="5327020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53BCEE9-863E-EB95-DA7E-A127D7722CC3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905125" y="2590609"/>
            <a:ext cx="174307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469A56C-20FA-DF75-420C-81F603F79135}"/>
              </a:ext>
            </a:extLst>
          </p:cNvPr>
          <p:cNvSpPr txBox="1"/>
          <p:nvPr/>
        </p:nvSpPr>
        <p:spPr>
          <a:xfrm>
            <a:off x="3297886" y="259060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solidFill>
                  <a:srgbClr val="FF0000"/>
                </a:solidFill>
                <a:latin typeface="+mn-ea"/>
                <a:ea typeface="+mn-ea"/>
              </a:rPr>
              <a:t>강화학습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413F97D-7DDA-DFF4-188C-84E7CD11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549" y="5369202"/>
            <a:ext cx="802004" cy="792993"/>
          </a:xfrm>
          <a:prstGeom prst="rect">
            <a:avLst/>
          </a:prstGeom>
        </p:spPr>
      </p:pic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7FB2247B-2154-654A-903E-7506FFFC660E}"/>
              </a:ext>
            </a:extLst>
          </p:cNvPr>
          <p:cNvSpPr txBox="1">
            <a:spLocks/>
          </p:cNvSpPr>
          <p:nvPr/>
        </p:nvSpPr>
        <p:spPr>
          <a:xfrm>
            <a:off x="209708" y="3814961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dirty="0"/>
              <a:t>NOx </a:t>
            </a:r>
            <a:r>
              <a:rPr kumimoji="0" lang="ko-KR" altLang="en-US" dirty="0"/>
              <a:t>예측 </a:t>
            </a:r>
            <a:r>
              <a:rPr kumimoji="0" lang="en-US" altLang="ko-KR" dirty="0"/>
              <a:t>(PLS)</a:t>
            </a:r>
            <a:endParaRPr kumimoji="0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4DF5D8C-E2C1-1FDF-82D6-6EF31FF7E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383" y="2815806"/>
            <a:ext cx="847843" cy="8383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3C6649-CA4E-2119-EFDD-BB85C840EFB5}"/>
              </a:ext>
            </a:extLst>
          </p:cNvPr>
          <p:cNvSpPr txBox="1"/>
          <p:nvPr/>
        </p:nvSpPr>
        <p:spPr>
          <a:xfrm>
            <a:off x="5156747" y="5401870"/>
            <a:ext cx="471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solidFill>
                  <a:srgbClr val="FF0000"/>
                </a:solidFill>
                <a:latin typeface="+mn-ea"/>
                <a:ea typeface="+mn-ea"/>
              </a:rPr>
              <a:t>PLS</a:t>
            </a:r>
            <a:endParaRPr lang="ko-KR" altLang="en-US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8155E167-B632-9D53-A305-675445BBD9AF}"/>
              </a:ext>
            </a:extLst>
          </p:cNvPr>
          <p:cNvCxnSpPr>
            <a:cxnSpLocks/>
            <a:stCxn id="18" idx="2"/>
            <a:endCxn id="20" idx="1"/>
          </p:cNvCxnSpPr>
          <p:nvPr/>
        </p:nvCxnSpPr>
        <p:spPr>
          <a:xfrm rot="16200000" flipH="1">
            <a:off x="4895356" y="2254020"/>
            <a:ext cx="181606" cy="620041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A6BC474B-6610-C32D-85E3-4020B8BC5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107" y="2815805"/>
            <a:ext cx="847843" cy="83831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9C4E7FD-48E5-6AAD-15DE-E47B49C75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397" y="5615456"/>
            <a:ext cx="838317" cy="56205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6A4CCDD-0BB2-FD84-90AA-03CD80591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484" y="2148276"/>
            <a:ext cx="1113274" cy="24568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9248D20-96C1-E2C1-7776-8C05CCC70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096" y="4730144"/>
            <a:ext cx="1113274" cy="2456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7F03FCE-C862-8111-CB00-5DA88B560367}"/>
              </a:ext>
            </a:extLst>
          </p:cNvPr>
          <p:cNvSpPr txBox="1"/>
          <p:nvPr/>
        </p:nvSpPr>
        <p:spPr>
          <a:xfrm>
            <a:off x="8411096" y="604193"/>
            <a:ext cx="15149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dirty="0">
                <a:latin typeface="+mn-ea"/>
                <a:ea typeface="+mn-ea"/>
              </a:rPr>
              <a:t>※ </a:t>
            </a:r>
            <a:r>
              <a:rPr lang="ko-KR" altLang="en-US" sz="1100" b="0" dirty="0">
                <a:latin typeface="+mn-ea"/>
                <a:ea typeface="+mn-ea"/>
              </a:rPr>
              <a:t>실험결과 </a:t>
            </a:r>
            <a:r>
              <a:rPr lang="en-US" altLang="ko-KR" sz="1100" b="0" dirty="0">
                <a:latin typeface="+mn-ea"/>
                <a:ea typeface="+mn-ea"/>
              </a:rPr>
              <a:t>(</a:t>
            </a:r>
            <a:r>
              <a:rPr lang="ko-KR" altLang="en-US" sz="1100" b="0" dirty="0">
                <a:latin typeface="+mn-ea"/>
                <a:ea typeface="+mn-ea"/>
              </a:rPr>
              <a:t>2509</a:t>
            </a:r>
            <a:r>
              <a:rPr lang="en-US" altLang="ko-KR" sz="1100" b="0" dirty="0">
                <a:latin typeface="+mn-ea"/>
                <a:ea typeface="+mn-ea"/>
              </a:rPr>
              <a:t>23)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FA33920D-012C-0247-173C-AA1AD377E87F}"/>
              </a:ext>
            </a:extLst>
          </p:cNvPr>
          <p:cNvCxnSpPr>
            <a:stCxn id="19" idx="2"/>
            <a:endCxn id="20" idx="1"/>
          </p:cNvCxnSpPr>
          <p:nvPr/>
        </p:nvCxnSpPr>
        <p:spPr>
          <a:xfrm rot="16200000" flipH="1">
            <a:off x="6643193" y="4001857"/>
            <a:ext cx="181606" cy="270474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4768FE-B144-AFA5-9F1F-58E427E2B584}"/>
              </a:ext>
            </a:extLst>
          </p:cNvPr>
          <p:cNvSpPr/>
          <p:nvPr/>
        </p:nvSpPr>
        <p:spPr bwMode="auto">
          <a:xfrm>
            <a:off x="5628351" y="4436883"/>
            <a:ext cx="486698" cy="172959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1896"/>
            <a:r>
              <a:rPr lang="ko-KR" altLang="en-US" sz="1200" dirty="0" err="1">
                <a:solidFill>
                  <a:srgbClr val="CECE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추천값</a:t>
            </a:r>
            <a:endParaRPr lang="ko-KR" altLang="en-US" dirty="0">
              <a:solidFill>
                <a:srgbClr val="CECEC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CF8E8A-E440-EF59-6174-1B4EADAF1A10}"/>
              </a:ext>
            </a:extLst>
          </p:cNvPr>
          <p:cNvSpPr/>
          <p:nvPr/>
        </p:nvSpPr>
        <p:spPr bwMode="auto">
          <a:xfrm>
            <a:off x="5628353" y="1890261"/>
            <a:ext cx="486698" cy="172959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1896"/>
            <a:r>
              <a:rPr lang="ko-KR" altLang="en-US" sz="1200" dirty="0" err="1">
                <a:solidFill>
                  <a:srgbClr val="CECE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추천값</a:t>
            </a:r>
            <a:endParaRPr lang="ko-KR" altLang="en-US" dirty="0">
              <a:solidFill>
                <a:srgbClr val="CECEC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9954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497B-3E1E-D717-66C3-6923B2AA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CE6CAEE-1492-F739-C6E4-B6E22C3F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2.2 </a:t>
            </a:r>
            <a:r>
              <a:rPr lang="ko-KR" altLang="en-US" dirty="0" err="1">
                <a:latin typeface="+mn-ea"/>
              </a:rPr>
              <a:t>희석질소유량</a:t>
            </a:r>
            <a:r>
              <a:rPr lang="ko-KR" altLang="en-US" dirty="0">
                <a:latin typeface="+mn-ea"/>
              </a:rPr>
              <a:t> 추천 및 </a:t>
            </a:r>
            <a:r>
              <a:rPr lang="en-US" altLang="ko-KR" dirty="0">
                <a:latin typeface="+mn-ea"/>
              </a:rPr>
              <a:t>NOx </a:t>
            </a:r>
            <a:r>
              <a:rPr lang="ko-KR" altLang="en-US" dirty="0">
                <a:latin typeface="+mn-ea"/>
              </a:rPr>
              <a:t>예측 로직 상세 </a:t>
            </a:r>
            <a:r>
              <a:rPr lang="en-US" altLang="ko-KR" dirty="0">
                <a:latin typeface="+mn-ea"/>
              </a:rPr>
              <a:t>(3/3)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D3DE3D-1895-26D8-9EF5-57697BD20B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1A2F8D-6D65-555E-4DC1-E8E312062C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희석질소유량</a:t>
            </a:r>
            <a:r>
              <a:rPr lang="ko-KR" altLang="en-US" dirty="0"/>
              <a:t> 추천 </a:t>
            </a:r>
            <a:r>
              <a:rPr lang="en-US" altLang="ko-KR" dirty="0"/>
              <a:t>(</a:t>
            </a:r>
            <a:r>
              <a:rPr lang="ko-KR" altLang="en-US" dirty="0"/>
              <a:t>강화학습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30CA8FD-EA2B-E97D-C5D6-3789DAA31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2" y="1785092"/>
            <a:ext cx="9116697" cy="1905266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275D0D5F-CBD2-BC76-D7CE-2F567435308A}"/>
              </a:ext>
            </a:extLst>
          </p:cNvPr>
          <p:cNvSpPr/>
          <p:nvPr/>
        </p:nvSpPr>
        <p:spPr bwMode="auto">
          <a:xfrm>
            <a:off x="866775" y="2769778"/>
            <a:ext cx="2038350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53EC325-0045-7B72-9364-C6675B59FF8D}"/>
              </a:ext>
            </a:extLst>
          </p:cNvPr>
          <p:cNvSpPr/>
          <p:nvPr/>
        </p:nvSpPr>
        <p:spPr bwMode="auto">
          <a:xfrm>
            <a:off x="4648200" y="2769778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4E7D4E22-3C1D-E505-BF69-C1422524E075}"/>
              </a:ext>
            </a:extLst>
          </p:cNvPr>
          <p:cNvSpPr/>
          <p:nvPr/>
        </p:nvSpPr>
        <p:spPr>
          <a:xfrm rot="5400000">
            <a:off x="1728228" y="508228"/>
            <a:ext cx="315920" cy="1919761"/>
          </a:xfrm>
          <a:prstGeom prst="leftBrace">
            <a:avLst>
              <a:gd name="adj1" fmla="val 686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93E37695-1F9E-20A0-57AC-206A9EB5CE5C}"/>
              </a:ext>
            </a:extLst>
          </p:cNvPr>
          <p:cNvSpPr/>
          <p:nvPr/>
        </p:nvSpPr>
        <p:spPr>
          <a:xfrm rot="5400000">
            <a:off x="4520960" y="31978"/>
            <a:ext cx="315920" cy="2872261"/>
          </a:xfrm>
          <a:prstGeom prst="leftBrace">
            <a:avLst>
              <a:gd name="adj1" fmla="val 12893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8B04CD1B-0B36-1794-76DD-3FA21786B7A7}"/>
              </a:ext>
            </a:extLst>
          </p:cNvPr>
          <p:cNvSpPr/>
          <p:nvPr/>
        </p:nvSpPr>
        <p:spPr>
          <a:xfrm rot="5400000">
            <a:off x="7779283" y="-147863"/>
            <a:ext cx="315920" cy="3231943"/>
          </a:xfrm>
          <a:prstGeom prst="leftBrace">
            <a:avLst>
              <a:gd name="adj1" fmla="val 104813"/>
              <a:gd name="adj2" fmla="val 541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17251-4468-3A64-21C3-5D452ADF6C39}"/>
              </a:ext>
            </a:extLst>
          </p:cNvPr>
          <p:cNvSpPr txBox="1"/>
          <p:nvPr/>
        </p:nvSpPr>
        <p:spPr>
          <a:xfrm>
            <a:off x="1129214" y="1014381"/>
            <a:ext cx="1408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상태변수</a:t>
            </a:r>
            <a:r>
              <a:rPr lang="en-US" altLang="ko-KR" b="0" dirty="0">
                <a:latin typeface="+mn-ea"/>
                <a:ea typeface="+mn-ea"/>
              </a:rPr>
              <a:t>(state)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00A3B-F457-15DA-F8BB-0299126CA83C}"/>
              </a:ext>
            </a:extLst>
          </p:cNvPr>
          <p:cNvSpPr txBox="1"/>
          <p:nvPr/>
        </p:nvSpPr>
        <p:spPr>
          <a:xfrm>
            <a:off x="3892181" y="1006092"/>
            <a:ext cx="148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행동변수</a:t>
            </a:r>
            <a:r>
              <a:rPr lang="en-US" altLang="ko-KR" b="0" dirty="0">
                <a:latin typeface="+mn-ea"/>
                <a:ea typeface="+mn-ea"/>
              </a:rPr>
              <a:t>(action)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C168B8-A61B-D79C-12A8-C26D628FE105}"/>
              </a:ext>
            </a:extLst>
          </p:cNvPr>
          <p:cNvSpPr txBox="1"/>
          <p:nvPr/>
        </p:nvSpPr>
        <p:spPr>
          <a:xfrm>
            <a:off x="7024001" y="997236"/>
            <a:ext cx="1489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latin typeface="+mn-ea"/>
                <a:ea typeface="+mn-ea"/>
              </a:rPr>
              <a:t>목표변수</a:t>
            </a:r>
            <a:r>
              <a:rPr lang="en-US" altLang="ko-KR" b="0" dirty="0">
                <a:latin typeface="+mn-ea"/>
                <a:ea typeface="+mn-ea"/>
              </a:rPr>
              <a:t>(target)</a:t>
            </a:r>
            <a:endParaRPr lang="ko-KR" altLang="en-US" b="0" dirty="0">
              <a:latin typeface="+mn-ea"/>
              <a:ea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AA0D816-0B21-5657-4C02-124A2C69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3" y="4324658"/>
            <a:ext cx="9116697" cy="1905266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9B7036-121F-D9F7-2BD7-DB978497379E}"/>
              </a:ext>
            </a:extLst>
          </p:cNvPr>
          <p:cNvSpPr/>
          <p:nvPr/>
        </p:nvSpPr>
        <p:spPr bwMode="auto">
          <a:xfrm>
            <a:off x="866776" y="5301724"/>
            <a:ext cx="2038350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0C801F-EA91-9A09-16D9-E8DC7D13243C}"/>
              </a:ext>
            </a:extLst>
          </p:cNvPr>
          <p:cNvSpPr/>
          <p:nvPr/>
        </p:nvSpPr>
        <p:spPr bwMode="auto">
          <a:xfrm>
            <a:off x="4648201" y="5301724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408B3D3-5166-8284-74E6-A1C6D6833940}"/>
              </a:ext>
            </a:extLst>
          </p:cNvPr>
          <p:cNvSpPr/>
          <p:nvPr/>
        </p:nvSpPr>
        <p:spPr bwMode="auto">
          <a:xfrm>
            <a:off x="8086367" y="5601340"/>
            <a:ext cx="1466849" cy="23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2AC396A-A46C-1C89-E16A-89FC3485BF7D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905125" y="2887789"/>
            <a:ext cx="174307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98096C0-3DB9-9DDC-3977-A83F60F3B51B}"/>
              </a:ext>
            </a:extLst>
          </p:cNvPr>
          <p:cNvSpPr txBox="1"/>
          <p:nvPr/>
        </p:nvSpPr>
        <p:spPr>
          <a:xfrm>
            <a:off x="3297886" y="288778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solidFill>
                  <a:srgbClr val="FF0000"/>
                </a:solidFill>
                <a:latin typeface="+mn-ea"/>
                <a:ea typeface="+mn-ea"/>
              </a:rPr>
              <a:t>강화학습</a:t>
            </a:r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EBCF3693-C84B-9926-F815-D8E466B2158E}"/>
              </a:ext>
            </a:extLst>
          </p:cNvPr>
          <p:cNvSpPr txBox="1">
            <a:spLocks/>
          </p:cNvSpPr>
          <p:nvPr/>
        </p:nvSpPr>
        <p:spPr>
          <a:xfrm>
            <a:off x="209708" y="3814961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dirty="0"/>
              <a:t>NOx </a:t>
            </a:r>
            <a:r>
              <a:rPr kumimoji="0" lang="ko-KR" altLang="en-US" dirty="0"/>
              <a:t>예측 </a:t>
            </a:r>
            <a:r>
              <a:rPr kumimoji="0" lang="en-US" altLang="ko-KR" dirty="0"/>
              <a:t>(PLS)</a:t>
            </a:r>
            <a:endParaRPr kumimoji="0"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28C52A6F-0B88-CFB5-42A6-6DC779A1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484" y="2148276"/>
            <a:ext cx="1113274" cy="24568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C904902-59A8-4CD8-A079-070ED7A4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096" y="4730144"/>
            <a:ext cx="1113274" cy="2456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E9C3557-AF0E-2D3D-8F64-453C00FA6792}"/>
              </a:ext>
            </a:extLst>
          </p:cNvPr>
          <p:cNvSpPr txBox="1"/>
          <p:nvPr/>
        </p:nvSpPr>
        <p:spPr>
          <a:xfrm>
            <a:off x="8411096" y="604193"/>
            <a:ext cx="15149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dirty="0">
                <a:latin typeface="+mn-ea"/>
                <a:ea typeface="+mn-ea"/>
              </a:rPr>
              <a:t>※ </a:t>
            </a:r>
            <a:r>
              <a:rPr lang="ko-KR" altLang="en-US" sz="1100" b="0" dirty="0">
                <a:latin typeface="+mn-ea"/>
                <a:ea typeface="+mn-ea"/>
              </a:rPr>
              <a:t>실험결과 </a:t>
            </a:r>
            <a:r>
              <a:rPr lang="en-US" altLang="ko-KR" sz="1100" b="0" dirty="0">
                <a:latin typeface="+mn-ea"/>
                <a:ea typeface="+mn-ea"/>
              </a:rPr>
              <a:t>(</a:t>
            </a:r>
            <a:r>
              <a:rPr lang="ko-KR" altLang="en-US" sz="1100" b="0" dirty="0">
                <a:latin typeface="+mn-ea"/>
                <a:ea typeface="+mn-ea"/>
              </a:rPr>
              <a:t>2509</a:t>
            </a:r>
            <a:r>
              <a:rPr lang="en-US" altLang="ko-KR" sz="1100" b="0" dirty="0">
                <a:latin typeface="+mn-ea"/>
                <a:ea typeface="+mn-ea"/>
              </a:rPr>
              <a:t>23)</a:t>
            </a:r>
            <a:endParaRPr lang="ko-KR" altLang="en-US" sz="1100" b="0" dirty="0"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A9C5C3-D251-FA58-04BE-D34C4B76A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734" y="3064552"/>
            <a:ext cx="838317" cy="5620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3091D72-B1D5-E3A4-ACBE-7B520DC4A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397" y="3064552"/>
            <a:ext cx="838317" cy="5620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4646E4-6017-9DB4-8C5D-783E2D5B8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734" y="5601340"/>
            <a:ext cx="838317" cy="562053"/>
          </a:xfrm>
          <a:prstGeom prst="rect">
            <a:avLst/>
          </a:prstGeom>
        </p:spPr>
      </p:pic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F2F27EE-DAE1-C5A9-4E03-D78BF3300986}"/>
              </a:ext>
            </a:extLst>
          </p:cNvPr>
          <p:cNvCxnSpPr>
            <a:cxnSpLocks/>
            <a:stCxn id="18" idx="2"/>
            <a:endCxn id="20" idx="1"/>
          </p:cNvCxnSpPr>
          <p:nvPr/>
        </p:nvCxnSpPr>
        <p:spPr>
          <a:xfrm rot="16200000" flipH="1">
            <a:off x="4895356" y="2528340"/>
            <a:ext cx="181606" cy="620041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5772A51B-B1CC-5140-9BB2-7F10386AE345}"/>
              </a:ext>
            </a:extLst>
          </p:cNvPr>
          <p:cNvCxnSpPr>
            <a:stCxn id="19" idx="2"/>
            <a:endCxn id="20" idx="1"/>
          </p:cNvCxnSpPr>
          <p:nvPr/>
        </p:nvCxnSpPr>
        <p:spPr>
          <a:xfrm rot="16200000" flipH="1">
            <a:off x="6643193" y="4276177"/>
            <a:ext cx="181606" cy="270474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F29345C-AA2A-BC59-B405-B706D09F8788}"/>
              </a:ext>
            </a:extLst>
          </p:cNvPr>
          <p:cNvSpPr txBox="1"/>
          <p:nvPr/>
        </p:nvSpPr>
        <p:spPr>
          <a:xfrm>
            <a:off x="5156747" y="5676190"/>
            <a:ext cx="471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solidFill>
                  <a:srgbClr val="FF0000"/>
                </a:solidFill>
                <a:latin typeface="+mn-ea"/>
                <a:ea typeface="+mn-ea"/>
              </a:rPr>
              <a:t>PLS</a:t>
            </a:r>
            <a:endParaRPr lang="ko-KR" altLang="en-US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8C9745F-0271-E01E-82CC-88C0BB253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898" y="5872194"/>
            <a:ext cx="996445" cy="30110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32F469D-893F-9A9F-AFA0-0BB990155A20}"/>
              </a:ext>
            </a:extLst>
          </p:cNvPr>
          <p:cNvSpPr/>
          <p:nvPr/>
        </p:nvSpPr>
        <p:spPr bwMode="auto">
          <a:xfrm>
            <a:off x="5628351" y="4436883"/>
            <a:ext cx="486698" cy="172959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1896"/>
            <a:r>
              <a:rPr lang="ko-KR" altLang="en-US" sz="1200" dirty="0" err="1">
                <a:solidFill>
                  <a:srgbClr val="CECE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추천값</a:t>
            </a:r>
            <a:endParaRPr lang="ko-KR" altLang="en-US" dirty="0">
              <a:solidFill>
                <a:srgbClr val="CECEC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CE2450-8DF7-CFCD-1627-C1199C07CADE}"/>
              </a:ext>
            </a:extLst>
          </p:cNvPr>
          <p:cNvSpPr/>
          <p:nvPr/>
        </p:nvSpPr>
        <p:spPr bwMode="auto">
          <a:xfrm>
            <a:off x="5628353" y="1890261"/>
            <a:ext cx="486698" cy="172959"/>
          </a:xfrm>
          <a:prstGeom prst="rect">
            <a:avLst/>
          </a:prstGeom>
          <a:solidFill>
            <a:srgbClr val="2F2F2F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911896"/>
            <a:r>
              <a:rPr lang="ko-KR" altLang="en-US" sz="1200" dirty="0" err="1">
                <a:solidFill>
                  <a:srgbClr val="CECEC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추천값</a:t>
            </a:r>
            <a:endParaRPr lang="ko-KR" altLang="en-US" dirty="0">
              <a:solidFill>
                <a:srgbClr val="CECEC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3653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E20E-3711-CF50-BF3B-58CD0D9B0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E83F4B-5468-4DCB-BE9A-4FDED404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2.3 TD3+BC </a:t>
            </a:r>
            <a:r>
              <a:rPr lang="ko-KR" altLang="en-US" dirty="0">
                <a:latin typeface="+mn-ea"/>
              </a:rPr>
              <a:t>시뮬레이션 결과 </a:t>
            </a:r>
            <a:r>
              <a:rPr lang="en-US" altLang="ko-KR" dirty="0">
                <a:latin typeface="+mn-ea"/>
              </a:rPr>
              <a:t>(1/2)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73F796-23C7-1514-E8ED-8DED17526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9495B82-DF20-B2EC-786A-17B1EC4716C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b="0" dirty="0"/>
                  <a:t>값을 논문에 기재된 대로 수정 </a:t>
                </a:r>
                <a:r>
                  <a:rPr lang="en-US" altLang="ko-KR" b="0" dirty="0"/>
                  <a:t>(</a:t>
                </a:r>
                <a:r>
                  <a:rPr lang="ko-KR" altLang="en-US" b="0" dirty="0"/>
                  <a:t>일주일 데이터</a:t>
                </a:r>
                <a:r>
                  <a:rPr lang="en-US" altLang="ko-KR" b="0" dirty="0"/>
                  <a:t>)</a:t>
                </a:r>
                <a:endParaRPr lang="ko-KR" altLang="en-US" b="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9495B82-DF20-B2EC-786A-17B1EC471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53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라인, 그래프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8C46D0-2B3A-BF82-089D-C2898D888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617" y="4809203"/>
            <a:ext cx="7289978" cy="1775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개체 틀 2">
                <a:extLst>
                  <a:ext uri="{FF2B5EF4-FFF2-40B4-BE49-F238E27FC236}">
                    <a16:creationId xmlns:a16="http://schemas.microsoft.com/office/drawing/2014/main" id="{493FB09B-BFBE-17C5-08B1-396702C6D5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1385145"/>
              </a:xfrm>
            </p:spPr>
            <p:txBody>
              <a:bodyPr/>
              <a:lstStyle/>
              <a:p>
                <a:pPr marL="180000" indent="-1800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/>
                  <a:t>기존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 dirty="0"/>
                  <a:t>값을 </a:t>
                </a:r>
                <a:r>
                  <a:rPr lang="ko-KR" altLang="en-US" dirty="0" err="1"/>
                  <a:t>고정값으로</a:t>
                </a:r>
                <a:r>
                  <a:rPr lang="ko-KR" altLang="en-US" dirty="0"/>
                  <a:t> 운영</a:t>
                </a:r>
                <a:r>
                  <a:rPr lang="en-US" altLang="ko-KR" dirty="0"/>
                  <a:t>(=2.5)</a:t>
                </a:r>
              </a:p>
              <a:p>
                <a:pPr marL="180000" indent="-1800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/>
                  <a:t>현행 </a:t>
                </a:r>
                <a:r>
                  <a:rPr lang="en-US" altLang="ko-KR" dirty="0"/>
                  <a:t>: Q</a:t>
                </a:r>
                <a:r>
                  <a:rPr lang="ko-KR" altLang="en-US" dirty="0"/>
                  <a:t> 절댓값의 평균에 반비례하도록 하는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ko-KR" altLang="en-US" dirty="0"/>
                  <a:t>값 도입</a:t>
                </a:r>
                <a:endParaRPr lang="en-US" altLang="ko-KR" dirty="0"/>
              </a:p>
              <a:p>
                <a:pPr marL="540000" lvl="1" indent="-1800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200" dirty="0"/>
                  <a:t>critic loss</a:t>
                </a:r>
                <a:r>
                  <a:rPr lang="ko-KR" altLang="en-US" sz="1200" dirty="0"/>
                  <a:t>의 단조감소성이 보장되고 예측 </a:t>
                </a:r>
                <a:r>
                  <a:rPr lang="en-US" altLang="ko-KR" sz="1200" dirty="0"/>
                  <a:t>NOx</a:t>
                </a:r>
                <a:r>
                  <a:rPr lang="ko-KR" altLang="en-US" sz="1200" dirty="0"/>
                  <a:t>가 </a:t>
                </a:r>
                <a:r>
                  <a:rPr lang="ko-KR" altLang="en-US" sz="1200" dirty="0" err="1"/>
                  <a:t>목표값을</a:t>
                </a:r>
                <a:r>
                  <a:rPr lang="ko-KR" altLang="en-US" sz="1200" dirty="0"/>
                  <a:t> 추종하도록 작동하는 것을 확인</a:t>
                </a:r>
                <a:endParaRPr lang="en-US" altLang="ko-KR" sz="1200" dirty="0"/>
              </a:p>
            </p:txBody>
          </p:sp>
        </mc:Choice>
        <mc:Fallback xmlns="">
          <p:sp>
            <p:nvSpPr>
              <p:cNvPr id="10" name="텍스트 개체 틀 2">
                <a:extLst>
                  <a:ext uri="{FF2B5EF4-FFF2-40B4-BE49-F238E27FC236}">
                    <a16:creationId xmlns:a16="http://schemas.microsoft.com/office/drawing/2014/main" id="{493FB09B-BFBE-17C5-08B1-396702C6D5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1385145"/>
              </a:xfrm>
              <a:blipFill>
                <a:blip r:embed="rId4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1399C2-BABC-66A3-820B-14F17DF934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839" y="2657539"/>
            <a:ext cx="7289978" cy="21374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44BEA0F-D2F0-0DA2-9EDC-1B1A9A57C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567" y="1955296"/>
            <a:ext cx="2181529" cy="62873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100A510-BB9F-D3D7-FA7A-9193935463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761" y="2031507"/>
            <a:ext cx="479174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78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AD49-86E8-7876-3716-230042CE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037CCC6-4829-A3AB-21B7-A454B7C0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2.3 TD3+BC </a:t>
            </a:r>
            <a:r>
              <a:rPr lang="ko-KR" altLang="en-US" dirty="0">
                <a:latin typeface="+mn-ea"/>
              </a:rPr>
              <a:t>시뮬레이션 결과 </a:t>
            </a:r>
            <a:r>
              <a:rPr lang="en-US" altLang="ko-KR" dirty="0">
                <a:latin typeface="+mn-ea"/>
              </a:rPr>
              <a:t>(2/2)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0D2DEE-C828-E746-5A73-335B647013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CC36E4F-9608-A702-8CA6-5CCE1B63A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계</m:t>
                    </m:r>
                  </m:oMath>
                </a14:m>
                <a:r>
                  <a:rPr lang="ko-KR" altLang="en-US" b="0" dirty="0"/>
                  <a:t>절별 데이터 전체로 학습 </a:t>
                </a:r>
                <a:r>
                  <a:rPr lang="en-US" altLang="ko-KR" b="0" dirty="0"/>
                  <a:t>(</a:t>
                </a:r>
                <a:r>
                  <a:rPr lang="ko-KR" altLang="en-US" b="0" dirty="0"/>
                  <a:t>월 데이터</a:t>
                </a:r>
                <a:r>
                  <a:rPr lang="en-US" altLang="ko-KR" b="0" dirty="0"/>
                  <a:t>)</a:t>
                </a:r>
                <a:endParaRPr lang="ko-KR" altLang="en-US" b="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CC36E4F-9608-A702-8CA6-5CCE1B63A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53"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텍스트 개체 틀 2">
                <a:extLst>
                  <a:ext uri="{FF2B5EF4-FFF2-40B4-BE49-F238E27FC236}">
                    <a16:creationId xmlns:a16="http://schemas.microsoft.com/office/drawing/2014/main" id="{DAE19F82-1AEB-8B9A-B6DC-A111F133B23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1385145"/>
              </a:xfrm>
            </p:spPr>
            <p:txBody>
              <a:bodyPr/>
              <a:lstStyle/>
              <a:p>
                <a:pPr marL="180000" indent="-1800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/>
                  <a:t>기존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dirty="0"/>
                  <a:t>령 데이터를 일주일씩 잘라서 학습</a:t>
                </a:r>
                <a:endParaRPr lang="en-US" altLang="ko-KR" dirty="0"/>
              </a:p>
              <a:p>
                <a:pPr marL="180000" indent="-1800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/>
                  <a:t>현행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수령 데이터 전체를 학습</a:t>
                </a:r>
                <a:endParaRPr lang="en-US" altLang="ko-KR" sz="1200" dirty="0"/>
              </a:p>
            </p:txBody>
          </p:sp>
        </mc:Choice>
        <mc:Fallback xmlns="">
          <p:sp>
            <p:nvSpPr>
              <p:cNvPr id="10" name="텍스트 개체 틀 2">
                <a:extLst>
                  <a:ext uri="{FF2B5EF4-FFF2-40B4-BE49-F238E27FC236}">
                    <a16:creationId xmlns:a16="http://schemas.microsoft.com/office/drawing/2014/main" id="{DAE19F82-1AEB-8B9A-B6DC-A111F133B2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1385145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라인, 그래프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594A6D-254B-57B4-7BA7-2638B24585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777" y="4610472"/>
            <a:ext cx="7158446" cy="1873607"/>
          </a:xfrm>
          <a:prstGeom prst="rect">
            <a:avLst/>
          </a:prstGeom>
        </p:spPr>
      </p:pic>
      <p:pic>
        <p:nvPicPr>
          <p:cNvPr id="9" name="그림 8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A2697C-B524-08CA-3E54-132C475C90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777" y="2451316"/>
            <a:ext cx="7158446" cy="20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64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34541-36CA-F4E7-8E43-7944D469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95A5AD-E903-59E9-441C-39FD7790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3.1 </a:t>
            </a:r>
            <a:r>
              <a:rPr lang="ko-KR" altLang="en-US" dirty="0">
                <a:latin typeface="+mn-ea"/>
              </a:rPr>
              <a:t>이슈</a:t>
            </a:r>
            <a:r>
              <a:rPr lang="en-US" altLang="ko-KR" dirty="0">
                <a:latin typeface="+mn-ea"/>
              </a:rPr>
              <a:t>1 : </a:t>
            </a:r>
            <a:r>
              <a:rPr lang="ko-KR" altLang="en-US" dirty="0">
                <a:latin typeface="+mn-ea"/>
              </a:rPr>
              <a:t>학습의 안정성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DF56BD-3162-FE77-11FA-EE7F643F80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F43C796-B8D5-900F-66F4-DEA4C363A0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같은 조건으로 실험하더라도 학습하는 정책이 달라지는 현상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AC80A6-29BF-BC14-D0DE-D7EBD4C7E8D8}"/>
              </a:ext>
            </a:extLst>
          </p:cNvPr>
          <p:cNvSpPr txBox="1"/>
          <p:nvPr/>
        </p:nvSpPr>
        <p:spPr>
          <a:xfrm>
            <a:off x="8372150" y="692619"/>
            <a:ext cx="15149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dirty="0">
                <a:latin typeface="+mn-ea"/>
                <a:ea typeface="+mn-ea"/>
              </a:rPr>
              <a:t>251014_1435 ~ 1438</a:t>
            </a:r>
            <a:endParaRPr lang="ko-KR" altLang="en-US" sz="1100" b="0" dirty="0">
              <a:latin typeface="+mn-ea"/>
              <a:ea typeface="+mn-ea"/>
            </a:endParaRPr>
          </a:p>
        </p:txBody>
      </p:sp>
      <p:sp>
        <p:nvSpPr>
          <p:cNvPr id="47" name="텍스트 개체 틀 2">
            <a:extLst>
              <a:ext uri="{FF2B5EF4-FFF2-40B4-BE49-F238E27FC236}">
                <a16:creationId xmlns:a16="http://schemas.microsoft.com/office/drawing/2014/main" id="{89777E83-9A70-9794-A244-BDBD791545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5"/>
            <a:ext cx="9270641" cy="108146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예측되는 </a:t>
            </a:r>
            <a:r>
              <a:rPr lang="en-US" altLang="ko-KR" dirty="0"/>
              <a:t>NOx</a:t>
            </a:r>
            <a:r>
              <a:rPr lang="ko-KR" altLang="en-US" dirty="0"/>
              <a:t>의 추세는 대체로 균일하고 </a:t>
            </a:r>
            <a:r>
              <a:rPr lang="en-US" altLang="ko-KR" dirty="0"/>
              <a:t>NOx</a:t>
            </a:r>
            <a:r>
              <a:rPr lang="ko-KR" altLang="en-US" dirty="0"/>
              <a:t>의 저감 목적도 어느 정도 성취됨 </a:t>
            </a:r>
            <a:r>
              <a:rPr lang="en-US" altLang="ko-KR" dirty="0"/>
              <a:t>(</a:t>
            </a:r>
            <a:r>
              <a:rPr lang="ko-KR" altLang="en-US" dirty="0"/>
              <a:t>가장</a:t>
            </a:r>
            <a:r>
              <a:rPr lang="en-US" altLang="ko-KR" dirty="0"/>
              <a:t> </a:t>
            </a:r>
            <a:r>
              <a:rPr lang="ko-KR" altLang="en-US" dirty="0"/>
              <a:t>오른쪽 그래프들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하지만 학습되는 정책 </a:t>
            </a:r>
            <a:r>
              <a:rPr lang="en-US" altLang="ko-KR" dirty="0"/>
              <a:t>(</a:t>
            </a:r>
            <a:r>
              <a:rPr lang="ko-KR" altLang="en-US" dirty="0"/>
              <a:t>즉 행동</a:t>
            </a:r>
            <a:r>
              <a:rPr lang="en-US" altLang="ko-KR" dirty="0"/>
              <a:t>)</a:t>
            </a:r>
            <a:r>
              <a:rPr lang="ko-KR" altLang="en-US" dirty="0"/>
              <a:t>이 시뮬레이션마다 다르게 나타나는 경향을 보임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‘</a:t>
            </a:r>
            <a:r>
              <a:rPr lang="ko-KR" altLang="en-US" dirty="0"/>
              <a:t>희석질소를 많이 넣어서 </a:t>
            </a:r>
            <a:r>
              <a:rPr lang="en-US" altLang="ko-KR" dirty="0"/>
              <a:t>NOx</a:t>
            </a:r>
            <a:r>
              <a:rPr lang="ko-KR" altLang="en-US" dirty="0"/>
              <a:t>가 저감된다</a:t>
            </a:r>
            <a:r>
              <a:rPr lang="en-US" altLang="ko-KR" dirty="0"/>
              <a:t>’</a:t>
            </a:r>
            <a:r>
              <a:rPr lang="ko-KR" altLang="en-US" dirty="0"/>
              <a:t>는 예상이 반드시 들어맞지 않음</a:t>
            </a:r>
            <a:r>
              <a:rPr lang="en-US" altLang="ko-KR" dirty="0"/>
              <a:t>.</a:t>
            </a:r>
          </a:p>
        </p:txBody>
      </p:sp>
      <p:pic>
        <p:nvPicPr>
          <p:cNvPr id="7" name="그림 6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1C06B7-03EA-CDEF-3F84-1E39607FA4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" y="2475880"/>
            <a:ext cx="2899952" cy="953119"/>
          </a:xfrm>
          <a:prstGeom prst="rect">
            <a:avLst/>
          </a:prstGeom>
        </p:spPr>
      </p:pic>
      <p:pic>
        <p:nvPicPr>
          <p:cNvPr id="10" name="그림 9" descr="라인, 그래프, 폰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49E050-48C1-393F-B401-76978AE0DF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16" y="2440190"/>
            <a:ext cx="3372384" cy="988810"/>
          </a:xfrm>
          <a:prstGeom prst="rect">
            <a:avLst/>
          </a:prstGeom>
        </p:spPr>
      </p:pic>
      <p:pic>
        <p:nvPicPr>
          <p:cNvPr id="13" name="그림 12" descr="라인, 그래프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1F05A1-8EEE-49FC-C9A4-4F804BB4A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186" y="2475880"/>
            <a:ext cx="3673732" cy="953119"/>
          </a:xfrm>
          <a:prstGeom prst="rect">
            <a:avLst/>
          </a:prstGeom>
        </p:spPr>
      </p:pic>
      <p:pic>
        <p:nvPicPr>
          <p:cNvPr id="15" name="그림 14" descr="라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FB2EC0-DB90-DFF7-C162-292DF81465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" y="3600034"/>
            <a:ext cx="2899952" cy="953120"/>
          </a:xfrm>
          <a:prstGeom prst="rect">
            <a:avLst/>
          </a:prstGeom>
        </p:spPr>
      </p:pic>
      <p:pic>
        <p:nvPicPr>
          <p:cNvPr id="17" name="그림 16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00C68-1C12-E63A-4E61-F7E7B1C6BA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630" y="3585576"/>
            <a:ext cx="3299970" cy="967578"/>
          </a:xfrm>
          <a:prstGeom prst="rect">
            <a:avLst/>
          </a:prstGeom>
        </p:spPr>
      </p:pic>
      <p:pic>
        <p:nvPicPr>
          <p:cNvPr id="19" name="그림 18" descr="라인, 그래프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56E908-765B-33B8-176B-641F3F53027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600" y="3585576"/>
            <a:ext cx="3601400" cy="942608"/>
          </a:xfrm>
          <a:prstGeom prst="rect">
            <a:avLst/>
          </a:prstGeom>
        </p:spPr>
      </p:pic>
      <p:pic>
        <p:nvPicPr>
          <p:cNvPr id="21" name="그림 20" descr="그래프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6E5F76-F046-50C3-88C2-91025E2050D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6" y="4724188"/>
            <a:ext cx="2899953" cy="953120"/>
          </a:xfrm>
          <a:prstGeom prst="rect">
            <a:avLst/>
          </a:prstGeom>
        </p:spPr>
      </p:pic>
      <p:pic>
        <p:nvPicPr>
          <p:cNvPr id="23" name="그림 22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1E1E2B-6FC7-127C-74E7-43EBF062E9F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629" y="4709730"/>
            <a:ext cx="3299971" cy="967578"/>
          </a:xfrm>
          <a:prstGeom prst="rect">
            <a:avLst/>
          </a:prstGeom>
        </p:spPr>
      </p:pic>
      <p:pic>
        <p:nvPicPr>
          <p:cNvPr id="25" name="그림 24" descr="라인, 그래프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2E0549-22FC-00CF-1F80-6A69C863AA1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601" y="4684761"/>
            <a:ext cx="3582496" cy="937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58210-ED74-6D6F-EDDA-6E0C9989376F}"/>
              </a:ext>
            </a:extLst>
          </p:cNvPr>
          <p:cNvSpPr txBox="1"/>
          <p:nvPr/>
        </p:nvSpPr>
        <p:spPr>
          <a:xfrm>
            <a:off x="632208" y="5823373"/>
            <a:ext cx="8875686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같은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조건인데도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추천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희석질소량이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시뮬레이션할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떄마다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바뀌는 것은 심각한 문제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학습이 제대로 일어나지 않았다는 뜻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2533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78C7-28CE-4A8B-8B26-A495EBB9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D1BD1C-C8D2-88B4-14F5-5C8DCB08D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3.2 </a:t>
            </a:r>
            <a:r>
              <a:rPr lang="ko-KR" altLang="en-US" dirty="0">
                <a:latin typeface="+mn-ea"/>
              </a:rPr>
              <a:t>이슈</a:t>
            </a:r>
            <a:r>
              <a:rPr lang="en-US" altLang="ko-KR" dirty="0">
                <a:latin typeface="+mn-ea"/>
              </a:rPr>
              <a:t>2 : NOx </a:t>
            </a:r>
            <a:r>
              <a:rPr lang="ko-KR" altLang="en-US" dirty="0">
                <a:latin typeface="+mn-ea"/>
              </a:rPr>
              <a:t>예측모델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1402DB-134E-29FA-C8E1-9C53B357AC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2383D7-C61E-0D59-64CE-74E999F33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NOx </a:t>
            </a:r>
            <a:r>
              <a:rPr lang="ko-KR" altLang="en-US" dirty="0"/>
              <a:t>예측 모델의 적정성 이슈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텍스트 개체 틀 2">
                <a:extLst>
                  <a:ext uri="{FF2B5EF4-FFF2-40B4-BE49-F238E27FC236}">
                    <a16:creationId xmlns:a16="http://schemas.microsoft.com/office/drawing/2014/main" id="{360E84F0-4BC7-1753-E2F5-32E13325C6E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5"/>
                <a:ext cx="9270641" cy="1777863"/>
              </a:xfrm>
            </p:spPr>
            <p:txBody>
              <a:bodyPr/>
              <a:lstStyle/>
              <a:p>
                <a:pPr marL="180000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NOx</a:t>
                </a:r>
                <a:r>
                  <a:rPr lang="ko-KR" altLang="en-US" dirty="0"/>
                  <a:t>를 예측하는 </a:t>
                </a:r>
                <a:r>
                  <a:rPr lang="en-US" altLang="ko-KR" dirty="0"/>
                  <a:t>PLS </a:t>
                </a:r>
                <a:r>
                  <a:rPr lang="ko-KR" altLang="en-US" dirty="0"/>
                  <a:t>모델의 </a:t>
                </a:r>
                <a:r>
                  <a:rPr lang="ko-KR" altLang="en-US" dirty="0" err="1"/>
                  <a:t>희석질소유량</a:t>
                </a:r>
                <a:r>
                  <a:rPr lang="ko-KR" altLang="en-US" dirty="0"/>
                  <a:t> 계수는 음수인 것으로 기대되나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경우에 따라 양수로 설정됨</a:t>
                </a:r>
                <a:r>
                  <a:rPr lang="en-US" altLang="ko-KR" dirty="0"/>
                  <a:t>.</a:t>
                </a: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𝑁𝑂𝑥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농도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합성가스유량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발전기출력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희석질소유량</m:t>
                      </m:r>
                    </m:oMath>
                  </m:oMathPara>
                </a14:m>
                <a:endParaRPr lang="ko-KR" altLang="en-US" sz="1400" dirty="0"/>
              </a:p>
              <a:p>
                <a:pPr marL="540000" lvl="1" indent="-1800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희석질소를 주입함에 따라 </a:t>
                </a:r>
                <a:r>
                  <a:rPr lang="en-US" altLang="ko-KR" sz="1200" dirty="0"/>
                  <a:t>NOx</a:t>
                </a:r>
                <a:r>
                  <a:rPr lang="ko-KR" altLang="en-US" sz="1200" dirty="0"/>
                  <a:t>가 저감되어야 하나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그렇지 </a:t>
                </a:r>
                <a:r>
                  <a:rPr lang="ko-KR" altLang="en-US" sz="1200" dirty="0" err="1"/>
                  <a:t>않아보이는</a:t>
                </a:r>
                <a:r>
                  <a:rPr lang="ko-KR" altLang="en-US" sz="1200" dirty="0"/>
                  <a:t> 결과가 나타남</a:t>
                </a:r>
                <a:r>
                  <a:rPr lang="en-US" altLang="ko-KR" sz="1200" dirty="0"/>
                  <a:t>.</a:t>
                </a:r>
              </a:p>
              <a:p>
                <a:pPr marL="540000" lvl="1" indent="-1800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200" dirty="0" err="1"/>
                  <a:t>희석질소유량과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NOx </a:t>
                </a:r>
                <a:r>
                  <a:rPr lang="ko-KR" altLang="en-US" sz="1200" dirty="0"/>
                  <a:t>농도 사이의 상관관계는 </a:t>
                </a:r>
                <a:r>
                  <a:rPr lang="en-US" altLang="ko-KR" sz="1200" dirty="0"/>
                  <a:t>-0.02 </a:t>
                </a:r>
                <a:r>
                  <a:rPr lang="ko-KR" altLang="en-US" sz="1200" dirty="0"/>
                  <a:t>정도로 상관관계가 거의 없는 편에 속함</a:t>
                </a:r>
                <a:r>
                  <a:rPr lang="en-US" altLang="ko-KR" sz="1200" dirty="0"/>
                  <a:t>.</a:t>
                </a:r>
              </a:p>
              <a:p>
                <a:pPr marL="180000" indent="-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PLS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r2 </a:t>
                </a:r>
                <a:r>
                  <a:rPr lang="ko-KR" altLang="en-US" dirty="0"/>
                  <a:t>값이 매우 낮은 경향을 보임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아래 사례에서 </a:t>
                </a:r>
                <a:r>
                  <a:rPr lang="en-US" altLang="ko-KR" dirty="0"/>
                  <a:t>0.23)</a:t>
                </a:r>
              </a:p>
            </p:txBody>
          </p:sp>
        </mc:Choice>
        <mc:Fallback xmlns="">
          <p:sp>
            <p:nvSpPr>
              <p:cNvPr id="12" name="텍스트 개체 틀 2">
                <a:extLst>
                  <a:ext uri="{FF2B5EF4-FFF2-40B4-BE49-F238E27FC236}">
                    <a16:creationId xmlns:a16="http://schemas.microsoft.com/office/drawing/2014/main" id="{360E84F0-4BC7-1753-E2F5-32E13325C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5"/>
                <a:ext cx="9270641" cy="1777863"/>
              </a:xfr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 descr="라인, 그래프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9B69D-7E19-0BA1-A5AF-8D9B48AB41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66" y="5551069"/>
            <a:ext cx="3862009" cy="940445"/>
          </a:xfrm>
          <a:prstGeom prst="rect">
            <a:avLst/>
          </a:prstGeom>
        </p:spPr>
      </p:pic>
      <p:pic>
        <p:nvPicPr>
          <p:cNvPr id="17" name="그림 16" descr="텍스트, 그래프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256233-EAE1-4542-F5BC-FD73A5E319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9" y="3021214"/>
            <a:ext cx="3862009" cy="1269317"/>
          </a:xfrm>
          <a:prstGeom prst="rect">
            <a:avLst/>
          </a:prstGeom>
        </p:spPr>
      </p:pic>
      <p:pic>
        <p:nvPicPr>
          <p:cNvPr id="19" name="그림 18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4960F-F28E-F3BD-EA4D-27DE354007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08" y="4374250"/>
            <a:ext cx="3862009" cy="113237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CE93804-00B2-9793-A30E-FB0E5A0A3DB5}"/>
              </a:ext>
            </a:extLst>
          </p:cNvPr>
          <p:cNvGrpSpPr/>
          <p:nvPr/>
        </p:nvGrpSpPr>
        <p:grpSpPr>
          <a:xfrm>
            <a:off x="5681683" y="3187337"/>
            <a:ext cx="2844008" cy="3304178"/>
            <a:chOff x="5681683" y="2483538"/>
            <a:chExt cx="3644650" cy="400797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B4E25FF-A8B5-7BC8-156E-7FD290AE6DE7}"/>
                </a:ext>
              </a:extLst>
            </p:cNvPr>
            <p:cNvGrpSpPr/>
            <p:nvPr/>
          </p:nvGrpSpPr>
          <p:grpSpPr>
            <a:xfrm>
              <a:off x="5681683" y="2483538"/>
              <a:ext cx="3644650" cy="4007977"/>
              <a:chOff x="5681683" y="2483538"/>
              <a:chExt cx="3644650" cy="4007977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DFE3AEF-66A6-F203-9F4D-B25E3ACB8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81683" y="2483538"/>
                <a:ext cx="3644650" cy="1890923"/>
              </a:xfrm>
              <a:prstGeom prst="rect">
                <a:avLst/>
              </a:prstGeom>
            </p:spPr>
          </p:pic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D9D35089-ABBF-6956-C746-DD2A4CA9B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81683" y="4484189"/>
                <a:ext cx="3245440" cy="2007326"/>
              </a:xfrm>
              <a:prstGeom prst="rect">
                <a:avLst/>
              </a:prstGeom>
            </p:spPr>
          </p:pic>
        </p:grp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472B31D-E0DA-D23C-EB52-A42AEEA7D141}"/>
                </a:ext>
              </a:extLst>
            </p:cNvPr>
            <p:cNvCxnSpPr/>
            <p:nvPr/>
          </p:nvCxnSpPr>
          <p:spPr>
            <a:xfrm>
              <a:off x="5898356" y="4726781"/>
              <a:ext cx="107394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BFA8B6D7-0157-FF8E-ECD0-191C13B05D37}"/>
                </a:ext>
              </a:extLst>
            </p:cNvPr>
            <p:cNvCxnSpPr/>
            <p:nvPr/>
          </p:nvCxnSpPr>
          <p:spPr>
            <a:xfrm>
              <a:off x="5898356" y="4879181"/>
              <a:ext cx="107394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13A27FF-6DEA-4376-FEDA-6ABFE4638737}"/>
                </a:ext>
              </a:extLst>
            </p:cNvPr>
            <p:cNvCxnSpPr>
              <a:cxnSpLocks/>
            </p:cNvCxnSpPr>
            <p:nvPr/>
          </p:nvCxnSpPr>
          <p:spPr>
            <a:xfrm>
              <a:off x="7186613" y="5719762"/>
              <a:ext cx="114204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0598FEC-B71F-2316-AE5C-774338DF2B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2294" y="6310312"/>
              <a:ext cx="85486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0278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0A84-CBBE-C9A6-86CB-FD57E0852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0AD343B-1EB1-6C77-B562-6488A677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3.2 </a:t>
            </a:r>
            <a:r>
              <a:rPr lang="ko-KR" altLang="en-US" dirty="0">
                <a:latin typeface="+mn-ea"/>
              </a:rPr>
              <a:t>이슈</a:t>
            </a:r>
            <a:r>
              <a:rPr lang="en-US" altLang="ko-KR" dirty="0">
                <a:latin typeface="+mn-ea"/>
              </a:rPr>
              <a:t>2 : NOx </a:t>
            </a:r>
            <a:r>
              <a:rPr lang="ko-KR" altLang="en-US" dirty="0">
                <a:latin typeface="+mn-ea"/>
              </a:rPr>
              <a:t>예측모델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0E359B-7691-3914-4CF4-9442CF6863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9E764-23EE-66A2-A826-18903A8FA19A}"/>
              </a:ext>
            </a:extLst>
          </p:cNvPr>
          <p:cNvSpPr txBox="1"/>
          <p:nvPr/>
        </p:nvSpPr>
        <p:spPr>
          <a:xfrm>
            <a:off x="200471" y="822165"/>
            <a:ext cx="9596671" cy="3754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NOx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예측모델 관련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강화학습의 결과로 나타나는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NOx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농도를 예측하는 데 쓰인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PLS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모델의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r2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값이 낮은 값을 가지는 것은 매우 심각한 문제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장표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2.1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의 보상함수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설정시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이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PLS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모델을 사용해야 하니 이 모델은 더욱 중요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따라서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NOx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예측모델을 만들되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희석질소유량의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factor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가 일정 수준 이상인 모델을 만들어 활용 필요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강화학습으로 풀기에 적합한 문제인지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action(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희석질소유량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이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state(NOx)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에 미치는 영향이 뚜렷하지 않으므로 강화학습으로 풀기에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적합해보이지는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 않음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데이터 자체가 일관성이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없어보인다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.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어떤 강화학습 모델을 써도 결과가 나오지 않을 수 있다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TD3+BC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BC(behavior cloning)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는 데이터에 나타난 행동이 전문가 행동이 섞여 있을 때 그 행동을 모방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(BC)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하는 데에서 의미가 있음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.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반면 실제 데이터의 행동은 전문가 행동이 섞여 있지 않은 것으로 보임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타개책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state space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가 너무 넓은 경우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action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을 증가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감소의 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binary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한 방식으로 이해하는 방안이 있음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NOx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예측 모델 및 데이터의 일관성 확보를 위해 주요 데이터들이 변동한 부분만을 사용하는 방안이 있음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1"/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    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→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 NOx,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</a:rPr>
              <a:t>희석질소유량</a:t>
            </a:r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희석질소 오프셋의 관점에서 변동이 많이 일어난 데이터를 정제하여 수정된 코드에 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lvl="1"/>
            <a:r>
              <a:rPr lang="en-US" altLang="ko-KR" dirty="0">
                <a:solidFill>
                  <a:srgbClr val="FF0000"/>
                </a:solidFill>
                <a:latin typeface="+mn-ea"/>
                <a:ea typeface="+mn-ea"/>
              </a:rPr>
              <a:t>         </a:t>
            </a:r>
            <a:r>
              <a:rPr lang="ko-KR" altLang="en-US" dirty="0">
                <a:solidFill>
                  <a:srgbClr val="FF0000"/>
                </a:solidFill>
                <a:latin typeface="+mn-ea"/>
                <a:ea typeface="+mn-ea"/>
              </a:rPr>
              <a:t>적용할 예정</a:t>
            </a: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altLang="ko-KR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3403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6C6E-C75D-98E0-33EF-30B23014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2930F29-1A95-A4E1-3307-4156B9EE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3.3 </a:t>
            </a:r>
            <a:r>
              <a:rPr lang="ko-KR" altLang="en-US" dirty="0">
                <a:latin typeface="+mn-ea"/>
              </a:rPr>
              <a:t>이슈</a:t>
            </a:r>
            <a:r>
              <a:rPr lang="en-US" altLang="ko-KR" dirty="0">
                <a:latin typeface="+mn-ea"/>
              </a:rPr>
              <a:t>3 : </a:t>
            </a:r>
            <a:r>
              <a:rPr lang="ko-KR" altLang="en-US" dirty="0">
                <a:latin typeface="+mn-ea"/>
              </a:rPr>
              <a:t>기타 개선방안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2A255E-1C89-1AAC-296B-23288661BB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131EED-F616-727A-5593-417D24F4B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NOx </a:t>
            </a:r>
            <a:r>
              <a:rPr lang="ko-KR" altLang="en-US" dirty="0"/>
              <a:t>목표 추종과 학습 안정성을 위해 조정 가능한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목록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CA6EE72A-862E-D665-B7F0-D50BC517A7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5"/>
            <a:ext cx="9270641" cy="3771295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alpha (actor loss</a:t>
            </a:r>
            <a:r>
              <a:rPr lang="ko-KR" altLang="en-US" dirty="0"/>
              <a:t>에서의 </a:t>
            </a:r>
            <a:r>
              <a:rPr lang="en-US" altLang="ko-KR" dirty="0"/>
              <a:t>behavior cloning term </a:t>
            </a:r>
            <a:r>
              <a:rPr lang="ko-KR" altLang="en-US" dirty="0"/>
              <a:t>비율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2.5)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lr</a:t>
            </a:r>
            <a:r>
              <a:rPr lang="en-US" altLang="ko-KR" dirty="0"/>
              <a:t> (</a:t>
            </a:r>
            <a:r>
              <a:rPr lang="ko-KR" altLang="en-US" dirty="0" err="1"/>
              <a:t>학습률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2.5)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hidden_dim</a:t>
            </a:r>
            <a:r>
              <a:rPr lang="en-US" altLang="ko-KR" dirty="0"/>
              <a:t> (</a:t>
            </a:r>
            <a:r>
              <a:rPr lang="ko-KR" altLang="en-US" dirty="0"/>
              <a:t>신경망 </a:t>
            </a:r>
            <a:r>
              <a:rPr lang="en-US" altLang="ko-KR" dirty="0"/>
              <a:t>actor/critic</a:t>
            </a:r>
            <a:r>
              <a:rPr lang="ko-KR" altLang="en-US" dirty="0"/>
              <a:t>의 </a:t>
            </a:r>
            <a:r>
              <a:rPr lang="ko-KR" altLang="en-US" dirty="0" err="1"/>
              <a:t>은닉층</a:t>
            </a:r>
            <a:r>
              <a:rPr lang="ko-KR" altLang="en-US" dirty="0"/>
              <a:t> 차원</a:t>
            </a:r>
            <a:r>
              <a:rPr lang="en-US" altLang="ko-KR" dirty="0"/>
              <a:t>, </a:t>
            </a:r>
            <a:r>
              <a:rPr lang="ko-KR" altLang="en-US" dirty="0"/>
              <a:t>기본값</a:t>
            </a:r>
            <a:r>
              <a:rPr lang="en-US" altLang="ko-KR" dirty="0"/>
              <a:t>=128)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n_layers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신경망 </a:t>
            </a:r>
            <a:r>
              <a:rPr lang="en-US" altLang="ko-KR" dirty="0"/>
              <a:t>actor/critic</a:t>
            </a:r>
            <a:r>
              <a:rPr lang="ko-KR" altLang="en-US" dirty="0"/>
              <a:t>의 </a:t>
            </a:r>
            <a:r>
              <a:rPr lang="ko-KR" altLang="en-US" dirty="0" err="1"/>
              <a:t>은닉층</a:t>
            </a:r>
            <a:r>
              <a:rPr lang="ko-KR" altLang="en-US" dirty="0"/>
              <a:t> 깊이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batch_size</a:t>
            </a:r>
            <a:r>
              <a:rPr lang="en-US" altLang="ko-KR" dirty="0"/>
              <a:t> (replay</a:t>
            </a:r>
            <a:r>
              <a:rPr lang="ko-KR" altLang="en-US" dirty="0"/>
              <a:t> </a:t>
            </a:r>
            <a:r>
              <a:rPr lang="en-US" altLang="ko-KR" dirty="0"/>
              <a:t>buffer</a:t>
            </a:r>
            <a:r>
              <a:rPr lang="ko-KR" altLang="en-US" dirty="0"/>
              <a:t>에서 가져오는 데이터 단위</a:t>
            </a:r>
            <a:r>
              <a:rPr lang="en-US" altLang="ko-KR" dirty="0"/>
              <a:t>, </a:t>
            </a:r>
            <a:r>
              <a:rPr lang="ko-KR" altLang="en-US" dirty="0"/>
              <a:t>기본값</a:t>
            </a:r>
            <a:r>
              <a:rPr lang="en-US" altLang="ko-KR" dirty="0"/>
              <a:t>=512)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beta (</a:t>
            </a:r>
            <a:r>
              <a:rPr lang="ko-KR" altLang="en-US" dirty="0"/>
              <a:t>보상함수간 가중치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/>
              <a:t>gamma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할인율</a:t>
            </a:r>
            <a:r>
              <a:rPr lang="en-US" altLang="ko-KR" dirty="0"/>
              <a:t>, discount factor, </a:t>
            </a:r>
            <a:r>
              <a:rPr lang="ko-KR" altLang="en-US" dirty="0"/>
              <a:t>기본값</a:t>
            </a:r>
            <a:r>
              <a:rPr lang="en-US" altLang="ko-KR" dirty="0"/>
              <a:t>=0.99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max_timestep</a:t>
            </a:r>
            <a:r>
              <a:rPr lang="en-US" altLang="ko-KR" dirty="0"/>
              <a:t> (</a:t>
            </a:r>
            <a:r>
              <a:rPr lang="ko-KR" altLang="en-US" dirty="0"/>
              <a:t>한 에피소드의 </a:t>
            </a:r>
            <a:r>
              <a:rPr lang="en-US" altLang="ko-KR" dirty="0"/>
              <a:t>timestep </a:t>
            </a:r>
            <a:r>
              <a:rPr lang="ko-KR" altLang="en-US" dirty="0"/>
              <a:t>개수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2500)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policy_noise</a:t>
            </a:r>
            <a:r>
              <a:rPr lang="en-US" altLang="ko-KR" dirty="0"/>
              <a:t> (action</a:t>
            </a:r>
            <a:r>
              <a:rPr lang="ko-KR" altLang="en-US" dirty="0"/>
              <a:t>의 </a:t>
            </a:r>
            <a:r>
              <a:rPr lang="en-US" altLang="ko-KR" dirty="0"/>
              <a:t>exploration </a:t>
            </a:r>
            <a:r>
              <a:rPr lang="ko-KR" altLang="en-US" dirty="0"/>
              <a:t>정도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0.2)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policy_freq</a:t>
            </a:r>
            <a:r>
              <a:rPr lang="en-US" altLang="ko-KR" dirty="0"/>
              <a:t> (critic / actor</a:t>
            </a:r>
            <a:r>
              <a:rPr lang="ko-KR" altLang="en-US" dirty="0"/>
              <a:t>의 학습 빈도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model_type</a:t>
            </a:r>
            <a:r>
              <a:rPr lang="en-US" altLang="ko-KR" dirty="0"/>
              <a:t> (</a:t>
            </a:r>
            <a:r>
              <a:rPr lang="ko-KR" altLang="en-US" dirty="0"/>
              <a:t>다음 </a:t>
            </a:r>
            <a:r>
              <a:rPr lang="en-US" altLang="ko-KR" dirty="0"/>
              <a:t>NOx </a:t>
            </a:r>
            <a:r>
              <a:rPr lang="ko-KR" altLang="en-US" dirty="0" err="1"/>
              <a:t>예측시</a:t>
            </a:r>
            <a:r>
              <a:rPr lang="ko-KR" altLang="en-US" dirty="0"/>
              <a:t> 사용하는 모델</a:t>
            </a:r>
            <a:r>
              <a:rPr lang="en-US" altLang="ko-KR" dirty="0"/>
              <a:t>, pls/</a:t>
            </a:r>
            <a:r>
              <a:rPr lang="en-US" altLang="ko-KR" dirty="0" err="1"/>
              <a:t>nn</a:t>
            </a:r>
            <a:r>
              <a:rPr lang="en-US" altLang="ko-KR" dirty="0"/>
              <a:t>/</a:t>
            </a:r>
            <a:r>
              <a:rPr lang="en-US" altLang="ko-KR" dirty="0" err="1"/>
              <a:t>xgb</a:t>
            </a:r>
            <a:r>
              <a:rPr lang="en-US" altLang="ko-KR" dirty="0"/>
              <a:t> </a:t>
            </a:r>
            <a:r>
              <a:rPr lang="ko-KR" altLang="en-US" dirty="0"/>
              <a:t>중 선택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= pls)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/>
              <a:t>상태변수 목록</a:t>
            </a:r>
            <a:endParaRPr lang="en-US" altLang="ko-KR" b="1" dirty="0"/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4E42EB4D-3D89-3F28-A65E-CD16C4462265}"/>
              </a:ext>
            </a:extLst>
          </p:cNvPr>
          <p:cNvSpPr txBox="1">
            <a:spLocks/>
          </p:cNvSpPr>
          <p:nvPr/>
        </p:nvSpPr>
        <p:spPr>
          <a:xfrm>
            <a:off x="200472" y="5296632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/>
              <a:t>추가 개선방안</a:t>
            </a:r>
            <a:endParaRPr kumimoji="0" lang="ko-KR" altLang="en-US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D0C7D3D1-F28F-73B6-BC26-63A995F7A567}"/>
              </a:ext>
            </a:extLst>
          </p:cNvPr>
          <p:cNvSpPr txBox="1">
            <a:spLocks/>
          </p:cNvSpPr>
          <p:nvPr/>
        </p:nvSpPr>
        <p:spPr>
          <a:xfrm>
            <a:off x="362309" y="5752813"/>
            <a:ext cx="9270641" cy="631855"/>
          </a:xfrm>
          <a:prstGeom prst="rect">
            <a:avLst/>
          </a:prstGeom>
        </p:spPr>
        <p:txBody>
          <a:bodyPr lIns="72000" tIns="3600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ko-KR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819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3EC-2E6F-89D0-F89C-1D332097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2BD340E-DBCC-135A-4A49-449961D9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첨부</a:t>
            </a:r>
            <a:r>
              <a:rPr lang="en-US" altLang="ko-KR" dirty="0">
                <a:latin typeface="+mn-ea"/>
              </a:rPr>
              <a:t>] 1. </a:t>
            </a:r>
            <a:r>
              <a:rPr lang="ko-KR" altLang="en-US" dirty="0">
                <a:latin typeface="+mn-ea"/>
              </a:rPr>
              <a:t>사용한 데이터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25809F-A813-1D54-C727-11555BB407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442560C-2D1B-5E5D-693D-B7387AEB5F77}"/>
              </a:ext>
            </a:extLst>
          </p:cNvPr>
          <p:cNvGraphicFramePr>
            <a:graphicFrameLocks noGrp="1"/>
          </p:cNvGraphicFramePr>
          <p:nvPr/>
        </p:nvGraphicFramePr>
        <p:xfrm>
          <a:off x="377610" y="1124744"/>
          <a:ext cx="9039888" cy="54435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98926">
                  <a:extLst>
                    <a:ext uri="{9D8B030D-6E8A-4147-A177-3AD203B41FA5}">
                      <a16:colId xmlns:a16="http://schemas.microsoft.com/office/drawing/2014/main" val="391321920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161612139"/>
                    </a:ext>
                  </a:extLst>
                </a:gridCol>
                <a:gridCol w="664634">
                  <a:extLst>
                    <a:ext uri="{9D8B030D-6E8A-4147-A177-3AD203B41FA5}">
                      <a16:colId xmlns:a16="http://schemas.microsoft.com/office/drawing/2014/main" val="3803012115"/>
                    </a:ext>
                  </a:extLst>
                </a:gridCol>
                <a:gridCol w="415486">
                  <a:extLst>
                    <a:ext uri="{9D8B030D-6E8A-4147-A177-3AD203B41FA5}">
                      <a16:colId xmlns:a16="http://schemas.microsoft.com/office/drawing/2014/main" val="3832012282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128370267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328964569"/>
                    </a:ext>
                  </a:extLst>
                </a:gridCol>
              </a:tblGrid>
              <a:tr h="3232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순번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설명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단위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순번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설명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단위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60524702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1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합성가스 압력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kg/cm2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압축기 입구 온도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39790293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2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합성가스 온도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°C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대기 압력</a:t>
                      </a:r>
                      <a:endParaRPr lang="en-US" sz="12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mmHg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34415466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3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합성가스 유량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kg/s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IGV </a:t>
                      </a: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개도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º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69421762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>
                          <a:solidFill>
                            <a:srgbClr val="F38F15"/>
                          </a:solidFill>
                          <a:effectLst/>
                        </a:rPr>
                        <a:t>4</a:t>
                      </a:r>
                      <a:endParaRPr lang="en-US" sz="1600" b="1" kern="0" spc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합성가스 발열량</a:t>
                      </a:r>
                      <a:r>
                        <a:rPr lang="en-US" altLang="ko-KR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0" dirty="0" err="1">
                          <a:solidFill>
                            <a:srgbClr val="F38F15"/>
                          </a:solidFill>
                          <a:effectLst/>
                        </a:rPr>
                        <a:t>계산값</a:t>
                      </a:r>
                      <a:r>
                        <a:rPr lang="en-US" altLang="ko-KR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)</a:t>
                      </a:r>
                      <a:endParaRPr lang="ko-KR" alt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 err="1">
                          <a:solidFill>
                            <a:srgbClr val="F38F15"/>
                          </a:solidFill>
                          <a:effectLst/>
                        </a:rPr>
                        <a:t>Kj</a:t>
                      </a: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/m3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가스터빈 압축기 출구 압력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70916146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연료제어밸브 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VSR-11)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개도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가스터빈 압축기 출구 온도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28527800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6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차 제어 후 연료 압력 </a:t>
                      </a: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P2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구역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kg/cm2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IBH </a:t>
                      </a: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밸브 개도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22409792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6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연료제어밸브 개도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VSR-11A) Primary Manifold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가스터빈 속도 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rpm)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rpm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94679194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6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연료제어밸브 개도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VSR-11) Secondary Manifold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대기온도</a:t>
                      </a:r>
                      <a:endParaRPr lang="en-US" sz="12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°C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82690838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6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연료제어밸브 개도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VSR-12) Secondary Manifold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배기가스 유량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kg/s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83004477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6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 err="1">
                          <a:solidFill>
                            <a:schemeClr val="tx1"/>
                          </a:solidFill>
                          <a:effectLst/>
                        </a:rPr>
                        <a:t>연료기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 주입 전 연료 압력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kg/cm2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배기가스 온도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°C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44676472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11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발전기 출력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</a:rPr>
                        <a:t>MW</a:t>
                      </a:r>
                      <a:endParaRPr lang="en-US" sz="16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압축기 출구 절대압력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79801382"/>
                  </a:ext>
                </a:extLst>
              </a:tr>
              <a:tr h="4239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압축기 필터 차압</a:t>
                      </a:r>
                      <a:endParaRPr 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mmH2O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Primary manifold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차압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65264023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0FC25-36BD-E587-0C4E-0C89162415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변수 목록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99867D-BCA4-2B25-637B-16CE5768B97B}"/>
              </a:ext>
            </a:extLst>
          </p:cNvPr>
          <p:cNvSpPr txBox="1"/>
          <p:nvPr/>
        </p:nvSpPr>
        <p:spPr>
          <a:xfrm>
            <a:off x="6038672" y="862194"/>
            <a:ext cx="34371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38F15"/>
                </a:solidFill>
                <a:latin typeface="+mn-ea"/>
                <a:ea typeface="+mn-ea"/>
              </a:rPr>
              <a:t>노랑 </a:t>
            </a:r>
            <a:r>
              <a:rPr lang="en-US" altLang="ko-KR" sz="1100" dirty="0">
                <a:solidFill>
                  <a:srgbClr val="F38F15"/>
                </a:solidFill>
                <a:latin typeface="+mn-ea"/>
                <a:ea typeface="+mn-ea"/>
              </a:rPr>
              <a:t>: </a:t>
            </a:r>
            <a:r>
              <a:rPr lang="ko-KR" altLang="en-US" sz="1100" dirty="0">
                <a:solidFill>
                  <a:srgbClr val="F38F15"/>
                </a:solidFill>
                <a:latin typeface="+mn-ea"/>
                <a:ea typeface="+mn-ea"/>
              </a:rPr>
              <a:t>상태변수</a:t>
            </a:r>
            <a:r>
              <a:rPr lang="en-US" altLang="ko-KR" sz="1100" dirty="0">
                <a:latin typeface="+mn-ea"/>
                <a:ea typeface="+mn-ea"/>
              </a:rPr>
              <a:t> / 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ea typeface="+mn-ea"/>
              </a:rPr>
              <a:t>파랑 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ea typeface="+mn-ea"/>
              </a:rPr>
              <a:t>: 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ea typeface="+mn-ea"/>
              </a:rPr>
              <a:t>목표변수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ko-KR" sz="1100" dirty="0">
                <a:latin typeface="+mn-ea"/>
                <a:ea typeface="+mn-ea"/>
              </a:rPr>
              <a:t>/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  <a:ea typeface="+mn-ea"/>
              </a:rPr>
              <a:t>빨강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  <a:ea typeface="+mn-ea"/>
              </a:rPr>
              <a:t>행동변수</a:t>
            </a:r>
            <a:endParaRPr lang="ko-KR" altLang="en-US" sz="11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7752D-BFD0-EBB0-E580-9CC6BF7417C6}"/>
              </a:ext>
            </a:extLst>
          </p:cNvPr>
          <p:cNvSpPr txBox="1"/>
          <p:nvPr/>
        </p:nvSpPr>
        <p:spPr>
          <a:xfrm>
            <a:off x="6038672" y="655501"/>
            <a:ext cx="2877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b="0" dirty="0">
                <a:latin typeface="+mn-ea"/>
                <a:ea typeface="+mn-ea"/>
              </a:rPr>
              <a:t>※  10</a:t>
            </a:r>
            <a:r>
              <a:rPr lang="ko-KR" altLang="en-US" sz="1100" b="0" dirty="0">
                <a:latin typeface="+mn-ea"/>
                <a:ea typeface="+mn-ea"/>
              </a:rPr>
              <a:t>월 </a:t>
            </a:r>
            <a:r>
              <a:rPr lang="en-US" altLang="ko-KR" sz="1100" b="0" dirty="0">
                <a:latin typeface="+mn-ea"/>
                <a:ea typeface="+mn-ea"/>
              </a:rPr>
              <a:t>14</a:t>
            </a:r>
            <a:r>
              <a:rPr lang="ko-KR" altLang="en-US" sz="1100" b="0" dirty="0">
                <a:latin typeface="+mn-ea"/>
                <a:ea typeface="+mn-ea"/>
              </a:rPr>
              <a:t>일 시뮬레이션 기준의 상태변수</a:t>
            </a:r>
          </a:p>
        </p:txBody>
      </p:sp>
    </p:spTree>
    <p:extLst>
      <p:ext uri="{BB962C8B-B14F-4D97-AF65-F5344CB8AC3E}">
        <p14:creationId xmlns:p14="http://schemas.microsoft.com/office/powerpoint/2010/main" val="3770570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B8C8-4127-6D55-EA3C-BD773022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5B8836-B216-7239-3877-D5F0F5257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첨부</a:t>
            </a:r>
            <a:r>
              <a:rPr lang="en-US" altLang="ko-KR" dirty="0">
                <a:latin typeface="+mn-ea"/>
              </a:rPr>
              <a:t>] 1. </a:t>
            </a:r>
            <a:r>
              <a:rPr lang="ko-KR" altLang="en-US" dirty="0">
                <a:latin typeface="+mn-ea"/>
              </a:rPr>
              <a:t>사용한 데이터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74BFA7-D5B0-713E-6AE2-7BDEF56E05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832A66B-56A0-1CD8-EDE0-8B15EB96DA00}"/>
              </a:ext>
            </a:extLst>
          </p:cNvPr>
          <p:cNvGraphicFramePr>
            <a:graphicFrameLocks noGrp="1"/>
          </p:cNvGraphicFramePr>
          <p:nvPr/>
        </p:nvGraphicFramePr>
        <p:xfrm>
          <a:off x="377610" y="1124744"/>
          <a:ext cx="9039888" cy="533135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98926">
                  <a:extLst>
                    <a:ext uri="{9D8B030D-6E8A-4147-A177-3AD203B41FA5}">
                      <a16:colId xmlns:a16="http://schemas.microsoft.com/office/drawing/2014/main" val="391321920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161612139"/>
                    </a:ext>
                  </a:extLst>
                </a:gridCol>
                <a:gridCol w="664634">
                  <a:extLst>
                    <a:ext uri="{9D8B030D-6E8A-4147-A177-3AD203B41FA5}">
                      <a16:colId xmlns:a16="http://schemas.microsoft.com/office/drawing/2014/main" val="3803012115"/>
                    </a:ext>
                  </a:extLst>
                </a:gridCol>
                <a:gridCol w="415486">
                  <a:extLst>
                    <a:ext uri="{9D8B030D-6E8A-4147-A177-3AD203B41FA5}">
                      <a16:colId xmlns:a16="http://schemas.microsoft.com/office/drawing/2014/main" val="3832012282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128370267"/>
                    </a:ext>
                  </a:extLst>
                </a:gridCol>
                <a:gridCol w="720082">
                  <a:extLst>
                    <a:ext uri="{9D8B030D-6E8A-4147-A177-3AD203B41FA5}">
                      <a16:colId xmlns:a16="http://schemas.microsoft.com/office/drawing/2014/main" val="328964569"/>
                    </a:ext>
                  </a:extLst>
                </a:gridCol>
              </a:tblGrid>
              <a:tr h="3143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순번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설명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단위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순번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설명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단위</a:t>
                      </a:r>
                      <a:endParaRPr lang="ko-KR" altLang="en-US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60524702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Secondary manifold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차압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37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희석질소 오프셋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연료대비 질소가스 주입비율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39790293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연소기 캔 압력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시뮬레이션 값</a:t>
                      </a: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38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연소온도 간접 값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34415466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27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NPR Secondary manifold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ratio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DGAN Compressor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흡입 전단 질소가스 대기 방출 압력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barg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69421762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NPR Primary manifold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ratio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100" b="0" kern="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DGAN Compressor </a:t>
                      </a:r>
                      <a:r>
                        <a:rPr lang="ko-KR" altLang="en-US" sz="1100" b="0" kern="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흡입 전단 질소가스 대기 방출 제어 밸브 개도</a:t>
                      </a:r>
                      <a:endParaRPr lang="en-US" sz="1100" b="0" kern="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916146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DGAN Compressor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질소가스 압력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가스터빈 후단 질소산화물 농도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ppm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527800"/>
                  </a:ext>
                </a:extLst>
              </a:tr>
              <a:tr h="4236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45720" marR="4572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DGAN Compressor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질소가스 온도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°C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42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가스터빈 후단 산소 농도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22409792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DGAN Compressor 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질소가스 유량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kg/s</a:t>
                      </a:r>
                    </a:p>
                  </a:txBody>
                  <a:tcPr marL="45720" marR="45720" anchor="ctr"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탈질</a:t>
                      </a: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촉매 전단 온도</a:t>
                      </a:r>
                      <a:endParaRPr lang="en-US" sz="1200" b="0" kern="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marL="45720" marR="45720" anchor="ctr"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679194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질소가스 내 산소 순도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% O2</a:t>
                      </a:r>
                    </a:p>
                  </a:txBody>
                  <a:tcPr marL="45720" marR="45720" anchor="ctr"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압축기 입구 이슬점</a:t>
                      </a:r>
                    </a:p>
                  </a:txBody>
                  <a:tcPr marL="45720" marR="4572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marL="45720" marR="45720" anchor="ctr"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90838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33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제어밸브 전단 질소가스 압력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  <a:endParaRPr lang="ko-KR" alt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45</a:t>
                      </a:r>
                    </a:p>
                  </a:txBody>
                  <a:tcPr marL="45720" marR="4572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합성가스 연료 온도</a:t>
                      </a:r>
                      <a:endParaRPr lang="en-US" sz="12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3004477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45720" marR="4572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질소가스 제어 밸브 개도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46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합성가스 연료 압력</a:t>
                      </a:r>
                      <a:endParaRPr lang="en-US" sz="12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0" spc="0" dirty="0">
                          <a:solidFill>
                            <a:schemeClr val="tx1"/>
                          </a:solidFill>
                          <a:effectLst/>
                        </a:rPr>
                        <a:t>kg/cm2</a:t>
                      </a:r>
                      <a:endParaRPr lang="en-US" altLang="ko-KR" sz="16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44676472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제어밸브 후단 질소가스 온도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47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0" spc="0" baseline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연소간접온도 </a:t>
                      </a:r>
                      <a:r>
                        <a:rPr lang="en-US" altLang="ko-KR" sz="1200" b="1" kern="0" spc="0" baseline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kern="0" spc="0" baseline="0" dirty="0" err="1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계산값</a:t>
                      </a:r>
                      <a:r>
                        <a:rPr lang="en-US" altLang="ko-KR" sz="1200" b="1" kern="0" spc="0" baseline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kern="0" spc="0" baseline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rgbClr val="F38F15"/>
                          </a:solidFill>
                          <a:effectLst/>
                          <a:latin typeface="+mn-ea"/>
                          <a:ea typeface="+mn-ea"/>
                        </a:rPr>
                        <a:t>℃</a:t>
                      </a:r>
                      <a:endParaRPr lang="en-US" altLang="ko-KR" sz="1200" b="1" kern="0" spc="0" dirty="0">
                        <a:solidFill>
                          <a:srgbClr val="F38F15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79801382"/>
                  </a:ext>
                </a:extLst>
              </a:tr>
              <a:tr h="4121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제어밸브 후단 질소가스 압력</a:t>
                      </a:r>
                      <a:endParaRPr lang="en-US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kg/cm2</a:t>
                      </a:r>
                    </a:p>
                  </a:txBody>
                  <a:tcPr marL="45720" marR="4572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endParaRPr lang="en-US" sz="1200" b="0" kern="0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buNone/>
                      </a:pP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271839874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0958BD-EB66-8F26-618B-38A1EC16E5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변수 목록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814F0-91F3-D3D4-943D-DAEC57CDC01E}"/>
              </a:ext>
            </a:extLst>
          </p:cNvPr>
          <p:cNvSpPr txBox="1"/>
          <p:nvPr/>
        </p:nvSpPr>
        <p:spPr>
          <a:xfrm>
            <a:off x="6038672" y="862194"/>
            <a:ext cx="34371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38F15"/>
                </a:solidFill>
                <a:latin typeface="+mn-ea"/>
                <a:ea typeface="+mn-ea"/>
              </a:rPr>
              <a:t>노랑 </a:t>
            </a:r>
            <a:r>
              <a:rPr lang="en-US" altLang="ko-KR" sz="1100" dirty="0">
                <a:solidFill>
                  <a:srgbClr val="F38F15"/>
                </a:solidFill>
                <a:latin typeface="+mn-ea"/>
                <a:ea typeface="+mn-ea"/>
              </a:rPr>
              <a:t>: </a:t>
            </a:r>
            <a:r>
              <a:rPr lang="ko-KR" altLang="en-US" sz="1100" dirty="0">
                <a:solidFill>
                  <a:srgbClr val="F38F15"/>
                </a:solidFill>
                <a:latin typeface="+mn-ea"/>
                <a:ea typeface="+mn-ea"/>
              </a:rPr>
              <a:t>상태변수</a:t>
            </a:r>
            <a:r>
              <a:rPr lang="en-US" altLang="ko-KR" sz="1100" dirty="0">
                <a:latin typeface="+mn-ea"/>
                <a:ea typeface="+mn-ea"/>
              </a:rPr>
              <a:t> / 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ea typeface="+mn-ea"/>
              </a:rPr>
              <a:t>파랑 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ea typeface="+mn-ea"/>
              </a:rPr>
              <a:t>: 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ea typeface="+mn-ea"/>
              </a:rPr>
              <a:t>목표변수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ko-KR" sz="1100" dirty="0">
                <a:latin typeface="+mn-ea"/>
                <a:ea typeface="+mn-ea"/>
              </a:rPr>
              <a:t>/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  <a:ea typeface="+mn-ea"/>
              </a:rPr>
              <a:t>빨강 </a:t>
            </a:r>
            <a:r>
              <a:rPr lang="en-US" altLang="ko-KR" sz="1100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lang="ko-KR" altLang="en-US" sz="1100" dirty="0">
                <a:solidFill>
                  <a:srgbClr val="FF0000"/>
                </a:solidFill>
                <a:latin typeface="+mn-ea"/>
                <a:ea typeface="+mn-ea"/>
              </a:rPr>
              <a:t>행동변수</a:t>
            </a:r>
            <a:endParaRPr lang="ko-KR" altLang="en-US" sz="11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B4FC1-AFA5-416D-B768-FABB15EEE678}"/>
              </a:ext>
            </a:extLst>
          </p:cNvPr>
          <p:cNvSpPr txBox="1"/>
          <p:nvPr/>
        </p:nvSpPr>
        <p:spPr>
          <a:xfrm>
            <a:off x="5849178" y="6447046"/>
            <a:ext cx="36792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b="0" dirty="0">
                <a:latin typeface="+mn-ea"/>
                <a:ea typeface="+mn-ea"/>
              </a:rPr>
              <a:t>※</a:t>
            </a:r>
            <a:r>
              <a:rPr lang="ko-KR" altLang="en-US" sz="800" b="0" dirty="0">
                <a:latin typeface="+mn-ea"/>
                <a:ea typeface="+mn-ea"/>
              </a:rPr>
              <a:t>두 </a:t>
            </a:r>
            <a:r>
              <a:rPr lang="en-US" altLang="ko-KR" sz="800" b="0" dirty="0">
                <a:latin typeface="+mn-ea"/>
                <a:ea typeface="+mn-ea"/>
              </a:rPr>
              <a:t>NPR </a:t>
            </a:r>
            <a:r>
              <a:rPr lang="ko-KR" altLang="en-US" sz="800" b="0" dirty="0">
                <a:latin typeface="+mn-ea"/>
                <a:ea typeface="+mn-ea"/>
              </a:rPr>
              <a:t>간의 차이의 평균은 </a:t>
            </a:r>
            <a:r>
              <a:rPr lang="en-US" altLang="ko-KR" sz="800" b="0" dirty="0">
                <a:latin typeface="+mn-ea"/>
                <a:ea typeface="+mn-ea"/>
              </a:rPr>
              <a:t>0.00003</a:t>
            </a:r>
            <a:r>
              <a:rPr lang="ko-KR" altLang="en-US" sz="800" b="0" dirty="0">
                <a:latin typeface="+mn-ea"/>
                <a:ea typeface="+mn-ea"/>
              </a:rPr>
              <a:t>으로 두 값은 거의 같다고 가정하였음</a:t>
            </a:r>
            <a:r>
              <a:rPr lang="en-US" altLang="ko-KR" sz="800" b="0" dirty="0">
                <a:latin typeface="+mn-ea"/>
                <a:ea typeface="+mn-ea"/>
              </a:rPr>
              <a:t>.</a:t>
            </a:r>
            <a:endParaRPr lang="ko-KR" altLang="en-US" sz="800" b="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8C437-7A84-7F65-4847-E89208C6EF53}"/>
              </a:ext>
            </a:extLst>
          </p:cNvPr>
          <p:cNvSpPr txBox="1"/>
          <p:nvPr/>
        </p:nvSpPr>
        <p:spPr>
          <a:xfrm>
            <a:off x="6038672" y="655501"/>
            <a:ext cx="2877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b="0" dirty="0">
                <a:latin typeface="+mn-ea"/>
                <a:ea typeface="+mn-ea"/>
              </a:rPr>
              <a:t>※  10</a:t>
            </a:r>
            <a:r>
              <a:rPr lang="ko-KR" altLang="en-US" sz="1100" b="0" dirty="0">
                <a:latin typeface="+mn-ea"/>
                <a:ea typeface="+mn-ea"/>
              </a:rPr>
              <a:t>월 </a:t>
            </a:r>
            <a:r>
              <a:rPr lang="en-US" altLang="ko-KR" sz="1100" b="0" dirty="0">
                <a:latin typeface="+mn-ea"/>
                <a:ea typeface="+mn-ea"/>
              </a:rPr>
              <a:t>14</a:t>
            </a:r>
            <a:r>
              <a:rPr lang="ko-KR" altLang="en-US" sz="1100" b="0" dirty="0">
                <a:latin typeface="+mn-ea"/>
                <a:ea typeface="+mn-ea"/>
              </a:rPr>
              <a:t>일 시뮬레이션 기준의 상태변수</a:t>
            </a:r>
          </a:p>
        </p:txBody>
      </p:sp>
    </p:spTree>
    <p:extLst>
      <p:ext uri="{BB962C8B-B14F-4D97-AF65-F5344CB8AC3E}">
        <p14:creationId xmlns:p14="http://schemas.microsoft.com/office/powerpoint/2010/main" val="4095574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0B05-75B7-355E-EC65-94411E3E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4A8FC52-C2F8-2FA3-B351-DEB6D791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첨부</a:t>
            </a:r>
            <a:r>
              <a:rPr lang="en-US" altLang="ko-KR" dirty="0">
                <a:latin typeface="+mn-ea"/>
              </a:rPr>
              <a:t>] 2. </a:t>
            </a:r>
            <a:r>
              <a:rPr lang="ko-KR" altLang="en-US" dirty="0" err="1">
                <a:latin typeface="+mn-ea"/>
              </a:rPr>
              <a:t>희석질소유량</a:t>
            </a:r>
            <a:r>
              <a:rPr lang="en-US" altLang="ko-KR" dirty="0">
                <a:latin typeface="+mn-ea"/>
              </a:rPr>
              <a:t> PLS </a:t>
            </a:r>
            <a:r>
              <a:rPr lang="ko-KR" altLang="en-US" dirty="0">
                <a:latin typeface="+mn-ea"/>
              </a:rPr>
              <a:t>결과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BE4AC8-33D7-4BFD-D497-28BFF4EDC7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9D73F2-E492-4E2C-FBC9-B4DBA994C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희석질소 유량 </a:t>
            </a:r>
            <a:r>
              <a:rPr lang="en-US" altLang="ko-KR" dirty="0"/>
              <a:t>PLS (</a:t>
            </a:r>
            <a:r>
              <a:rPr lang="ko-KR" altLang="en-US" dirty="0" err="1"/>
              <a:t>역산식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03985C8-D773-F2ED-9427-B38CA0FCB1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희석질소유량에</a:t>
            </a:r>
            <a:r>
              <a:rPr lang="ko-KR" altLang="en-US" dirty="0"/>
              <a:t> 영향을 미치는 인자들로 </a:t>
            </a:r>
            <a:r>
              <a:rPr lang="en-US" altLang="ko-KR" dirty="0"/>
              <a:t>PLS </a:t>
            </a:r>
            <a:r>
              <a:rPr lang="ko-KR" altLang="en-US" dirty="0"/>
              <a:t>모델링 </a:t>
            </a:r>
            <a:endParaRPr lang="en-US" altLang="ko-KR" dirty="0"/>
          </a:p>
          <a:p>
            <a:pPr marL="540000" lvl="1" indent="-180000">
              <a:buFont typeface="Arial" panose="020B0604020202020204" pitchFamily="34" charset="0"/>
              <a:buChar char="•"/>
            </a:pPr>
            <a:r>
              <a:rPr lang="ko-KR" altLang="en-US" sz="1200" dirty="0"/>
              <a:t>인자 목록 </a:t>
            </a:r>
            <a:r>
              <a:rPr lang="en-US" altLang="ko-KR" sz="1200" dirty="0"/>
              <a:t>: </a:t>
            </a:r>
            <a:r>
              <a:rPr lang="ko-KR" altLang="en-US" sz="1200" dirty="0"/>
              <a:t>희석질소 오프셋</a:t>
            </a:r>
            <a:r>
              <a:rPr lang="en-US" altLang="ko-KR" sz="1200" dirty="0"/>
              <a:t>, </a:t>
            </a:r>
            <a:r>
              <a:rPr lang="ko-KR" altLang="en-US" sz="1200" dirty="0"/>
              <a:t>합성가스 유량</a:t>
            </a:r>
            <a:r>
              <a:rPr lang="en-US" altLang="ko-KR" sz="1200" dirty="0"/>
              <a:t>, </a:t>
            </a:r>
            <a:r>
              <a:rPr lang="ko-KR" altLang="en-US" sz="1200" dirty="0"/>
              <a:t>압축기 입구 온도</a:t>
            </a:r>
            <a:r>
              <a:rPr lang="en-US" altLang="ko-KR" sz="1200" dirty="0"/>
              <a:t>, </a:t>
            </a:r>
            <a:r>
              <a:rPr lang="ko-KR" altLang="en-US" sz="1200" dirty="0"/>
              <a:t>압축기 입구 이슬점</a:t>
            </a:r>
            <a:r>
              <a:rPr lang="en-US" altLang="ko-KR" sz="1200" dirty="0"/>
              <a:t>, </a:t>
            </a:r>
            <a:r>
              <a:rPr lang="ko-KR" altLang="en-US" sz="1200" dirty="0"/>
              <a:t>합성가스 연료 온도</a:t>
            </a:r>
            <a:r>
              <a:rPr lang="en-US" altLang="ko-KR" sz="1200" dirty="0"/>
              <a:t>, </a:t>
            </a:r>
            <a:r>
              <a:rPr lang="ko-KR" altLang="en-US" sz="1200" dirty="0"/>
              <a:t>합성가스 연료 압력</a:t>
            </a:r>
            <a:endParaRPr lang="en-US" altLang="ko-KR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희석질소 오프셋의 변동이 가장 심했던 일주일치 데이터</a:t>
            </a:r>
            <a:r>
              <a:rPr lang="en-US" altLang="ko-KR" dirty="0"/>
              <a:t>(1s_7d)</a:t>
            </a:r>
            <a:r>
              <a:rPr lang="ko-KR" altLang="en-US" dirty="0"/>
              <a:t>에서 </a:t>
            </a:r>
            <a:r>
              <a:rPr lang="en-US" altLang="ko-KR" dirty="0"/>
              <a:t>R2</a:t>
            </a:r>
            <a:r>
              <a:rPr lang="ko-KR" altLang="en-US" dirty="0"/>
              <a:t>값이 우수하게</a:t>
            </a:r>
            <a:r>
              <a:rPr lang="en-US" altLang="ko-KR" dirty="0"/>
              <a:t>(0.98) </a:t>
            </a:r>
            <a:r>
              <a:rPr lang="ko-KR" altLang="en-US" dirty="0"/>
              <a:t>계산됨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2</a:t>
            </a:r>
            <a:r>
              <a:rPr lang="ko-KR" altLang="en-US" dirty="0"/>
              <a:t>년치 데이터</a:t>
            </a:r>
            <a:r>
              <a:rPr lang="en-US" altLang="ko-KR" dirty="0"/>
              <a:t>(1m_2y)</a:t>
            </a:r>
            <a:r>
              <a:rPr lang="ko-KR" altLang="en-US" dirty="0"/>
              <a:t>의 경우에도 </a:t>
            </a:r>
            <a:r>
              <a:rPr lang="en-US" altLang="ko-KR" dirty="0"/>
              <a:t>R2</a:t>
            </a:r>
            <a:r>
              <a:rPr lang="ko-KR" altLang="en-US" dirty="0"/>
              <a:t>값이 적정한 값이 도출됨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AFC3AD-E377-77D3-1689-B55274591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20" y="2318931"/>
            <a:ext cx="3321725" cy="390109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2C34E9-8C6D-8086-8A3A-BB2CAE24F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359" y="2313528"/>
            <a:ext cx="3445324" cy="38779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CDCBCE-747C-4CE0-E6E2-075B8E08A63F}"/>
              </a:ext>
            </a:extLst>
          </p:cNvPr>
          <p:cNvSpPr txBox="1"/>
          <p:nvPr/>
        </p:nvSpPr>
        <p:spPr>
          <a:xfrm>
            <a:off x="2238105" y="6384345"/>
            <a:ext cx="75567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latin typeface="+mn-ea"/>
                <a:ea typeface="+mn-ea"/>
              </a:rPr>
              <a:t>※ </a:t>
            </a:r>
            <a:r>
              <a:rPr lang="ko-KR" altLang="en-US" sz="1000" b="0" dirty="0">
                <a:latin typeface="+mn-ea"/>
                <a:ea typeface="+mn-ea"/>
              </a:rPr>
              <a:t>희석질소 오프셋이 상수인 데이터셋</a:t>
            </a:r>
            <a:r>
              <a:rPr lang="en-US" altLang="ko-KR" sz="1000" b="0" dirty="0">
                <a:latin typeface="+mn-ea"/>
                <a:ea typeface="+mn-ea"/>
              </a:rPr>
              <a:t>(1</a:t>
            </a:r>
            <a:r>
              <a:rPr lang="ko-KR" altLang="en-US" sz="1000" b="0" dirty="0">
                <a:latin typeface="+mn-ea"/>
                <a:ea typeface="+mn-ea"/>
              </a:rPr>
              <a:t>월</a:t>
            </a:r>
            <a:r>
              <a:rPr lang="en-US" altLang="ko-KR" sz="1000" b="0" dirty="0">
                <a:latin typeface="+mn-ea"/>
                <a:ea typeface="+mn-ea"/>
              </a:rPr>
              <a:t>, 7</a:t>
            </a:r>
            <a:r>
              <a:rPr lang="ko-KR" altLang="en-US" sz="1000" b="0" dirty="0">
                <a:latin typeface="+mn-ea"/>
                <a:ea typeface="+mn-ea"/>
              </a:rPr>
              <a:t>월</a:t>
            </a:r>
            <a:r>
              <a:rPr lang="en-US" altLang="ko-KR" sz="1000" b="0" dirty="0">
                <a:latin typeface="+mn-ea"/>
                <a:ea typeface="+mn-ea"/>
              </a:rPr>
              <a:t>, 10</a:t>
            </a:r>
            <a:r>
              <a:rPr lang="ko-KR" altLang="en-US" sz="1000" b="0" dirty="0">
                <a:latin typeface="+mn-ea"/>
                <a:ea typeface="+mn-ea"/>
              </a:rPr>
              <a:t>월</a:t>
            </a:r>
            <a:r>
              <a:rPr lang="en-US" altLang="ko-KR" sz="1000" b="0" dirty="0">
                <a:latin typeface="+mn-ea"/>
                <a:ea typeface="+mn-ea"/>
              </a:rPr>
              <a:t>)</a:t>
            </a:r>
            <a:r>
              <a:rPr lang="ko-KR" altLang="en-US" sz="1000" b="0" dirty="0">
                <a:latin typeface="+mn-ea"/>
                <a:ea typeface="+mn-ea"/>
              </a:rPr>
              <a:t>의 경우 정상적인 결과가 나오지 않았음</a:t>
            </a:r>
            <a:r>
              <a:rPr lang="en-US" altLang="ko-KR" sz="1000" b="0" dirty="0">
                <a:latin typeface="+mn-ea"/>
                <a:ea typeface="+mn-ea"/>
              </a:rPr>
              <a:t>. (</a:t>
            </a:r>
            <a:r>
              <a:rPr lang="ko-KR" altLang="en-US" sz="1000" b="0" dirty="0">
                <a:latin typeface="+mn-ea"/>
                <a:ea typeface="+mn-ea"/>
              </a:rPr>
              <a:t>희석질소 오프셋의 계수가 발산함</a:t>
            </a:r>
            <a:r>
              <a:rPr lang="en-US" altLang="ko-KR" sz="1000" b="0" dirty="0">
                <a:latin typeface="+mn-ea"/>
                <a:ea typeface="+mn-ea"/>
              </a:rPr>
              <a:t>)</a:t>
            </a:r>
            <a:endParaRPr lang="ko-KR" altLang="en-US" sz="10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0757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103045</TotalTime>
  <Words>2313</Words>
  <Application>Microsoft Office PowerPoint</Application>
  <PresentationFormat>A4 용지(210x297mm)</PresentationFormat>
  <Paragraphs>546</Paragraphs>
  <Slides>31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Ⅰ-1. 강화학습 개요</vt:lpstr>
      <vt:lpstr>Ⅰ-1. 강화학습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1.1 공정 소개</vt:lpstr>
      <vt:lpstr>1.2 사용한 데이터</vt:lpstr>
      <vt:lpstr>1.3 문제 개요 (offline RL)</vt:lpstr>
      <vt:lpstr>2.1 TD3+BC 코드 (1/4)</vt:lpstr>
      <vt:lpstr>2.1 TD3+BC 코드 (2/4)</vt:lpstr>
      <vt:lpstr>2.1 TD3+BC 코드 (3/4)</vt:lpstr>
      <vt:lpstr>2.1 TD3+BC 코드 (4/4)</vt:lpstr>
      <vt:lpstr>2.2 희석질소유량 추천 및 NOx 예측 로직 상세 (1/3)</vt:lpstr>
      <vt:lpstr>2.2 희석질소유량 추천 및 NOx 예측 로직 상세 (2/3)</vt:lpstr>
      <vt:lpstr>2.2 희석질소유량 추천 및 NOx 예측 로직 상세 (3/3)</vt:lpstr>
      <vt:lpstr>2.3 TD3+BC 시뮬레이션 결과 (1/2)</vt:lpstr>
      <vt:lpstr>2.3 TD3+BC 시뮬레이션 결과 (2/2)</vt:lpstr>
      <vt:lpstr>3.1 이슈1 : 학습의 안정성</vt:lpstr>
      <vt:lpstr>3.2 이슈2 : NOx 예측모델</vt:lpstr>
      <vt:lpstr>3.2 이슈2 : NOx 예측모델</vt:lpstr>
      <vt:lpstr>3.3 이슈3 : 기타 개선방안</vt:lpstr>
      <vt:lpstr>[첨부] 1. 사용한 데이터</vt:lpstr>
      <vt:lpstr>[첨부] 1. 사용한 데이터</vt:lpstr>
      <vt:lpstr>[첨부] 2. 희석질소유량 PLS 결과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7329</cp:revision>
  <cp:lastPrinted>2025-07-14T07:44:34Z</cp:lastPrinted>
  <dcterms:created xsi:type="dcterms:W3CDTF">2011-12-28T05:39:44Z</dcterms:created>
  <dcterms:modified xsi:type="dcterms:W3CDTF">2025-10-29T06:55:15Z</dcterms:modified>
</cp:coreProperties>
</file>