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800" r:id="rId1"/>
  </p:sldMasterIdLst>
  <p:notesMasterIdLst>
    <p:notesMasterId r:id="rId14"/>
  </p:notesMasterIdLst>
  <p:handoutMasterIdLst>
    <p:handoutMasterId r:id="rId15"/>
  </p:handoutMasterIdLst>
  <p:sldIdLst>
    <p:sldId id="5704" r:id="rId2"/>
    <p:sldId id="5705" r:id="rId3"/>
    <p:sldId id="5706" r:id="rId4"/>
    <p:sldId id="9193" r:id="rId5"/>
    <p:sldId id="9195" r:id="rId6"/>
    <p:sldId id="9196" r:id="rId7"/>
    <p:sldId id="9221" r:id="rId8"/>
    <p:sldId id="9216" r:id="rId9"/>
    <p:sldId id="9217" r:id="rId10"/>
    <p:sldId id="9219" r:id="rId11"/>
    <p:sldId id="9220" r:id="rId12"/>
    <p:sldId id="5708" r:id="rId13"/>
  </p:sldIdLst>
  <p:sldSz cx="9906000" cy="6858000" type="A4"/>
  <p:notesSz cx="6797675" cy="9926638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1pPr>
    <a:lvl2pPr marL="4572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2pPr>
    <a:lvl3pPr marL="9144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3pPr>
    <a:lvl4pPr marL="13716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4pPr>
    <a:lvl5pPr marL="18288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5pPr>
    <a:lvl6pPr marL="22860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6pPr>
    <a:lvl7pPr marL="27432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7pPr>
    <a:lvl8pPr marL="32004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8pPr>
    <a:lvl9pPr marL="36576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9pPr>
  </p:defaultTextStyle>
  <p:extLst>
    <p:ext uri="{521415D9-36F7-43E2-AB2F-B90AF26B5E84}">
      <p14:sectionLst xmlns:p14="http://schemas.microsoft.com/office/powerpoint/2010/main">
        <p14:section name="레이아웃" id="{CE72B11D-AA25-4366-880F-821DE9956EB7}">
          <p14:sldIdLst>
            <p14:sldId id="5704"/>
            <p14:sldId id="5705"/>
            <p14:sldId id="5706"/>
            <p14:sldId id="9193"/>
            <p14:sldId id="9195"/>
            <p14:sldId id="9196"/>
            <p14:sldId id="9221"/>
            <p14:sldId id="9216"/>
            <p14:sldId id="9217"/>
            <p14:sldId id="9219"/>
            <p14:sldId id="9220"/>
            <p14:sldId id="5708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4042" userDrawn="1">
          <p15:clr>
            <a:srgbClr val="A4A3A4"/>
          </p15:clr>
        </p15:guide>
        <p15:guide id="5" orient="horz" pos="1117" userDrawn="1">
          <p15:clr>
            <a:srgbClr val="A4A3A4"/>
          </p15:clr>
        </p15:guide>
        <p15:guide id="6" orient="horz" pos="300" userDrawn="1">
          <p15:clr>
            <a:srgbClr val="A4A3A4"/>
          </p15:clr>
        </p15:guide>
        <p15:guide id="7" pos="1532" userDrawn="1">
          <p15:clr>
            <a:srgbClr val="A4A3A4"/>
          </p15:clr>
        </p15:guide>
        <p15:guide id="8" pos="6068" userDrawn="1">
          <p15:clr>
            <a:srgbClr val="A4A3A4"/>
          </p15:clr>
        </p15:guide>
        <p15:guide id="9" pos="3097" userDrawn="1">
          <p15:clr>
            <a:srgbClr val="A4A3A4"/>
          </p15:clr>
        </p15:guide>
        <p15:guide id="10" pos="4662" userDrawn="1">
          <p15:clr>
            <a:srgbClr val="A4A3A4"/>
          </p15:clr>
        </p15:guide>
        <p15:guide id="13" orient="horz" pos="2636" userDrawn="1">
          <p15:clr>
            <a:srgbClr val="A4A3A4"/>
          </p15:clr>
        </p15:guide>
        <p15:guide id="14" pos="126">
          <p15:clr>
            <a:srgbClr val="A4A3A4"/>
          </p15:clr>
        </p15:guide>
        <p15:guide id="15" orient="horz" pos="618" userDrawn="1">
          <p15:clr>
            <a:srgbClr val="A4A3A4"/>
          </p15:clr>
        </p15:guide>
        <p15:guide id="16" orient="horz" pos="405" userDrawn="1">
          <p15:clr>
            <a:srgbClr val="A4A3A4"/>
          </p15:clr>
        </p15:guide>
        <p15:guide id="17" orient="horz" pos="686" userDrawn="1">
          <p15:clr>
            <a:srgbClr val="A4A3A4"/>
          </p15:clr>
        </p15:guide>
        <p15:guide id="18" pos="217" userDrawn="1">
          <p15:clr>
            <a:srgbClr val="A4A3A4"/>
          </p15:clr>
        </p15:guide>
        <p15:guide id="19" orient="horz" pos="39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C4E3"/>
    <a:srgbClr val="729DD0"/>
    <a:srgbClr val="325F96"/>
    <a:srgbClr val="0000FF"/>
    <a:srgbClr val="3072C2"/>
    <a:srgbClr val="F38F15"/>
    <a:srgbClr val="FFFFCC"/>
    <a:srgbClr val="31859C"/>
    <a:srgbClr val="EE541E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82" autoAdjust="0"/>
    <p:restoredTop sz="95087" autoAdjust="0"/>
  </p:normalViewPr>
  <p:slideViewPr>
    <p:cSldViewPr snapToGrid="0" snapToObjects="1" showGuides="1">
      <p:cViewPr varScale="1">
        <p:scale>
          <a:sx n="128" d="100"/>
          <a:sy n="128" d="100"/>
        </p:scale>
        <p:origin x="1483" y="101"/>
      </p:cViewPr>
      <p:guideLst>
        <p:guide orient="horz" pos="4042"/>
        <p:guide orient="horz" pos="1117"/>
        <p:guide orient="horz" pos="300"/>
        <p:guide pos="1532"/>
        <p:guide pos="6068"/>
        <p:guide pos="3097"/>
        <p:guide pos="4662"/>
        <p:guide orient="horz" pos="2636"/>
        <p:guide pos="126"/>
        <p:guide orient="horz" pos="618"/>
        <p:guide orient="horz" pos="405"/>
        <p:guide orient="horz" pos="686"/>
        <p:guide pos="217"/>
        <p:guide orient="horz" pos="39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5" d="100"/>
        <a:sy n="75" d="100"/>
      </p:scale>
      <p:origin x="0" y="-3384"/>
    </p:cViewPr>
  </p:sorterViewPr>
  <p:notesViewPr>
    <p:cSldViewPr snapToGrid="0" snapToObjects="1" showGuides="1">
      <p:cViewPr varScale="1">
        <p:scale>
          <a:sx n="65" d="100"/>
          <a:sy n="65" d="100"/>
        </p:scale>
        <p:origin x="-1644" y="-120"/>
      </p:cViewPr>
      <p:guideLst>
        <p:guide orient="horz" pos="3127"/>
        <p:guide pos="2138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6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4770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6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4770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D8414D26-1A5B-4156-888F-DCC378C60C78}" type="slidenum">
              <a:rPr lang="ko-KR" altLang="en-US"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6946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7733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177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5963" y="723900"/>
            <a:ext cx="5438775" cy="37671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76233" y="4732653"/>
            <a:ext cx="5035494" cy="4486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7733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979854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0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89837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\</a:t>
            </a:r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9740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B22AF-D0E6-368C-B5AC-7CEEEE9C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8346C0-32C9-CE2E-7F3B-D4215B2569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1C1FA6-E651-B51A-56F1-C5966BFA9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A498A3-3D71-65D5-BE59-86C148222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48217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A4458-93BA-C11B-4AE0-2606E15EB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B88C0F-8CC1-17D2-B1A0-ECEFCAA74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2FE9B7-C050-8AC3-0E92-56C28AE26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E34977-C5A8-85D5-5AA3-958905042E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31621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0" dirty="0" err="1">
                <a:latin typeface="+mn-lt"/>
                <a:ea typeface="+mn-ea"/>
              </a:rPr>
              <a:t>cos⁡cos</a:t>
            </a:r>
            <a:r>
              <a:rPr lang="en-US" altLang="ko-KR" b="0" dirty="0">
                <a:latin typeface="+mn-lt"/>
                <a:ea typeface="+mn-ea"/>
              </a:rPr>
              <a:t> </a:t>
            </a:r>
            <a:r>
              <a:rPr lang="ko-KR" altLang="en-US" b="0" dirty="0">
                <a:latin typeface="+mn-lt"/>
                <a:ea typeface="+mn-ea"/>
              </a:rPr>
              <a:t>함수는 학습이 진행됨에 따라 점차 줄어드는 부드러운 곡선을 형성함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42449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BCDB8-E1B7-C6C9-06FB-190FDC1C9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2875C0-F579-8851-EC28-55D554265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BD0F8C-F3F6-224D-CBC8-2E57851FAB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 b="0" dirty="0">
              <a:latin typeface="+mn-lt"/>
              <a:ea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3D2863-53F3-1811-4A48-7DD9B5EFC7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0722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92938-D9CE-42E0-2046-13502A784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C36396-7387-D00A-ED19-300DF3CE7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810E3F-155A-9C89-897F-AB6D68C20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모델은 보통 여러 개의 토큰</a:t>
            </a:r>
            <a:r>
              <a:rPr lang="en-US" altLang="ko-KR" dirty="0"/>
              <a:t>(token) </a:t>
            </a:r>
            <a:r>
              <a:rPr lang="ko-KR" altLang="en-US" dirty="0"/>
              <a:t>또는 샘플에 대해 </a:t>
            </a:r>
            <a:r>
              <a:rPr lang="en-US" altLang="ko-KR" dirty="0"/>
              <a:t>loss</a:t>
            </a:r>
            <a:r>
              <a:rPr lang="ko-KR" altLang="en-US" dirty="0"/>
              <a:t>를 계산합니다</a:t>
            </a:r>
            <a:r>
              <a:rPr lang="en-US" altLang="ko-KR" dirty="0"/>
              <a:t>. </a:t>
            </a:r>
            <a:r>
              <a:rPr lang="ko-KR" altLang="en-US" dirty="0"/>
              <a:t>이때 </a:t>
            </a:r>
            <a:r>
              <a:rPr lang="ko-KR" altLang="en-US" b="1" dirty="0"/>
              <a:t>각 토큰의 </a:t>
            </a:r>
            <a:r>
              <a:rPr lang="en-US" altLang="ko-KR" b="1" dirty="0"/>
              <a:t>loss</a:t>
            </a:r>
            <a:r>
              <a:rPr lang="ko-KR" altLang="en-US" b="1" dirty="0"/>
              <a:t>를 하나의 수치로 줄이기 위해</a:t>
            </a:r>
            <a:r>
              <a:rPr lang="ko-KR" altLang="en-US" dirty="0"/>
              <a:t> 어떤 방식을 사용할지 결정해야 합니다</a:t>
            </a:r>
            <a:r>
              <a:rPr lang="en-US" altLang="ko-KR" dirty="0"/>
              <a:t>:</a:t>
            </a:r>
            <a:endParaRPr lang="ko-KR" altLang="en-US" b="0" dirty="0">
              <a:latin typeface="+mn-lt"/>
              <a:ea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FED113-1E01-501A-DE3A-35D1D2F84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8387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06"/>
            <a:ext cx="9906000" cy="62388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285" y="6364091"/>
            <a:ext cx="1722052" cy="396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" name="Picture 8" descr="logo_goodmark_%5b245%5d">
            <a:extLst>
              <a:ext uri="{FF2B5EF4-FFF2-40B4-BE49-F238E27FC236}">
                <a16:creationId xmlns:a16="http://schemas.microsoft.com/office/drawing/2014/main" id="{1934DBAA-C187-4B71-BC05-DBE92E855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520" y="262067"/>
            <a:ext cx="1143000" cy="5715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>
            <a:extLst>
              <a:ext uri="{FF2B5EF4-FFF2-40B4-BE49-F238E27FC236}">
                <a16:creationId xmlns:a16="http://schemas.microsoft.com/office/drawing/2014/main" id="{0A8B6B62-1260-49DF-A155-60E5615934C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/>
          <a:srcRect l="959" t="575" r="68657" b="78969"/>
          <a:stretch/>
        </p:blipFill>
        <p:spPr bwMode="auto">
          <a:xfrm>
            <a:off x="7597286" y="260648"/>
            <a:ext cx="647502" cy="5729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34D8AA7-8C6E-4CCA-A0FA-DEF653DF959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45636" y="1378603"/>
            <a:ext cx="6814729" cy="1216815"/>
          </a:xfrm>
          <a:prstGeom prst="rect">
            <a:avLst/>
          </a:prstGeo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ko-KR" altLang="en-US" dirty="0"/>
              <a:t>제목 입력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BF9C7C0F-DB1B-4BE9-9142-410B314C4B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74269" y="4509119"/>
            <a:ext cx="2586181" cy="970278"/>
          </a:xfrm>
          <a:prstGeom prst="rect">
            <a:avLst/>
          </a:prstGeom>
        </p:spPr>
        <p:txBody>
          <a:bodyPr anchor="ctr"/>
          <a:lstStyle>
            <a:lvl1pPr marL="0" indent="0" algn="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dirty="0">
                <a:solidFill>
                  <a:schemeClr val="bg1"/>
                </a:solidFill>
                <a:latin typeface="+mn-ea"/>
                <a:ea typeface="+mn-ea"/>
                <a:cs typeface="Open Sans" panose="020B0606030504020204" pitchFamily="34" charset="0"/>
                <a:sym typeface="Wingdings" pitchFamily="2" charset="2"/>
              </a:defRPr>
            </a:lvl1pPr>
          </a:lstStyle>
          <a:p>
            <a:pPr lvl="0"/>
            <a:r>
              <a:rPr lang="en-US" altLang="ko-KR" dirty="0"/>
              <a:t>202y. mm. dd </a:t>
            </a:r>
            <a:r>
              <a:rPr lang="ko-KR" altLang="en-US" dirty="0"/>
              <a:t>담당자</a:t>
            </a:r>
            <a:r>
              <a:rPr lang="en-US" altLang="ko-KR" dirty="0"/>
              <a:t>/</a:t>
            </a:r>
            <a:r>
              <a:rPr lang="ko-KR" altLang="en-US" dirty="0"/>
              <a:t>직급</a:t>
            </a:r>
          </a:p>
        </p:txBody>
      </p:sp>
      <p:sp>
        <p:nvSpPr>
          <p:cNvPr id="13" name="텍스트 개체 틀 10">
            <a:extLst>
              <a:ext uri="{FF2B5EF4-FFF2-40B4-BE49-F238E27FC236}">
                <a16:creationId xmlns:a16="http://schemas.microsoft.com/office/drawing/2014/main" id="{59E7B7E7-9C05-4667-885B-AB8295A969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5381" y="6356345"/>
            <a:ext cx="2137340" cy="411493"/>
          </a:xfrm>
          <a:prstGeom prst="rect">
            <a:avLst/>
          </a:prstGeo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1" kern="1200" dirty="0">
                <a:solidFill>
                  <a:schemeClr val="tx1"/>
                </a:solidFill>
                <a:latin typeface="+mn-ea"/>
                <a:ea typeface="+mn-ea"/>
                <a:cs typeface="Open Sans" panose="020B0606030504020204" pitchFamily="34" charset="0"/>
                <a:sym typeface="Wingdings" pitchFamily="2" charset="2"/>
              </a:defRPr>
            </a:lvl1pPr>
          </a:lstStyle>
          <a:p>
            <a:pPr lvl="0"/>
            <a:r>
              <a:rPr lang="ko-KR" altLang="en-US" dirty="0"/>
              <a:t>대상 업체 로고</a:t>
            </a:r>
            <a:endParaRPr lang="en-US" altLang="ko-KR" dirty="0"/>
          </a:p>
          <a:p>
            <a:pPr lvl="0"/>
            <a:r>
              <a:rPr lang="en-US" altLang="ko-KR" dirty="0"/>
              <a:t>*</a:t>
            </a:r>
            <a:r>
              <a:rPr lang="ko-KR" altLang="en-US" dirty="0"/>
              <a:t>없을 시 무시</a:t>
            </a:r>
          </a:p>
        </p:txBody>
      </p:sp>
    </p:spTree>
    <p:extLst>
      <p:ext uri="{BB962C8B-B14F-4D97-AF65-F5344CB8AC3E}">
        <p14:creationId xmlns:p14="http://schemas.microsoft.com/office/powerpoint/2010/main" val="1297784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9429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F2EC38CF-E0DA-4E4F-8879-1DB4A59C6FEA}"/>
              </a:ext>
            </a:extLst>
          </p:cNvPr>
          <p:cNvSpPr txBox="1">
            <a:spLocks/>
          </p:cNvSpPr>
          <p:nvPr userDrawn="1"/>
        </p:nvSpPr>
        <p:spPr>
          <a:xfrm>
            <a:off x="554082" y="188574"/>
            <a:ext cx="8797837" cy="568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1" dirty="0">
                <a:solidFill>
                  <a:schemeClr val="bg1"/>
                </a:solidFill>
                <a:latin typeface="+mn-ea"/>
                <a:cs typeface="한컴돋움" pitchFamily="18" charset="2"/>
              </a:rPr>
              <a:t>CONTENTS</a:t>
            </a:r>
            <a:endParaRPr lang="ko-KR" altLang="en-US" b="1" dirty="0">
              <a:solidFill>
                <a:schemeClr val="bg1"/>
              </a:solidFill>
              <a:latin typeface="+mn-ea"/>
              <a:cs typeface="한컴돋움" pitchFamily="18" charset="2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3C314B1-2864-4E0A-A4EA-09072E8A1F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2091" y="1997810"/>
            <a:ext cx="4733230" cy="3571718"/>
          </a:xfrm>
          <a:prstGeom prst="rect">
            <a:avLst/>
          </a:prstGeom>
        </p:spPr>
        <p:txBody>
          <a:bodyPr anchor="t"/>
          <a:lstStyle>
            <a:lvl1pPr marL="360363" indent="-360363" algn="l" rtl="0" fontAlgn="base" latinLnBrk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  <a:defRPr kumimoji="1" lang="ko-KR" altLang="en-US" sz="28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marL="1028700" indent="-571500">
              <a:buFont typeface="+mj-lt"/>
              <a:buAutoNum type="romanUcPeriod"/>
              <a:defRPr/>
            </a:lvl2pPr>
            <a:lvl3pPr marL="1428750" indent="-514350">
              <a:buFont typeface="+mj-lt"/>
              <a:buAutoNum type="romanUcPeriod"/>
              <a:defRPr/>
            </a:lvl3pPr>
            <a:lvl4pPr marL="1885950" indent="-514350">
              <a:buFont typeface="+mj-lt"/>
              <a:buAutoNum type="romanUcPeriod"/>
              <a:defRPr/>
            </a:lvl4pPr>
            <a:lvl5pPr marL="2343150" indent="-514350">
              <a:buFont typeface="+mj-lt"/>
              <a:buAutoNum type="romanUcPeriod"/>
              <a:defRPr/>
            </a:lvl5pPr>
          </a:lstStyle>
          <a:p>
            <a:pPr lvl="0"/>
            <a:r>
              <a:rPr lang="ko-KR" altLang="en-US" dirty="0"/>
              <a:t>챕터 제목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0166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세부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00" y="0"/>
            <a:ext cx="1952625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F2CE6CF-FA78-495B-9442-39017B283AB8}"/>
              </a:ext>
            </a:extLst>
          </p:cNvPr>
          <p:cNvSpPr/>
          <p:nvPr userDrawn="1"/>
        </p:nvSpPr>
        <p:spPr bwMode="auto">
          <a:xfrm>
            <a:off x="2661084" y="1266012"/>
            <a:ext cx="5909568" cy="702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00"/>
              </a:lnSpc>
            </a:pP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E7EA2D-A154-446D-A624-452F1F9623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1916" y="1407161"/>
            <a:ext cx="4953000" cy="4197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kumimoji="1" lang="ko-KR" altLang="en-US" sz="24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en-US" altLang="ko-KR" dirty="0"/>
              <a:t>I. </a:t>
            </a:r>
            <a:r>
              <a:rPr lang="ko-KR" altLang="en-US" dirty="0"/>
              <a:t>챕터 제목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2AF3831-91CA-4478-A2C9-FA92065CC9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3405" y="2295122"/>
            <a:ext cx="4507345" cy="91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AutoNum type="arabicPeriod"/>
              <a:defRPr kumimoji="1" lang="ko-KR" altLang="en-US" sz="2000" b="1" kern="120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ko-KR" altLang="en-US" dirty="0"/>
              <a:t>주제</a:t>
            </a:r>
          </a:p>
        </p:txBody>
      </p:sp>
    </p:spTree>
    <p:extLst>
      <p:ext uri="{BB962C8B-B14F-4D97-AF65-F5344CB8AC3E}">
        <p14:creationId xmlns:p14="http://schemas.microsoft.com/office/powerpoint/2010/main" val="3414547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68"/>
          <p:cNvSpPr txBox="1">
            <a:spLocks noChangeArrowheads="1"/>
          </p:cNvSpPr>
          <p:nvPr userDrawn="1"/>
        </p:nvSpPr>
        <p:spPr bwMode="auto">
          <a:xfrm>
            <a:off x="-1513" y="6613337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Copyright 2025. ECMiner</a:t>
            </a:r>
            <a:r>
              <a:rPr kumimoji="0" lang="en-US" altLang="ko-KR" sz="700" b="0" i="0" baseline="0" dirty="0">
                <a:latin typeface="맑은 고딕"/>
                <a:ea typeface="맑은 고딕"/>
              </a:rPr>
              <a:t> Co., Ltd. a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ll rights reserved.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4797199" y="6597352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prstClr val="black"/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56197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822" y="6579514"/>
            <a:ext cx="939299" cy="216000"/>
          </a:xfrm>
          <a:prstGeom prst="rect">
            <a:avLst/>
          </a:prstGeom>
        </p:spPr>
      </p:pic>
      <p:sp>
        <p:nvSpPr>
          <p:cNvPr id="14" name="텍스트 개체 틀 19">
            <a:extLst>
              <a:ext uri="{FF2B5EF4-FFF2-40B4-BE49-F238E27FC236}">
                <a16:creationId xmlns:a16="http://schemas.microsoft.com/office/drawing/2014/main" id="{6BEA6CC4-7B5D-42C1-89CC-4D5372474D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9708" y="572858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>
              <a:buFont typeface="Wingdings" panose="05000000000000000000" pitchFamily="2" charset="2"/>
              <a:buChar char="§"/>
              <a:tabLst>
                <a:tab pos="0" algn="l"/>
              </a:tabLst>
              <a:defRPr sz="1600" b="1"/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 dirty="0"/>
              <a:t>소주제</a:t>
            </a:r>
          </a:p>
        </p:txBody>
      </p:sp>
      <p:sp>
        <p:nvSpPr>
          <p:cNvPr id="15" name="텍스트 개체 틀 21">
            <a:extLst>
              <a:ext uri="{FF2B5EF4-FFF2-40B4-BE49-F238E27FC236}">
                <a16:creationId xmlns:a16="http://schemas.microsoft.com/office/drawing/2014/main" id="{55D5FE98-3A06-4B9D-8C1C-494B1EC85F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309" y="922627"/>
            <a:ext cx="9270641" cy="708950"/>
          </a:xfrm>
          <a:prstGeom prst="rect">
            <a:avLst/>
          </a:prstGeom>
        </p:spPr>
        <p:txBody>
          <a:bodyPr lIns="72000" tIns="36000"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 altLang="ko-KR" dirty="0"/>
              <a:t>*</a:t>
            </a:r>
            <a:r>
              <a:rPr lang="ko-KR" altLang="en-US" dirty="0"/>
              <a:t>글자 폰트 </a:t>
            </a:r>
            <a:r>
              <a:rPr lang="en-US" altLang="ko-KR" dirty="0"/>
              <a:t>14 </a:t>
            </a:r>
            <a:r>
              <a:rPr lang="ko-KR" altLang="en-US" dirty="0"/>
              <a:t>유지                                                                                                                     </a:t>
            </a:r>
            <a:r>
              <a:rPr lang="en-US" altLang="ko-KR" dirty="0"/>
              <a:t>*</a:t>
            </a:r>
            <a:r>
              <a:rPr lang="ko-KR" altLang="en-US" dirty="0"/>
              <a:t>최대 </a:t>
            </a:r>
            <a:r>
              <a:rPr lang="en-US" altLang="ko-KR" dirty="0"/>
              <a:t>3</a:t>
            </a:r>
            <a:r>
              <a:rPr lang="ko-KR" altLang="en-US" dirty="0"/>
              <a:t>줄까지 기입                                                                                                                      </a:t>
            </a:r>
            <a:r>
              <a:rPr lang="en-US" altLang="ko-KR" dirty="0"/>
              <a:t>*</a:t>
            </a:r>
            <a:r>
              <a:rPr lang="ko-KR" altLang="en-US" dirty="0"/>
              <a:t>그림 자료가 주 내용일 경우</a:t>
            </a:r>
            <a:r>
              <a:rPr lang="en-US" altLang="ko-KR" dirty="0"/>
              <a:t>, </a:t>
            </a:r>
            <a:r>
              <a:rPr lang="ko-KR" altLang="en-US" dirty="0"/>
              <a:t>삭제 가능</a:t>
            </a:r>
          </a:p>
        </p:txBody>
      </p:sp>
      <p:sp>
        <p:nvSpPr>
          <p:cNvPr id="16" name="제목 9">
            <a:extLst>
              <a:ext uri="{FF2B5EF4-FFF2-40B4-BE49-F238E27FC236}">
                <a16:creationId xmlns:a16="http://schemas.microsoft.com/office/drawing/2014/main" id="{4218302E-124C-470D-BB79-F671E8D10C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472" y="76562"/>
            <a:ext cx="8543925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algn="l">
              <a:defRPr kumimoji="0" lang="ko-KR" altLang="en-US" sz="20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Arial" charset="0"/>
                <a:sym typeface="Wingdings" pitchFamily="2" charset="2"/>
              </a:defRPr>
            </a:lvl1pPr>
          </a:lstStyle>
          <a:p>
            <a:pPr marL="0" marR="0" lvl="0" indent="0" algn="l" defTabSz="914400" eaLnBrk="1" latinLnBrk="0" hangingPunct="1">
              <a:lnSpc>
                <a:spcPct val="100000"/>
              </a:lnSpc>
              <a:spcBef>
                <a:spcPct val="50000"/>
              </a:spcBef>
              <a:buClr>
                <a:srgbClr val="4D4D4D"/>
              </a:buClr>
              <a:buSzTx/>
              <a:buFont typeface="Arial" charset="0"/>
              <a:buNone/>
              <a:tabLst/>
            </a:pPr>
            <a:r>
              <a:rPr lang="en-US" altLang="ko-KR" dirty="0"/>
              <a:t>1. </a:t>
            </a:r>
            <a:r>
              <a:rPr lang="ko-KR" altLang="en-US" dirty="0"/>
              <a:t>주제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43F91B20-EC10-49FE-B09E-1E543401C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5096" y="273600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en-US" altLang="ko-KR" dirty="0"/>
              <a:t>I. </a:t>
            </a:r>
            <a:r>
              <a:rPr lang="ko-KR" altLang="en-US" dirty="0"/>
              <a:t>챕터 제목</a:t>
            </a:r>
          </a:p>
        </p:txBody>
      </p:sp>
    </p:spTree>
    <p:extLst>
      <p:ext uri="{BB962C8B-B14F-4D97-AF65-F5344CB8AC3E}">
        <p14:creationId xmlns:p14="http://schemas.microsoft.com/office/powerpoint/2010/main" val="986182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63"/>
            <a:ext cx="9906000" cy="6238875"/>
          </a:xfrm>
          <a:prstGeom prst="rect">
            <a:avLst/>
          </a:prstGeom>
        </p:spPr>
      </p:pic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5544274" y="4536505"/>
            <a:ext cx="4245264" cy="1392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㈜</a:t>
            </a:r>
            <a:r>
              <a:rPr lang="ko-KR" altLang="en-US" b="1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이씨마이너</a:t>
            </a:r>
            <a:endParaRPr lang="ko-KR" altLang="en-US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endParaRPr lang="ko-KR" altLang="en-US" sz="1200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서울특별시 강남구 </a:t>
            </a:r>
            <a:r>
              <a:rPr lang="ko-KR" altLang="en-US" sz="1200" b="1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논현로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28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길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54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덕원빌딩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층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Tel  02-552-5266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Fax  02-566-0768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 - http://www.ecminer.com</a:t>
            </a:r>
          </a:p>
        </p:txBody>
      </p:sp>
      <p:sp>
        <p:nvSpPr>
          <p:cNvPr id="5" name="Rectangle 14"/>
          <p:cNvSpPr>
            <a:spLocks noChangeArrowheads="1"/>
          </p:cNvSpPr>
          <p:nvPr userDrawn="1"/>
        </p:nvSpPr>
        <p:spPr bwMode="gray">
          <a:xfrm>
            <a:off x="56456" y="6431765"/>
            <a:ext cx="7704856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ko-KR" altLang="en-US" sz="1000" b="1" dirty="0">
                <a:latin typeface="+mn-ea"/>
                <a:ea typeface="+mn-ea"/>
              </a:rPr>
              <a:t>본 문서는 </a:t>
            </a:r>
            <a:r>
              <a:rPr lang="en-US" altLang="ko-KR" sz="1000" b="1" dirty="0">
                <a:latin typeface="+mn-ea"/>
                <a:ea typeface="+mn-ea"/>
              </a:rPr>
              <a:t>㈜</a:t>
            </a:r>
            <a:r>
              <a:rPr lang="ko-KR" altLang="en-US" sz="1000" b="1" dirty="0">
                <a:latin typeface="+mn-ea"/>
                <a:ea typeface="+mn-ea"/>
              </a:rPr>
              <a:t>이씨마이너의 기밀정보 및 영업비밀을 포함하고 있으므로</a:t>
            </a:r>
            <a:r>
              <a:rPr lang="en-US" altLang="ko-KR" sz="1000" b="1" dirty="0">
                <a:latin typeface="+mn-ea"/>
                <a:ea typeface="+mn-ea"/>
              </a:rPr>
              <a:t>, </a:t>
            </a:r>
            <a:r>
              <a:rPr lang="ko-KR" altLang="en-US" sz="1000" b="1" dirty="0">
                <a:latin typeface="+mn-ea"/>
                <a:ea typeface="+mn-ea"/>
              </a:rPr>
              <a:t>제공된 목적 외에 무단으로 복제되거나</a:t>
            </a:r>
            <a:r>
              <a:rPr lang="en-US" altLang="ko-KR" sz="1000" b="1" dirty="0">
                <a:latin typeface="+mn-ea"/>
                <a:ea typeface="+mn-ea"/>
              </a:rPr>
              <a:t> </a:t>
            </a:r>
            <a:r>
              <a:rPr lang="ko-KR" altLang="en-US" sz="1000" b="1" dirty="0">
                <a:latin typeface="+mn-ea"/>
                <a:ea typeface="+mn-ea"/>
              </a:rPr>
              <a:t>배포될 수 없습니다</a:t>
            </a:r>
            <a:r>
              <a:rPr lang="en-US" altLang="ko-KR" sz="10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375123" y="2331628"/>
            <a:ext cx="31534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0" dirty="0">
                <a:solidFill>
                  <a:schemeClr val="bg1"/>
                </a:solidFill>
                <a:latin typeface="+mn-ea"/>
                <a:ea typeface="+mn-ea"/>
              </a:rPr>
              <a:t>감사합니다</a:t>
            </a:r>
            <a:r>
              <a:rPr lang="en-US" altLang="ko-KR" sz="4400" b="0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sz="44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997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869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0" r:id="rId2"/>
    <p:sldLayoutId id="2147483803" r:id="rId3"/>
    <p:sldLayoutId id="2147483808" r:id="rId4"/>
    <p:sldLayoutId id="2147483804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4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0.pn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0.png"/><Relationship Id="rId5" Type="http://schemas.openxmlformats.org/officeDocument/2006/relationships/image" Target="../media/image130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FB9C259-F067-4F41-A6FB-E2E1BE7869E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66776" y="1378603"/>
            <a:ext cx="8172450" cy="1216815"/>
          </a:xfrm>
        </p:spPr>
        <p:txBody>
          <a:bodyPr/>
          <a:lstStyle/>
          <a:p>
            <a:r>
              <a:rPr lang="en-US" altLang="ko-KR" dirty="0" err="1"/>
              <a:t>BitNet</a:t>
            </a:r>
            <a:r>
              <a:rPr lang="en-US" altLang="ko-KR" dirty="0"/>
              <a:t> b1.58 2B4T Technical Report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35A55-B1BF-4C4C-B8BD-EE34EE9B9E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2025.05.23</a:t>
            </a:r>
          </a:p>
          <a:p>
            <a:r>
              <a:rPr lang="ko-KR" altLang="en-US" dirty="0"/>
              <a:t>컨설팅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41FF10-64BF-4D1E-B03D-21849AC56E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07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EFC9500-80AE-4436-9F49-A96D2417B9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t"/>
          <a:lstStyle/>
          <a:p>
            <a:r>
              <a:rPr lang="en-US" altLang="ko-KR" dirty="0" err="1"/>
              <a:t>BitNet</a:t>
            </a:r>
            <a:r>
              <a:rPr lang="en-US" altLang="ko-KR" dirty="0"/>
              <a:t> </a:t>
            </a:r>
            <a:r>
              <a:rPr lang="ko-KR" altLang="en-US" dirty="0"/>
              <a:t>구조</a:t>
            </a:r>
            <a:endParaRPr lang="en-US" altLang="ko-KR" dirty="0"/>
          </a:p>
          <a:p>
            <a:r>
              <a:rPr lang="en-US" altLang="ko-KR" dirty="0" err="1"/>
              <a:t>BitNet</a:t>
            </a:r>
            <a:r>
              <a:rPr lang="en-US" altLang="ko-KR" dirty="0"/>
              <a:t> </a:t>
            </a:r>
            <a:r>
              <a:rPr lang="ko-KR" altLang="en-US" dirty="0"/>
              <a:t>학습 과정</a:t>
            </a:r>
          </a:p>
        </p:txBody>
      </p:sp>
    </p:spTree>
    <p:extLst>
      <p:ext uri="{BB962C8B-B14F-4D97-AF65-F5344CB8AC3E}">
        <p14:creationId xmlns:p14="http://schemas.microsoft.com/office/powerpoint/2010/main" val="161366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540E997-573E-4ACB-8DC3-FAD61A885E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I. </a:t>
            </a:r>
            <a:r>
              <a:rPr lang="en-US" altLang="ko-KR" dirty="0" err="1"/>
              <a:t>BitNet</a:t>
            </a:r>
            <a:r>
              <a:rPr lang="en-US" altLang="ko-KR" dirty="0"/>
              <a:t> </a:t>
            </a:r>
            <a:r>
              <a:rPr lang="ko-KR" altLang="en-US" dirty="0"/>
              <a:t>구조</a:t>
            </a: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45E31E-F3A5-494C-B5E6-A20C1F2B5D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63405" y="2295122"/>
            <a:ext cx="4507345" cy="2410228"/>
          </a:xfrm>
        </p:spPr>
        <p:txBody>
          <a:bodyPr/>
          <a:lstStyle/>
          <a:p>
            <a:r>
              <a:rPr lang="en-US" altLang="ko-KR" b="1" dirty="0" err="1"/>
              <a:t>BitNet</a:t>
            </a:r>
            <a:r>
              <a:rPr lang="en-US" altLang="ko-KR" b="1" dirty="0"/>
              <a:t> </a:t>
            </a:r>
            <a:r>
              <a:rPr lang="ko-KR" altLang="en-US" b="1" dirty="0"/>
              <a:t>논문 배경과 기여</a:t>
            </a:r>
            <a:endParaRPr lang="en-US" altLang="ko-KR" b="1" dirty="0"/>
          </a:p>
          <a:p>
            <a:r>
              <a:rPr lang="ko-KR" altLang="en-US" b="1" dirty="0"/>
              <a:t>아키텍처 개요</a:t>
            </a:r>
          </a:p>
          <a:p>
            <a:r>
              <a:rPr lang="en-US" altLang="ko-KR" b="1" dirty="0"/>
              <a:t>1-bit Weight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328087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4F102-8E05-C9D0-F8A0-E4703F4E6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690246D-8782-4319-0D20-2F7B1BAB0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b="1" dirty="0" err="1"/>
              <a:t>BitNet</a:t>
            </a:r>
            <a:r>
              <a:rPr lang="en-US" altLang="ko-KR" b="1" dirty="0"/>
              <a:t> </a:t>
            </a:r>
            <a:r>
              <a:rPr lang="ko-KR" altLang="en-US" b="1" dirty="0"/>
              <a:t>논문 배경과 기여</a:t>
            </a:r>
            <a:endParaRPr lang="en-US" altLang="ko-KR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0AD134-153A-06BB-DA27-885A67C8B7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최근 대형 언어 모델은 뛰어난 성능을 제공하지만</a:t>
            </a:r>
            <a:r>
              <a:rPr lang="en-US" altLang="ko-KR" dirty="0"/>
              <a:t>, </a:t>
            </a:r>
            <a:r>
              <a:rPr lang="ko-KR" altLang="en-US" dirty="0"/>
              <a:t>계산 자원과 메모리 사용량이 과도하게 증가합니다</a:t>
            </a:r>
            <a:r>
              <a:rPr lang="en-US" altLang="ko-KR" dirty="0"/>
              <a:t>. </a:t>
            </a:r>
            <a:r>
              <a:rPr lang="en-US" altLang="ko-KR" dirty="0" err="1"/>
              <a:t>BitNet</a:t>
            </a:r>
            <a:r>
              <a:rPr lang="ko-KR" altLang="en-US" dirty="0"/>
              <a:t>은 </a:t>
            </a:r>
            <a:r>
              <a:rPr lang="en-US" altLang="ko-KR" dirty="0">
                <a:highlight>
                  <a:srgbClr val="ABC4E3"/>
                </a:highlight>
              </a:rPr>
              <a:t>3</a:t>
            </a:r>
            <a:r>
              <a:rPr lang="ko-KR" altLang="en-US" dirty="0">
                <a:highlight>
                  <a:srgbClr val="ABC4E3"/>
                </a:highlight>
              </a:rPr>
              <a:t>진 가중치</a:t>
            </a:r>
            <a:r>
              <a:rPr lang="en-US" altLang="ko-KR" dirty="0">
                <a:highlight>
                  <a:srgbClr val="ABC4E3"/>
                </a:highlight>
              </a:rPr>
              <a:t>(Weight</a:t>
            </a:r>
            <a:r>
              <a:rPr lang="ko-KR" altLang="en-US" dirty="0">
                <a:highlight>
                  <a:srgbClr val="ABC4E3"/>
                </a:highlight>
              </a:rPr>
              <a:t> </a:t>
            </a:r>
            <a:r>
              <a:rPr lang="en-US" altLang="ko-KR" dirty="0">
                <a:highlight>
                  <a:srgbClr val="ABC4E3"/>
                </a:highlight>
              </a:rPr>
              <a:t>Quantization)</a:t>
            </a:r>
            <a:r>
              <a:rPr lang="ko-KR" altLang="en-US" dirty="0"/>
              <a:t>와 </a:t>
            </a:r>
            <a:r>
              <a:rPr lang="en-US" altLang="ko-KR" dirty="0"/>
              <a:t>8</a:t>
            </a:r>
            <a:r>
              <a:rPr lang="ko-KR" altLang="en-US" dirty="0"/>
              <a:t>비트 활성화</a:t>
            </a:r>
            <a:r>
              <a:rPr lang="en-US" altLang="ko-KR" dirty="0"/>
              <a:t>(Activation Quantization)</a:t>
            </a:r>
            <a:r>
              <a:rPr lang="ko-KR" altLang="en-US" dirty="0"/>
              <a:t>를 활용하여 극단적인 경량화를 시도한 최초의 </a:t>
            </a:r>
            <a:r>
              <a:rPr lang="en-US" altLang="ko-KR" dirty="0"/>
              <a:t>native 1-bit </a:t>
            </a:r>
            <a:r>
              <a:rPr lang="ko-KR" altLang="en-US" dirty="0"/>
              <a:t>양자화 언어 모델입니다</a:t>
            </a:r>
            <a:r>
              <a:rPr lang="en-US" altLang="ko-KR" dirty="0"/>
              <a:t>. </a:t>
            </a:r>
            <a:r>
              <a:rPr lang="ko-KR" altLang="en-US" dirty="0"/>
              <a:t>성능 저하 없이 기존 모델 대비 최대 </a:t>
            </a:r>
            <a:r>
              <a:rPr lang="en-US" altLang="ko-KR" dirty="0"/>
              <a:t>3</a:t>
            </a:r>
            <a:r>
              <a:rPr lang="ko-KR" altLang="en-US" dirty="0"/>
              <a:t>배 이상의 연산 효율을 달성합니다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F00300B-E24C-9349-526D-F2ED967FA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BitNet</a:t>
            </a:r>
            <a:r>
              <a:rPr lang="en-US" altLang="ko-KR" dirty="0"/>
              <a:t> </a:t>
            </a:r>
            <a:r>
              <a:rPr lang="ko-KR" altLang="en-US" dirty="0"/>
              <a:t>구조</a:t>
            </a:r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8F1BC44-C5CA-C6ED-25D2-F41A54BF78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7051E2A9-811A-CEE7-EB61-64F87BC9181C}"/>
              </a:ext>
            </a:extLst>
          </p:cNvPr>
          <p:cNvSpPr txBox="1">
            <a:spLocks/>
          </p:cNvSpPr>
          <p:nvPr/>
        </p:nvSpPr>
        <p:spPr>
          <a:xfrm>
            <a:off x="123599" y="6294255"/>
            <a:ext cx="9658575" cy="290145"/>
          </a:xfrm>
          <a:prstGeom prst="rect">
            <a:avLst/>
          </a:prstGeom>
          <a:noFill/>
          <a:ln>
            <a:noFill/>
          </a:ln>
        </p:spPr>
        <p:txBody>
          <a:bodyPr lIns="72000" tIns="3600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ko-KR" altLang="en-US" sz="1200" b="0" dirty="0"/>
              <a:t>참조</a:t>
            </a:r>
            <a:r>
              <a:rPr lang="en-US" altLang="ko-KR" sz="1200" b="0" dirty="0"/>
              <a:t>: Ma, S., Wang, H., Huang, S., Zhang, X., Hu, Y., Song, T., ... &amp; Wei, F. (2025). </a:t>
            </a:r>
            <a:r>
              <a:rPr lang="en-US" altLang="ko-KR" sz="1200" b="0" dirty="0" err="1"/>
              <a:t>BitNet</a:t>
            </a:r>
            <a:r>
              <a:rPr lang="en-US" altLang="ko-KR" sz="1200" b="0" dirty="0"/>
              <a:t> b1. 58 2B4T Technical Report. </a:t>
            </a:r>
            <a:r>
              <a:rPr lang="en-US" altLang="ko-KR" sz="1200" b="0" dirty="0" err="1"/>
              <a:t>arXiv</a:t>
            </a:r>
            <a:r>
              <a:rPr lang="en-US" altLang="ko-KR" sz="1200" b="0" dirty="0"/>
              <a:t> preprint arXiv:2504.12285.</a:t>
            </a:r>
          </a:p>
        </p:txBody>
      </p:sp>
      <p:pic>
        <p:nvPicPr>
          <p:cNvPr id="1026" name="Picture 2" descr="Microsoft's BitNet 1.58B: The first open-source, native 1-bit LLM | by  Samar Singh | Apr, 2025 | Medium">
            <a:extLst>
              <a:ext uri="{FF2B5EF4-FFF2-40B4-BE49-F238E27FC236}">
                <a16:creationId xmlns:a16="http://schemas.microsoft.com/office/drawing/2014/main" id="{FB4BEF89-0669-634C-4213-34936187D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141" y="3054256"/>
            <a:ext cx="4685011" cy="2817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57" name="그룹 1056">
            <a:extLst>
              <a:ext uri="{FF2B5EF4-FFF2-40B4-BE49-F238E27FC236}">
                <a16:creationId xmlns:a16="http://schemas.microsoft.com/office/drawing/2014/main" id="{596F3B63-2085-052C-1C94-7B1A851D3218}"/>
              </a:ext>
            </a:extLst>
          </p:cNvPr>
          <p:cNvGrpSpPr/>
          <p:nvPr/>
        </p:nvGrpSpPr>
        <p:grpSpPr>
          <a:xfrm>
            <a:off x="796413" y="2121292"/>
            <a:ext cx="8312945" cy="587441"/>
            <a:chOff x="637265" y="2272884"/>
            <a:chExt cx="8312945" cy="587441"/>
          </a:xfrm>
        </p:grpSpPr>
        <p:sp>
          <p:nvSpPr>
            <p:cNvPr id="1035" name="Freeform 6">
              <a:extLst>
                <a:ext uri="{FF2B5EF4-FFF2-40B4-BE49-F238E27FC236}">
                  <a16:creationId xmlns:a16="http://schemas.microsoft.com/office/drawing/2014/main" id="{5B5EB56F-567C-F178-F4F7-5E29CFFF5713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blackWhite">
            <a:xfrm>
              <a:off x="637265" y="2272884"/>
              <a:ext cx="1452557" cy="587441"/>
            </a:xfrm>
            <a:custGeom>
              <a:avLst/>
              <a:gdLst>
                <a:gd name="T0" fmla="*/ 0 w 864"/>
                <a:gd name="T1" fmla="*/ 0 h 576"/>
                <a:gd name="T2" fmla="*/ 760 w 864"/>
                <a:gd name="T3" fmla="*/ 0 h 576"/>
                <a:gd name="T4" fmla="*/ 864 w 864"/>
                <a:gd name="T5" fmla="*/ 288 h 576"/>
                <a:gd name="T6" fmla="*/ 760 w 864"/>
                <a:gd name="T7" fmla="*/ 576 h 576"/>
                <a:gd name="T8" fmla="*/ 0 w 864"/>
                <a:gd name="T9" fmla="*/ 576 h 576"/>
                <a:gd name="T10" fmla="*/ 0 w 864"/>
                <a:gd name="T11" fmla="*/ 288 h 576"/>
                <a:gd name="T12" fmla="*/ 0 w 864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64" h="576">
                  <a:moveTo>
                    <a:pt x="0" y="0"/>
                  </a:moveTo>
                  <a:lnTo>
                    <a:pt x="760" y="0"/>
                  </a:lnTo>
                  <a:lnTo>
                    <a:pt x="864" y="288"/>
                  </a:lnTo>
                  <a:lnTo>
                    <a:pt x="760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>
              <a:outerShdw blurRad="228600" dist="63500" dir="7200000" sx="107000" sy="107000" algn="ctr" rotWithShape="0">
                <a:schemeClr val="bg2"/>
              </a:outerShdw>
            </a:effectLst>
          </p:spPr>
          <p:txBody>
            <a:bodyPr wrap="square" lIns="0" tIns="108000" rIns="0" bIns="108000" anchor="ctr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Weight </a:t>
              </a: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Quantization</a:t>
              </a:r>
              <a:endParaRPr kumimoji="0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038" name="Freeform 9">
              <a:extLst>
                <a:ext uri="{FF2B5EF4-FFF2-40B4-BE49-F238E27FC236}">
                  <a16:creationId xmlns:a16="http://schemas.microsoft.com/office/drawing/2014/main" id="{C62845F6-7775-904E-91B8-3235CEB82B48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blackWhite">
            <a:xfrm>
              <a:off x="2009343" y="2272884"/>
              <a:ext cx="1452557" cy="587441"/>
            </a:xfrm>
            <a:custGeom>
              <a:avLst/>
              <a:gdLst>
                <a:gd name="T0" fmla="*/ 0 w 865"/>
                <a:gd name="T1" fmla="*/ 0 h 576"/>
                <a:gd name="T2" fmla="*/ 761 w 865"/>
                <a:gd name="T3" fmla="*/ 0 h 576"/>
                <a:gd name="T4" fmla="*/ 865 w 865"/>
                <a:gd name="T5" fmla="*/ 288 h 576"/>
                <a:gd name="T6" fmla="*/ 761 w 865"/>
                <a:gd name="T7" fmla="*/ 576 h 576"/>
                <a:gd name="T8" fmla="*/ 0 w 865"/>
                <a:gd name="T9" fmla="*/ 576 h 576"/>
                <a:gd name="T10" fmla="*/ 104 w 865"/>
                <a:gd name="T11" fmla="*/ 288 h 576"/>
                <a:gd name="T12" fmla="*/ 0 w 865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65" h="576">
                  <a:moveTo>
                    <a:pt x="0" y="0"/>
                  </a:moveTo>
                  <a:lnTo>
                    <a:pt x="761" y="0"/>
                  </a:lnTo>
                  <a:lnTo>
                    <a:pt x="865" y="288"/>
                  </a:lnTo>
                  <a:lnTo>
                    <a:pt x="761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108000" rIns="0" bIns="108000" anchor="ctr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Activation Quantization</a:t>
              </a: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041" name="Freeform 12">
              <a:extLst>
                <a:ext uri="{FF2B5EF4-FFF2-40B4-BE49-F238E27FC236}">
                  <a16:creationId xmlns:a16="http://schemas.microsoft.com/office/drawing/2014/main" id="{ACC8BA39-4CD8-ED0E-8EC4-6013A99871FD}"/>
                </a:ext>
              </a:extLst>
            </p:cNvPr>
            <p:cNvSpPr>
              <a:spLocks/>
            </p:cNvSpPr>
            <p:nvPr>
              <p:custDataLst>
                <p:tags r:id="rId3"/>
              </p:custDataLst>
            </p:nvPr>
          </p:nvSpPr>
          <p:spPr bwMode="blackWhite">
            <a:xfrm>
              <a:off x="3381421" y="2272884"/>
              <a:ext cx="1452557" cy="587441"/>
            </a:xfrm>
            <a:custGeom>
              <a:avLst/>
              <a:gdLst>
                <a:gd name="T0" fmla="*/ 0 w 866"/>
                <a:gd name="T1" fmla="*/ 0 h 576"/>
                <a:gd name="T2" fmla="*/ 762 w 866"/>
                <a:gd name="T3" fmla="*/ 0 h 576"/>
                <a:gd name="T4" fmla="*/ 866 w 866"/>
                <a:gd name="T5" fmla="*/ 288 h 576"/>
                <a:gd name="T6" fmla="*/ 762 w 866"/>
                <a:gd name="T7" fmla="*/ 576 h 576"/>
                <a:gd name="T8" fmla="*/ 0 w 866"/>
                <a:gd name="T9" fmla="*/ 576 h 576"/>
                <a:gd name="T10" fmla="*/ 104 w 866"/>
                <a:gd name="T11" fmla="*/ 288 h 576"/>
                <a:gd name="T12" fmla="*/ 0 w 866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66" h="576">
                  <a:moveTo>
                    <a:pt x="0" y="0"/>
                  </a:moveTo>
                  <a:lnTo>
                    <a:pt x="762" y="0"/>
                  </a:lnTo>
                  <a:lnTo>
                    <a:pt x="866" y="288"/>
                  </a:lnTo>
                  <a:lnTo>
                    <a:pt x="762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108000" rIns="0" bIns="108000" anchor="ctr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BitLinear</a:t>
              </a: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 </a:t>
              </a: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Layer</a:t>
              </a: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044" name="Freeform 15">
              <a:extLst>
                <a:ext uri="{FF2B5EF4-FFF2-40B4-BE49-F238E27FC236}">
                  <a16:creationId xmlns:a16="http://schemas.microsoft.com/office/drawing/2014/main" id="{C1C7ADBF-956F-BBBF-CBDD-437BA0D0A069}"/>
                </a:ext>
              </a:extLst>
            </p:cNvPr>
            <p:cNvSpPr>
              <a:spLocks/>
            </p:cNvSpPr>
            <p:nvPr>
              <p:custDataLst>
                <p:tags r:id="rId4"/>
              </p:custDataLst>
            </p:nvPr>
          </p:nvSpPr>
          <p:spPr bwMode="blackWhite">
            <a:xfrm>
              <a:off x="4753499" y="2272884"/>
              <a:ext cx="1452557" cy="587441"/>
            </a:xfrm>
            <a:custGeom>
              <a:avLst/>
              <a:gdLst>
                <a:gd name="T0" fmla="*/ 0 w 865"/>
                <a:gd name="T1" fmla="*/ 0 h 576"/>
                <a:gd name="T2" fmla="*/ 761 w 865"/>
                <a:gd name="T3" fmla="*/ 0 h 576"/>
                <a:gd name="T4" fmla="*/ 865 w 865"/>
                <a:gd name="T5" fmla="*/ 288 h 576"/>
                <a:gd name="T6" fmla="*/ 761 w 865"/>
                <a:gd name="T7" fmla="*/ 576 h 576"/>
                <a:gd name="T8" fmla="*/ 0 w 865"/>
                <a:gd name="T9" fmla="*/ 576 h 576"/>
                <a:gd name="T10" fmla="*/ 104 w 865"/>
                <a:gd name="T11" fmla="*/ 288 h 576"/>
                <a:gd name="T12" fmla="*/ 0 w 865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65" h="576">
                  <a:moveTo>
                    <a:pt x="0" y="0"/>
                  </a:moveTo>
                  <a:lnTo>
                    <a:pt x="761" y="0"/>
                  </a:lnTo>
                  <a:lnTo>
                    <a:pt x="865" y="288"/>
                  </a:lnTo>
                  <a:lnTo>
                    <a:pt x="761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108000" rIns="0" bIns="108000" anchor="ctr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</a:rPr>
                <a:t>Sub-layer Normalization</a:t>
              </a: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047" name="Freeform 18">
              <a:extLst>
                <a:ext uri="{FF2B5EF4-FFF2-40B4-BE49-F238E27FC236}">
                  <a16:creationId xmlns:a16="http://schemas.microsoft.com/office/drawing/2014/main" id="{7CA7B57C-1AEB-980B-BE09-B41D6F4A7B97}"/>
                </a:ext>
              </a:extLst>
            </p:cNvPr>
            <p:cNvSpPr>
              <a:spLocks/>
            </p:cNvSpPr>
            <p:nvPr>
              <p:custDataLst>
                <p:tags r:id="rId5"/>
              </p:custDataLst>
            </p:nvPr>
          </p:nvSpPr>
          <p:spPr bwMode="blackWhite">
            <a:xfrm>
              <a:off x="6125577" y="2272884"/>
              <a:ext cx="1452557" cy="587441"/>
            </a:xfrm>
            <a:custGeom>
              <a:avLst/>
              <a:gdLst>
                <a:gd name="T0" fmla="*/ 0 w 865"/>
                <a:gd name="T1" fmla="*/ 0 h 576"/>
                <a:gd name="T2" fmla="*/ 761 w 865"/>
                <a:gd name="T3" fmla="*/ 0 h 576"/>
                <a:gd name="T4" fmla="*/ 865 w 865"/>
                <a:gd name="T5" fmla="*/ 288 h 576"/>
                <a:gd name="T6" fmla="*/ 761 w 865"/>
                <a:gd name="T7" fmla="*/ 576 h 576"/>
                <a:gd name="T8" fmla="*/ 0 w 865"/>
                <a:gd name="T9" fmla="*/ 576 h 576"/>
                <a:gd name="T10" fmla="*/ 104 w 865"/>
                <a:gd name="T11" fmla="*/ 288 h 576"/>
                <a:gd name="T12" fmla="*/ 0 w 865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65" h="576">
                  <a:moveTo>
                    <a:pt x="0" y="0"/>
                  </a:moveTo>
                  <a:lnTo>
                    <a:pt x="761" y="0"/>
                  </a:lnTo>
                  <a:lnTo>
                    <a:pt x="865" y="288"/>
                  </a:lnTo>
                  <a:lnTo>
                    <a:pt x="761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108000" rIns="0" bIns="108000" anchor="ctr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</a:rPr>
                <a:t>Cosine Learning Rate Schedule</a:t>
              </a: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053" name="Freeform 24">
              <a:extLst>
                <a:ext uri="{FF2B5EF4-FFF2-40B4-BE49-F238E27FC236}">
                  <a16:creationId xmlns:a16="http://schemas.microsoft.com/office/drawing/2014/main" id="{F71461BB-DE8E-C6E1-C76C-23535EA77C30}"/>
                </a:ext>
              </a:extLst>
            </p:cNvPr>
            <p:cNvSpPr>
              <a:spLocks/>
            </p:cNvSpPr>
            <p:nvPr>
              <p:custDataLst>
                <p:tags r:id="rId6"/>
              </p:custDataLst>
            </p:nvPr>
          </p:nvSpPr>
          <p:spPr bwMode="blackWhite">
            <a:xfrm>
              <a:off x="7497653" y="2272884"/>
              <a:ext cx="1452557" cy="587441"/>
            </a:xfrm>
            <a:custGeom>
              <a:avLst/>
              <a:gdLst>
                <a:gd name="T0" fmla="*/ 0 w 864"/>
                <a:gd name="T1" fmla="*/ 0 h 576"/>
                <a:gd name="T2" fmla="*/ 760 w 864"/>
                <a:gd name="T3" fmla="*/ 0 h 576"/>
                <a:gd name="T4" fmla="*/ 864 w 864"/>
                <a:gd name="T5" fmla="*/ 288 h 576"/>
                <a:gd name="T6" fmla="*/ 760 w 864"/>
                <a:gd name="T7" fmla="*/ 576 h 576"/>
                <a:gd name="T8" fmla="*/ 0 w 864"/>
                <a:gd name="T9" fmla="*/ 576 h 576"/>
                <a:gd name="T10" fmla="*/ 104 w 864"/>
                <a:gd name="T11" fmla="*/ 288 h 576"/>
                <a:gd name="T12" fmla="*/ 0 w 864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64" h="576">
                  <a:moveTo>
                    <a:pt x="0" y="0"/>
                  </a:moveTo>
                  <a:lnTo>
                    <a:pt x="760" y="0"/>
                  </a:lnTo>
                  <a:lnTo>
                    <a:pt x="864" y="288"/>
                  </a:lnTo>
                  <a:lnTo>
                    <a:pt x="760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108000" rIns="0" bIns="108000" anchor="ctr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kern="0" dirty="0">
                  <a:solidFill>
                    <a:schemeClr val="bg1"/>
                  </a:solidFill>
                  <a:latin typeface="+mn-ea"/>
                  <a:ea typeface="+mn-ea"/>
                </a:rPr>
                <a:t>SFT &amp; </a:t>
              </a: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</a:rPr>
                <a:t>DPO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0324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DDA5F-A6B0-CA6B-72D6-5B6123E72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3E75DEF-EC3E-AACA-98B1-F21E4B9BFA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아키텍처 개요</a:t>
            </a:r>
            <a:endParaRPr lang="en-US" altLang="ko-KR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1B9FC1-C935-3413-D4C6-21A6307C90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err="1"/>
              <a:t>BitNet</a:t>
            </a:r>
            <a:r>
              <a:rPr lang="ko-KR" altLang="en-US" dirty="0"/>
              <a:t>은 </a:t>
            </a:r>
            <a:r>
              <a:rPr lang="en-US" altLang="ko-KR" dirty="0"/>
              <a:t>Transformer </a:t>
            </a:r>
            <a:r>
              <a:rPr lang="ko-KR" altLang="en-US" dirty="0"/>
              <a:t>구조를 기반으로 하되</a:t>
            </a:r>
            <a:r>
              <a:rPr lang="en-US" altLang="ko-KR" dirty="0"/>
              <a:t>, </a:t>
            </a:r>
            <a:r>
              <a:rPr lang="ko-KR" altLang="en-US" dirty="0"/>
              <a:t>모든 선형 레이어에 </a:t>
            </a:r>
            <a:r>
              <a:rPr lang="en-US" altLang="ko-KR" dirty="0"/>
              <a:t>ternary </a:t>
            </a:r>
            <a:r>
              <a:rPr lang="ko-KR" altLang="en-US" dirty="0"/>
              <a:t>가중치</a:t>
            </a:r>
            <a:r>
              <a:rPr lang="en-US" altLang="ko-KR" dirty="0"/>
              <a:t>(-1, 0, +1)</a:t>
            </a:r>
            <a:r>
              <a:rPr lang="ko-KR" altLang="en-US" dirty="0"/>
              <a:t>를 사용하는 </a:t>
            </a:r>
            <a:r>
              <a:rPr lang="en-US" altLang="ko-KR" dirty="0" err="1">
                <a:highlight>
                  <a:srgbClr val="ABC4E3"/>
                </a:highlight>
              </a:rPr>
              <a:t>BitLinear</a:t>
            </a:r>
            <a:r>
              <a:rPr lang="en-US" altLang="ko-KR" dirty="0">
                <a:highlight>
                  <a:srgbClr val="ABC4E3"/>
                </a:highlight>
              </a:rPr>
              <a:t> </a:t>
            </a:r>
            <a:r>
              <a:rPr lang="ko-KR" altLang="en-US" dirty="0">
                <a:highlight>
                  <a:srgbClr val="ABC4E3"/>
                </a:highlight>
              </a:rPr>
              <a:t>레이어를 도입</a:t>
            </a:r>
            <a:r>
              <a:rPr lang="ko-KR" altLang="en-US" dirty="0"/>
              <a:t>하고 </a:t>
            </a:r>
            <a:r>
              <a:rPr lang="en-US" altLang="ko-KR" dirty="0"/>
              <a:t>Activation Quantization</a:t>
            </a:r>
            <a:r>
              <a:rPr lang="ko-KR" altLang="en-US" dirty="0"/>
              <a:t>으로 토큰별 </a:t>
            </a:r>
            <a:r>
              <a:rPr lang="en-US" altLang="ko-KR" dirty="0" err="1"/>
              <a:t>absmax</a:t>
            </a:r>
            <a:r>
              <a:rPr lang="ko-KR" altLang="en-US" dirty="0"/>
              <a:t> 방법을 적용합니다</a:t>
            </a:r>
            <a:r>
              <a:rPr lang="en-US" altLang="ko-KR" dirty="0"/>
              <a:t>. </a:t>
            </a:r>
            <a:r>
              <a:rPr lang="ko-KR" altLang="en-US" dirty="0"/>
              <a:t>활성화 함수로 </a:t>
            </a:r>
            <a:r>
              <a:rPr lang="en-US" altLang="ko-KR" dirty="0"/>
              <a:t>ReLU²</a:t>
            </a:r>
            <a:r>
              <a:rPr lang="ko-KR" altLang="en-US" dirty="0"/>
              <a:t>를 적용하고</a:t>
            </a:r>
            <a:r>
              <a:rPr lang="en-US" altLang="ko-KR" dirty="0"/>
              <a:t>, </a:t>
            </a:r>
            <a:r>
              <a:rPr lang="en-US" altLang="ko-KR" dirty="0" err="1"/>
              <a:t>RoPE</a:t>
            </a:r>
            <a:r>
              <a:rPr lang="en-US" altLang="ko-KR" dirty="0"/>
              <a:t> </a:t>
            </a:r>
            <a:r>
              <a:rPr lang="ko-KR" altLang="en-US" dirty="0" err="1"/>
              <a:t>포지셔널</a:t>
            </a:r>
            <a:r>
              <a:rPr lang="ko-KR" altLang="en-US" dirty="0"/>
              <a:t> </a:t>
            </a:r>
            <a:r>
              <a:rPr lang="ko-KR" altLang="en-US" dirty="0" err="1"/>
              <a:t>임베딩과</a:t>
            </a:r>
            <a:r>
              <a:rPr lang="ko-KR" altLang="en-US" dirty="0"/>
              <a:t> </a:t>
            </a:r>
            <a:r>
              <a:rPr lang="en-US" altLang="ko-KR" dirty="0"/>
              <a:t>sub-layer normalization</a:t>
            </a:r>
            <a:r>
              <a:rPr lang="ko-KR" altLang="en-US" dirty="0"/>
              <a:t>을 사용합니다</a:t>
            </a:r>
            <a:r>
              <a:rPr lang="en-US" altLang="ko-KR" dirty="0"/>
              <a:t>. </a:t>
            </a:r>
            <a:r>
              <a:rPr lang="ko-KR" altLang="en-US" dirty="0"/>
              <a:t>전체적으로 연산 희소성과 안정적인 학습을 동시에 달성하는 구조입니다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B57D89D-76E5-EBB9-DC0B-17EFFFE6C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BitNet</a:t>
            </a:r>
            <a:r>
              <a:rPr lang="en-US" altLang="ko-KR" dirty="0"/>
              <a:t> </a:t>
            </a:r>
            <a:r>
              <a:rPr lang="ko-KR" altLang="en-US" dirty="0"/>
              <a:t>구조</a:t>
            </a:r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F9F6D3A-211F-DB9B-499A-F4CC960FD3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11F8FC9B-324C-2A7D-1543-64CF2EC52C92}"/>
              </a:ext>
            </a:extLst>
          </p:cNvPr>
          <p:cNvSpPr txBox="1">
            <a:spLocks/>
          </p:cNvSpPr>
          <p:nvPr/>
        </p:nvSpPr>
        <p:spPr>
          <a:xfrm>
            <a:off x="123599" y="6294255"/>
            <a:ext cx="9658575" cy="290145"/>
          </a:xfrm>
          <a:prstGeom prst="rect">
            <a:avLst/>
          </a:prstGeom>
          <a:noFill/>
          <a:ln>
            <a:noFill/>
          </a:ln>
        </p:spPr>
        <p:txBody>
          <a:bodyPr lIns="72000" tIns="3600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ko-KR" altLang="en-US" sz="1200" b="0" dirty="0"/>
              <a:t>참조</a:t>
            </a:r>
            <a:r>
              <a:rPr lang="en-US" altLang="ko-KR" sz="1200" b="0" dirty="0"/>
              <a:t>: Wang, H., Ma, S., Dong, L., Huang, S., Wang, H., Ma, L., ... &amp; Wei, F. (2023). Bitnet: Scaling 1-bit transformers for large language models. </a:t>
            </a:r>
            <a:r>
              <a:rPr lang="en-US" altLang="ko-KR" sz="1200" b="0" dirty="0" err="1"/>
              <a:t>arXiv</a:t>
            </a:r>
            <a:r>
              <a:rPr lang="en-US" altLang="ko-KR" sz="1200" b="0" dirty="0"/>
              <a:t> preprint arXiv:2310.11453.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6D8A6EC-2C8B-CCAD-68FB-50E017E15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293" y="2355313"/>
            <a:ext cx="6747413" cy="292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837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E89C6-279B-E2BA-2F4B-1EBB97E97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5DFFF18-720D-E753-53C5-4BAFC896AB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1-bit Weight</a:t>
            </a:r>
            <a:endParaRPr lang="en-US" altLang="ko-KR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8752C24-33E9-42A2-14FD-E8C5B332D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err="1"/>
              <a:t>BitNet</a:t>
            </a:r>
            <a:r>
              <a:rPr lang="ko-KR" altLang="en-US" dirty="0"/>
              <a:t>은 가중치를 </a:t>
            </a:r>
            <a:r>
              <a:rPr lang="en-US" altLang="ko-KR" dirty="0"/>
              <a:t>-1, 0, +1</a:t>
            </a:r>
            <a:r>
              <a:rPr lang="ko-KR" altLang="en-US" dirty="0"/>
              <a:t>의 세 가지 값으로 제한하는 </a:t>
            </a:r>
            <a:r>
              <a:rPr lang="en-US" altLang="ko-KR" dirty="0"/>
              <a:t>ternary quantization</a:t>
            </a:r>
            <a:r>
              <a:rPr lang="ko-KR" altLang="en-US" dirty="0"/>
              <a:t>을 적용합니다</a:t>
            </a:r>
            <a:r>
              <a:rPr lang="en-US" altLang="ko-KR" dirty="0"/>
              <a:t>. </a:t>
            </a:r>
            <a:r>
              <a:rPr lang="ko-KR" altLang="en-US" dirty="0"/>
              <a:t>이로 인해 곱셈 연산 없이 부호 기반의 </a:t>
            </a:r>
            <a:r>
              <a:rPr lang="ko-KR" altLang="en-US" dirty="0">
                <a:highlight>
                  <a:srgbClr val="ABC4E3"/>
                </a:highlight>
              </a:rPr>
              <a:t>단순한 덧셈 및 조건문만으로 선형 연산이 가능해집니다</a:t>
            </a:r>
            <a:r>
              <a:rPr lang="en-US" altLang="ko-KR" dirty="0"/>
              <a:t>. </a:t>
            </a:r>
            <a:r>
              <a:rPr lang="ko-KR" altLang="en-US" dirty="0"/>
              <a:t>전체 가중치를 효율적으로 </a:t>
            </a:r>
            <a:r>
              <a:rPr lang="ko-KR" altLang="en-US" dirty="0" err="1"/>
              <a:t>부호화하면</a:t>
            </a:r>
            <a:r>
              <a:rPr lang="ko-KR" altLang="en-US" dirty="0"/>
              <a:t> 평균적으로 </a:t>
            </a:r>
            <a:r>
              <a:rPr lang="en-US" altLang="ko-KR" dirty="0"/>
              <a:t>1.58</a:t>
            </a:r>
            <a:r>
              <a:rPr lang="ko-KR" altLang="en-US" dirty="0"/>
              <a:t>비트만으로 표현 가능하여 연산 및 저장 효율을 극대화합니다</a:t>
            </a:r>
            <a:r>
              <a:rPr lang="en-US" altLang="ko-KR" dirty="0"/>
              <a:t>.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E8795DB-CEE5-F487-5D35-B58A0E0E5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BitNet</a:t>
            </a:r>
            <a:r>
              <a:rPr lang="en-US" altLang="ko-KR" dirty="0"/>
              <a:t> </a:t>
            </a:r>
            <a:r>
              <a:rPr lang="ko-KR" altLang="en-US" dirty="0"/>
              <a:t>구조</a:t>
            </a:r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6628C4A-8D8E-8757-6078-726065C494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73148294-2FA8-557F-13A8-CFC74237D7A9}"/>
              </a:ext>
            </a:extLst>
          </p:cNvPr>
          <p:cNvSpPr txBox="1">
            <a:spLocks/>
          </p:cNvSpPr>
          <p:nvPr/>
        </p:nvSpPr>
        <p:spPr>
          <a:xfrm>
            <a:off x="123600" y="6294255"/>
            <a:ext cx="9639525" cy="290145"/>
          </a:xfrm>
          <a:prstGeom prst="rect">
            <a:avLst/>
          </a:prstGeom>
          <a:noFill/>
          <a:ln>
            <a:noFill/>
          </a:ln>
        </p:spPr>
        <p:txBody>
          <a:bodyPr lIns="72000" tIns="3600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ko-KR" altLang="en-US" sz="1200" b="0" dirty="0"/>
              <a:t>참조</a:t>
            </a:r>
            <a:r>
              <a:rPr lang="en-US" altLang="ko-KR" sz="1200" b="0" dirty="0"/>
              <a:t>: Ma, S., Wang, H., Ma, L., Wang, L., Wang, W., Huang, S., ... &amp; Wei, F. (2024). The era of 1-bit </a:t>
            </a:r>
            <a:r>
              <a:rPr lang="en-US" altLang="ko-KR" sz="1200" b="0" dirty="0" err="1"/>
              <a:t>llms</a:t>
            </a:r>
            <a:r>
              <a:rPr lang="en-US" altLang="ko-KR" sz="1200" b="0" dirty="0"/>
              <a:t>: All large language models are in 1.58 bits. </a:t>
            </a:r>
            <a:r>
              <a:rPr lang="en-US" altLang="ko-KR" sz="1200" b="0" dirty="0" err="1"/>
              <a:t>arXiv</a:t>
            </a:r>
            <a:r>
              <a:rPr lang="en-US" altLang="ko-KR" sz="1200" b="0" dirty="0"/>
              <a:t> preprint arXiv:2402.17764, 1.</a:t>
            </a:r>
          </a:p>
        </p:txBody>
      </p:sp>
      <p:pic>
        <p:nvPicPr>
          <p:cNvPr id="1028" name="Picture 4" descr="BitNet 1.58 Bits. Introduction | by Joe El Khoury - GenAI Engineer | Medium">
            <a:extLst>
              <a:ext uri="{FF2B5EF4-FFF2-40B4-BE49-F238E27FC236}">
                <a16:creationId xmlns:a16="http://schemas.microsoft.com/office/drawing/2014/main" id="{478FD364-1F6B-E61E-B207-0CDE843FB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515" y="2369073"/>
            <a:ext cx="6438610" cy="2770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29F4AF81-D865-1287-48F7-7D22D7B3C49A}"/>
              </a:ext>
            </a:extLst>
          </p:cNvPr>
          <p:cNvGrpSpPr/>
          <p:nvPr/>
        </p:nvGrpSpPr>
        <p:grpSpPr>
          <a:xfrm>
            <a:off x="486137" y="2786482"/>
            <a:ext cx="2580729" cy="2089780"/>
            <a:chOff x="6434312" y="2606674"/>
            <a:chExt cx="2580729" cy="208978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16679A5-6402-921B-17D6-E9744D0C5971}"/>
                    </a:ext>
                  </a:extLst>
                </p:cNvPr>
                <p:cNvSpPr txBox="1"/>
                <p:nvPr/>
              </p:nvSpPr>
              <p:spPr>
                <a:xfrm>
                  <a:off x="6820743" y="3957790"/>
                  <a:ext cx="1807866" cy="7386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ko-KR" sz="1600" b="0" dirty="0" err="1">
                      <a:latin typeface="Cambria Math" panose="02040503050406030204" pitchFamily="18" charset="0"/>
                      <a:ea typeface="+mn-ea"/>
                    </a:rPr>
                    <a:t>BitNet</a:t>
                  </a:r>
                  <a:r>
                    <a:rPr lang="en-US" altLang="ko-KR" sz="1600" b="0" dirty="0">
                      <a:latin typeface="Cambria Math" panose="02040503050406030204" pitchFamily="18" charset="0"/>
                      <a:ea typeface="+mn-ea"/>
                    </a:rPr>
                    <a:t> / </a:t>
                  </a:r>
                  <a:r>
                    <a:rPr lang="en-US" altLang="ko-KR" sz="1600" b="0" dirty="0" err="1">
                      <a:latin typeface="Cambria Math" panose="02040503050406030204" pitchFamily="18" charset="0"/>
                      <a:ea typeface="+mn-ea"/>
                    </a:rPr>
                    <a:t>BitNet</a:t>
                  </a:r>
                  <a:r>
                    <a:rPr lang="en-US" altLang="ko-KR" sz="1600" b="0" dirty="0">
                      <a:latin typeface="Cambria Math" panose="02040503050406030204" pitchFamily="18" charset="0"/>
                      <a:ea typeface="+mn-ea"/>
                    </a:rPr>
                    <a:t> 1.58</a:t>
                  </a:r>
                </a:p>
                <a:p>
                  <a:pPr algn="ctr"/>
                  <a:r>
                    <a:rPr lang="en-US" altLang="ko-KR" sz="1600" b="0" dirty="0">
                      <a:latin typeface="Cambria Math" panose="02040503050406030204" pitchFamily="18" charset="0"/>
                      <a:ea typeface="+mn-ea"/>
                    </a:rPr>
                    <a:t>(1-bit / </a:t>
                  </a:r>
                  <a:r>
                    <a:rPr lang="en-US" altLang="ko-KR" sz="1600" b="0" dirty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+mn-ea"/>
                    </a:rPr>
                    <a:t>1.58</a:t>
                  </a:r>
                  <a:r>
                    <a:rPr lang="en-US" altLang="ko-KR" sz="1600" b="0" dirty="0">
                      <a:latin typeface="Cambria Math" panose="02040503050406030204" pitchFamily="18" charset="0"/>
                      <a:ea typeface="+mn-ea"/>
                    </a:rPr>
                    <a:t>-bit)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3</m:t>
                            </m:r>
                          </m:e>
                        </m:d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1.58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49…</m:t>
                        </m:r>
                      </m:oMath>
                    </m:oMathPara>
                  </a14:m>
                  <a:endParaRPr lang="ko-KR" altLang="en-US" sz="1600" b="0" dirty="0">
                    <a:latin typeface="+mn-ea"/>
                    <a:ea typeface="+mn-ea"/>
                  </a:endParaRP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16679A5-6402-921B-17D6-E9744D0C59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0743" y="3957790"/>
                  <a:ext cx="1807866" cy="738664"/>
                </a:xfrm>
                <a:prstGeom prst="rect">
                  <a:avLst/>
                </a:prstGeom>
                <a:blipFill>
                  <a:blip r:embed="rId4"/>
                  <a:stretch>
                    <a:fillRect l="-6397" t="-9917" r="-2020" b="-1157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024E8A8-A2A6-3299-1E30-0CD6EE2421CD}"/>
                    </a:ext>
                  </a:extLst>
                </p:cNvPr>
                <p:cNvSpPr txBox="1"/>
                <p:nvPr/>
              </p:nvSpPr>
              <p:spPr>
                <a:xfrm>
                  <a:off x="6434312" y="2606674"/>
                  <a:ext cx="2580729" cy="102047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+mn-ea"/>
                          </a:rPr>
                          <m:t>𝑤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−1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</a:rPr>
                                          <m:t>⋯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⋯</m:t>
                                        </m:r>
                                      </m:e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−1</m:t>
                                        </m:r>
                                      </m:e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−1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−1</m:t>
                                        </m:r>
                                      </m:e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</a:rPr>
                                          <m:t>⋯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</a:rPr>
                                          <m:t>⋯</m:t>
                                        </m:r>
                                      </m:e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−1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ko-KR" altLang="en-US" sz="1800" b="0" dirty="0">
                    <a:latin typeface="+mn-ea"/>
                    <a:ea typeface="+mn-ea"/>
                  </a:endParaRPr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024E8A8-A2A6-3299-1E30-0CD6EE2421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4312" y="2606674"/>
                  <a:ext cx="2580729" cy="102047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95347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39D2B-07BC-17EA-78FF-520A9310F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DC36C79-5C0F-4E0E-5B21-CDF3AD156C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en-US" altLang="ko-KR" dirty="0" err="1"/>
              <a:t>BitNet</a:t>
            </a:r>
            <a:r>
              <a:rPr lang="en-US" altLang="ko-KR" dirty="0"/>
              <a:t> </a:t>
            </a:r>
            <a:r>
              <a:rPr lang="ko-KR" altLang="en-US" dirty="0"/>
              <a:t>학습 과정</a:t>
            </a: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6A2655-8796-9A1E-E704-B349EBBA35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63405" y="2295122"/>
            <a:ext cx="4507345" cy="2410228"/>
          </a:xfrm>
        </p:spPr>
        <p:txBody>
          <a:bodyPr/>
          <a:lstStyle/>
          <a:p>
            <a:r>
              <a:rPr lang="en-US" altLang="ko-KR" dirty="0" err="1"/>
              <a:t>BitNet</a:t>
            </a:r>
            <a:r>
              <a:rPr lang="en-US" altLang="ko-KR" dirty="0"/>
              <a:t> </a:t>
            </a:r>
            <a:r>
              <a:rPr lang="ko-KR" altLang="en-US" dirty="0"/>
              <a:t>학습 과정</a:t>
            </a:r>
          </a:p>
          <a:p>
            <a:r>
              <a:rPr lang="ko-KR" altLang="en-US" dirty="0" err="1">
                <a:latin typeface="+mn-lt"/>
                <a:ea typeface="+mn-ea"/>
              </a:rPr>
              <a:t>학습률</a:t>
            </a:r>
            <a:r>
              <a:rPr lang="ko-KR" altLang="en-US" dirty="0">
                <a:latin typeface="+mn-lt"/>
                <a:ea typeface="+mn-ea"/>
              </a:rPr>
              <a:t> 스케줄</a:t>
            </a:r>
            <a:endParaRPr lang="en-US" altLang="ko-KR" dirty="0">
              <a:latin typeface="+mn-lt"/>
              <a:ea typeface="+mn-ea"/>
            </a:endParaRPr>
          </a:p>
          <a:p>
            <a:r>
              <a:rPr lang="en-US" altLang="ko-KR" dirty="0">
                <a:latin typeface="+mn-lt"/>
                <a:ea typeface="+mn-ea"/>
              </a:rPr>
              <a:t>Summation loss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3435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사각형: 둥근 모서리 1048">
            <a:extLst>
              <a:ext uri="{FF2B5EF4-FFF2-40B4-BE49-F238E27FC236}">
                <a16:creationId xmlns:a16="http://schemas.microsoft.com/office/drawing/2014/main" id="{0A0F0E55-A4E7-43DC-43E1-67BE1A46CC07}"/>
              </a:ext>
            </a:extLst>
          </p:cNvPr>
          <p:cNvSpPr/>
          <p:nvPr/>
        </p:nvSpPr>
        <p:spPr bwMode="auto">
          <a:xfrm>
            <a:off x="6432075" y="3300987"/>
            <a:ext cx="2566223" cy="52322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8" name="사각형: 둥근 모서리 1047">
            <a:extLst>
              <a:ext uri="{FF2B5EF4-FFF2-40B4-BE49-F238E27FC236}">
                <a16:creationId xmlns:a16="http://schemas.microsoft.com/office/drawing/2014/main" id="{D9023A21-C998-C538-AB96-0E65EA9E3252}"/>
              </a:ext>
            </a:extLst>
          </p:cNvPr>
          <p:cNvSpPr/>
          <p:nvPr/>
        </p:nvSpPr>
        <p:spPr bwMode="auto">
          <a:xfrm>
            <a:off x="3457569" y="3300987"/>
            <a:ext cx="2566223" cy="52322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5" name="사각형: 둥근 모서리 1044">
            <a:extLst>
              <a:ext uri="{FF2B5EF4-FFF2-40B4-BE49-F238E27FC236}">
                <a16:creationId xmlns:a16="http://schemas.microsoft.com/office/drawing/2014/main" id="{EC2D223B-5BD1-6075-E68F-978942CCA502}"/>
              </a:ext>
            </a:extLst>
          </p:cNvPr>
          <p:cNvSpPr/>
          <p:nvPr/>
        </p:nvSpPr>
        <p:spPr bwMode="auto">
          <a:xfrm>
            <a:off x="515643" y="3300987"/>
            <a:ext cx="2566223" cy="52322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8E120FB-A462-9DE8-EABE-21774203F8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/>
              <a:t>BitNet</a:t>
            </a:r>
            <a:r>
              <a:rPr lang="en-US" altLang="ko-KR" dirty="0"/>
              <a:t> </a:t>
            </a:r>
            <a:r>
              <a:rPr lang="ko-KR" altLang="en-US" dirty="0"/>
              <a:t>학습 과정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ED77E8-F829-7349-3A34-DADCDB5188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922627"/>
            <a:ext cx="9270641" cy="400110"/>
          </a:xfrm>
        </p:spPr>
        <p:txBody>
          <a:bodyPr/>
          <a:lstStyle/>
          <a:p>
            <a:r>
              <a:rPr lang="en-US" altLang="ko-KR" dirty="0" err="1"/>
              <a:t>BitNet</a:t>
            </a:r>
            <a:r>
              <a:rPr lang="en-US" altLang="ko-KR" dirty="0"/>
              <a:t> b1.58 2B4T</a:t>
            </a:r>
            <a:r>
              <a:rPr lang="ko-KR" altLang="en-US" dirty="0"/>
              <a:t>의 훈련 과정은 </a:t>
            </a:r>
            <a:r>
              <a:rPr lang="en-US" altLang="ko-KR" dirty="0"/>
              <a:t>Pre-training, SFT, DPO</a:t>
            </a:r>
            <a:r>
              <a:rPr lang="ko-KR" altLang="en-US" dirty="0"/>
              <a:t>의 세 가지 단계로 진행됩니다</a:t>
            </a:r>
            <a:r>
              <a:rPr lang="en-US" altLang="ko-KR" dirty="0"/>
              <a:t>.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4C5322B-E779-5F6A-826E-B0DCBA06C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BitNet</a:t>
            </a:r>
            <a:r>
              <a:rPr lang="en-US" altLang="ko-KR" dirty="0"/>
              <a:t> </a:t>
            </a:r>
            <a:r>
              <a:rPr lang="ko-KR" altLang="en-US" dirty="0"/>
              <a:t>학습 과정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64AFC30-3AAB-23DE-DAF4-9E8E83D06D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54F84AD3-211A-266F-7902-8A4DD23273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692"/>
          <a:stretch/>
        </p:blipFill>
        <p:spPr>
          <a:xfrm>
            <a:off x="1572193" y="2034401"/>
            <a:ext cx="536494" cy="62153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CED1DB1A-6629-A0C3-3E5A-455C50DE33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888" t="37361" r="888" b="40332"/>
          <a:stretch/>
        </p:blipFill>
        <p:spPr>
          <a:xfrm>
            <a:off x="4472434" y="2034401"/>
            <a:ext cx="536494" cy="62153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3350D5B2-F92D-55E9-B2A3-63134C204C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597" b="2096"/>
          <a:stretch/>
        </p:blipFill>
        <p:spPr>
          <a:xfrm>
            <a:off x="7459940" y="2034401"/>
            <a:ext cx="536494" cy="621532"/>
          </a:xfrm>
          <a:prstGeom prst="rect">
            <a:avLst/>
          </a:prstGeom>
        </p:spPr>
      </p:pic>
      <p:sp>
        <p:nvSpPr>
          <p:cNvPr id="1032" name="TextBox 1031">
            <a:extLst>
              <a:ext uri="{FF2B5EF4-FFF2-40B4-BE49-F238E27FC236}">
                <a16:creationId xmlns:a16="http://schemas.microsoft.com/office/drawing/2014/main" id="{9B48B5A2-1CC5-AFB4-CB61-AD2D201E3AF2}"/>
              </a:ext>
            </a:extLst>
          </p:cNvPr>
          <p:cNvSpPr txBox="1"/>
          <p:nvPr/>
        </p:nvSpPr>
        <p:spPr>
          <a:xfrm>
            <a:off x="1088408" y="2723258"/>
            <a:ext cx="1504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>
              <a:spcAft>
                <a:spcPts val="0"/>
              </a:spcAft>
              <a:buNone/>
            </a:pP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en-US" altLang="ko-KR" sz="14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Pre-training</a:t>
            </a:r>
            <a:endParaRPr lang="ko-KR" altLang="ko-KR" sz="1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728CCE3D-2D4A-F7B0-D59F-026DE5AF6FFC}"/>
              </a:ext>
            </a:extLst>
          </p:cNvPr>
          <p:cNvSpPr txBox="1"/>
          <p:nvPr/>
        </p:nvSpPr>
        <p:spPr>
          <a:xfrm>
            <a:off x="3531089" y="2576372"/>
            <a:ext cx="2337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>
              <a:spcAft>
                <a:spcPts val="0"/>
              </a:spcAft>
              <a:buNone/>
            </a:pPr>
            <a:r>
              <a:rPr lang="en-US" altLang="ko-KR" sz="14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2. SFT</a:t>
            </a:r>
            <a:br>
              <a:rPr lang="en-US" altLang="ko-KR" sz="14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14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(Supervised Fine-tuning)</a:t>
            </a:r>
            <a:endParaRPr lang="ko-KR" altLang="ko-KR" sz="1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A2476B0F-1950-8223-A783-0BFDD4DE4F66}"/>
              </a:ext>
            </a:extLst>
          </p:cNvPr>
          <p:cNvSpPr txBox="1"/>
          <p:nvPr/>
        </p:nvSpPr>
        <p:spPr>
          <a:xfrm>
            <a:off x="6272978" y="2576372"/>
            <a:ext cx="2884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>
              <a:spcAft>
                <a:spcPts val="0"/>
              </a:spcAft>
              <a:buNone/>
            </a:pPr>
            <a:r>
              <a:rPr lang="en-US" altLang="ko-KR" sz="14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3. DPO</a:t>
            </a:r>
            <a:br>
              <a:rPr lang="en-US" altLang="ko-KR" sz="14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14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(Direct Preference Optimization)</a:t>
            </a:r>
            <a:endParaRPr lang="ko-KR" altLang="ko-KR" sz="1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C192EF65-E6DF-62DD-7A14-AC2EE5A18FEC}"/>
              </a:ext>
            </a:extLst>
          </p:cNvPr>
          <p:cNvSpPr txBox="1"/>
          <p:nvPr/>
        </p:nvSpPr>
        <p:spPr>
          <a:xfrm>
            <a:off x="493063" y="3300988"/>
            <a:ext cx="25662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0" dirty="0">
                <a:latin typeface="+mn-lt"/>
                <a:ea typeface="+mn-ea"/>
              </a:rPr>
              <a:t>광범위한 데이터로 일반 </a:t>
            </a:r>
            <a:br>
              <a:rPr lang="en-US" altLang="ko-KR" b="0" dirty="0">
                <a:latin typeface="+mn-lt"/>
                <a:ea typeface="+mn-ea"/>
              </a:rPr>
            </a:br>
            <a:r>
              <a:rPr lang="ko-KR" altLang="en-US" b="0" dirty="0">
                <a:latin typeface="+mn-lt"/>
                <a:ea typeface="+mn-ea"/>
              </a:rPr>
              <a:t>언어 능력과 지식 기반 확보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79FE7DBA-4B08-C356-CDF0-E48AD17CAC47}"/>
              </a:ext>
            </a:extLst>
          </p:cNvPr>
          <p:cNvSpPr txBox="1"/>
          <p:nvPr/>
        </p:nvSpPr>
        <p:spPr>
          <a:xfrm>
            <a:off x="3341212" y="3408708"/>
            <a:ext cx="27989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0" dirty="0">
                <a:latin typeface="+mn-lt"/>
                <a:ea typeface="+mn-ea"/>
              </a:rPr>
              <a:t>대화형 명령어 처리 능력 향상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ACDEE7D6-E293-B1AF-9FD1-BB1D6BE6BCDA}"/>
              </a:ext>
            </a:extLst>
          </p:cNvPr>
          <p:cNvSpPr txBox="1"/>
          <p:nvPr/>
        </p:nvSpPr>
        <p:spPr>
          <a:xfrm>
            <a:off x="6664479" y="3300988"/>
            <a:ext cx="21274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0" dirty="0">
                <a:latin typeface="+mn-lt"/>
                <a:ea typeface="+mn-ea"/>
              </a:rPr>
              <a:t>인간 선호 반영</a:t>
            </a:r>
            <a:r>
              <a:rPr lang="en-US" altLang="ko-KR" b="0" dirty="0">
                <a:latin typeface="+mn-lt"/>
                <a:ea typeface="+mn-ea"/>
              </a:rPr>
              <a:t>, </a:t>
            </a:r>
            <a:br>
              <a:rPr lang="en-US" altLang="ko-KR" b="0" dirty="0">
                <a:latin typeface="+mn-lt"/>
                <a:ea typeface="+mn-ea"/>
              </a:rPr>
            </a:br>
            <a:r>
              <a:rPr lang="ko-KR" altLang="en-US" b="0" dirty="0" err="1">
                <a:latin typeface="+mn-lt"/>
                <a:ea typeface="+mn-ea"/>
              </a:rPr>
              <a:t>친절성</a:t>
            </a:r>
            <a:r>
              <a:rPr lang="en-US" altLang="ko-KR" b="0" dirty="0">
                <a:latin typeface="+mn-lt"/>
                <a:ea typeface="+mn-ea"/>
              </a:rPr>
              <a:t>·</a:t>
            </a:r>
            <a:r>
              <a:rPr lang="ko-KR" altLang="en-US" b="0" dirty="0">
                <a:latin typeface="+mn-lt"/>
                <a:ea typeface="+mn-ea"/>
              </a:rPr>
              <a:t>안전성 강화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A39C631D-E115-F30E-218A-683350FF4455}"/>
              </a:ext>
            </a:extLst>
          </p:cNvPr>
          <p:cNvSpPr txBox="1"/>
          <p:nvPr/>
        </p:nvSpPr>
        <p:spPr>
          <a:xfrm>
            <a:off x="579552" y="3988602"/>
            <a:ext cx="239324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lvl="0" indent="-182563" latinLnBrk="1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en-US" sz="1400" b="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일반 웹</a:t>
            </a:r>
            <a:r>
              <a:rPr lang="en-US" altLang="ko-KR" sz="1400" b="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+</a:t>
            </a:r>
            <a:r>
              <a:rPr lang="ko-KR" altLang="en-US" sz="1400" b="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코드</a:t>
            </a:r>
            <a:r>
              <a:rPr lang="en-US" altLang="ko-KR" sz="1400" b="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+</a:t>
            </a:r>
            <a:r>
              <a:rPr lang="ko-KR" altLang="en-US" sz="1400" b="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수학 데이터 사용</a:t>
            </a:r>
            <a:endParaRPr lang="en-US" altLang="ko-KR" sz="1400" b="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82563" lvl="0" indent="-182563" latinLnBrk="1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en-US" sz="1400" kern="100" dirty="0" err="1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학습률</a:t>
            </a:r>
            <a:r>
              <a:rPr lang="ko-KR" altLang="en-US" sz="1400" kern="1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가중치 감쇠 스케줄 </a:t>
            </a:r>
            <a:r>
              <a:rPr lang="en-US" altLang="ko-KR" sz="1400" kern="1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</a:t>
            </a:r>
            <a:r>
              <a:rPr lang="ko-KR" altLang="en-US" sz="1400" kern="1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단계</a:t>
            </a:r>
            <a:r>
              <a:rPr lang="ko-KR" altLang="en-US" sz="1400" b="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로 구</a:t>
            </a:r>
            <a:r>
              <a:rPr lang="ko-KR" altLang="en-US" b="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분</a:t>
            </a:r>
            <a:endParaRPr lang="ko-KR" altLang="ko-KR" sz="1400" b="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125A2709-FD70-2C43-CD0D-0206A5A0F437}"/>
              </a:ext>
            </a:extLst>
          </p:cNvPr>
          <p:cNvSpPr txBox="1"/>
          <p:nvPr/>
        </p:nvSpPr>
        <p:spPr>
          <a:xfrm>
            <a:off x="3503236" y="3988602"/>
            <a:ext cx="239324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lvl="0" indent="-182563" latinLnBrk="1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en-US" b="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명령어 기반 데이터셋으로 지도 학습</a:t>
            </a:r>
            <a:endParaRPr lang="en-US" altLang="ko-KR" b="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82563" lvl="0" indent="-182563" latinLnBrk="1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ko-KR" kern="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Summation loss</a:t>
            </a:r>
            <a:r>
              <a:rPr lang="en-US" altLang="ko-KR" b="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b="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많은 </a:t>
            </a:r>
            <a:r>
              <a:rPr lang="en-US" altLang="ko-KR" b="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epoch </a:t>
            </a:r>
            <a:r>
              <a:rPr lang="ko-KR" altLang="en-US" b="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사용</a:t>
            </a:r>
            <a:endParaRPr lang="ko-KR" altLang="ko-KR" sz="1400" b="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AD40FA95-A634-A53A-B9A9-CD3A635935E7}"/>
              </a:ext>
            </a:extLst>
          </p:cNvPr>
          <p:cNvSpPr txBox="1"/>
          <p:nvPr/>
        </p:nvSpPr>
        <p:spPr>
          <a:xfrm>
            <a:off x="6518565" y="3988602"/>
            <a:ext cx="23932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lvl="0" indent="-182563" latinLnBrk="1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ko-KR" b="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RLHF </a:t>
            </a:r>
            <a:r>
              <a:rPr lang="ko-KR" altLang="en-US" b="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없이 선호도 데이터로 직접 최적화</a:t>
            </a:r>
            <a:endParaRPr lang="ko-KR" altLang="ko-KR" sz="1400" b="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811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DEFFD-6244-A273-E793-113880F9B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1FBF0CE-2207-7CD3-9696-1A3EB4FA3B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>
                <a:latin typeface="+mn-lt"/>
                <a:ea typeface="+mn-ea"/>
              </a:rPr>
              <a:t>학습률</a:t>
            </a:r>
            <a:r>
              <a:rPr lang="ko-KR" altLang="en-US" dirty="0">
                <a:latin typeface="+mn-lt"/>
                <a:ea typeface="+mn-ea"/>
              </a:rPr>
              <a:t> 스케줄 </a:t>
            </a:r>
            <a:r>
              <a:rPr lang="en-US" altLang="ko-KR" dirty="0">
                <a:latin typeface="+mn-lt"/>
                <a:ea typeface="+mn-ea"/>
              </a:rPr>
              <a:t>(1/2)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D265C3-AD16-E080-4BB9-C7BCC47DA6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922627"/>
            <a:ext cx="9270641" cy="523220"/>
          </a:xfrm>
        </p:spPr>
        <p:txBody>
          <a:bodyPr/>
          <a:lstStyle/>
          <a:p>
            <a:r>
              <a:rPr lang="ko-KR" altLang="en-US" sz="1400" b="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학습률</a:t>
            </a:r>
            <a:r>
              <a:rPr lang="ko-KR" altLang="en-US" sz="1400" b="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스케줄을 다음과 같이 </a:t>
            </a:r>
            <a:r>
              <a:rPr lang="en-US" altLang="ko-KR" sz="1400" b="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</a:t>
            </a:r>
            <a:r>
              <a:rPr lang="ko-KR" altLang="en-US" sz="1400" b="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단계로 구</a:t>
            </a:r>
            <a:r>
              <a:rPr lang="ko-KR" altLang="en-US" b="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분합니다</a:t>
            </a:r>
            <a:r>
              <a:rPr lang="en-US" altLang="ko-KR" b="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dirty="0"/>
              <a:t>이 방식은 학습 초기에 </a:t>
            </a:r>
            <a:r>
              <a:rPr lang="ko-KR" altLang="en-US" dirty="0" err="1"/>
              <a:t>학습률이</a:t>
            </a:r>
            <a:r>
              <a:rPr lang="ko-KR" altLang="en-US" dirty="0"/>
              <a:t> </a:t>
            </a:r>
            <a:r>
              <a:rPr lang="ko-KR" altLang="en-US" b="1" dirty="0"/>
              <a:t>느리게 감소하다가 후반에 빠르게 수렴</a:t>
            </a:r>
            <a:r>
              <a:rPr lang="ko-KR" altLang="en-US" dirty="0"/>
              <a:t>하는 구조를 만들어주기 때문에</a:t>
            </a:r>
            <a:r>
              <a:rPr lang="en-US" altLang="ko-KR" dirty="0"/>
              <a:t>, </a:t>
            </a:r>
            <a:r>
              <a:rPr lang="ko-KR" altLang="en-US" dirty="0"/>
              <a:t>모델이 안정적으로 최적화 지점에 도달하도록 </a:t>
            </a:r>
            <a:r>
              <a:rPr lang="ko-KR" altLang="en-US" dirty="0" err="1"/>
              <a:t>돕습니다</a:t>
            </a:r>
            <a:r>
              <a:rPr lang="en-US" altLang="ko-KR" dirty="0"/>
              <a:t>.</a:t>
            </a:r>
            <a:endParaRPr lang="ko-KR" altLang="ko-KR" sz="1400" b="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F913778-ACBE-3B5C-0BB0-3A228AF88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BitNet</a:t>
            </a:r>
            <a:r>
              <a:rPr lang="en-US" altLang="ko-KR" dirty="0"/>
              <a:t> </a:t>
            </a:r>
            <a:r>
              <a:rPr lang="ko-KR" altLang="en-US" dirty="0"/>
              <a:t>학습 과정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7D2FFB-AA0C-01CC-A94E-65A1947F39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28CDA645-7302-AB67-D789-651794D84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38" y="1917432"/>
            <a:ext cx="7881259" cy="3902797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8848CE5F-73CA-943F-85BA-EB47652D256C}"/>
              </a:ext>
            </a:extLst>
          </p:cNvPr>
          <p:cNvSpPr/>
          <p:nvPr/>
        </p:nvSpPr>
        <p:spPr bwMode="auto">
          <a:xfrm>
            <a:off x="1912482" y="3167223"/>
            <a:ext cx="2648848" cy="3475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b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Stage 1 : High Learning Rate</a:t>
            </a:r>
            <a:endParaRPr lang="ko-KR" altLang="en-US" b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2EE35B2-27A3-82BA-3ED5-A2793087A874}"/>
              </a:ext>
            </a:extLst>
          </p:cNvPr>
          <p:cNvSpPr/>
          <p:nvPr/>
        </p:nvSpPr>
        <p:spPr bwMode="auto">
          <a:xfrm>
            <a:off x="5610673" y="3167222"/>
            <a:ext cx="2648846" cy="3475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b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Stage 2 : Cooldown</a:t>
            </a:r>
            <a:endParaRPr lang="ko-KR" altLang="en-US" b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2766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6FBF5-5027-55DB-795F-9FA3454DA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191A27C-74B7-4100-CBC0-6FBF0DEAE2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>
                <a:latin typeface="+mn-lt"/>
                <a:ea typeface="+mn-ea"/>
              </a:rPr>
              <a:t>학습률</a:t>
            </a:r>
            <a:r>
              <a:rPr lang="ko-KR" altLang="en-US" dirty="0">
                <a:latin typeface="+mn-lt"/>
                <a:ea typeface="+mn-ea"/>
              </a:rPr>
              <a:t> 스케줄 </a:t>
            </a:r>
            <a:r>
              <a:rPr lang="en-US" altLang="ko-KR" dirty="0">
                <a:latin typeface="+mn-lt"/>
                <a:ea typeface="+mn-ea"/>
              </a:rPr>
              <a:t>(2/2)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CCC1DC-DA78-1DF6-5C57-9ADFCDE94D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922627"/>
            <a:ext cx="9270641" cy="523220"/>
          </a:xfrm>
        </p:spPr>
        <p:txBody>
          <a:bodyPr/>
          <a:lstStyle/>
          <a:p>
            <a:r>
              <a:rPr lang="ko-KR" altLang="en-US" dirty="0"/>
              <a:t>코사인 감쇠는 </a:t>
            </a:r>
            <a:r>
              <a:rPr lang="ko-KR" altLang="en-US" b="1" dirty="0"/>
              <a:t>부드러운 곡선 형태로 </a:t>
            </a:r>
            <a:r>
              <a:rPr lang="ko-KR" altLang="en-US" b="1" dirty="0" err="1"/>
              <a:t>학습률을</a:t>
            </a:r>
            <a:r>
              <a:rPr lang="ko-KR" altLang="en-US" b="1" dirty="0"/>
              <a:t> 줄이기 때문에</a:t>
            </a:r>
            <a:r>
              <a:rPr lang="ko-KR" altLang="en-US" dirty="0"/>
              <a:t> 모델이 급격하게 흔들리지 않고 안정적으로 수렴할 수 있게 도와줍니다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6B22DE7-1149-7301-906E-C99CC5F54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BitNet</a:t>
            </a:r>
            <a:r>
              <a:rPr lang="en-US" altLang="ko-KR" dirty="0"/>
              <a:t> </a:t>
            </a:r>
            <a:r>
              <a:rPr lang="ko-KR" altLang="en-US" dirty="0"/>
              <a:t>학습 과정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D588F2F-3E1F-87C2-6CEB-15B6EE5578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B368FC4-AB35-F39B-9854-86F975CB59AB}"/>
              </a:ext>
            </a:extLst>
          </p:cNvPr>
          <p:cNvSpPr/>
          <p:nvPr/>
        </p:nvSpPr>
        <p:spPr bwMode="auto">
          <a:xfrm>
            <a:off x="675826" y="1719035"/>
            <a:ext cx="4000501" cy="29408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b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Stage 1 : High Learning Rate</a:t>
            </a:r>
            <a:endParaRPr lang="ko-KR" altLang="en-US" b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9461B7D-1569-2A23-EE73-36E88B19FA98}"/>
              </a:ext>
            </a:extLst>
          </p:cNvPr>
          <p:cNvSpPr/>
          <p:nvPr/>
        </p:nvSpPr>
        <p:spPr bwMode="auto">
          <a:xfrm>
            <a:off x="5419725" y="1719034"/>
            <a:ext cx="4000499" cy="29408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b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Stage 2 : Cooldown</a:t>
            </a:r>
            <a:endParaRPr lang="ko-KR" altLang="en-US" b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644CB3-C6DC-2C4D-C19B-AC01D294CB72}"/>
              </a:ext>
            </a:extLst>
          </p:cNvPr>
          <p:cNvSpPr txBox="1"/>
          <p:nvPr/>
        </p:nvSpPr>
        <p:spPr>
          <a:xfrm>
            <a:off x="675826" y="2059038"/>
            <a:ext cx="396012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코사인 감쇠스케줄을 사용하여 높은 초기 </a:t>
            </a:r>
            <a:r>
              <a:rPr lang="ko-KR" altLang="en-US" b="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학습률로</a:t>
            </a:r>
            <a:r>
              <a:rPr lang="ko-KR" altLang="en-US" b="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시작합니다</a:t>
            </a:r>
            <a:r>
              <a:rPr lang="en-US" altLang="ko-KR" b="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b="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점진적으로 </a:t>
            </a:r>
            <a:r>
              <a:rPr lang="ko-KR" altLang="en-US" b="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학습률이</a:t>
            </a:r>
            <a:r>
              <a:rPr lang="ko-KR" altLang="en-US" b="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감소하며 모델이 전반적인 패턴을 학습합니다</a:t>
            </a:r>
            <a:r>
              <a:rPr lang="en-US" altLang="ko-KR" b="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AC55B0-67AE-2747-28C5-6499C05AABC2}"/>
              </a:ext>
            </a:extLst>
          </p:cNvPr>
          <p:cNvSpPr txBox="1"/>
          <p:nvPr/>
        </p:nvSpPr>
        <p:spPr>
          <a:xfrm>
            <a:off x="5419725" y="2059038"/>
            <a:ext cx="400049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훈련 중반에 </a:t>
            </a:r>
            <a:r>
              <a:rPr lang="ko-KR" altLang="en-US" b="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학습률을</a:t>
            </a:r>
            <a:r>
              <a:rPr lang="ko-KR" altLang="en-US" b="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급격히 낮추고</a:t>
            </a:r>
            <a:r>
              <a:rPr lang="en-US" altLang="ko-KR" b="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b="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이후 새로운 코사인 감쇠를 적용합니다</a:t>
            </a:r>
            <a:r>
              <a:rPr lang="en-US" altLang="ko-KR" b="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b="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고품질 데이터에 대해 세밀하게 조정하는 역할을 합니다</a:t>
            </a:r>
            <a:r>
              <a:rPr lang="en-US" altLang="ko-KR" b="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en-US" b="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49E8F46-CC3F-E280-4536-BF9F02849074}"/>
              </a:ext>
            </a:extLst>
          </p:cNvPr>
          <p:cNvGrpSpPr/>
          <p:nvPr/>
        </p:nvGrpSpPr>
        <p:grpSpPr>
          <a:xfrm>
            <a:off x="632004" y="3355869"/>
            <a:ext cx="8641991" cy="1498600"/>
            <a:chOff x="362309" y="3708400"/>
            <a:chExt cx="8641991" cy="1498600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69FEECFA-CAFF-2B46-00E2-52E90B92C443}"/>
                </a:ext>
              </a:extLst>
            </p:cNvPr>
            <p:cNvSpPr/>
            <p:nvPr/>
          </p:nvSpPr>
          <p:spPr bwMode="auto">
            <a:xfrm>
              <a:off x="362309" y="3708400"/>
              <a:ext cx="8641991" cy="1498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7E6064A-3E36-DF25-7160-78D6086A495C}"/>
                </a:ext>
              </a:extLst>
            </p:cNvPr>
            <p:cNvSpPr txBox="1"/>
            <p:nvPr/>
          </p:nvSpPr>
          <p:spPr>
            <a:xfrm>
              <a:off x="483868" y="3830901"/>
              <a:ext cx="495935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ko-KR" b="0" dirty="0">
                  <a:latin typeface="+mn-lt"/>
                  <a:ea typeface="+mn-ea"/>
                </a:rPr>
                <a:t>※ </a:t>
              </a:r>
              <a:r>
                <a:rPr lang="ko-KR" altLang="en-US" b="0" dirty="0">
                  <a:latin typeface="+mn-lt"/>
                  <a:ea typeface="+mn-ea"/>
                </a:rPr>
                <a:t>코사인 감쇠</a:t>
              </a:r>
              <a:r>
                <a:rPr lang="en-US" altLang="ko-KR" b="0" dirty="0">
                  <a:latin typeface="+mn-lt"/>
                  <a:ea typeface="+mn-ea"/>
                </a:rPr>
                <a:t>(Cosine Decay) </a:t>
              </a:r>
              <a:r>
                <a:rPr lang="ko-KR" altLang="en-US" b="0" dirty="0" err="1">
                  <a:latin typeface="+mn-lt"/>
                  <a:ea typeface="+mn-ea"/>
                </a:rPr>
                <a:t>학습률</a:t>
              </a:r>
              <a:r>
                <a:rPr lang="ko-KR" altLang="en-US" b="0" dirty="0">
                  <a:latin typeface="+mn-lt"/>
                  <a:ea typeface="+mn-ea"/>
                </a:rPr>
                <a:t> 계산 공식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6484AD1-C3C5-FEBB-2826-861E926745EF}"/>
                    </a:ext>
                  </a:extLst>
                </p:cNvPr>
                <p:cNvSpPr txBox="1"/>
                <p:nvPr/>
              </p:nvSpPr>
              <p:spPr>
                <a:xfrm>
                  <a:off x="635634" y="4179212"/>
                  <a:ext cx="3730625" cy="51424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altLang="ko-KR" i="1" dirty="0" smtClean="0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l-GR" altLang="ko-KR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)=</m:t>
                        </m:r>
                        <m:sSub>
                          <m:sSubPr>
                            <m:ctrlPr>
                              <a:rPr lang="en-US" altLang="ko-KR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ko-KR" i="1" dirty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​+</m:t>
                        </m:r>
                        <m:f>
                          <m:fPr>
                            <m:ctrlPr>
                              <a:rPr lang="en-US" altLang="ko-KR" b="1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ko-KR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​(</m:t>
                        </m:r>
                        <m:sSub>
                          <m:sSubPr>
                            <m:ctrlPr>
                              <a:rPr lang="en-US" altLang="ko-KR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ko-KR" i="1" dirty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​−</m:t>
                        </m:r>
                        <m:sSub>
                          <m:sSubPr>
                            <m:ctrlPr>
                              <a:rPr lang="en-US" altLang="ko-KR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ko-KR" i="1" dirty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​)(1+</m:t>
                        </m:r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⁡(</m:t>
                        </m:r>
                        <m:f>
                          <m:fPr>
                            <m:ctrlPr>
                              <a:rPr lang="en-US" altLang="ko-KR" b="1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1" i="1" dirty="0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​</m:t>
                        </m:r>
                        <m:r>
                          <a:rPr lang="el-GR" altLang="ko-KR" i="1" dirty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l-GR" altLang="ko-KR" i="1" dirty="0">
                            <a:latin typeface="Cambria Math" panose="02040503050406030204" pitchFamily="18" charset="0"/>
                          </a:rPr>
                          <m:t>))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6484AD1-C3C5-FEBB-2826-861E926745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634" y="4179212"/>
                  <a:ext cx="3730625" cy="51424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AEA09F3-0BF0-7AC3-C5BB-B908AD0E2868}"/>
                    </a:ext>
                  </a:extLst>
                </p:cNvPr>
                <p:cNvSpPr txBox="1"/>
                <p:nvPr/>
              </p:nvSpPr>
              <p:spPr>
                <a:xfrm>
                  <a:off x="4455421" y="4176591"/>
                  <a:ext cx="4288976" cy="9541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82563" indent="-182563">
                    <a:spcAft>
                      <a:spcPts val="0"/>
                    </a:spcAft>
                    <a:buSzPts val="1000"/>
                    <a:buFont typeface="Symbol" panose="05050102010706020507" pitchFamily="18" charset="2"/>
                    <a:buChar char=""/>
                    <a:tabLst>
                      <a:tab pos="457200" algn="l"/>
                    </a:tabLst>
                  </a:pPr>
                  <a:r>
                    <a:rPr lang="ko-KR" altLang="en-US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𝜂</a:t>
                  </a:r>
                  <a:r>
                    <a:rPr lang="en-US" altLang="ko-KR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(</a:t>
                  </a:r>
                  <a:r>
                    <a:rPr lang="ko-KR" altLang="en-US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𝑡</a:t>
                  </a:r>
                  <a:r>
                    <a:rPr lang="en-US" altLang="ko-KR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): </a:t>
                  </a:r>
                  <a:r>
                    <a:rPr lang="ko-KR" altLang="en-US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현재 </a:t>
                  </a:r>
                  <a:r>
                    <a:rPr lang="en-US" altLang="ko-KR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step </a:t>
                  </a:r>
                  <a:r>
                    <a:rPr lang="ko-KR" altLang="en-US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𝑡에서의 </a:t>
                  </a:r>
                  <a:r>
                    <a:rPr lang="ko-KR" altLang="en-US" b="0" kern="100" dirty="0" err="1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학습률</a:t>
                  </a:r>
                  <a:endParaRPr lang="en-US" altLang="ko-KR" b="0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  <a:p>
                  <a:pPr marL="182563" indent="-182563">
                    <a:spcAft>
                      <a:spcPts val="0"/>
                    </a:spcAft>
                    <a:buSzPts val="1000"/>
                    <a:buFont typeface="Symbol" panose="05050102010706020507" pitchFamily="18" charset="2"/>
                    <a:buChar char=""/>
                    <a:tabLst>
                      <a:tab pos="457200" algn="l"/>
                    </a:tabLs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kern="100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b="0" kern="100" dirty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ko-KR" b="0" i="1" kern="100" dirty="0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</m:oMath>
                  </a14:m>
                  <a:r>
                    <a:rPr lang="en-US" altLang="ko-KR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​ : </a:t>
                  </a:r>
                  <a:r>
                    <a:rPr lang="ko-KR" altLang="en-US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초기</a:t>
                  </a:r>
                  <a:r>
                    <a:rPr lang="en-US" altLang="ko-KR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(</a:t>
                  </a:r>
                  <a:r>
                    <a:rPr lang="ko-KR" altLang="en-US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최대</a:t>
                  </a:r>
                  <a:r>
                    <a:rPr lang="en-US" altLang="ko-KR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) </a:t>
                  </a:r>
                  <a:r>
                    <a:rPr lang="ko-KR" altLang="en-US" b="0" kern="100" dirty="0" err="1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학습률</a:t>
                  </a:r>
                  <a:endParaRPr lang="en-US" altLang="ko-KR" b="0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endParaRPr>
                </a:p>
                <a:p>
                  <a:pPr marL="182563" indent="-182563">
                    <a:spcAft>
                      <a:spcPts val="0"/>
                    </a:spcAft>
                    <a:buSzPts val="1000"/>
                    <a:buFont typeface="Symbol" panose="05050102010706020507" pitchFamily="18" charset="2"/>
                    <a:buChar char=""/>
                    <a:tabLst>
                      <a:tab pos="457200" algn="l"/>
                    </a:tabLs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kern="10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b="0" kern="100" dirty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ko-KR" b="0" i="1" kern="100" dirty="0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</m:oMath>
                  </a14:m>
                  <a:r>
                    <a:rPr lang="en-US" altLang="ko-KR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 : </a:t>
                  </a:r>
                  <a:r>
                    <a:rPr lang="ko-KR" altLang="en-US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최종</a:t>
                  </a:r>
                  <a:r>
                    <a:rPr lang="en-US" altLang="ko-KR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(</a:t>
                  </a:r>
                  <a:r>
                    <a:rPr lang="ko-KR" altLang="en-US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최소</a:t>
                  </a:r>
                  <a:r>
                    <a:rPr lang="en-US" altLang="ko-KR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) </a:t>
                  </a:r>
                  <a:r>
                    <a:rPr lang="ko-KR" altLang="en-US" b="0" kern="100" dirty="0" err="1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학습률</a:t>
                  </a:r>
                  <a:r>
                    <a:rPr lang="ko-KR" altLang="en-US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ko-KR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(</a:t>
                  </a:r>
                  <a:r>
                    <a:rPr lang="ko-KR" altLang="en-US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보통 </a:t>
                  </a:r>
                  <a:r>
                    <a:rPr lang="en-US" altLang="ko-KR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0</a:t>
                  </a:r>
                  <a:r>
                    <a:rPr lang="ko-KR" altLang="en-US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에 가깝게 설정</a:t>
                  </a:r>
                  <a:r>
                    <a:rPr lang="en-US" altLang="ko-KR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)</a:t>
                  </a:r>
                </a:p>
                <a:p>
                  <a:pPr marL="182563" indent="-182563">
                    <a:spcAft>
                      <a:spcPts val="0"/>
                    </a:spcAft>
                    <a:buSzPts val="1000"/>
                    <a:buFont typeface="Symbol" panose="05050102010706020507" pitchFamily="18" charset="2"/>
                    <a:buChar char=""/>
                    <a:tabLst>
                      <a:tab pos="457200" algn="l"/>
                    </a:tabLst>
                  </a:pPr>
                  <a:r>
                    <a:rPr lang="ko-KR" altLang="en-US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𝑇</a:t>
                  </a:r>
                  <a:r>
                    <a:rPr lang="en-US" altLang="ko-KR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: </a:t>
                  </a:r>
                  <a:r>
                    <a:rPr lang="ko-KR" altLang="en-US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전체 </a:t>
                  </a:r>
                  <a:r>
                    <a:rPr lang="en-US" altLang="ko-KR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decay </a:t>
                  </a:r>
                  <a:r>
                    <a:rPr lang="ko-KR" altLang="en-US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구간 </a:t>
                  </a:r>
                  <a:r>
                    <a:rPr lang="en-US" altLang="ko-KR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(step </a:t>
                  </a:r>
                  <a:r>
                    <a:rPr lang="ko-KR" altLang="en-US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수 </a:t>
                  </a:r>
                  <a:r>
                    <a:rPr lang="en-US" altLang="ko-KR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or epoch </a:t>
                  </a:r>
                  <a:r>
                    <a:rPr lang="ko-KR" altLang="en-US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수</a:t>
                  </a:r>
                  <a:r>
                    <a:rPr lang="en-US" altLang="ko-KR" b="0" kern="100" dirty="0">
                      <a:latin typeface="맑은 고딕" panose="020B0503020000020004" pitchFamily="50" charset="-127"/>
                      <a:ea typeface="맑은 고딕" panose="020B0503020000020004" pitchFamily="50" charset="-127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AEA09F3-0BF0-7AC3-C5BB-B908AD0E28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5421" y="4176591"/>
                  <a:ext cx="4288976" cy="954107"/>
                </a:xfrm>
                <a:prstGeom prst="rect">
                  <a:avLst/>
                </a:prstGeom>
                <a:blipFill>
                  <a:blip r:embed="rId4"/>
                  <a:stretch>
                    <a:fillRect t="-1274" b="-509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5B5EFC8-B22F-78C5-1568-801445750E6C}"/>
                  </a:ext>
                </a:extLst>
              </p:cNvPr>
              <p:cNvSpPr txBox="1"/>
              <p:nvPr/>
            </p:nvSpPr>
            <p:spPr>
              <a:xfrm>
                <a:off x="753563" y="2766314"/>
                <a:ext cx="346601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82563" indent="-182563">
                  <a:spcAft>
                    <a:spcPts val="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kern="100" dirty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b="0" kern="100" dirty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kern="100" dirty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max</m:t>
                        </m:r>
                      </m:sub>
                    </m:sSub>
                    <m:r>
                      <a:rPr lang="en-US" altLang="ko-KR" b="0" kern="100" dirty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ko-KR" b="0" i="1" kern="100" dirty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0.0005</m:t>
                    </m:r>
                    <m:r>
                      <a:rPr lang="en-US" altLang="ko-KR" b="0" i="0" kern="100" dirty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b="0" i="1" kern="100" dirty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b="0" i="1" kern="100" dirty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b="0" kern="100" dirty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kern="100" dirty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min</m:t>
                        </m:r>
                      </m:sub>
                    </m:sSub>
                    <m:r>
                      <a:rPr lang="en-US" altLang="ko-KR" b="0" kern="100" dirty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ko-KR" b="0" i="0" kern="100" dirty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b="0" i="1" kern="100" dirty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0.0001</m:t>
                    </m:r>
                    <m:r>
                      <a:rPr lang="en-US" altLang="ko-KR" b="0" i="0" kern="100" dirty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ko-KR" altLang="en-US" b="0" kern="100" dirty="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5B5EFC8-B22F-78C5-1568-801445750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63" y="2766314"/>
                <a:ext cx="3466012" cy="307777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1D2AC92-E04C-F4A0-E55E-B7D2C4ADA88A}"/>
                  </a:ext>
                </a:extLst>
              </p:cNvPr>
              <p:cNvSpPr txBox="1"/>
              <p:nvPr/>
            </p:nvSpPr>
            <p:spPr>
              <a:xfrm>
                <a:off x="5504098" y="2766314"/>
                <a:ext cx="391612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82563" indent="-182563">
                  <a:spcAft>
                    <a:spcPts val="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kern="100" dirty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b="0" kern="100" dirty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kern="100" dirty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max</m:t>
                        </m:r>
                      </m:sub>
                    </m:sSub>
                    <m:r>
                      <a:rPr lang="en-US" altLang="ko-KR" b="0" kern="100" dirty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= </m:t>
                    </m:r>
                    <m:r>
                      <a:rPr lang="en-US" altLang="ko-KR" b="0" i="1" kern="100" dirty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0.0001</m:t>
                    </m:r>
                    <m:r>
                      <a:rPr lang="en-US" altLang="ko-KR" b="0" i="1" kern="100" dirty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b="0" i="1" kern="100" dirty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ko-KR" altLang="en-US" b="0" kern="100" dirty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kern="100" dirty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m</m:t>
                        </m:r>
                        <m:r>
                          <a:rPr lang="en-US" altLang="ko-KR" b="0" i="1" kern="100" dirty="0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  <m:r>
                      <a:rPr lang="en-US" altLang="ko-KR" b="0" kern="100" dirty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ko-KR" b="0" i="1" kern="100" dirty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0.000</m:t>
                    </m:r>
                    <m:r>
                      <a:rPr lang="en-US" altLang="ko-KR" b="0" i="1" kern="100" dirty="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ko-KR" b="0" i="1" kern="100" dirty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altLang="ko-KR" b="0" kern="100" dirty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ko-KR" altLang="en-US" b="0" kern="100" dirty="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1D2AC92-E04C-F4A0-E55E-B7D2C4ADA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098" y="2766314"/>
                <a:ext cx="3916126" cy="307777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A7286B-A695-908A-C9EB-1DDF99C03F0F}"/>
                  </a:ext>
                </a:extLst>
              </p:cNvPr>
              <p:cNvSpPr txBox="1"/>
              <p:nvPr/>
            </p:nvSpPr>
            <p:spPr>
              <a:xfrm>
                <a:off x="1017487" y="5061050"/>
                <a:ext cx="74152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일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때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i="1" dirty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⁡(0)=1 </m:t>
                      </m:r>
                    </m:oMath>
                  </m:oMathPara>
                </a14:m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에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가까워질수록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i="1" dirty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)=−1 → </m:t>
                      </m:r>
                      <m:r>
                        <a:rPr lang="ko-KR" altLang="en-US" i="1" dirty="0" err="1" smtClean="0">
                          <a:latin typeface="Cambria Math" panose="02040503050406030204" pitchFamily="18" charset="0"/>
                        </a:rPr>
                        <m:t>학습률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최소값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A7286B-A695-908A-C9EB-1DDF99C03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487" y="5061050"/>
                <a:ext cx="7415258" cy="523220"/>
              </a:xfrm>
              <a:prstGeom prst="rect">
                <a:avLst/>
              </a:prstGeom>
              <a:blipFill>
                <a:blip r:embed="rId7"/>
                <a:stretch>
                  <a:fillRect b="-58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B9C83D89-666A-E5E9-2967-D0FC9D2C6846}"/>
              </a:ext>
            </a:extLst>
          </p:cNvPr>
          <p:cNvSpPr/>
          <p:nvPr/>
        </p:nvSpPr>
        <p:spPr bwMode="auto">
          <a:xfrm>
            <a:off x="766717" y="5128962"/>
            <a:ext cx="228600" cy="193698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2CFE7F4-A497-3BE0-DCB7-0F43C074B417}"/>
              </a:ext>
            </a:extLst>
          </p:cNvPr>
          <p:cNvSpPr/>
          <p:nvPr/>
        </p:nvSpPr>
        <p:spPr bwMode="auto">
          <a:xfrm>
            <a:off x="3695700" y="3824060"/>
            <a:ext cx="769513" cy="514243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C5E8B06-1D6C-99B2-C301-420AD217D66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1012" b="1674"/>
          <a:stretch/>
        </p:blipFill>
        <p:spPr>
          <a:xfrm>
            <a:off x="5742288" y="5062309"/>
            <a:ext cx="3482018" cy="152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045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B04EC-5B8B-46CA-4F10-8572BB45D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A35EE34-C153-0908-D981-39DD210ED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+mn-lt"/>
                <a:ea typeface="+mn-ea"/>
              </a:rPr>
              <a:t>Summation loss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1767EA-0573-9C0E-37AD-E34D7E156B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922627"/>
            <a:ext cx="9270641" cy="523220"/>
          </a:xfrm>
        </p:spPr>
        <p:txBody>
          <a:bodyPr/>
          <a:lstStyle/>
          <a:p>
            <a:r>
              <a:rPr lang="ko-KR" altLang="en-US" dirty="0"/>
              <a:t>각 </a:t>
            </a:r>
            <a:r>
              <a:rPr lang="ko-KR" altLang="en-US" b="1" dirty="0"/>
              <a:t>토큰의 </a:t>
            </a:r>
            <a:r>
              <a:rPr lang="en-US" altLang="ko-KR" b="1" dirty="0"/>
              <a:t>cross-entropy loss</a:t>
            </a:r>
            <a:r>
              <a:rPr lang="ko-KR" altLang="en-US" b="1" dirty="0"/>
              <a:t>를 더해서 합계</a:t>
            </a:r>
            <a:r>
              <a:rPr lang="ko-KR" altLang="en-US" dirty="0"/>
              <a:t>를 구하는 방식으로</a:t>
            </a:r>
            <a:r>
              <a:rPr lang="en-US" altLang="ko-KR" dirty="0"/>
              <a:t>, 1-bit </a:t>
            </a:r>
            <a:r>
              <a:rPr lang="ko-KR" altLang="en-US" dirty="0"/>
              <a:t>모델 특성상 작은 </a:t>
            </a:r>
            <a:r>
              <a:rPr lang="en-US" altLang="ko-KR" dirty="0"/>
              <a:t>gradient</a:t>
            </a:r>
            <a:r>
              <a:rPr lang="ko-KR" altLang="en-US" dirty="0"/>
              <a:t>는 소실될 수 있으므로 계산 과정에서 큰 수치가 안정적인 결과를 도출합니다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7F20ACE-05D0-652D-574F-486182E13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BitNet</a:t>
            </a:r>
            <a:r>
              <a:rPr lang="en-US" altLang="ko-KR" dirty="0"/>
              <a:t> </a:t>
            </a:r>
            <a:r>
              <a:rPr lang="ko-KR" altLang="en-US" dirty="0"/>
              <a:t>학습 과정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359652-373F-ACFC-7B66-B77652220C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91531EF-484E-AE0A-6EBC-48A66C07888B}"/>
              </a:ext>
            </a:extLst>
          </p:cNvPr>
          <p:cNvGraphicFramePr>
            <a:graphicFrameLocks noGrp="1"/>
          </p:cNvGraphicFramePr>
          <p:nvPr/>
        </p:nvGraphicFramePr>
        <p:xfrm>
          <a:off x="536512" y="2055911"/>
          <a:ext cx="810257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99105">
                  <a:extLst>
                    <a:ext uri="{9D8B030D-6E8A-4147-A177-3AD203B41FA5}">
                      <a16:colId xmlns:a16="http://schemas.microsoft.com/office/drawing/2014/main" val="3003677134"/>
                    </a:ext>
                  </a:extLst>
                </a:gridCol>
                <a:gridCol w="2395470">
                  <a:extLst>
                    <a:ext uri="{9D8B030D-6E8A-4147-A177-3AD203B41FA5}">
                      <a16:colId xmlns:a16="http://schemas.microsoft.com/office/drawing/2014/main" val="2153167586"/>
                    </a:ext>
                  </a:extLst>
                </a:gridCol>
                <a:gridCol w="4608000">
                  <a:extLst>
                    <a:ext uri="{9D8B030D-6E8A-4147-A177-3AD203B41FA5}">
                      <a16:colId xmlns:a16="http://schemas.microsoft.com/office/drawing/2014/main" val="196776564"/>
                    </a:ext>
                  </a:extLst>
                </a:gridCol>
              </a:tblGrid>
              <a:tr h="245166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400" b="1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방식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400" b="1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400" b="1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특징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573144"/>
                  </a:ext>
                </a:extLst>
              </a:tr>
              <a:tr h="245166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mean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400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모든 토큰의 </a:t>
                      </a:r>
                      <a:r>
                        <a:rPr lang="en-US" altLang="ko-KR" sz="1400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loss </a:t>
                      </a:r>
                      <a:r>
                        <a:rPr lang="ko-KR" altLang="en-US" sz="1400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평균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400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샘플 수에 따라 균일하게 조정됨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521334"/>
                  </a:ext>
                </a:extLst>
              </a:tr>
              <a:tr h="245166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400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모든 토큰의 </a:t>
                      </a:r>
                      <a:r>
                        <a:rPr lang="en-US" altLang="ko-KR" sz="1400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loss </a:t>
                      </a:r>
                      <a:r>
                        <a:rPr lang="ko-KR" altLang="en-US" sz="1400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합계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400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전체 샘플의 누적된 </a:t>
                      </a:r>
                      <a:r>
                        <a:rPr lang="en-US" altLang="ko-KR" sz="1400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loss</a:t>
                      </a:r>
                      <a:r>
                        <a:rPr lang="ko-KR" altLang="en-US" sz="1400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로 더 큰 </a:t>
                      </a:r>
                      <a:r>
                        <a:rPr lang="en-US" altLang="ko-KR" sz="1400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gradient</a:t>
                      </a:r>
                      <a:r>
                        <a:rPr lang="ko-KR" altLang="en-US" sz="1400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를 유도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322088"/>
                  </a:ext>
                </a:extLst>
              </a:tr>
              <a:tr h="245166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400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개별 토큰마다 </a:t>
                      </a:r>
                      <a:r>
                        <a:rPr lang="en-US" altLang="ko-KR" sz="1400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loss </a:t>
                      </a:r>
                      <a:r>
                        <a:rPr lang="ko-KR" altLang="en-US" sz="1400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반환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400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토큰 단위 세부 분석용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55568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297C921-9404-4130-F2C8-8625E1B19264}"/>
              </a:ext>
            </a:extLst>
          </p:cNvPr>
          <p:cNvSpPr txBox="1"/>
          <p:nvPr/>
        </p:nvSpPr>
        <p:spPr>
          <a:xfrm>
            <a:off x="457200" y="1641727"/>
            <a:ext cx="49558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>
                <a:latin typeface="+mn-lt"/>
                <a:ea typeface="+mn-ea"/>
              </a:rPr>
              <a:t> </a:t>
            </a:r>
            <a:r>
              <a:rPr lang="en-US" altLang="ko-KR" dirty="0">
                <a:latin typeface="+mn-lt"/>
                <a:ea typeface="+mn-ea"/>
              </a:rPr>
              <a:t>Cross-Entropy Loss</a:t>
            </a:r>
            <a:r>
              <a:rPr lang="ko-KR" altLang="en-US" dirty="0">
                <a:latin typeface="+mn-lt"/>
                <a:ea typeface="+mn-ea"/>
              </a:rPr>
              <a:t>에서의 </a:t>
            </a:r>
            <a:r>
              <a:rPr lang="en-US" altLang="ko-KR" dirty="0">
                <a:latin typeface="+mn-lt"/>
                <a:ea typeface="+mn-ea"/>
              </a:rPr>
              <a:t>Reduction </a:t>
            </a:r>
            <a:r>
              <a:rPr lang="ko-KR" altLang="en-US" dirty="0">
                <a:latin typeface="+mn-lt"/>
                <a:ea typeface="+mn-ea"/>
              </a:rPr>
              <a:t>방식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83B90B-2722-BB34-7C13-5702BDFCE5BB}"/>
              </a:ext>
            </a:extLst>
          </p:cNvPr>
          <p:cNvSpPr txBox="1"/>
          <p:nvPr/>
        </p:nvSpPr>
        <p:spPr>
          <a:xfrm>
            <a:off x="457200" y="3889075"/>
            <a:ext cx="18352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>
                <a:latin typeface="+mn-lt"/>
                <a:ea typeface="+mn-ea"/>
              </a:rPr>
              <a:t> 계산 결과 예시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40D7FC0C-986E-9597-7E9E-6233FD053E5D}"/>
              </a:ext>
            </a:extLst>
          </p:cNvPr>
          <p:cNvGraphicFramePr>
            <a:graphicFrameLocks noGrp="1"/>
          </p:cNvGraphicFramePr>
          <p:nvPr/>
        </p:nvGraphicFramePr>
        <p:xfrm>
          <a:off x="2615162" y="3585764"/>
          <a:ext cx="4612334" cy="914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46455">
                  <a:extLst>
                    <a:ext uri="{9D8B030D-6E8A-4147-A177-3AD203B41FA5}">
                      <a16:colId xmlns:a16="http://schemas.microsoft.com/office/drawing/2014/main" val="3003677134"/>
                    </a:ext>
                  </a:extLst>
                </a:gridCol>
                <a:gridCol w="943293">
                  <a:extLst>
                    <a:ext uri="{9D8B030D-6E8A-4147-A177-3AD203B41FA5}">
                      <a16:colId xmlns:a16="http://schemas.microsoft.com/office/drawing/2014/main" val="3809344130"/>
                    </a:ext>
                  </a:extLst>
                </a:gridCol>
                <a:gridCol w="943293">
                  <a:extLst>
                    <a:ext uri="{9D8B030D-6E8A-4147-A177-3AD203B41FA5}">
                      <a16:colId xmlns:a16="http://schemas.microsoft.com/office/drawing/2014/main" val="724012940"/>
                    </a:ext>
                  </a:extLst>
                </a:gridCol>
                <a:gridCol w="943293">
                  <a:extLst>
                    <a:ext uri="{9D8B030D-6E8A-4147-A177-3AD203B41FA5}">
                      <a16:colId xmlns:a16="http://schemas.microsoft.com/office/drawing/2014/main" val="2153167586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967765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400" b="1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sample</a:t>
                      </a:r>
                      <a:endParaRPr lang="ko-KR" altLang="en-US" sz="1400" b="1" kern="10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400" b="1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Class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400" b="1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Class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400" b="1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Class</a:t>
                      </a:r>
                      <a:r>
                        <a:rPr lang="ko-KR" altLang="en-US" sz="1400" b="1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400" b="1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400" b="1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label</a:t>
                      </a:r>
                      <a:endParaRPr lang="ko-KR" altLang="en-US" sz="1400" b="1" kern="100" dirty="0">
                        <a:solidFill>
                          <a:sysClr val="windowText" lastClr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573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400" b="0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400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400" kern="10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400" kern="10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400" kern="10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521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400" b="0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400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400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400" kern="10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400" kern="100" dirty="0">
                          <a:solidFill>
                            <a:sysClr val="windowText" lastClr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322088"/>
                  </a:ext>
                </a:extLst>
              </a:tr>
            </a:tbl>
          </a:graphicData>
        </a:graphic>
      </p:graphicFrame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C90AD1A2-37E1-BC40-1C26-04D3CC99DB41}"/>
              </a:ext>
            </a:extLst>
          </p:cNvPr>
          <p:cNvSpPr/>
          <p:nvPr/>
        </p:nvSpPr>
        <p:spPr bwMode="auto">
          <a:xfrm>
            <a:off x="2120608" y="4883396"/>
            <a:ext cx="228600" cy="193698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B9BD2B-669A-2D86-929E-7FF84AE06D5D}"/>
              </a:ext>
            </a:extLst>
          </p:cNvPr>
          <p:cNvSpPr txBox="1"/>
          <p:nvPr/>
        </p:nvSpPr>
        <p:spPr>
          <a:xfrm>
            <a:off x="2518446" y="4693053"/>
            <a:ext cx="49583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kern="1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샘플 1: </a:t>
            </a:r>
            <a:r>
              <a:rPr lang="ko-KR" altLang="en-US" b="0" kern="100" dirty="0" err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softmax</a:t>
            </a:r>
            <a:r>
              <a:rPr lang="ko-KR" altLang="en-US" b="0" kern="1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([2.0, 0.5, 0.3]) ≈ [0.78, 0.13, 0.09]</a:t>
            </a:r>
          </a:p>
          <a:p>
            <a:r>
              <a:rPr lang="ko-KR" altLang="en-US" b="0" kern="1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샘플 2: </a:t>
            </a:r>
            <a:r>
              <a:rPr lang="ko-KR" altLang="en-US" b="0" kern="100" dirty="0" err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softmax</a:t>
            </a:r>
            <a:r>
              <a:rPr lang="ko-KR" altLang="en-US" b="0" kern="1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([0.2, 2.5, 0.3]) ≈ [0.07, 0.89, 0.04]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2DF595-399F-999B-3F74-E993232EE7E7}"/>
              </a:ext>
            </a:extLst>
          </p:cNvPr>
          <p:cNvSpPr txBox="1"/>
          <p:nvPr/>
        </p:nvSpPr>
        <p:spPr>
          <a:xfrm>
            <a:off x="598161" y="4826356"/>
            <a:ext cx="14378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 err="1">
                <a:latin typeface="+mn-lt"/>
                <a:ea typeface="+mn-ea"/>
              </a:rPr>
              <a:t>Softmax</a:t>
            </a:r>
            <a:endParaRPr lang="ko-KR" altLang="en-US" dirty="0">
              <a:latin typeface="+mn-lt"/>
              <a:ea typeface="+mn-ea"/>
            </a:endParaRPr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BECCA6EE-5D26-1DB9-1340-F433A64BAC86}"/>
              </a:ext>
            </a:extLst>
          </p:cNvPr>
          <p:cNvSpPr/>
          <p:nvPr/>
        </p:nvSpPr>
        <p:spPr bwMode="auto">
          <a:xfrm>
            <a:off x="2120608" y="5512900"/>
            <a:ext cx="228600" cy="193698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33AFA8-6CB0-E0BB-8B49-2E4BEC25463F}"/>
              </a:ext>
            </a:extLst>
          </p:cNvPr>
          <p:cNvSpPr txBox="1"/>
          <p:nvPr/>
        </p:nvSpPr>
        <p:spPr>
          <a:xfrm>
            <a:off x="2518446" y="5322557"/>
            <a:ext cx="49583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kern="1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샘플 </a:t>
            </a:r>
            <a:r>
              <a:rPr lang="en-US" altLang="ko-KR" b="0" kern="1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 </a:t>
            </a:r>
            <a:r>
              <a:rPr lang="ko-KR" altLang="en-US" b="0" kern="1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정답은 클래스 </a:t>
            </a:r>
            <a:r>
              <a:rPr lang="en-US" altLang="ko-KR" b="0" kern="1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0 → -log(0.78) ≈ 0.25  </a:t>
            </a:r>
          </a:p>
          <a:p>
            <a:r>
              <a:rPr lang="ko-KR" altLang="en-US" b="0" kern="1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샘플 </a:t>
            </a:r>
            <a:r>
              <a:rPr lang="en-US" altLang="ko-KR" b="0" kern="1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 </a:t>
            </a:r>
            <a:r>
              <a:rPr lang="ko-KR" altLang="en-US" b="0" kern="1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정답은 클래스 </a:t>
            </a:r>
            <a:r>
              <a:rPr lang="en-US" altLang="ko-KR" b="0" kern="1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 → -log(0.89) ≈ 0.11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2C9D1A-9947-3D89-6365-C110E874902F}"/>
              </a:ext>
            </a:extLst>
          </p:cNvPr>
          <p:cNvSpPr txBox="1"/>
          <p:nvPr/>
        </p:nvSpPr>
        <p:spPr>
          <a:xfrm>
            <a:off x="598161" y="5455860"/>
            <a:ext cx="14378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+mn-lt"/>
                <a:ea typeface="+mn-ea"/>
              </a:rPr>
              <a:t>Cross-Entropy</a:t>
            </a:r>
            <a:endParaRPr lang="ko-KR" altLang="en-US" dirty="0">
              <a:latin typeface="+mn-lt"/>
              <a:ea typeface="+mn-ea"/>
            </a:endParaRPr>
          </a:p>
        </p:txBody>
      </p: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58448E10-68F6-B708-F824-BA5B8FD962A7}"/>
              </a:ext>
            </a:extLst>
          </p:cNvPr>
          <p:cNvSpPr/>
          <p:nvPr/>
        </p:nvSpPr>
        <p:spPr bwMode="auto">
          <a:xfrm>
            <a:off x="2120608" y="6142404"/>
            <a:ext cx="228600" cy="193698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6BB7EF-A375-9E17-D33C-B29C5650FA1A}"/>
              </a:ext>
            </a:extLst>
          </p:cNvPr>
          <p:cNvSpPr txBox="1"/>
          <p:nvPr/>
        </p:nvSpPr>
        <p:spPr>
          <a:xfrm>
            <a:off x="2518446" y="5952061"/>
            <a:ext cx="323465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kern="1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none  → [0.25, 0.11] </a:t>
            </a:r>
          </a:p>
          <a:p>
            <a:r>
              <a:rPr lang="en-US" altLang="ko-KR" b="0" kern="1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sum   → 0.25 + 0.11 = </a:t>
            </a:r>
            <a:r>
              <a:rPr lang="en-US" altLang="ko-KR" kern="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0.36</a:t>
            </a:r>
          </a:p>
          <a:p>
            <a:r>
              <a:rPr lang="en-US" altLang="ko-KR" b="0" kern="1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mean → (0.25 + 0.11) / 2 = 0.18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B42B21-A900-CA59-B60A-B421E3DA67BC}"/>
              </a:ext>
            </a:extLst>
          </p:cNvPr>
          <p:cNvSpPr txBox="1"/>
          <p:nvPr/>
        </p:nvSpPr>
        <p:spPr>
          <a:xfrm>
            <a:off x="598161" y="6085364"/>
            <a:ext cx="14378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+mn-lt"/>
                <a:ea typeface="+mn-ea"/>
              </a:rPr>
              <a:t>Reduction</a:t>
            </a:r>
            <a:endParaRPr lang="ko-KR" altLang="en-US" dirty="0">
              <a:latin typeface="+mn-lt"/>
              <a:ea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B13BAE-3AB7-A6E2-4F51-48B60F6895FA}"/>
              </a:ext>
            </a:extLst>
          </p:cNvPr>
          <p:cNvSpPr txBox="1"/>
          <p:nvPr/>
        </p:nvSpPr>
        <p:spPr>
          <a:xfrm>
            <a:off x="4982418" y="6142742"/>
            <a:ext cx="25359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kern="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gradient</a:t>
            </a:r>
            <a:r>
              <a:rPr lang="ko-KR" altLang="en-US" kern="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더 강하게 전달</a:t>
            </a:r>
            <a:endParaRPr lang="en-US" altLang="ko-KR" kern="100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630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1662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1AA0CA"/>
        </a:solidFill>
        <a:ln>
          <a:noFill/>
        </a:ln>
        <a:effectLst/>
      </a:spPr>
      <a:bodyPr rtlCol="0" anchor="ctr"/>
      <a:lstStyle>
        <a:defPPr algn="ctr" defTabSz="911896">
          <a:defRPr dirty="0">
            <a:solidFill>
              <a:prstClr val="white"/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b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제조분야 사업 실적_수정안</Template>
  <TotalTime>80972</TotalTime>
  <Words>981</Words>
  <Application>Microsoft Office PowerPoint</Application>
  <PresentationFormat>A4 용지(210x297mm)</PresentationFormat>
  <Paragraphs>127</Paragraphs>
  <Slides>12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굴림</vt:lpstr>
      <vt:lpstr>맑은 고딕</vt:lpstr>
      <vt:lpstr>Arial</vt:lpstr>
      <vt:lpstr>Cambria Math</vt:lpstr>
      <vt:lpstr>Symbol</vt:lpstr>
      <vt:lpstr>Times New Roman</vt:lpstr>
      <vt:lpstr>Wingdings</vt:lpstr>
      <vt:lpstr>1_디자인 사용자 지정</vt:lpstr>
      <vt:lpstr>PowerPoint 프레젠테이션</vt:lpstr>
      <vt:lpstr>PowerPoint 프레젠테이션</vt:lpstr>
      <vt:lpstr>PowerPoint 프레젠테이션</vt:lpstr>
      <vt:lpstr>BitNet 구조</vt:lpstr>
      <vt:lpstr>BitNet 구조</vt:lpstr>
      <vt:lpstr>BitNet 구조</vt:lpstr>
      <vt:lpstr>PowerPoint 프레젠테이션</vt:lpstr>
      <vt:lpstr>BitNet 학습 과정</vt:lpstr>
      <vt:lpstr>BitNet 학습 과정</vt:lpstr>
      <vt:lpstr>BitNet 학습 과정</vt:lpstr>
      <vt:lpstr>BitNet 학습 과정</vt:lpstr>
      <vt:lpstr>PowerPoint 프레젠테이션</vt:lpstr>
    </vt:vector>
  </TitlesOfParts>
  <Company>ECMIner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ECMiner</dc:creator>
  <cp:lastModifiedBy>Jinyoon Park</cp:lastModifiedBy>
  <cp:revision>4752</cp:revision>
  <cp:lastPrinted>2015-11-10T08:51:46Z</cp:lastPrinted>
  <dcterms:created xsi:type="dcterms:W3CDTF">2011-12-28T05:39:44Z</dcterms:created>
  <dcterms:modified xsi:type="dcterms:W3CDTF">2025-05-23T07:24:53Z</dcterms:modified>
</cp:coreProperties>
</file>