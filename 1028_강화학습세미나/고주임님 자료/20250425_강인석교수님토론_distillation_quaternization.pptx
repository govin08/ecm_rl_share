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25"/>
  </p:notesMasterIdLst>
  <p:handoutMasterIdLst>
    <p:handoutMasterId r:id="rId26"/>
  </p:handoutMasterIdLst>
  <p:sldIdLst>
    <p:sldId id="5704" r:id="rId2"/>
    <p:sldId id="5705" r:id="rId3"/>
    <p:sldId id="5706" r:id="rId4"/>
    <p:sldId id="9193" r:id="rId5"/>
    <p:sldId id="9196" r:id="rId6"/>
    <p:sldId id="9197" r:id="rId7"/>
    <p:sldId id="9198" r:id="rId8"/>
    <p:sldId id="9199" r:id="rId9"/>
    <p:sldId id="9194" r:id="rId10"/>
    <p:sldId id="9195" r:id="rId11"/>
    <p:sldId id="9145" r:id="rId12"/>
    <p:sldId id="9141" r:id="rId13"/>
    <p:sldId id="9142" r:id="rId14"/>
    <p:sldId id="9143" r:id="rId15"/>
    <p:sldId id="9144" r:id="rId16"/>
    <p:sldId id="9146" r:id="rId17"/>
    <p:sldId id="5715" r:id="rId18"/>
    <p:sldId id="5708" r:id="rId19"/>
    <p:sldId id="5707" r:id="rId20"/>
    <p:sldId id="5712" r:id="rId21"/>
    <p:sldId id="5713" r:id="rId22"/>
    <p:sldId id="5714" r:id="rId23"/>
    <p:sldId id="5711" r:id="rId24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레이아웃" id="{CE72B11D-AA25-4366-880F-821DE9956EB7}">
          <p14:sldIdLst>
            <p14:sldId id="5704"/>
            <p14:sldId id="5705"/>
            <p14:sldId id="5706"/>
            <p14:sldId id="9193"/>
            <p14:sldId id="9196"/>
            <p14:sldId id="9197"/>
            <p14:sldId id="9198"/>
            <p14:sldId id="9199"/>
            <p14:sldId id="9194"/>
            <p14:sldId id="9195"/>
            <p14:sldId id="9145"/>
            <p14:sldId id="9141"/>
            <p14:sldId id="9142"/>
            <p14:sldId id="9143"/>
            <p14:sldId id="9144"/>
            <p14:sldId id="9146"/>
            <p14:sldId id="5715"/>
            <p14:sldId id="5708"/>
          </p14:sldIdLst>
        </p14:section>
        <p14:section name="Backup" id="{EFAE6CB3-813D-4D2A-87E9-AB1A59118A48}">
          <p14:sldIdLst>
            <p14:sldId id="5707"/>
            <p14:sldId id="5712"/>
            <p14:sldId id="5713"/>
            <p14:sldId id="5714"/>
            <p14:sldId id="5711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117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072C2"/>
    <a:srgbClr val="F38F15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5087" autoAdjust="0"/>
  </p:normalViewPr>
  <p:slideViewPr>
    <p:cSldViewPr snapToGrid="0" snapToObjects="1" showGuides="1">
      <p:cViewPr varScale="1">
        <p:scale>
          <a:sx n="101" d="100"/>
          <a:sy n="101" d="100"/>
        </p:scale>
        <p:origin x="1980" y="114"/>
      </p:cViewPr>
      <p:guideLst>
        <p:guide orient="horz" pos="4042"/>
        <p:guide orient="horz" pos="1117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89837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원래 컴퓨터가 </a:t>
            </a:r>
            <a:r>
              <a:rPr lang="en-US" altLang="ko-KR" dirty="0"/>
              <a:t>3.14159</a:t>
            </a:r>
            <a:r>
              <a:rPr lang="ko-KR" altLang="en-US" dirty="0"/>
              <a:t>같은 </a:t>
            </a:r>
            <a:r>
              <a:rPr lang="en-US" altLang="ko-KR" dirty="0"/>
              <a:t>float32 </a:t>
            </a:r>
            <a:r>
              <a:rPr lang="ko-KR" altLang="en-US" dirty="0"/>
              <a:t>형식의 실수를 저장할 때 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74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양자화 과정에서 각 구간의 크기가 동일하게 설정되는지 여부에 따라 두 가지 방법으로 나뉨</a:t>
            </a:r>
            <a:r>
              <a:rPr lang="en-US" altLang="ko-KR" dirty="0"/>
              <a:t>. 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2907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835A-8F15-EE85-2E37-9092177E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2FC481-F2EB-0688-ED0F-3E452DEFB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FCC9EA-0389-166C-CE29-F119AC1F5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EB2A63-847D-DE4F-793D-7B9646FA2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0317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2DA6-3720-A8B8-6A35-53E237AD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ACCC4D-0A31-B6E2-47B5-370214562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8D9327-9D50-4AF5-4D03-E15A09114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060D9-86A5-F88D-B968-F937E2BBE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0053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31F99-18F3-11AF-20DA-C5CD9ACB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399C23-F953-D934-2745-1C4F668A3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268ECE-CFCA-C001-E941-6DAA19168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434BDD-C7F5-74D3-49DA-CE54E3F36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669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50</a:t>
            </a:r>
            <a:r>
              <a:rPr lang="ko-KR" altLang="en-US" dirty="0"/>
              <a:t>배 속도 향상</a:t>
            </a:r>
            <a:r>
              <a:rPr lang="en-US" altLang="ko-KR" dirty="0"/>
              <a:t>"</a:t>
            </a:r>
            <a:r>
              <a:rPr lang="ko-KR" altLang="en-US" dirty="0"/>
              <a:t>은 매우 드문 케이스</a:t>
            </a:r>
            <a:r>
              <a:rPr lang="en-US" altLang="ko-KR" dirty="0"/>
              <a:t>, </a:t>
            </a:r>
            <a:r>
              <a:rPr lang="ko-KR" altLang="en-US" dirty="0"/>
              <a:t>보통은 </a:t>
            </a:r>
            <a:r>
              <a:rPr lang="en-US" altLang="ko-KR" dirty="0"/>
              <a:t>2</a:t>
            </a:r>
            <a:r>
              <a:rPr lang="ko-KR" altLang="en-US" dirty="0"/>
              <a:t>배 내외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0174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9AD7-8E8F-9CE7-7384-52FB9B2E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CAF61C-090B-0C60-C674-06D1E8065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F3CF2-E9AB-5915-3D7F-2FFBB59C2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2976B-31B8-342F-9E96-AAF2BEB16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450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9042-748A-5D0E-834B-81703C79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0D2876-4E4B-240F-DD2D-91ED8B9B9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A6D719-8D64-EBD0-222B-B053B02F4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BEC1F-6104-3AF6-C185-B0EA45B78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78693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9B7E-F548-37CC-56B3-EA26B136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687F2-820F-506D-A72B-F7B8DDA21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73C0A-9046-3BD0-3D14-835F44724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9E2F2-2A95-5393-73C7-878A9224B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685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06E0-F50B-4B8C-5684-FA5DDC3F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9875B8-35FC-0F18-7F48-F84B34A51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7DB64B-9F40-5390-6D30-1E36929BB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Hidden State Matching</a:t>
            </a:r>
            <a:r>
              <a:rPr lang="ko-KR" altLang="en-US" dirty="0"/>
              <a:t>은 모델이 정답만 흉내 내는 게 아니라</a:t>
            </a:r>
            <a:r>
              <a:rPr lang="en-US" altLang="ko-KR" dirty="0"/>
              <a:t>, '</a:t>
            </a:r>
            <a:r>
              <a:rPr lang="ko-KR" altLang="en-US" dirty="0"/>
              <a:t>생각하는 방식</a:t>
            </a:r>
            <a:r>
              <a:rPr lang="en-US" altLang="ko-KR" dirty="0"/>
              <a:t>'</a:t>
            </a:r>
            <a:r>
              <a:rPr lang="ko-KR" altLang="en-US" dirty="0"/>
              <a:t>까지 따라 하게 만드는 기술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6A6C8D-2677-C5F3-13B4-05454EA88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795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2025.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소주제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2025.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28D37-A361-89C1-A3C2-2EDD7FC9D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sp>
        <p:nvSpPr>
          <p:cNvPr id="4" name="텍스트 개체 틀 21">
            <a:extLst>
              <a:ext uri="{FF2B5EF4-FFF2-40B4-BE49-F238E27FC236}">
                <a16:creationId xmlns:a16="http://schemas.microsoft.com/office/drawing/2014/main" id="{BD78518C-834A-5AF2-4524-74D3FB2ACC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2309" y="922627"/>
            <a:ext cx="9287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7382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Distillation</a:t>
            </a:r>
            <a:r>
              <a:rPr lang="ko-KR" altLang="en-US" dirty="0"/>
              <a:t>과 </a:t>
            </a:r>
            <a:r>
              <a:rPr lang="en-US" altLang="ko-KR" dirty="0"/>
              <a:t>Quantization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2025.04.25</a:t>
            </a:r>
          </a:p>
          <a:p>
            <a:r>
              <a:rPr lang="ko-KR" altLang="en-US" dirty="0"/>
              <a:t>컨설팅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EFC9500-80AE-4436-9F49-A96D2417B9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t"/>
          <a:lstStyle/>
          <a:p>
            <a:r>
              <a:rPr lang="en-US" altLang="ko-KR" dirty="0"/>
              <a:t>Quantization</a:t>
            </a:r>
          </a:p>
          <a:p>
            <a:r>
              <a:rPr lang="en-US" altLang="ko-KR" dirty="0"/>
              <a:t>Distillation</a:t>
            </a:r>
          </a:p>
          <a:p>
            <a:r>
              <a:rPr lang="en-US" altLang="ko-KR" dirty="0"/>
              <a:t>Comparison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36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40E997-573E-4ACB-8DC3-FAD61A885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I. Quantization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45E31E-F3A5-494C-B5E6-A20C1F2B5D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개념</a:t>
            </a:r>
            <a:endParaRPr lang="en-US" altLang="ko-KR" dirty="0"/>
          </a:p>
          <a:p>
            <a:r>
              <a:rPr lang="ko-KR" altLang="en-US" dirty="0"/>
              <a:t>양자화 유형</a:t>
            </a:r>
            <a:endParaRPr lang="en-US" altLang="ko-KR" dirty="0"/>
          </a:p>
          <a:p>
            <a:r>
              <a:rPr lang="ko-KR" altLang="en-US" dirty="0"/>
              <a:t>양자화 절차</a:t>
            </a:r>
            <a:endParaRPr lang="en-US" altLang="ko-KR" dirty="0"/>
          </a:p>
          <a:p>
            <a:r>
              <a:rPr lang="ko-KR" altLang="en-US" dirty="0"/>
              <a:t>양자화 계산 예시</a:t>
            </a:r>
            <a:endParaRPr lang="en-US" altLang="ko-KR" dirty="0"/>
          </a:p>
          <a:p>
            <a:r>
              <a:rPr lang="ko-KR" altLang="en-US" dirty="0"/>
              <a:t>양자화의 효과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2808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F102-8E05-C9D0-F8A0-E4703F4E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90246D-8782-4319-0D20-2F7B1BAB0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개념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0AD134-153A-06BB-DA27-885A67C8B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가중치나 연산에 사용되는 실수</a:t>
            </a:r>
            <a:r>
              <a:rPr lang="en-US" altLang="ko-KR" dirty="0"/>
              <a:t>(float32) </a:t>
            </a:r>
            <a:r>
              <a:rPr lang="ko-KR" altLang="en-US" dirty="0"/>
              <a:t>값을 정해진 규칙에 따라 더 낮은 정밀도</a:t>
            </a:r>
            <a:r>
              <a:rPr lang="en-US" altLang="ko-KR" dirty="0"/>
              <a:t>(ex. int8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 값으로 변환하여 계산하고 다시 실수로 복원하는 기법임</a:t>
            </a:r>
            <a:r>
              <a:rPr lang="en-US" altLang="ko-KR" dirty="0"/>
              <a:t>.</a:t>
            </a:r>
            <a:r>
              <a:rPr lang="ko-KR" altLang="en-US" dirty="0"/>
              <a:t> 예</a:t>
            </a:r>
            <a:r>
              <a:rPr lang="en-US" altLang="ko-KR" dirty="0"/>
              <a:t>: 3.141592</a:t>
            </a:r>
            <a:r>
              <a:rPr lang="ko-KR" altLang="en-US" dirty="0"/>
              <a:t>를 </a:t>
            </a:r>
            <a:r>
              <a:rPr lang="en-US" altLang="ko-KR" dirty="0"/>
              <a:t>0~255 </a:t>
            </a:r>
            <a:r>
              <a:rPr lang="ko-KR" altLang="en-US" dirty="0"/>
              <a:t>범위로 </a:t>
            </a:r>
            <a:r>
              <a:rPr lang="ko-KR" altLang="en-US" dirty="0" err="1"/>
              <a:t>정규화하여</a:t>
            </a:r>
            <a:r>
              <a:rPr lang="ko-KR" altLang="en-US" dirty="0"/>
              <a:t> </a:t>
            </a:r>
            <a:r>
              <a:rPr lang="en-US" altLang="ko-KR" dirty="0"/>
              <a:t>201</a:t>
            </a:r>
            <a:r>
              <a:rPr lang="ko-KR" altLang="en-US" dirty="0"/>
              <a:t>로 저장한 뒤 계산에 활용함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F00300B-E24C-9349-526D-F2ED967F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F1BC44-C5CA-C6ED-25D2-F41A54BF7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A88D5D-694F-E258-0786-79CCE52D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400" t="12673" b="8727"/>
          <a:stretch/>
        </p:blipFill>
        <p:spPr>
          <a:xfrm>
            <a:off x="4921329" y="2233552"/>
            <a:ext cx="4361703" cy="3316941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AC4D8E0-8CE2-D0F3-7FD4-BCC50BC56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462620"/>
              </p:ext>
            </p:extLst>
          </p:nvPr>
        </p:nvGraphicFramePr>
        <p:xfrm>
          <a:off x="519955" y="2233552"/>
          <a:ext cx="4114800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823814965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1555300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부동 소수점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(floating point)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값으로 표현되는 파라미터들을 특정한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lower bit(16bit, 8bit, 4bit)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로 매핑하는 기법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63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목적</a:t>
                      </a:r>
                      <a:endParaRPr lang="en-US" altLang="ko-KR" sz="1600" b="0" kern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추론 시간을 줄이는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62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모델 크기 축소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예측 속도 개선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</a:b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효율적인 하드웨어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49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정확도 저하 우려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90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Uniform vs. Non-Uniform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Symmetric vs. Asymmetric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11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절차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Dynamic vs. Static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PTQ vs. QAT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144106"/>
                  </a:ext>
                </a:extLst>
              </a:tr>
            </a:tbl>
          </a:graphicData>
        </a:graphic>
      </p:graphicFrame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051E2A9-811A-CEE7-EB61-64F87BC9181C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https://www.scaler.com/topics/quantization-and-pruning/ </a:t>
            </a:r>
          </a:p>
        </p:txBody>
      </p:sp>
    </p:spTree>
    <p:extLst>
      <p:ext uri="{BB962C8B-B14F-4D97-AF65-F5344CB8AC3E}">
        <p14:creationId xmlns:p14="http://schemas.microsoft.com/office/powerpoint/2010/main" val="408032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24A6723-9871-5AAF-FD5F-138651EEE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유형 </a:t>
            </a:r>
            <a:r>
              <a:rPr lang="en-US" altLang="ko-KR" dirty="0"/>
              <a:t>: </a:t>
            </a:r>
            <a:r>
              <a:rPr lang="ko-KR" altLang="en-US" dirty="0"/>
              <a:t>구간 크기 기준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E0A10D-A14C-C12B-E5A8-7121E9209C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균일 양자화는 </a:t>
            </a:r>
            <a:r>
              <a:rPr lang="en-US" altLang="ko-KR" dirty="0"/>
              <a:t>dequantization </a:t>
            </a:r>
            <a:r>
              <a:rPr lang="ko-KR" altLang="en-US" dirty="0"/>
              <a:t>시 원래의 값과 정확히 </a:t>
            </a:r>
            <a:r>
              <a:rPr lang="ko-KR" altLang="en-US" dirty="0" err="1"/>
              <a:t>일치하지않을</a:t>
            </a:r>
            <a:r>
              <a:rPr lang="ko-KR" altLang="en-US" dirty="0"/>
              <a:t> 수 있으며</a:t>
            </a:r>
            <a:r>
              <a:rPr lang="en-US" altLang="ko-KR" dirty="0"/>
              <a:t>, </a:t>
            </a:r>
            <a:r>
              <a:rPr lang="ko-KR" altLang="en-US" dirty="0" err="1"/>
              <a:t>비균일</a:t>
            </a:r>
            <a:r>
              <a:rPr lang="ko-KR" altLang="en-US" dirty="0"/>
              <a:t> 양자화는 데이터 분포를 고려하여 각 데이터의 중요도에 따라 양자레벨을 조정하기에 복원 오차가 상대적으로 적음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210CA56-3FDF-6C03-17AF-EAFABAF3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2429B9-94C8-7941-AA04-50AFD68F1E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8E9054-D3D8-C18E-69B6-6BDC9ACC4C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56"/>
          <a:stretch/>
        </p:blipFill>
        <p:spPr>
          <a:xfrm>
            <a:off x="297656" y="1736089"/>
            <a:ext cx="9423242" cy="4080511"/>
          </a:xfrm>
          <a:prstGeom prst="rect">
            <a:avLst/>
          </a:prstGeom>
        </p:spPr>
      </p:pic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BB8A32A-1CE1-E04E-F052-6E341981A666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https://doi.org/10.48550/arXiv.2103.13630 </a:t>
            </a:r>
          </a:p>
        </p:txBody>
      </p:sp>
    </p:spTree>
    <p:extLst>
      <p:ext uri="{BB962C8B-B14F-4D97-AF65-F5344CB8AC3E}">
        <p14:creationId xmlns:p14="http://schemas.microsoft.com/office/powerpoint/2010/main" val="240833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E8B7-3CAC-EB9E-07BE-CCE94CF57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601829-D9A7-B97D-A85D-19CDCC3B69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유형 </a:t>
            </a:r>
            <a:r>
              <a:rPr lang="en-US" altLang="ko-KR" dirty="0"/>
              <a:t>: </a:t>
            </a:r>
            <a:r>
              <a:rPr lang="ko-KR" altLang="en-US" dirty="0"/>
              <a:t>스케일 범위 기준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DD9A45-506D-6482-096C-96B5140BB0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비대칭 양자화가 정확도가 높을 수 있지만</a:t>
            </a:r>
            <a:r>
              <a:rPr lang="en-US" altLang="ko-KR" dirty="0"/>
              <a:t>, </a:t>
            </a:r>
            <a:r>
              <a:rPr lang="ko-KR" altLang="en-US" dirty="0"/>
              <a:t>대칭 양자화는 </a:t>
            </a:r>
            <a:r>
              <a:rPr lang="en-US" altLang="ko-KR" dirty="0"/>
              <a:t>0</a:t>
            </a:r>
            <a:r>
              <a:rPr lang="ko-KR" altLang="en-US" dirty="0"/>
              <a:t>을 </a:t>
            </a:r>
            <a:r>
              <a:rPr lang="en-US" altLang="ko-KR" dirty="0"/>
              <a:t>0</a:t>
            </a:r>
            <a:r>
              <a:rPr lang="ko-KR" altLang="en-US" dirty="0"/>
              <a:t>으로 고정하여 </a:t>
            </a:r>
            <a:r>
              <a:rPr lang="ko-KR" altLang="en-US" dirty="0" err="1"/>
              <a:t>맵핑하기에</a:t>
            </a:r>
            <a:r>
              <a:rPr lang="ko-KR" altLang="en-US" dirty="0"/>
              <a:t> 연산 복잡도가 낮고 하드웨어 최적화에 유리하여 실무에서 자주 사용됨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A9B186-D636-4DA2-E01F-977F95D6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4F5B0F-2099-7FCC-C3CC-E7247F79FE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1DFB00-14B5-3AEC-14D9-052AE1426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97" b="5479"/>
          <a:stretch/>
        </p:blipFill>
        <p:spPr>
          <a:xfrm>
            <a:off x="250825" y="1725830"/>
            <a:ext cx="9190355" cy="4128123"/>
          </a:xfrm>
          <a:prstGeom prst="rect">
            <a:avLst/>
          </a:prstGeom>
        </p:spPr>
      </p:pic>
      <p:sp>
        <p:nvSpPr>
          <p:cNvPr id="7" name="텍스트 개체 틀 4">
            <a:extLst>
              <a:ext uri="{FF2B5EF4-FFF2-40B4-BE49-F238E27FC236}">
                <a16:creationId xmlns:a16="http://schemas.microsoft.com/office/drawing/2014/main" id="{F9B11AB2-0411-57B3-7585-BAEF1E43D1D6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https://doi.org/10.48550/arXiv.2103.13630 </a:t>
            </a:r>
          </a:p>
        </p:txBody>
      </p:sp>
    </p:spTree>
    <p:extLst>
      <p:ext uri="{BB962C8B-B14F-4D97-AF65-F5344CB8AC3E}">
        <p14:creationId xmlns:p14="http://schemas.microsoft.com/office/powerpoint/2010/main" val="113970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4447-7B6C-FEFC-152B-DB002C93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AF06CD0-1112-2CA4-7015-D6D2FF873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절차 </a:t>
            </a:r>
            <a:r>
              <a:rPr lang="en-US" altLang="ko-KR" dirty="0"/>
              <a:t>: </a:t>
            </a:r>
            <a:r>
              <a:rPr lang="ko-KR" altLang="en-US" dirty="0"/>
              <a:t>실행 방식 기준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D8B335-B3C5-7AD6-DD06-A7A0B38CE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동적 양자화는 입력 데이터 분포를 분석하여 계산하므로 정확도가 높지만</a:t>
            </a:r>
            <a:r>
              <a:rPr lang="en-US" altLang="ko-KR" dirty="0"/>
              <a:t>, </a:t>
            </a:r>
            <a:r>
              <a:rPr lang="ko-KR" altLang="en-US" dirty="0"/>
              <a:t>정적 양자화가 속도 면에서 안정적이며</a:t>
            </a:r>
            <a:r>
              <a:rPr lang="en-US" altLang="ko-KR" dirty="0"/>
              <a:t> </a:t>
            </a:r>
            <a:r>
              <a:rPr lang="ko-KR" altLang="en-US" dirty="0"/>
              <a:t>다수의 하드웨어가 정적 양자화 모델에 최적화되어 있어 성능이 나쁘지 않아 실무에서 많이 사용됨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2873AFE-401A-B844-061D-0A291F07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E48EED-1D35-F3CE-E162-A3168023E4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53CAAC6-AF6E-40C4-3310-B6386379F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20"/>
          <a:stretch/>
        </p:blipFill>
        <p:spPr>
          <a:xfrm>
            <a:off x="219075" y="1727361"/>
            <a:ext cx="9310407" cy="3669392"/>
          </a:xfrm>
          <a:prstGeom prst="rect">
            <a:avLst/>
          </a:prstGeom>
        </p:spPr>
      </p:pic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8D931EC-E7E1-E036-6612-DDCF6DA3BE3B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https://doi.org/10.48550/arXiv.2103.13630 </a:t>
            </a:r>
          </a:p>
        </p:txBody>
      </p:sp>
    </p:spTree>
    <p:extLst>
      <p:ext uri="{BB962C8B-B14F-4D97-AF65-F5344CB8AC3E}">
        <p14:creationId xmlns:p14="http://schemas.microsoft.com/office/powerpoint/2010/main" val="395689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A0BC-B4B1-1EA4-DB53-DF3DD76F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0A09A29-DD05-9798-E79D-BEE4E26F53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  <a:r>
              <a:rPr lang="en-US" altLang="ko-KR" dirty="0"/>
              <a:t>(Quantization)</a:t>
            </a:r>
            <a:r>
              <a:rPr lang="ko-KR" altLang="en-US" dirty="0"/>
              <a:t> 절차 </a:t>
            </a:r>
            <a:r>
              <a:rPr lang="en-US" altLang="ko-KR" dirty="0"/>
              <a:t>: </a:t>
            </a:r>
            <a:r>
              <a:rPr lang="ko-KR" altLang="en-US" dirty="0"/>
              <a:t>양자화 시점 기준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EDA451-1FEB-7803-FAE0-75E3A02037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두 방법 모두 널리 사용되지만</a:t>
            </a:r>
            <a:r>
              <a:rPr lang="en-US" altLang="ko-KR" dirty="0"/>
              <a:t>, </a:t>
            </a:r>
            <a:r>
              <a:rPr lang="ko-KR" altLang="en-US" dirty="0"/>
              <a:t>실제 배포용 모델에서는 </a:t>
            </a:r>
            <a:r>
              <a:rPr lang="en-US" altLang="ko-KR" dirty="0"/>
              <a:t>QAT</a:t>
            </a:r>
            <a:r>
              <a:rPr lang="ko-KR" altLang="en-US" dirty="0"/>
              <a:t>가 정확도 손실을 최소화할 수 있어 모바일</a:t>
            </a:r>
            <a:r>
              <a:rPr lang="en-US" altLang="ko-KR" dirty="0"/>
              <a:t>·</a:t>
            </a:r>
            <a:r>
              <a:rPr lang="ko-KR" altLang="en-US" dirty="0"/>
              <a:t>임베디드 환경에서 </a:t>
            </a:r>
            <a:r>
              <a:rPr lang="ko-KR" altLang="en-US" dirty="0" err="1"/>
              <a:t>환경에서</a:t>
            </a:r>
            <a:r>
              <a:rPr lang="ko-KR" altLang="en-US" dirty="0"/>
              <a:t> 더 안정적인 성능을 제공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PTQ</a:t>
            </a:r>
            <a:r>
              <a:rPr lang="ko-KR" altLang="en-US" dirty="0"/>
              <a:t>는 개발 초기나 프로토타입 단계에서 빠르게 실험할 때 자주 쓰임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4CB73C-6EFA-17B2-8E6C-2BE35F45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016C46-4F86-B119-0712-7353DF83AF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FA8C31-4FBA-3920-3525-1292160C9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98" y="1714499"/>
            <a:ext cx="8976982" cy="4175491"/>
          </a:xfrm>
          <a:prstGeom prst="rect">
            <a:avLst/>
          </a:prstGeom>
        </p:spPr>
      </p:pic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CA14403-18B3-407B-99E6-4F3B4B3693FB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https://doi.org/10.48550/arXiv.2103.13630</a:t>
            </a:r>
          </a:p>
        </p:txBody>
      </p:sp>
    </p:spTree>
    <p:extLst>
      <p:ext uri="{BB962C8B-B14F-4D97-AF65-F5344CB8AC3E}">
        <p14:creationId xmlns:p14="http://schemas.microsoft.com/office/powerpoint/2010/main" val="89852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C23C-4D15-7DA9-9B83-CAB33355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3B90C67-83D5-7326-8B15-9DC86562FC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양자화 계산 예시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7DAF12-0B9C-DDA2-076F-FB6B419F69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양자화는 실수 값을 정해진 정수 범위로 압축하여 표현하는 과정으로</a:t>
            </a:r>
            <a:r>
              <a:rPr lang="en-US" altLang="ko-KR" dirty="0"/>
              <a:t>, </a:t>
            </a:r>
            <a:r>
              <a:rPr lang="ko-KR" altLang="en-US" dirty="0"/>
              <a:t>스케일을 계산해 실수 값을 정수로 변환하고 복원 시에는 </a:t>
            </a:r>
            <a:r>
              <a:rPr lang="ko-KR" altLang="en-US" dirty="0" err="1"/>
              <a:t>정수값에</a:t>
            </a:r>
            <a:r>
              <a:rPr lang="ko-KR" altLang="en-US" dirty="0"/>
              <a:t> 스케일을 곱해 근사함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9BB8F6F-EE13-D9EF-9CC8-FFE89552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66FF0F-3F77-CD47-543A-A181459960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7DAA1-A95A-3073-D052-E567DE051CBE}"/>
                  </a:ext>
                </a:extLst>
              </p:cNvPr>
              <p:cNvSpPr txBox="1"/>
              <p:nvPr/>
            </p:nvSpPr>
            <p:spPr>
              <a:xfrm>
                <a:off x="450477" y="1715546"/>
                <a:ext cx="3996017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b="0" dirty="0">
                    <a:latin typeface="+mn-lt"/>
                    <a:ea typeface="+mn-ea"/>
                  </a:rPr>
                  <a:t>실수 범위 </a:t>
                </a:r>
                <a:r>
                  <a:rPr lang="en-US" altLang="ko-KR" b="0" dirty="0">
                    <a:latin typeface="+mn-lt"/>
                    <a:ea typeface="+mn-ea"/>
                  </a:rPr>
                  <a:t>(</a:t>
                </a:r>
                <a:r>
                  <a:rPr lang="en-US" b="0" dirty="0">
                    <a:latin typeface="+mn-lt"/>
                    <a:ea typeface="+mn-ea"/>
                  </a:rPr>
                  <a:t>Real-value Range)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</m:oMath>
                </a14:m>
                <a:endParaRPr lang="en-US" b="0" dirty="0">
                  <a:latin typeface="+mn-lt"/>
                  <a:ea typeface="+mn-ea"/>
                </a:endParaRPr>
              </a:p>
              <a:p>
                <a:r>
                  <a:rPr lang="en-US" b="0" dirty="0">
                    <a:latin typeface="+mn-lt"/>
                    <a:ea typeface="+mn-ea"/>
                  </a:rPr>
                  <a:t>: </a:t>
                </a:r>
                <a:r>
                  <a:rPr lang="ko-KR" altLang="en-US" b="0" dirty="0">
                    <a:latin typeface="+mn-lt"/>
                    <a:ea typeface="+mn-ea"/>
                  </a:rPr>
                  <a:t>모델의 가중치나 </a:t>
                </a:r>
                <a:r>
                  <a:rPr lang="ko-KR" altLang="en-US" b="0" dirty="0" err="1">
                    <a:latin typeface="+mn-lt"/>
                    <a:ea typeface="+mn-ea"/>
                  </a:rPr>
                  <a:t>활성값이</a:t>
                </a:r>
                <a:r>
                  <a:rPr lang="ko-KR" altLang="en-US" b="0" dirty="0">
                    <a:latin typeface="+mn-lt"/>
                    <a:ea typeface="+mn-ea"/>
                  </a:rPr>
                  <a:t> 가지는 </a:t>
                </a:r>
                <a:r>
                  <a:rPr lang="en-US" altLang="ko-KR" b="0" dirty="0">
                    <a:latin typeface="+mn-lt"/>
                    <a:ea typeface="+mn-ea"/>
                  </a:rPr>
                  <a:t>float </a:t>
                </a:r>
                <a:r>
                  <a:rPr lang="ko-KR" altLang="en-US" b="0" dirty="0">
                    <a:latin typeface="+mn-lt"/>
                    <a:ea typeface="+mn-ea"/>
                  </a:rPr>
                  <a:t>값의 범위로</a:t>
                </a:r>
                <a:r>
                  <a:rPr lang="en-US" altLang="ko-KR" b="0" dirty="0">
                    <a:latin typeface="+mn-lt"/>
                    <a:ea typeface="+mn-ea"/>
                  </a:rPr>
                  <a:t>,</a:t>
                </a:r>
                <a:r>
                  <a:rPr lang="ko-KR" altLang="en-US" b="0" dirty="0">
                    <a:latin typeface="+mn-lt"/>
                    <a:ea typeface="+mn-ea"/>
                  </a:rPr>
                  <a:t> 일반적으로 최소값 </a:t>
                </a:r>
                <a:r>
                  <a:rPr lang="en-US" altLang="ko-KR" b="0" dirty="0" err="1">
                    <a:latin typeface="+mn-lt"/>
                    <a:ea typeface="+mn-ea"/>
                  </a:rPr>
                  <a:t>x_min</a:t>
                </a:r>
                <a:r>
                  <a:rPr lang="ko-KR" altLang="en-US" b="0" dirty="0">
                    <a:latin typeface="+mn-lt"/>
                    <a:ea typeface="+mn-ea"/>
                  </a:rPr>
                  <a:t>과 최대값 </a:t>
                </a:r>
                <a:r>
                  <a:rPr lang="en-US" altLang="ko-KR" b="0" dirty="0" err="1">
                    <a:latin typeface="+mn-lt"/>
                    <a:ea typeface="+mn-ea"/>
                  </a:rPr>
                  <a:t>x_max</a:t>
                </a:r>
                <a:r>
                  <a:rPr lang="ko-KR" altLang="en-US" b="0" dirty="0">
                    <a:latin typeface="+mn-lt"/>
                    <a:ea typeface="+mn-ea"/>
                  </a:rPr>
                  <a:t>로 설정됨</a:t>
                </a:r>
                <a:endParaRPr lang="en-US" altLang="ko-KR" b="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37DAA1-A95A-3073-D052-E567DE051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77" y="1715546"/>
                <a:ext cx="3996017" cy="954107"/>
              </a:xfrm>
              <a:prstGeom prst="rect">
                <a:avLst/>
              </a:prstGeom>
              <a:blipFill>
                <a:blip r:embed="rId2"/>
                <a:stretch>
                  <a:fillRect l="-458" t="-637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7274D8C-82F8-1926-9661-EE0F8BD25EF8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2023323"/>
          <a:ext cx="4119753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82381496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555300340"/>
                    </a:ext>
                  </a:extLst>
                </a:gridCol>
                <a:gridCol w="566293">
                  <a:extLst>
                    <a:ext uri="{9D8B030D-6E8A-4147-A177-3AD203B41FA5}">
                      <a16:colId xmlns:a16="http://schemas.microsoft.com/office/drawing/2014/main" val="15068518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292256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type</a:t>
                      </a:r>
                      <a:endParaRPr lang="ko-KR" altLang="en-US" sz="1300" b="1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Range</a:t>
                      </a:r>
                      <a:endParaRPr lang="ko-KR" altLang="en-US" sz="1300" b="1" kern="12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type</a:t>
                      </a:r>
                      <a:endParaRPr lang="ko-KR" altLang="en-US" sz="1300" b="1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300" b="1" kern="1200" dirty="0">
                        <a:solidFill>
                          <a:schemeClr val="bg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93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int8</a:t>
                      </a:r>
                      <a:endParaRPr lang="ko-KR" altLang="en-US" sz="1300" b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-128 ~ 127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int4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-8 ~ 7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63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uint8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0 ~ 255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int6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-32768  ~ 32767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862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9875E-1C39-5770-7AC7-82A95377FE77}"/>
                  </a:ext>
                </a:extLst>
              </p:cNvPr>
              <p:cNvSpPr txBox="1"/>
              <p:nvPr/>
            </p:nvSpPr>
            <p:spPr>
              <a:xfrm>
                <a:off x="4761615" y="1715546"/>
                <a:ext cx="45025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b="0" dirty="0">
                    <a:latin typeface="+mn-lt"/>
                    <a:ea typeface="+mn-ea"/>
                  </a:rPr>
                  <a:t>정수 범위 </a:t>
                </a:r>
                <a:r>
                  <a:rPr lang="en-US" altLang="ko-KR" b="0" dirty="0">
                    <a:latin typeface="+mn-lt"/>
                    <a:ea typeface="+mn-ea"/>
                  </a:rPr>
                  <a:t>(Integer Range</a:t>
                </a:r>
                <a:r>
                  <a:rPr lang="en-US" b="0" dirty="0">
                    <a:latin typeface="+mn-lt"/>
                    <a:ea typeface="+mn-ea"/>
                  </a:rPr>
                  <a:t>)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+mn-ea"/>
                      </a:rPr>
                      <m:t>q</m:t>
                    </m:r>
                  </m:oMath>
                </a14:m>
                <a:r>
                  <a:rPr lang="en-US" altLang="ko-KR" b="0" dirty="0">
                    <a:latin typeface="+mn-lt"/>
                    <a:ea typeface="+mn-ea"/>
                  </a:rPr>
                  <a:t> </a:t>
                </a:r>
                <a:endParaRPr lang="en-US" b="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99875E-1C39-5770-7AC7-82A95377F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615" y="1715546"/>
                <a:ext cx="4502524" cy="307777"/>
              </a:xfrm>
              <a:prstGeom prst="rect">
                <a:avLst/>
              </a:prstGeom>
              <a:blipFill>
                <a:blip r:embed="rId3"/>
                <a:stretch>
                  <a:fillRect l="-135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8086006F-B84E-BEEF-91B4-A7A3F76B9BE1}"/>
              </a:ext>
            </a:extLst>
          </p:cNvPr>
          <p:cNvSpPr/>
          <p:nvPr/>
        </p:nvSpPr>
        <p:spPr bwMode="auto">
          <a:xfrm>
            <a:off x="541868" y="3309859"/>
            <a:ext cx="2274779" cy="512819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Scale calculation</a:t>
            </a:r>
          </a:p>
        </p:txBody>
      </p:sp>
      <p:sp>
        <p:nvSpPr>
          <p:cNvPr id="22" name="화살표: 갈매기형 수장 21">
            <a:extLst>
              <a:ext uri="{FF2B5EF4-FFF2-40B4-BE49-F238E27FC236}">
                <a16:creationId xmlns:a16="http://schemas.microsoft.com/office/drawing/2014/main" id="{B582886E-714C-9E73-1A10-D06386201D8F}"/>
              </a:ext>
            </a:extLst>
          </p:cNvPr>
          <p:cNvSpPr/>
          <p:nvPr/>
        </p:nvSpPr>
        <p:spPr bwMode="auto">
          <a:xfrm>
            <a:off x="2734896" y="3309859"/>
            <a:ext cx="2274779" cy="512819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Zero-point calc.</a:t>
            </a:r>
          </a:p>
        </p:txBody>
      </p:sp>
      <p:sp>
        <p:nvSpPr>
          <p:cNvPr id="23" name="화살표: 갈매기형 수장 22">
            <a:extLst>
              <a:ext uri="{FF2B5EF4-FFF2-40B4-BE49-F238E27FC236}">
                <a16:creationId xmlns:a16="http://schemas.microsoft.com/office/drawing/2014/main" id="{46E64CA3-0F48-5619-F964-57B0F4F090EA}"/>
              </a:ext>
            </a:extLst>
          </p:cNvPr>
          <p:cNvSpPr/>
          <p:nvPr/>
        </p:nvSpPr>
        <p:spPr bwMode="auto">
          <a:xfrm>
            <a:off x="4912125" y="3309859"/>
            <a:ext cx="2274779" cy="512819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Quantization</a:t>
            </a:r>
          </a:p>
        </p:txBody>
      </p:sp>
      <p:sp>
        <p:nvSpPr>
          <p:cNvPr id="24" name="화살표: 갈매기형 수장 23">
            <a:extLst>
              <a:ext uri="{FF2B5EF4-FFF2-40B4-BE49-F238E27FC236}">
                <a16:creationId xmlns:a16="http://schemas.microsoft.com/office/drawing/2014/main" id="{8A6ED952-D415-3944-83E3-B827E09A46EE}"/>
              </a:ext>
            </a:extLst>
          </p:cNvPr>
          <p:cNvSpPr/>
          <p:nvPr/>
        </p:nvSpPr>
        <p:spPr bwMode="auto">
          <a:xfrm>
            <a:off x="7089353" y="3309859"/>
            <a:ext cx="2274779" cy="512819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Dequantization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CAD67BD-FD48-914A-F89F-5EA182259E8F}"/>
              </a:ext>
            </a:extLst>
          </p:cNvPr>
          <p:cNvGrpSpPr/>
          <p:nvPr/>
        </p:nvGrpSpPr>
        <p:grpSpPr>
          <a:xfrm>
            <a:off x="653969" y="4036553"/>
            <a:ext cx="1772682" cy="1566391"/>
            <a:chOff x="1009637" y="4093459"/>
            <a:chExt cx="1772682" cy="1566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B9FC284-0579-E3A6-EAA1-7DDEC6612BE1}"/>
                    </a:ext>
                  </a:extLst>
                </p:cNvPr>
                <p:cNvSpPr txBox="1"/>
                <p:nvPr/>
              </p:nvSpPr>
              <p:spPr>
                <a:xfrm>
                  <a:off x="1193294" y="4093459"/>
                  <a:ext cx="1589025" cy="15663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sub>
                            </m:s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min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sub>
                            </m:sSub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sub>
                            </m:sSub>
                          </m:den>
                        </m:f>
                        <m:r>
                          <a:rPr lang="en-US" b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1.0−(−1.0)</m:t>
                            </m:r>
                          </m:num>
                          <m:den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127−(−128)</m:t>
                            </m:r>
                          </m:den>
                        </m:f>
                        <m:r>
                          <a:rPr lang="en-US" altLang="ko-KR" b="0" i="0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  <a:ea typeface="+mn-ea"/>
                              </a:rPr>
                              <m:t>2.0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255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+mn-ea"/>
                          </a:rPr>
                          <m:t>=0.007843</m:t>
                        </m:r>
                      </m:oMath>
                    </m:oMathPara>
                  </a14:m>
                  <a:endParaRPr lang="en-US" b="0" dirty="0"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B9FC284-0579-E3A6-EAA1-7DDEC6612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3294" y="4093459"/>
                  <a:ext cx="1589025" cy="156639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FCB9BA2-166C-72F9-BA16-993D2861C2A3}"/>
                    </a:ext>
                  </a:extLst>
                </p:cNvPr>
                <p:cNvSpPr txBox="1"/>
                <p:nvPr/>
              </p:nvSpPr>
              <p:spPr>
                <a:xfrm>
                  <a:off x="1009637" y="4155107"/>
                  <a:ext cx="36731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 panose="02040503050406030204" pitchFamily="18" charset="0"/>
                            <a:ea typeface="+mn-ea"/>
                          </a:rPr>
                          <m:t>𝒔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FCB9BA2-166C-72F9-BA16-993D2861C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637" y="4155107"/>
                  <a:ext cx="36731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5E34386-6888-3BC7-30C5-1A1AF8ECD11E}"/>
              </a:ext>
            </a:extLst>
          </p:cNvPr>
          <p:cNvGrpSpPr/>
          <p:nvPr/>
        </p:nvGrpSpPr>
        <p:grpSpPr>
          <a:xfrm>
            <a:off x="2675654" y="4036553"/>
            <a:ext cx="2226700" cy="970411"/>
            <a:chOff x="2754438" y="4117262"/>
            <a:chExt cx="2226700" cy="970411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5EAB4D70-2469-F83C-0F38-D85E4DF8396D}"/>
                </a:ext>
              </a:extLst>
            </p:cNvPr>
            <p:cNvGrpSpPr/>
            <p:nvPr/>
          </p:nvGrpSpPr>
          <p:grpSpPr>
            <a:xfrm>
              <a:off x="2754438" y="4117262"/>
              <a:ext cx="2132706" cy="461345"/>
              <a:chOff x="2902350" y="4093459"/>
              <a:chExt cx="2132706" cy="4613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91C1F0-C006-196D-F2BC-922A09AF4190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350" y="4155107"/>
                    <a:ext cx="335282" cy="3270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𝒑</m:t>
                              </m:r>
                            </m:sub>
                          </m:sSub>
                        </m:oMath>
                      </m:oMathPara>
                    </a14:m>
                    <a:endParaRPr lang="en-US" i="1" dirty="0">
                      <a:latin typeface="Cambria Math" panose="02040503050406030204" pitchFamily="18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5E91C1F0-C006-196D-F2BC-922A09AF41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350" y="4155107"/>
                    <a:ext cx="335282" cy="3270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BC61668F-EF46-E01C-E690-707004BBF77F}"/>
                      </a:ext>
                    </a:extLst>
                  </p:cNvPr>
                  <p:cNvSpPr txBox="1"/>
                  <p:nvPr/>
                </p:nvSpPr>
                <p:spPr>
                  <a:xfrm>
                    <a:off x="3095184" y="4093459"/>
                    <a:ext cx="1939872" cy="46134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r>
                            <a:rPr lang="en-US">
                              <a:latin typeface="Cambria Math" panose="02040503050406030204" pitchFamily="18" charset="0"/>
                              <a:ea typeface="+mn-ea"/>
                            </a:rPr>
                            <m:t>𝑟𝑜𝑢𝑛𝑑</m:t>
                          </m:r>
                          <m:r>
                            <a:rPr lang="en-US"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latin typeface="Cambria Math" panose="02040503050406030204" pitchFamily="18" charset="0"/>
                                  <a:ea typeface="+mn-ea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+mn-ea"/>
                                </a:rPr>
                                <m:t>min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min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>
                                  <a:latin typeface="Cambria Math" panose="02040503050406030204" pitchFamily="18" charset="0"/>
                                  <a:ea typeface="+mn-ea"/>
                                </a:rPr>
                                <m:t>𝑠</m:t>
                              </m:r>
                            </m:den>
                          </m:f>
                          <m:r>
                            <a:rPr lang="en-US">
                              <a:latin typeface="Cambria Math" panose="02040503050406030204" pitchFamily="18" charset="0"/>
                              <a:ea typeface="+mn-ea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latin typeface="Cambria Math" panose="02040503050406030204" pitchFamily="18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BC61668F-EF46-E01C-E690-707004BBF7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5184" y="4093459"/>
                    <a:ext cx="1939872" cy="46134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A22F4A7-8ED9-2105-83C2-9491A3CBA27E}"/>
                    </a:ext>
                  </a:extLst>
                </p:cNvPr>
                <p:cNvSpPr txBox="1"/>
                <p:nvPr/>
              </p:nvSpPr>
              <p:spPr>
                <a:xfrm>
                  <a:off x="2772994" y="4657747"/>
                  <a:ext cx="2208144" cy="4299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050" b="0" dirty="0">
                      <a:latin typeface="+mn-lt"/>
                      <a:ea typeface="+mn-ea"/>
                    </a:rPr>
                    <a:t>*</a:t>
                  </a:r>
                  <a:r>
                    <a:rPr lang="ko-KR" altLang="en-US" sz="1050" b="0" dirty="0">
                      <a:latin typeface="+mn-lt"/>
                      <a:ea typeface="+mn-ea"/>
                    </a:rPr>
                    <a:t> 대칭</a:t>
                  </a:r>
                  <a:r>
                    <a:rPr lang="en-US" altLang="ko-KR" sz="1050" b="0" dirty="0">
                      <a:latin typeface="+mn-lt"/>
                      <a:ea typeface="+mn-ea"/>
                    </a:rPr>
                    <a:t>(Symmetric) </a:t>
                  </a:r>
                  <a:r>
                    <a:rPr lang="ko-KR" altLang="en-US" sz="1050" b="0" dirty="0">
                      <a:latin typeface="+mn-lt"/>
                      <a:ea typeface="+mn-ea"/>
                    </a:rPr>
                    <a:t>양자화에서는 </a:t>
                  </a:r>
                  <a:br>
                    <a:rPr lang="en-US" altLang="ko-KR" sz="1050" b="0" dirty="0">
                      <a:latin typeface="+mn-lt"/>
                      <a:ea typeface="+mn-ea"/>
                    </a:rPr>
                  </a:br>
                  <a:r>
                    <a:rPr lang="en-US" altLang="ko-KR" sz="1050" b="0" dirty="0">
                      <a:latin typeface="+mn-lt"/>
                      <a:ea typeface="+mn-ea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050" b="1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sz="1050" b="1" i="1" smtClean="0">
                              <a:latin typeface="Cambria Math" panose="02040503050406030204" pitchFamily="18" charset="0"/>
                              <a:ea typeface="+mn-ea"/>
                            </a:rPr>
                            <m:t>𝒛</m:t>
                          </m:r>
                        </m:e>
                        <m:sub>
                          <m:r>
                            <a:rPr lang="en-US" sz="1050" b="1" i="1" smtClean="0">
                              <a:latin typeface="Cambria Math" panose="02040503050406030204" pitchFamily="18" charset="0"/>
                              <a:ea typeface="+mn-ea"/>
                            </a:rPr>
                            <m:t>𝒑</m:t>
                          </m:r>
                        </m:sub>
                      </m:sSub>
                    </m:oMath>
                  </a14:m>
                  <a:r>
                    <a:rPr lang="en-US" altLang="ko-KR" sz="1050" i="1" dirty="0">
                      <a:latin typeface="Cambria Math" panose="02040503050406030204" pitchFamily="18" charset="0"/>
                      <a:ea typeface="+mn-ea"/>
                    </a:rPr>
                    <a:t> =</a:t>
                  </a:r>
                  <a:r>
                    <a:rPr lang="en-US" altLang="ko-KR" sz="1050" b="0" dirty="0">
                      <a:latin typeface="+mn-lt"/>
                      <a:ea typeface="+mn-ea"/>
                    </a:rPr>
                    <a:t> 0 </a:t>
                  </a:r>
                  <a:r>
                    <a:rPr lang="ko-KR" altLang="en-US" sz="1050" b="0" dirty="0">
                      <a:latin typeface="+mn-lt"/>
                      <a:ea typeface="+mn-ea"/>
                    </a:rPr>
                    <a:t>으로 고정</a:t>
                  </a:r>
                  <a:endParaRPr lang="en-US" altLang="ko-KR" sz="1050" b="0" dirty="0"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A22F4A7-8ED9-2105-83C2-9491A3CBA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2994" y="4657747"/>
                  <a:ext cx="2208144" cy="429926"/>
                </a:xfrm>
                <a:prstGeom prst="rect">
                  <a:avLst/>
                </a:prstGeom>
                <a:blipFill>
                  <a:blip r:embed="rId8"/>
                  <a:stretch>
                    <a:fillRect b="-28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CBED9F7-8223-AC58-2204-2ADBEDDE0178}"/>
              </a:ext>
            </a:extLst>
          </p:cNvPr>
          <p:cNvGrpSpPr/>
          <p:nvPr/>
        </p:nvGrpSpPr>
        <p:grpSpPr>
          <a:xfrm>
            <a:off x="4836835" y="4036553"/>
            <a:ext cx="2391801" cy="1514364"/>
            <a:chOff x="4953000" y="4121443"/>
            <a:chExt cx="2391801" cy="1514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BFA5AB0-4FA5-123D-3D54-586C4DCD1F63}"/>
                    </a:ext>
                  </a:extLst>
                </p:cNvPr>
                <p:cNvSpPr txBox="1"/>
                <p:nvPr/>
              </p:nvSpPr>
              <p:spPr>
                <a:xfrm>
                  <a:off x="5136657" y="4121443"/>
                  <a:ext cx="2208144" cy="11608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𝑟𝑜𝑢𝑛𝑑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𝑠</m:t>
                                </m:r>
                              </m:den>
                            </m:f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𝑟𝑜𝑢𝑛𝑑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0.5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0.007843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−0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𝑟𝑜𝑢𝑛𝑑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63.75</m:t>
                            </m:r>
                          </m:e>
                        </m:d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BFA5AB0-4FA5-123D-3D54-586C4DCD1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6657" y="4121443"/>
                  <a:ext cx="2208144" cy="11608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BE5A1A2-D0F8-CEF1-BE99-C58D5B26F1DF}"/>
                    </a:ext>
                  </a:extLst>
                </p:cNvPr>
                <p:cNvSpPr txBox="1"/>
                <p:nvPr/>
              </p:nvSpPr>
              <p:spPr>
                <a:xfrm>
                  <a:off x="4953000" y="4180841"/>
                  <a:ext cx="36731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+mn-ea"/>
                          </a:rPr>
                          <m:t>𝒒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BE5A1A2-D0F8-CEF1-BE99-C58D5B26F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4180841"/>
                  <a:ext cx="367314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6947535-E7EE-2196-B618-2C520AF1A52B}"/>
                    </a:ext>
                  </a:extLst>
                </p:cNvPr>
                <p:cNvSpPr txBox="1"/>
                <p:nvPr/>
              </p:nvSpPr>
              <p:spPr>
                <a:xfrm>
                  <a:off x="5084808" y="5328030"/>
                  <a:ext cx="74407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=64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6947535-E7EE-2196-B618-2C520AF1A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4808" y="5328030"/>
                  <a:ext cx="744072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171C013-5971-A39B-C1C6-8BDF8FE670D6}"/>
              </a:ext>
            </a:extLst>
          </p:cNvPr>
          <p:cNvGrpSpPr/>
          <p:nvPr/>
        </p:nvGrpSpPr>
        <p:grpSpPr>
          <a:xfrm>
            <a:off x="7211964" y="4095951"/>
            <a:ext cx="1815642" cy="731944"/>
            <a:chOff x="7203507" y="4200587"/>
            <a:chExt cx="1815642" cy="731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51E5F60-661D-E2C1-9202-0D3AD1400D25}"/>
                    </a:ext>
                  </a:extLst>
                </p:cNvPr>
                <p:cNvSpPr txBox="1"/>
                <p:nvPr/>
              </p:nvSpPr>
              <p:spPr>
                <a:xfrm>
                  <a:off x="7403241" y="4203742"/>
                  <a:ext cx="1615908" cy="7287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=0.007843∗64≈0.50195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51E5F60-661D-E2C1-9202-0D3AD1400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3241" y="4203742"/>
                  <a:ext cx="1615908" cy="72878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B63EB81-B285-2840-4F24-789EE5B37B39}"/>
                    </a:ext>
                  </a:extLst>
                </p:cNvPr>
                <p:cNvSpPr txBox="1"/>
                <p:nvPr/>
              </p:nvSpPr>
              <p:spPr>
                <a:xfrm>
                  <a:off x="7203507" y="4200587"/>
                  <a:ext cx="36731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+mn-ea"/>
                          </a:rPr>
                          <m:t>′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B63EB81-B285-2840-4F24-789EE5B37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3507" y="4200587"/>
                  <a:ext cx="36731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9B935D4-CBBA-C92D-8FB7-3F166D883A2D}"/>
                  </a:ext>
                </a:extLst>
              </p:cNvPr>
              <p:cNvSpPr txBox="1"/>
              <p:nvPr/>
            </p:nvSpPr>
            <p:spPr>
              <a:xfrm>
                <a:off x="805382" y="5721051"/>
                <a:ext cx="1498973" cy="428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50" b="0" dirty="0">
                    <a:latin typeface="+mn-lt"/>
                    <a:ea typeface="+mn-ea"/>
                  </a:rPr>
                  <a:t>* </a:t>
                </a:r>
                <a14:m>
                  <m:oMath xmlns:m="http://schemas.openxmlformats.org/officeDocument/2006/math">
                    <m:r>
                      <a:rPr lang="en-US" altLang="ko-KR" sz="105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05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ko-KR" sz="105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050" b="0" dirty="0">
                    <a:latin typeface="+mn-lt"/>
                    <a:ea typeface="+mn-ea"/>
                  </a:rPr>
                  <a:t>, </a:t>
                </a:r>
                <a:br>
                  <a:rPr lang="en-US" altLang="ko-KR" sz="1050" b="0" dirty="0">
                    <a:latin typeface="+mn-lt"/>
                    <a:ea typeface="+mn-ea"/>
                  </a:rPr>
                </a:br>
                <a:r>
                  <a:rPr lang="en-US" altLang="ko-KR" sz="1050" b="0" dirty="0">
                    <a:latin typeface="+mn-lt"/>
                    <a:ea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50" b="0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r>
                  <a:rPr lang="en-US" altLang="ko-KR" sz="1050" b="0" dirty="0">
                    <a:latin typeface="+mn-lt"/>
                    <a:ea typeface="+mn-ea"/>
                  </a:rPr>
                  <a:t>=(-1.0 ~ 1.0)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9B935D4-CBBA-C92D-8FB7-3F166D883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82" y="5721051"/>
                <a:ext cx="1498973" cy="428643"/>
              </a:xfrm>
              <a:prstGeom prst="rect">
                <a:avLst/>
              </a:prstGeom>
              <a:blipFill>
                <a:blip r:embed="rId1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직사각형 61">
            <a:extLst>
              <a:ext uri="{FF2B5EF4-FFF2-40B4-BE49-F238E27FC236}">
                <a16:creationId xmlns:a16="http://schemas.microsoft.com/office/drawing/2014/main" id="{9B514D45-67F9-A5EE-3EE4-21E7F9A13562}"/>
              </a:ext>
            </a:extLst>
          </p:cNvPr>
          <p:cNvSpPr/>
          <p:nvPr/>
        </p:nvSpPr>
        <p:spPr bwMode="auto">
          <a:xfrm>
            <a:off x="970483" y="5769218"/>
            <a:ext cx="479237" cy="169329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336A88A-0FA0-E146-DF9D-C549AD3D13EF}"/>
              </a:ext>
            </a:extLst>
          </p:cNvPr>
          <p:cNvSpPr/>
          <p:nvPr/>
        </p:nvSpPr>
        <p:spPr bwMode="auto">
          <a:xfrm>
            <a:off x="7568502" y="4575314"/>
            <a:ext cx="844551" cy="209549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082B5F2-CFC4-6180-12B8-C8CAA83BFC73}"/>
              </a:ext>
            </a:extLst>
          </p:cNvPr>
          <p:cNvSpPr/>
          <p:nvPr/>
        </p:nvSpPr>
        <p:spPr bwMode="auto">
          <a:xfrm>
            <a:off x="5140386" y="5302766"/>
            <a:ext cx="419530" cy="209549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64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BF79-DD84-B058-BD36-0D98DF0A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525D8DE-BE7A-CE79-65A3-919870726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LLM </a:t>
            </a:r>
            <a:r>
              <a:rPr lang="ko-KR" altLang="en-US" dirty="0"/>
              <a:t>양자화 실행 결과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50DD98-9C74-262A-3F6B-8E9116FEA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1" dirty="0"/>
              <a:t>정확도는 유지하고</a:t>
            </a:r>
            <a:r>
              <a:rPr lang="en-US" altLang="ko-KR" dirty="0"/>
              <a:t>, </a:t>
            </a:r>
            <a:r>
              <a:rPr lang="ko-KR" altLang="en-US" b="1" dirty="0"/>
              <a:t>와 추론 시간을 대폭 줄이는 효과</a:t>
            </a:r>
            <a:r>
              <a:rPr lang="ko-KR" altLang="en-US" dirty="0"/>
              <a:t>를 얻었습니다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추론 시간은 </a:t>
            </a:r>
            <a:r>
              <a:rPr lang="en-US" altLang="ko-KR" dirty="0"/>
              <a:t>2</a:t>
            </a:r>
            <a:r>
              <a:rPr lang="ko-KR" altLang="en-US" dirty="0"/>
              <a:t>분 </a:t>
            </a:r>
            <a:r>
              <a:rPr lang="en-US" altLang="ko-KR" dirty="0"/>
              <a:t>53</a:t>
            </a:r>
            <a:r>
              <a:rPr lang="ko-KR" altLang="en-US" dirty="0"/>
              <a:t>초에서 </a:t>
            </a:r>
            <a:r>
              <a:rPr lang="en-US" altLang="ko-KR" dirty="0"/>
              <a:t>3</a:t>
            </a:r>
            <a:r>
              <a:rPr lang="ko-KR" altLang="en-US" dirty="0"/>
              <a:t>초로 줄어 약 </a:t>
            </a:r>
            <a:r>
              <a:rPr lang="en-US" altLang="ko-KR" b="1" dirty="0"/>
              <a:t>50</a:t>
            </a:r>
            <a:r>
              <a:rPr lang="ko-KR" altLang="en-US" b="1" dirty="0"/>
              <a:t>배 이상 </a:t>
            </a:r>
            <a:r>
              <a:rPr lang="ko-KR" altLang="en-US" dirty="0"/>
              <a:t>단축됨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572229-5682-967A-4E86-40BBDE67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Quantization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909F07-5276-0296-87FE-2DBD85FA31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010028-3EE8-DAB0-2E43-5820FFA4D488}"/>
              </a:ext>
            </a:extLst>
          </p:cNvPr>
          <p:cNvSpPr/>
          <p:nvPr/>
        </p:nvSpPr>
        <p:spPr bwMode="auto">
          <a:xfrm>
            <a:off x="550374" y="1609473"/>
            <a:ext cx="3591014" cy="1552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##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양자화</a:t>
            </a:r>
          </a:p>
          <a:p>
            <a:r>
              <a:rPr lang="en-US" sz="1200" b="0" dirty="0" err="1">
                <a:solidFill>
                  <a:schemeClr val="tx1"/>
                </a:solidFill>
                <a:latin typeface="+mn-ea"/>
              </a:rPr>
              <a:t>quantization_config</a:t>
            </a:r>
            <a:r>
              <a:rPr lang="en-US" sz="1200" b="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sz="1200" b="0" dirty="0" err="1">
                <a:solidFill>
                  <a:schemeClr val="tx1"/>
                </a:solidFill>
                <a:latin typeface="+mn-ea"/>
              </a:rPr>
              <a:t>BitsAndBytesConfig</a:t>
            </a:r>
            <a:r>
              <a:rPr lang="en-US" sz="1200" b="0" dirty="0">
                <a:solidFill>
                  <a:schemeClr val="tx1"/>
                </a:solidFill>
                <a:latin typeface="+mn-ea"/>
              </a:rPr>
              <a:t>(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    load_in_4bit=True, 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    bnb_4bit_quant_type="nf4",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    bnb_4bit_use_double_quant=True, 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    bnb_4bit_compute_dtype=torch.bfloat16,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    llm_int8_enable_fp32_cpu_offload=True</a:t>
            </a:r>
          </a:p>
          <a:p>
            <a:r>
              <a:rPr lang="en-US" sz="1200" b="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BA3CEAB-1E88-C7F7-B7B3-FE9B26F4E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28205"/>
              </p:ext>
            </p:extLst>
          </p:nvPr>
        </p:nvGraphicFramePr>
        <p:xfrm>
          <a:off x="4285130" y="1814260"/>
          <a:ext cx="4868633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908164661"/>
                    </a:ext>
                  </a:extLst>
                </a:gridCol>
                <a:gridCol w="2948393">
                  <a:extLst>
                    <a:ext uri="{9D8B030D-6E8A-4147-A177-3AD203B41FA5}">
                      <a16:colId xmlns:a16="http://schemas.microsoft.com/office/drawing/2014/main" val="212223141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4bit </a:t>
                      </a:r>
                      <a:r>
                        <a:rPr lang="ko-KR" altLang="en-US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양자화</a:t>
                      </a:r>
                      <a:endParaRPr lang="en-US" sz="1100" b="1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모델 파라미터를 </a:t>
                      </a: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4bit</a:t>
                      </a: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압축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4636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NFC </a:t>
                      </a:r>
                      <a:r>
                        <a:rPr lang="ko-KR" altLang="en-US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방식</a:t>
                      </a:r>
                      <a:r>
                        <a:rPr lang="en-US" altLang="ko-KR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(NormalFloat4)</a:t>
                      </a:r>
                      <a:endParaRPr lang="en-US" sz="1100" b="1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NormalFloat4</a:t>
                      </a: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정밀도 손실 최소화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094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더블 양자화</a:t>
                      </a:r>
                      <a:endParaRPr lang="en-US" sz="1100" b="1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8bit-&gt;4bit</a:t>
                      </a: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이중 압축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9760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연산 정밀도</a:t>
                      </a:r>
                      <a:endParaRPr lang="en-US" sz="1100" b="1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Bfloat16</a:t>
                      </a: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으로 빠른 추론 및 메모리 절약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731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CPU </a:t>
                      </a:r>
                      <a:r>
                        <a:rPr lang="ko-KR" altLang="en-US" sz="1100" b="1" i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허용</a:t>
                      </a:r>
                      <a:endParaRPr lang="en-US" sz="1100" b="1" i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일부 연산을 </a:t>
                      </a:r>
                      <a:r>
                        <a:rPr lang="en-US" altLang="ko-KR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CPU FP32</a:t>
                      </a:r>
                      <a:r>
                        <a:rPr lang="ko-KR" altLang="en-US" sz="1100" b="0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로 전송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4054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C306F72-C2CC-BFAE-6001-5A4D3774D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007509"/>
              </p:ext>
            </p:extLst>
          </p:nvPr>
        </p:nvGraphicFramePr>
        <p:xfrm>
          <a:off x="550374" y="3285724"/>
          <a:ext cx="7550891" cy="1219200"/>
        </p:xfrm>
        <a:graphic>
          <a:graphicData uri="http://schemas.openxmlformats.org/drawingml/2006/table">
            <a:tbl>
              <a:tblPr/>
              <a:tblGrid>
                <a:gridCol w="2064491">
                  <a:extLst>
                    <a:ext uri="{9D8B030D-6E8A-4147-A177-3AD203B41FA5}">
                      <a16:colId xmlns:a16="http://schemas.microsoft.com/office/drawing/2014/main" val="20063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374918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6634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양자화 미적용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(FP16)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양자화 적용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74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추론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/>
                        <a:t>2</a:t>
                      </a:r>
                      <a:r>
                        <a:rPr lang="ko-KR" altLang="en-US" sz="1400" b="1" dirty="0"/>
                        <a:t>분 </a:t>
                      </a:r>
                      <a:r>
                        <a:rPr lang="en-US" altLang="ko-KR" sz="1400" b="1" dirty="0"/>
                        <a:t>53</a:t>
                      </a:r>
                      <a:r>
                        <a:rPr lang="ko-KR" altLang="en-US" sz="1400" b="1" dirty="0"/>
                        <a:t>초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초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4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응답 정확도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유사 </a:t>
                      </a:r>
                      <a:r>
                        <a:rPr lang="en-US" altLang="ko-KR" sz="1400"/>
                        <a:t>(~99%)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유사 </a:t>
                      </a:r>
                      <a:r>
                        <a:rPr lang="en-US" altLang="ko-KR" sz="1400"/>
                        <a:t>(~99%)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298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메모리 사용량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높음 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GPU Full)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보통 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sz="1400" dirty="0"/>
                        <a:t>Consumer </a:t>
                      </a:r>
                      <a:r>
                        <a:rPr lang="en-US" altLang="ko-KR" sz="1400" dirty="0"/>
                        <a:t>GPU)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97554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53C1909-8BA8-00C0-5746-9B8A92062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306607"/>
              </p:ext>
            </p:extLst>
          </p:nvPr>
        </p:nvGraphicFramePr>
        <p:xfrm>
          <a:off x="1593182" y="4628600"/>
          <a:ext cx="7925126" cy="1923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5773">
                  <a:extLst>
                    <a:ext uri="{9D8B030D-6E8A-4147-A177-3AD203B41FA5}">
                      <a16:colId xmlns:a16="http://schemas.microsoft.com/office/drawing/2014/main" val="2105425804"/>
                    </a:ext>
                  </a:extLst>
                </a:gridCol>
                <a:gridCol w="7459353">
                  <a:extLst>
                    <a:ext uri="{9D8B030D-6E8A-4147-A177-3AD203B41FA5}">
                      <a16:colId xmlns:a16="http://schemas.microsoft.com/office/drawing/2014/main" val="2790539833"/>
                    </a:ext>
                  </a:extLst>
                </a:gridCol>
              </a:tblGrid>
              <a:tr h="241888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b="1" kern="100" dirty="0">
                          <a:solidFill>
                            <a:schemeClr val="tx1"/>
                          </a:solidFill>
                          <a:effectLst/>
                        </a:rPr>
                        <a:t>질의</a:t>
                      </a:r>
                      <a:endParaRPr lang="en-US" sz="1100" b="1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b="0" kern="100" dirty="0">
                          <a:solidFill>
                            <a:schemeClr val="tx1"/>
                          </a:solidFill>
                          <a:effectLst/>
                        </a:rPr>
                        <a:t>Can the File Reader Node read all file formats?</a:t>
                      </a:r>
                      <a:endParaRPr lang="en-US" sz="11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11802"/>
                  </a:ext>
                </a:extLst>
              </a:tr>
              <a:tr h="1482687">
                <a:tc>
                  <a:txBody>
                    <a:bodyPr/>
                    <a:lstStyle/>
                    <a:p>
                      <a:pPr marL="0" marR="0"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b="1" kern="100" dirty="0">
                          <a:solidFill>
                            <a:schemeClr val="tx1"/>
                          </a:solidFill>
                          <a:effectLst/>
                        </a:rPr>
                        <a:t>응답</a:t>
                      </a:r>
                      <a:endParaRPr lang="en-US" sz="1100" b="1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Answer:  </a:t>
                      </a:r>
                    </a:p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The File Reader Node can only read text-based file formats such as txt, csv, </a:t>
                      </a:r>
                      <a:r>
                        <a:rPr lang="en-US" sz="1100" kern="100" dirty="0" err="1">
                          <a:effectLst/>
                        </a:rPr>
                        <a:t>dat</a:t>
                      </a:r>
                      <a:r>
                        <a:rPr lang="en-US" sz="1100" kern="100" dirty="0">
                          <a:effectLst/>
                        </a:rPr>
                        <a:t>, tab, and </a:t>
                      </a:r>
                      <a:r>
                        <a:rPr lang="en-US" sz="1100" kern="100" dirty="0" err="1">
                          <a:effectLst/>
                        </a:rPr>
                        <a:t>ecl</a:t>
                      </a:r>
                      <a:r>
                        <a:rPr lang="en-US" sz="1100" kern="100" dirty="0">
                          <a:effectLst/>
                        </a:rPr>
                        <a:t>. It does not support reading all file formats.  </a:t>
                      </a:r>
                    </a:p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</a:endParaRPr>
                    </a:p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Node: File Reader Node  </a:t>
                      </a:r>
                    </a:p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Options:  </a:t>
                      </a:r>
                    </a:p>
                    <a:p>
                      <a:pPr marL="0" marR="0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- Supported file formats: [txt, csv, </a:t>
                      </a:r>
                      <a:r>
                        <a:rPr lang="en-US" sz="1100" kern="100" dirty="0" err="1">
                          <a:effectLst/>
                        </a:rPr>
                        <a:t>dat</a:t>
                      </a:r>
                      <a:r>
                        <a:rPr lang="en-US" sz="1100" kern="100" dirty="0">
                          <a:effectLst/>
                        </a:rPr>
                        <a:t>, tab, </a:t>
                      </a:r>
                      <a:r>
                        <a:rPr lang="en-US" sz="1100" kern="100" dirty="0" err="1">
                          <a:effectLst/>
                        </a:rPr>
                        <a:t>ecl</a:t>
                      </a:r>
                      <a:r>
                        <a:rPr lang="en-US" sz="1100" kern="100" dirty="0">
                          <a:effectLst/>
                        </a:rPr>
                        <a:t>]</a:t>
                      </a:r>
                      <a:endParaRPr lang="en-US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57341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F907345-1D26-95B0-ABE8-FFB25E2A091D}"/>
              </a:ext>
            </a:extLst>
          </p:cNvPr>
          <p:cNvSpPr txBox="1"/>
          <p:nvPr/>
        </p:nvSpPr>
        <p:spPr>
          <a:xfrm>
            <a:off x="479116" y="4679499"/>
            <a:ext cx="1114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latin typeface="+mn-lt"/>
                <a:ea typeface="+mn-ea"/>
              </a:rPr>
              <a:t>* </a:t>
            </a:r>
            <a:r>
              <a:rPr lang="ko-KR" altLang="en-US" b="0" dirty="0" err="1">
                <a:latin typeface="+mn-lt"/>
                <a:ea typeface="+mn-ea"/>
              </a:rPr>
              <a:t>질의참고</a:t>
            </a:r>
            <a:endParaRPr lang="en-US" b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4880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6E5F-BAE1-648A-5F94-C2D166D9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9FBA66A-BB06-D99C-A8F8-8DCA32FA12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II. Distillation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4E1D3B-2CBF-BF9C-AD5E-78F3BEEAAD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Knowledge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Distillation</a:t>
            </a:r>
            <a:r>
              <a:rPr lang="ko-KR" altLang="en-US" dirty="0">
                <a:sym typeface="Wingdings" panose="05000000000000000000" pitchFamily="2" charset="2"/>
              </a:rPr>
              <a:t>이란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endParaRPr lang="ko-KR" altLang="en-US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Distillation </a:t>
            </a:r>
            <a:r>
              <a:rPr lang="ko-KR" altLang="en-US" dirty="0">
                <a:sym typeface="Wingdings" panose="05000000000000000000" pitchFamily="2" charset="2"/>
              </a:rPr>
              <a:t>동작 원리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Loss</a:t>
            </a:r>
            <a:r>
              <a:rPr lang="ko-KR" altLang="en-US" dirty="0">
                <a:sym typeface="Wingdings" panose="05000000000000000000" pitchFamily="2" charset="2"/>
              </a:rPr>
              <a:t> 함수와 </a:t>
            </a:r>
            <a:r>
              <a:rPr lang="en-US" altLang="ko-KR" dirty="0">
                <a:sym typeface="Wingdings" panose="05000000000000000000" pitchFamily="2" charset="2"/>
              </a:rPr>
              <a:t>Temperature</a:t>
            </a:r>
            <a:endParaRPr lang="ko-KR" altLang="en-US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DistilBERT</a:t>
            </a:r>
            <a:endParaRPr lang="ko-KR" alt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32161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C1380-9D25-93BA-BE75-F1137BE4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E73DE4B-07C7-2365-F4F3-350AAC1C48AA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7487433" y="3564507"/>
            <a:ext cx="1" cy="1183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811C76A-F4E5-B468-DCB5-DF9FBAD522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Knowledge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Distillation</a:t>
            </a:r>
            <a:r>
              <a:rPr lang="ko-KR" altLang="en-US" dirty="0">
                <a:sym typeface="Wingdings" panose="05000000000000000000" pitchFamily="2" charset="2"/>
              </a:rPr>
              <a:t>이란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endParaRPr lang="ko-KR" altLang="en-US" dirty="0"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83A4A5-F356-B5AF-9E8A-4A0F8923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Distillation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85565-FAB2-AF69-E870-C1D9BBB8FF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380E2F-36F8-9C42-3E1B-DA2B9F17C1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309" y="922627"/>
            <a:ext cx="9287718" cy="1031679"/>
          </a:xfrm>
        </p:spPr>
        <p:txBody>
          <a:bodyPr/>
          <a:lstStyle/>
          <a:p>
            <a:r>
              <a:rPr lang="ko-KR" altLang="en-US" sz="1400" dirty="0"/>
              <a:t>복잡하고 크기가 큰 모델은 뛰어난 성능을 보이지만</a:t>
            </a:r>
            <a:r>
              <a:rPr lang="en-US" altLang="ko-KR" sz="1400" dirty="0"/>
              <a:t>, </a:t>
            </a:r>
            <a:r>
              <a:rPr lang="ko-KR" altLang="en-US" sz="1400" dirty="0"/>
              <a:t>현실 환경에선 너무 무겁지 때문에 핸드폰 같은 디바이스에서 활용하기 어려움</a:t>
            </a:r>
            <a:r>
              <a:rPr lang="en-US" altLang="ko-KR" sz="1400" dirty="0"/>
              <a:t>.Knowledge Distillation</a:t>
            </a:r>
            <a:r>
              <a:rPr lang="ko-KR" altLang="en-US" sz="1400" dirty="0"/>
              <a:t>은 이러한 지식을 더 작고 효율적인 모델로 전달하는 기술임</a:t>
            </a:r>
            <a:r>
              <a:rPr lang="en-US" altLang="ko-KR" sz="1400" dirty="0"/>
              <a:t>.</a:t>
            </a: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뛰어난 스승</a:t>
            </a:r>
            <a:r>
              <a:rPr lang="en-US" altLang="ko-KR" sz="1400" dirty="0"/>
              <a:t>(Teacher)</a:t>
            </a:r>
            <a:r>
              <a:rPr lang="ko-KR" altLang="en-US" sz="1400" dirty="0"/>
              <a:t>의 지식을 제자</a:t>
            </a:r>
            <a:r>
              <a:rPr lang="en-US" altLang="ko-KR" sz="1400" dirty="0"/>
              <a:t>(Student)</a:t>
            </a:r>
            <a:r>
              <a:rPr lang="ko-KR" altLang="en-US" sz="1400" dirty="0"/>
              <a:t>에게 효과적으로 전수하는 과정이라 볼 수 있음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026" name="Picture 2" descr="a">
            <a:extLst>
              <a:ext uri="{FF2B5EF4-FFF2-40B4-BE49-F238E27FC236}">
                <a16:creationId xmlns:a16="http://schemas.microsoft.com/office/drawing/2014/main" id="{C7829926-D6A2-9C4D-7F46-1FD1D4A56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5" t="10148" r="9918" b="40902"/>
          <a:stretch/>
        </p:blipFill>
        <p:spPr bwMode="auto">
          <a:xfrm>
            <a:off x="475128" y="2761129"/>
            <a:ext cx="4718325" cy="214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0A713820-591C-56CA-E790-E3B8484FD322}"/>
              </a:ext>
            </a:extLst>
          </p:cNvPr>
          <p:cNvSpPr txBox="1">
            <a:spLocks/>
          </p:cNvSpPr>
          <p:nvPr/>
        </p:nvSpPr>
        <p:spPr>
          <a:xfrm>
            <a:off x="123600" y="6294255"/>
            <a:ext cx="7363832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https://medium.com/neuralmachine/knowledge-distillation-dc241d7c2322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2254B8-67BB-9FEC-BAF7-17ADB2EB8169}"/>
              </a:ext>
            </a:extLst>
          </p:cNvPr>
          <p:cNvSpPr/>
          <p:nvPr/>
        </p:nvSpPr>
        <p:spPr bwMode="auto">
          <a:xfrm>
            <a:off x="6230471" y="2174978"/>
            <a:ext cx="2513926" cy="1389529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Teacher</a:t>
            </a:r>
          </a:p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Network (T)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2659CE-FBE0-6E97-68B3-DF6C92F57196}"/>
              </a:ext>
            </a:extLst>
          </p:cNvPr>
          <p:cNvSpPr/>
          <p:nvPr/>
        </p:nvSpPr>
        <p:spPr bwMode="auto">
          <a:xfrm>
            <a:off x="6882316" y="3981365"/>
            <a:ext cx="1210235" cy="3496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b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Knowledge</a:t>
            </a:r>
            <a:endParaRPr lang="ko-KR" altLang="en-US" b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08F922-56CE-ECB8-9B55-0BFB0DEE32D7}"/>
              </a:ext>
            </a:extLst>
          </p:cNvPr>
          <p:cNvSpPr/>
          <p:nvPr/>
        </p:nvSpPr>
        <p:spPr bwMode="auto">
          <a:xfrm>
            <a:off x="6729915" y="4747847"/>
            <a:ext cx="1515035" cy="81100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Student</a:t>
            </a:r>
          </a:p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Network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540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D28A-4AE9-DB46-D33D-918B60FF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>
            <a:extLst>
              <a:ext uri="{FF2B5EF4-FFF2-40B4-BE49-F238E27FC236}">
                <a16:creationId xmlns:a16="http://schemas.microsoft.com/office/drawing/2014/main" id="{61F50504-0061-7EDF-A876-9D1FD3B81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00" y="2326133"/>
            <a:ext cx="5599299" cy="264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1DB6690-60B5-226F-9E56-65DB6B2B8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Distillation </a:t>
            </a:r>
            <a:r>
              <a:rPr lang="ko-KR" altLang="en-US" dirty="0">
                <a:sym typeface="Wingdings" panose="05000000000000000000" pitchFamily="2" charset="2"/>
              </a:rPr>
              <a:t>동작 원리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CB96F89-926E-EE99-AAA0-F09A43B6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Distillation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E5CB0A-F204-DC63-69E6-CEFC7DECBC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27C1BB-7FFB-A3E1-3728-A10211062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309" y="922627"/>
            <a:ext cx="9287718" cy="1031679"/>
          </a:xfrm>
        </p:spPr>
        <p:txBody>
          <a:bodyPr/>
          <a:lstStyle/>
          <a:p>
            <a:r>
              <a:rPr lang="en-US" altLang="ko-KR" dirty="0"/>
              <a:t>Distillation</a:t>
            </a:r>
            <a:r>
              <a:rPr lang="ko-KR" altLang="en-US" dirty="0"/>
              <a:t>은 단순한 정답 학습이 아니라</a:t>
            </a:r>
            <a:r>
              <a:rPr lang="en-US" altLang="ko-KR" dirty="0"/>
              <a:t>, </a:t>
            </a:r>
            <a:r>
              <a:rPr lang="ko-KR" altLang="en-US" dirty="0"/>
              <a:t>정답 ‘외의’ 정보까지 배우는 방식임</a:t>
            </a:r>
            <a:r>
              <a:rPr lang="en-US" altLang="ko-KR" dirty="0"/>
              <a:t>. Teacher</a:t>
            </a:r>
            <a:r>
              <a:rPr lang="ko-KR" altLang="en-US" dirty="0"/>
              <a:t>는 각 클래스에 대한 확률 분포를 제공하고</a:t>
            </a:r>
            <a:r>
              <a:rPr lang="en-US" altLang="ko-KR" dirty="0"/>
              <a:t>, Student</a:t>
            </a:r>
            <a:r>
              <a:rPr lang="ko-KR" altLang="en-US" dirty="0"/>
              <a:t>는 그 분포를 그대로 흉내 내며 학습하게 됨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Temperature</a:t>
            </a:r>
            <a:r>
              <a:rPr lang="ko-KR" altLang="en-US" dirty="0"/>
              <a:t>를 활용해 분포를 부드럽게 하면</a:t>
            </a:r>
            <a:r>
              <a:rPr lang="en-US" altLang="ko-KR" dirty="0"/>
              <a:t>, </a:t>
            </a:r>
            <a:r>
              <a:rPr lang="ko-KR" altLang="en-US" dirty="0"/>
              <a:t>숨겨진 관계까지 더 깊이 배울 수 있음</a:t>
            </a:r>
            <a:r>
              <a:rPr lang="en-US" altLang="ko-KR" dirty="0"/>
              <a:t>.</a:t>
            </a:r>
            <a:endParaRPr lang="ko-KR" altLang="en-US" sz="1400" dirty="0"/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714AD7DA-16DB-5A43-6333-5EE83DC18AB8}"/>
              </a:ext>
            </a:extLst>
          </p:cNvPr>
          <p:cNvSpPr txBox="1">
            <a:spLocks/>
          </p:cNvSpPr>
          <p:nvPr/>
        </p:nvSpPr>
        <p:spPr>
          <a:xfrm>
            <a:off x="123599" y="6096000"/>
            <a:ext cx="9526427" cy="488400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https://nervanasystems.github.io/distiller/knowledge_distillation.html</a:t>
            </a:r>
          </a:p>
          <a:p>
            <a:r>
              <a:rPr lang="en-US" altLang="ko-KR" sz="1200" b="0" dirty="0"/>
              <a:t>Hinton, G., </a:t>
            </a:r>
            <a:r>
              <a:rPr lang="en-US" altLang="ko-KR" sz="1200" b="0" dirty="0" err="1"/>
              <a:t>Vinyals</a:t>
            </a:r>
            <a:r>
              <a:rPr lang="en-US" altLang="ko-KR" sz="1200" b="0" dirty="0"/>
              <a:t>, O., &amp; Dean, J. (2015). Distilling the knowledge in a neural network. </a:t>
            </a:r>
            <a:r>
              <a:rPr lang="en-US" altLang="ko-KR" sz="1200" b="0" dirty="0" err="1"/>
              <a:t>arXiv</a:t>
            </a:r>
            <a:r>
              <a:rPr lang="en-US" altLang="ko-KR" sz="1200" b="0" dirty="0"/>
              <a:t> preprint arXiv:1503.02531.</a:t>
            </a: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DEAD28CB-F181-DD6A-A1AC-64250ADE32F7}"/>
              </a:ext>
            </a:extLst>
          </p:cNvPr>
          <p:cNvSpPr txBox="1">
            <a:spLocks/>
          </p:cNvSpPr>
          <p:nvPr/>
        </p:nvSpPr>
        <p:spPr>
          <a:xfrm>
            <a:off x="3688355" y="5167844"/>
            <a:ext cx="2635625" cy="290145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altLang="ko-KR" sz="1200" b="0" dirty="0"/>
              <a:t>&lt;Distillation </a:t>
            </a:r>
            <a:r>
              <a:rPr lang="ko-KR" altLang="en-US" sz="1200" b="0" dirty="0"/>
              <a:t>네트워크 구조</a:t>
            </a:r>
            <a:r>
              <a:rPr lang="en-US" altLang="ko-KR" sz="1200" b="0" dirty="0"/>
              <a:t>&gt;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27A65172-3E6C-F8CC-D950-E814365C7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699" y="2842257"/>
            <a:ext cx="3800328" cy="197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86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9814-FFE5-905B-54F2-51FA9636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3F152B-CF85-7D8C-D15D-B6D51DDF6C25}"/>
                  </a:ext>
                </a:extLst>
              </p:cNvPr>
              <p:cNvSpPr txBox="1"/>
              <p:nvPr/>
            </p:nvSpPr>
            <p:spPr>
              <a:xfrm>
                <a:off x="1324152" y="1993480"/>
                <a:ext cx="7257691" cy="574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𝑇𝑜𝑡𝑎𝑙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𝐿𝑜𝑠𝑠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𝐶𝐸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+2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+mn-ea"/>
                        </a:rPr>
                        <m:t>𝛼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𝐶𝐸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+mn-ea"/>
                        </a:rPr>
                        <m:t>𝜎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),</m:t>
                      </m:r>
                      <m:r>
                        <a:rPr lang="ko-KR" altLang="en-US" sz="2000" b="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ko-KR" altLang="en-US" sz="2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3F152B-CF85-7D8C-D15D-B6D51DDF6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152" y="1993480"/>
                <a:ext cx="7257691" cy="5741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122931-F450-B5EF-D860-1276E7FB9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Loss</a:t>
            </a:r>
            <a:r>
              <a:rPr lang="ko-KR" altLang="en-US" dirty="0">
                <a:sym typeface="Wingdings" panose="05000000000000000000" pitchFamily="2" charset="2"/>
              </a:rPr>
              <a:t> 함수와 </a:t>
            </a:r>
            <a:r>
              <a:rPr lang="en-US" altLang="ko-KR" dirty="0">
                <a:sym typeface="Wingdings" panose="05000000000000000000" pitchFamily="2" charset="2"/>
              </a:rPr>
              <a:t>Temperature</a:t>
            </a:r>
            <a:endParaRPr lang="ko-KR" altLang="en-US" dirty="0"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708653-5420-D160-CF4B-22F526BC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Distillation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A75C8F-F509-D319-D01E-C6F91A80D2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A808C7-A271-ABDE-FACE-942A2A2F9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309" y="922627"/>
            <a:ext cx="9287718" cy="1031679"/>
          </a:xfrm>
        </p:spPr>
        <p:txBody>
          <a:bodyPr/>
          <a:lstStyle/>
          <a:p>
            <a:r>
              <a:rPr lang="en-US" altLang="ko-KR" dirty="0"/>
              <a:t>Distillation</a:t>
            </a:r>
            <a:r>
              <a:rPr lang="ko-KR" altLang="en-US" dirty="0"/>
              <a:t>의 핵심은 </a:t>
            </a:r>
            <a:r>
              <a:rPr lang="en-US" altLang="ko-KR" dirty="0"/>
              <a:t>Hard label</a:t>
            </a:r>
            <a:r>
              <a:rPr lang="ko-KR" altLang="en-US" dirty="0"/>
              <a:t>과 </a:t>
            </a:r>
            <a:r>
              <a:rPr lang="en-US" altLang="ko-KR" dirty="0"/>
              <a:t>Soft label</a:t>
            </a:r>
            <a:r>
              <a:rPr lang="ko-KR" altLang="en-US" dirty="0"/>
              <a:t>의 균형임</a:t>
            </a:r>
            <a:r>
              <a:rPr lang="en-US" altLang="ko-KR" dirty="0"/>
              <a:t>. Hard label</a:t>
            </a:r>
            <a:r>
              <a:rPr lang="ko-KR" altLang="en-US" dirty="0"/>
              <a:t>은 정답 클래스만 표시한 </a:t>
            </a:r>
            <a:r>
              <a:rPr lang="en-US" altLang="ko-KR" dirty="0"/>
              <a:t>1-hot </a:t>
            </a:r>
            <a:r>
              <a:rPr lang="ko-KR" altLang="en-US" dirty="0"/>
              <a:t>벡터이고</a:t>
            </a:r>
            <a:r>
              <a:rPr lang="en-US" altLang="ko-KR" dirty="0"/>
              <a:t>, Soft label</a:t>
            </a:r>
            <a:r>
              <a:rPr lang="ko-KR" altLang="en-US" dirty="0"/>
              <a:t>은 각 클래스에 대한 예측 확률을 포함한 분포임</a:t>
            </a:r>
            <a:r>
              <a:rPr lang="en-US" altLang="ko-KR" dirty="0"/>
              <a:t>. Soft label</a:t>
            </a:r>
            <a:r>
              <a:rPr lang="ko-KR" altLang="en-US" dirty="0"/>
              <a:t>은 클래스 간의 유사성 정보를 전달할 수 있는 중요한 신호이며</a:t>
            </a:r>
            <a:r>
              <a:rPr lang="en-US" altLang="ko-KR" dirty="0"/>
              <a:t>, Temperature </a:t>
            </a:r>
            <a:r>
              <a:rPr lang="ko-KR" altLang="en-US" dirty="0"/>
              <a:t>조절을 통해 더 풍부하고 유연한 분포를 만들어낼 수 있음</a:t>
            </a:r>
            <a:r>
              <a:rPr lang="en-US" altLang="ko-KR" dirty="0"/>
              <a:t>. </a:t>
            </a:r>
            <a:endParaRPr lang="ko-KR" altLang="en-US" sz="1400" dirty="0"/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964246A2-E6EE-B6C4-0DB0-27FB0332B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10" y="2620735"/>
            <a:ext cx="7146776" cy="338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058E50-F68C-AE45-5076-9CDE037A26DB}"/>
              </a:ext>
            </a:extLst>
          </p:cNvPr>
          <p:cNvSpPr/>
          <p:nvPr/>
        </p:nvSpPr>
        <p:spPr bwMode="auto">
          <a:xfrm>
            <a:off x="3146425" y="1954307"/>
            <a:ext cx="2339975" cy="666428"/>
          </a:xfrm>
          <a:prstGeom prst="rect">
            <a:avLst/>
          </a:prstGeom>
          <a:solidFill>
            <a:schemeClr val="tx2">
              <a:alpha val="28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3C0DAB-D25C-42D6-860C-24DF4E111DF5}"/>
              </a:ext>
            </a:extLst>
          </p:cNvPr>
          <p:cNvSpPr/>
          <p:nvPr/>
        </p:nvSpPr>
        <p:spPr bwMode="auto">
          <a:xfrm>
            <a:off x="6697586" y="4331759"/>
            <a:ext cx="1828800" cy="1603614"/>
          </a:xfrm>
          <a:prstGeom prst="rect">
            <a:avLst/>
          </a:prstGeom>
          <a:solidFill>
            <a:schemeClr val="tx2">
              <a:alpha val="28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D3CF21-0193-A1F9-8180-64582DE6E0AC}"/>
              </a:ext>
            </a:extLst>
          </p:cNvPr>
          <p:cNvSpPr/>
          <p:nvPr/>
        </p:nvSpPr>
        <p:spPr bwMode="auto">
          <a:xfrm>
            <a:off x="6697586" y="2868706"/>
            <a:ext cx="1828800" cy="1382740"/>
          </a:xfrm>
          <a:prstGeom prst="rect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487B27-C90D-ED42-5A2B-5B75876225BB}"/>
              </a:ext>
            </a:extLst>
          </p:cNvPr>
          <p:cNvSpPr/>
          <p:nvPr/>
        </p:nvSpPr>
        <p:spPr bwMode="auto">
          <a:xfrm>
            <a:off x="5718174" y="1954307"/>
            <a:ext cx="2625725" cy="666428"/>
          </a:xfrm>
          <a:prstGeom prst="rect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F3576327-1FE4-C662-DC52-48AB436242B0}"/>
              </a:ext>
            </a:extLst>
          </p:cNvPr>
          <p:cNvSpPr txBox="1">
            <a:spLocks/>
          </p:cNvSpPr>
          <p:nvPr/>
        </p:nvSpPr>
        <p:spPr>
          <a:xfrm>
            <a:off x="123599" y="6096000"/>
            <a:ext cx="9526427" cy="488400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https://nervanasystems.github.io/distiller/knowledge_distillation.html</a:t>
            </a:r>
          </a:p>
          <a:p>
            <a:r>
              <a:rPr lang="en-US" altLang="ko-KR" sz="1200" b="0" dirty="0"/>
              <a:t>Hinton, G., </a:t>
            </a:r>
            <a:r>
              <a:rPr lang="en-US" altLang="ko-KR" sz="1200" b="0" dirty="0" err="1"/>
              <a:t>Vinyals</a:t>
            </a:r>
            <a:r>
              <a:rPr lang="en-US" altLang="ko-KR" sz="1200" b="0" dirty="0"/>
              <a:t>, O., &amp; Dean, J. (2015). Distilling the knowledge in a neural network. </a:t>
            </a:r>
            <a:r>
              <a:rPr lang="en-US" altLang="ko-KR" sz="1200" b="0" dirty="0" err="1"/>
              <a:t>arXiv</a:t>
            </a:r>
            <a:r>
              <a:rPr lang="en-US" altLang="ko-KR" sz="1200" b="0" dirty="0"/>
              <a:t> preprint arXiv:1503.02531.</a:t>
            </a:r>
          </a:p>
        </p:txBody>
      </p:sp>
    </p:spTree>
    <p:extLst>
      <p:ext uri="{BB962C8B-B14F-4D97-AF65-F5344CB8AC3E}">
        <p14:creationId xmlns:p14="http://schemas.microsoft.com/office/powerpoint/2010/main" val="3163174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0DFE-0A9D-72AD-970D-0B151F67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BC3FFEC-CE03-D602-03E7-427CBA462E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ym typeface="Wingdings" panose="05000000000000000000" pitchFamily="2" charset="2"/>
              </a:rPr>
              <a:t>DistilBERT</a:t>
            </a:r>
            <a:endParaRPr lang="ko-KR" altLang="en-US" dirty="0">
              <a:sym typeface="Wingdings" panose="05000000000000000000" pitchFamily="2" charset="2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22DD7FD-B0F4-FFB8-5DC4-A8A0411B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Distillation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2D2E93-DA10-7D88-CC31-99C91EAE61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9B2CEA-E6B5-7687-A70B-1B4D2E8A8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2309" y="922627"/>
            <a:ext cx="9287718" cy="1031679"/>
          </a:xfrm>
        </p:spPr>
        <p:txBody>
          <a:bodyPr/>
          <a:lstStyle/>
          <a:p>
            <a:r>
              <a:rPr lang="en-US" altLang="ko-KR" dirty="0" err="1"/>
              <a:t>DistilBERT</a:t>
            </a:r>
            <a:r>
              <a:rPr lang="ko-KR" altLang="en-US" dirty="0"/>
              <a:t>는 </a:t>
            </a:r>
            <a:r>
              <a:rPr lang="en-US" altLang="ko-KR" dirty="0"/>
              <a:t>BERT</a:t>
            </a:r>
            <a:r>
              <a:rPr lang="ko-KR" altLang="en-US" dirty="0"/>
              <a:t>의 지식을 압축해</a:t>
            </a:r>
            <a:r>
              <a:rPr lang="en-US" altLang="ko-KR" dirty="0"/>
              <a:t>, </a:t>
            </a:r>
            <a:r>
              <a:rPr lang="ko-KR" altLang="en-US" dirty="0"/>
              <a:t>더 가볍고 빠르게 만든 모델임</a:t>
            </a:r>
            <a:r>
              <a:rPr lang="en-US" altLang="ko-KR" dirty="0"/>
              <a:t>. BERT-base</a:t>
            </a:r>
            <a:r>
              <a:rPr lang="ko-KR" altLang="en-US" dirty="0"/>
              <a:t>의 </a:t>
            </a:r>
            <a:r>
              <a:rPr lang="en-US" altLang="ko-KR" dirty="0"/>
              <a:t>12</a:t>
            </a:r>
            <a:r>
              <a:rPr lang="ko-KR" altLang="en-US" dirty="0"/>
              <a:t>개 레이어를 </a:t>
            </a:r>
            <a:r>
              <a:rPr lang="en-US" altLang="ko-KR" dirty="0"/>
              <a:t>6</a:t>
            </a:r>
            <a:r>
              <a:rPr lang="ko-KR" altLang="en-US" dirty="0"/>
              <a:t>개로 줄이고</a:t>
            </a:r>
            <a:r>
              <a:rPr lang="en-US" altLang="ko-KR" dirty="0"/>
              <a:t>, </a:t>
            </a:r>
            <a:r>
              <a:rPr lang="ko-KR" altLang="en-US" dirty="0"/>
              <a:t>파라미터 수를 약 </a:t>
            </a:r>
            <a:r>
              <a:rPr lang="en-US" altLang="ko-KR" dirty="0"/>
              <a:t>40% </a:t>
            </a:r>
            <a:r>
              <a:rPr lang="ko-KR" altLang="en-US" dirty="0"/>
              <a:t>감소시켰지만</a:t>
            </a:r>
            <a:r>
              <a:rPr lang="en-US" altLang="ko-KR" dirty="0"/>
              <a:t>, </a:t>
            </a:r>
            <a:r>
              <a:rPr lang="ko-KR" altLang="en-US" dirty="0"/>
              <a:t>성능은 약 </a:t>
            </a:r>
            <a:r>
              <a:rPr lang="en-US" altLang="ko-KR" dirty="0"/>
              <a:t>97% </a:t>
            </a:r>
            <a:r>
              <a:rPr lang="ko-KR" altLang="en-US" dirty="0"/>
              <a:t>수준을 유지하고 있음</a:t>
            </a:r>
            <a:r>
              <a:rPr lang="en-US" altLang="ko-KR" dirty="0"/>
              <a:t>. </a:t>
            </a:r>
            <a:r>
              <a:rPr lang="ko-KR" altLang="en-US" dirty="0"/>
              <a:t>학습 과정에서는 </a:t>
            </a:r>
            <a:r>
              <a:rPr lang="en-US" altLang="ko-KR" dirty="0"/>
              <a:t>Soft label</a:t>
            </a:r>
            <a:r>
              <a:rPr lang="ko-KR" altLang="en-US" dirty="0"/>
              <a:t>을 기반으로 한 </a:t>
            </a:r>
            <a:r>
              <a:rPr lang="en-US" altLang="ko-KR" dirty="0"/>
              <a:t>Cross-Entropy Loss</a:t>
            </a:r>
            <a:r>
              <a:rPr lang="ko-KR" altLang="en-US" dirty="0"/>
              <a:t>와 </a:t>
            </a:r>
            <a:r>
              <a:rPr lang="en-US" altLang="ko-KR" dirty="0"/>
              <a:t>Hidden State Matching</a:t>
            </a:r>
            <a:r>
              <a:rPr lang="ko-KR" altLang="en-US" dirty="0"/>
              <a:t>을 결합하여 </a:t>
            </a:r>
            <a:r>
              <a:rPr lang="en-US" altLang="ko-KR" dirty="0"/>
              <a:t>Teacher </a:t>
            </a:r>
            <a:r>
              <a:rPr lang="ko-KR" altLang="en-US" dirty="0"/>
              <a:t>모델의 지식을 효과적으로 전달받았음</a:t>
            </a:r>
            <a:r>
              <a:rPr lang="en-US" altLang="ko-KR" dirty="0"/>
              <a:t>. </a:t>
            </a:r>
            <a:r>
              <a:rPr lang="ko-KR" altLang="en-US" dirty="0"/>
              <a:t>실제 </a:t>
            </a:r>
            <a:r>
              <a:rPr lang="en-US" altLang="ko-KR" dirty="0"/>
              <a:t>NLP </a:t>
            </a:r>
            <a:r>
              <a:rPr lang="ko-KR" altLang="en-US" dirty="0"/>
              <a:t>서비스에 적용 가능한 실용성과 효율성의 대표 사례임</a:t>
            </a:r>
            <a:r>
              <a:rPr lang="en-US" altLang="ko-KR" dirty="0"/>
              <a:t>. </a:t>
            </a:r>
            <a:endParaRPr lang="ko-KR" altLang="en-US" sz="1400" dirty="0"/>
          </a:p>
        </p:txBody>
      </p:sp>
      <p:sp>
        <p:nvSpPr>
          <p:cNvPr id="22" name="텍스트 개체 틀 4">
            <a:extLst>
              <a:ext uri="{FF2B5EF4-FFF2-40B4-BE49-F238E27FC236}">
                <a16:creationId xmlns:a16="http://schemas.microsoft.com/office/drawing/2014/main" id="{11C10441-A283-4162-878C-DDDA351D0759}"/>
              </a:ext>
            </a:extLst>
          </p:cNvPr>
          <p:cNvSpPr txBox="1">
            <a:spLocks/>
          </p:cNvSpPr>
          <p:nvPr/>
        </p:nvSpPr>
        <p:spPr>
          <a:xfrm>
            <a:off x="123599" y="6285142"/>
            <a:ext cx="9526427" cy="299258"/>
          </a:xfrm>
          <a:prstGeom prst="rect">
            <a:avLst/>
          </a:prstGeom>
          <a:noFill/>
          <a:ln>
            <a:noFill/>
          </a:ln>
        </p:spPr>
        <p:txBody>
          <a:bodyPr lIns="72000" tIns="3600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altLang="en-US" sz="1200" b="0" dirty="0"/>
              <a:t>참조</a:t>
            </a:r>
            <a:r>
              <a:rPr lang="en-US" altLang="ko-KR" sz="1200" b="0" dirty="0"/>
              <a:t>: https://www.scaler.com/topics/nlp/bert-variants/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447F1F4-5CAD-B777-9ECC-B2EC1D841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580" y="2121779"/>
            <a:ext cx="5576839" cy="399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64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EE25-B4F3-9984-A4B9-A75D31A2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414788-C86B-546C-C36E-A9BC8CED2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III. Comparison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CFA8C-F7C1-6725-6021-7365E22862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KD</a:t>
            </a:r>
            <a:r>
              <a:rPr lang="ko-KR" altLang="en-US" dirty="0"/>
              <a:t>와 </a:t>
            </a:r>
            <a:r>
              <a:rPr lang="en-US" altLang="ko-KR" dirty="0"/>
              <a:t>Quantization </a:t>
            </a:r>
            <a:r>
              <a:rPr lang="ko-KR" altLang="en-US" dirty="0"/>
              <a:t>비교 요약</a:t>
            </a:r>
          </a:p>
        </p:txBody>
      </p:sp>
    </p:spTree>
    <p:extLst>
      <p:ext uri="{BB962C8B-B14F-4D97-AF65-F5344CB8AC3E}">
        <p14:creationId xmlns:p14="http://schemas.microsoft.com/office/powerpoint/2010/main" val="1218519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8421364-E799-B656-6058-B2C69770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KD</a:t>
            </a:r>
            <a:r>
              <a:rPr lang="ko-KR" altLang="en-US" dirty="0"/>
              <a:t>와 </a:t>
            </a:r>
            <a:r>
              <a:rPr lang="en-US" altLang="ko-KR" dirty="0"/>
              <a:t>Quantization </a:t>
            </a:r>
            <a:r>
              <a:rPr lang="ko-KR" altLang="en-US" dirty="0"/>
              <a:t>비교 요약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D83C73-F8CC-E3F2-027A-E825B26B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Comparison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9185E1-436C-3DD1-24D4-9CF07D6AF5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38E4644-1180-8932-8F18-68FBA9C44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391974"/>
              </p:ext>
            </p:extLst>
          </p:nvPr>
        </p:nvGraphicFramePr>
        <p:xfrm>
          <a:off x="1221741" y="1636969"/>
          <a:ext cx="74625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790">
                  <a:extLst>
                    <a:ext uri="{9D8B030D-6E8A-4147-A177-3AD203B41FA5}">
                      <a16:colId xmlns:a16="http://schemas.microsoft.com/office/drawing/2014/main" val="2302459298"/>
                    </a:ext>
                  </a:extLst>
                </a:gridCol>
                <a:gridCol w="3005364">
                  <a:extLst>
                    <a:ext uri="{9D8B030D-6E8A-4147-A177-3AD203B41FA5}">
                      <a16:colId xmlns:a16="http://schemas.microsoft.com/office/drawing/2014/main" val="209355074"/>
                    </a:ext>
                  </a:extLst>
                </a:gridCol>
                <a:gridCol w="3005364">
                  <a:extLst>
                    <a:ext uri="{9D8B030D-6E8A-4147-A177-3AD203B41FA5}">
                      <a16:colId xmlns:a16="http://schemas.microsoft.com/office/drawing/2014/main" val="347976242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Knowledge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Distillation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Quantization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753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 크기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복잡도 ↓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일반화 성능 유지↑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메모리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연산 대역폭 ↓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추론 속도↑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177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+mn-ea"/>
                          <a:ea typeface="+mn-ea"/>
                        </a:rPr>
                        <a:t>Teacher→Student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soft target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전이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파라미터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활성화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비트폭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축소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7315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 필요성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재학습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(Student)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필요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 PTQ: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불필요</a:t>
                      </a:r>
                      <a:br>
                        <a:rPr lang="ko-KR" altLang="en-US" sz="1200" dirty="0">
                          <a:latin typeface="+mn-ea"/>
                          <a:ea typeface="+mn-ea"/>
                        </a:rPr>
                      </a:b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 QAT: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필요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7267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정밀도 손실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보통 작음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>
                          <a:latin typeface="+mn-ea"/>
                          <a:ea typeface="+mn-ea"/>
                        </a:rPr>
                        <a:t>Dark Knowledge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보존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비트 축소로 인해 큼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특히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PTQ)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8983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추론 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n-ea"/>
                          <a:ea typeface="+mn-ea"/>
                        </a:rPr>
                        <a:t>Student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추론만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>
                          <a:latin typeface="+mn-ea"/>
                          <a:ea typeface="+mn-ea"/>
                        </a:rPr>
                        <a:t>Teacher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불필요시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저비트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연산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하드웨어 가속 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402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적용 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모델 설계 후 추가 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학습 후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(PTQ)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또는 학습 중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(QAT)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6932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하이퍼파라미터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온도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T, α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등 경험적 튜닝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비트폭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스케일링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7211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68769A-424C-5663-69F4-3050093DCC10}"/>
              </a:ext>
            </a:extLst>
          </p:cNvPr>
          <p:cNvSpPr txBox="1"/>
          <p:nvPr/>
        </p:nvSpPr>
        <p:spPr>
          <a:xfrm>
            <a:off x="5777315" y="4082832"/>
            <a:ext cx="296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latin typeface="+mn-ea"/>
                <a:ea typeface="+mn-ea"/>
              </a:rPr>
              <a:t>PTQ: Post-Training Quantization</a:t>
            </a:r>
          </a:p>
          <a:p>
            <a:r>
              <a:rPr lang="en-US" altLang="ko-KR" sz="1200" b="0" dirty="0">
                <a:latin typeface="+mn-ea"/>
                <a:ea typeface="+mn-ea"/>
              </a:rPr>
              <a:t>QAT: Quantization-Aware Training</a:t>
            </a:r>
            <a:endParaRPr lang="ko-KR" alt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893109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166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85DA41-E0A0-46A2-8C4A-9A799042A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개념 및 정의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602379-7F8D-4FBC-9218-2A74DB6E7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Knowledge Distillation</a:t>
            </a:r>
            <a:r>
              <a:rPr lang="ko-KR" altLang="en-US" dirty="0"/>
              <a:t>는 대규모이고 복잡한 교사 모델의 예측 분포와 내부 표현을</a:t>
            </a:r>
            <a:r>
              <a:rPr lang="en-US" altLang="ko-KR" dirty="0"/>
              <a:t>, </a:t>
            </a:r>
            <a:r>
              <a:rPr lang="ko-KR" altLang="en-US" dirty="0"/>
              <a:t>파라미터가 적고 </a:t>
            </a:r>
            <a:r>
              <a:rPr lang="ko-KR" altLang="en-US" dirty="0" err="1"/>
              <a:t>경량화된</a:t>
            </a:r>
            <a:r>
              <a:rPr lang="ko-KR" altLang="en-US" dirty="0"/>
              <a:t> 학생</a:t>
            </a:r>
            <a:r>
              <a:rPr lang="en-US" altLang="ko-KR" dirty="0"/>
              <a:t> </a:t>
            </a:r>
            <a:r>
              <a:rPr lang="ko-KR" altLang="en-US" dirty="0"/>
              <a:t>모델이 모방하도록 학습시키는 기법이다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297A51F-4EC2-4018-8315-D5553DA5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53B338-A845-4853-9BD9-18F00B2BBC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8C0DA4-610F-A677-9EB8-C028748B2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73" y="2203009"/>
            <a:ext cx="9108653" cy="323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58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28024-EC9D-3A32-E996-43947A57E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BC8BB56-FE48-3AEA-64A1-B8E4A249D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Student Model</a:t>
            </a:r>
            <a:r>
              <a:rPr lang="ko-KR" altLang="en-US" dirty="0"/>
              <a:t>의 선정 기준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B870A-D41D-2C0C-D737-82CFEC88B4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Student Model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깊이와 파라미터 수를 결정할 때는 다음 </a:t>
            </a:r>
            <a:r>
              <a:rPr lang="en-US" altLang="ko-KR" dirty="0"/>
              <a:t>4</a:t>
            </a:r>
            <a:r>
              <a:rPr lang="ko-KR" altLang="en-US" dirty="0"/>
              <a:t>가지 관점을 종합적으로 고려한다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05EA61E-014F-4B28-B6BD-4650E94A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890C13-FD5C-A549-E88E-AFA2C399CC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3ABD53-4B75-0F94-80D5-CEA45F404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7" y="2957127"/>
            <a:ext cx="2880000" cy="17918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04ECFC-AFC8-890A-8858-03E4DB63BA34}"/>
              </a:ext>
            </a:extLst>
          </p:cNvPr>
          <p:cNvSpPr txBox="1">
            <a:spLocks/>
          </p:cNvSpPr>
          <p:nvPr/>
        </p:nvSpPr>
        <p:spPr>
          <a:xfrm>
            <a:off x="4032459" y="209214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dirty="0">
                <a:latin typeface="+mn-ea"/>
                <a:ea typeface="+mn-ea"/>
              </a:rPr>
              <a:t>목표 리소스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A6AA1-3D5A-46C8-9E0F-9D9DF309CE10}"/>
              </a:ext>
            </a:extLst>
          </p:cNvPr>
          <p:cNvSpPr txBox="1"/>
          <p:nvPr/>
        </p:nvSpPr>
        <p:spPr>
          <a:xfrm>
            <a:off x="5328459" y="2131310"/>
            <a:ext cx="440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최종 배포 환경 고려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허용 가능한 추론 지연과 메모리 선정</a:t>
            </a:r>
            <a:endParaRPr lang="en-US" altLang="ko-KR" sz="1200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A24D4A-609A-4E72-81C9-39FF69BC545A}"/>
              </a:ext>
            </a:extLst>
          </p:cNvPr>
          <p:cNvSpPr txBox="1">
            <a:spLocks/>
          </p:cNvSpPr>
          <p:nvPr/>
        </p:nvSpPr>
        <p:spPr>
          <a:xfrm>
            <a:off x="4032459" y="304220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dirty="0">
                <a:latin typeface="+mn-ea"/>
                <a:ea typeface="+mn-ea"/>
              </a:rPr>
              <a:t>용량 격차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2E5D2-EA64-9B2B-2AE1-0D8228393094}"/>
              </a:ext>
            </a:extLst>
          </p:cNvPr>
          <p:cNvSpPr txBox="1"/>
          <p:nvPr/>
        </p:nvSpPr>
        <p:spPr>
          <a:xfrm>
            <a:off x="5328458" y="3081370"/>
            <a:ext cx="440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너무 작은 모델은 최적화가 어려워 성능 급락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+mn-ea"/>
                <a:ea typeface="+mn-ea"/>
              </a:rPr>
              <a:t>Teacher Model</a:t>
            </a:r>
            <a:r>
              <a:rPr lang="ko-KR" altLang="en-US" sz="1200" b="0" dirty="0">
                <a:latin typeface="+mn-ea"/>
                <a:ea typeface="+mn-ea"/>
              </a:rPr>
              <a:t>의 </a:t>
            </a:r>
            <a:r>
              <a:rPr lang="en-US" altLang="ko-KR" sz="1200" b="0" dirty="0">
                <a:latin typeface="+mn-ea"/>
                <a:ea typeface="+mn-ea"/>
              </a:rPr>
              <a:t>30~60% </a:t>
            </a:r>
            <a:r>
              <a:rPr lang="ko-KR" altLang="en-US" sz="1200" b="0" dirty="0">
                <a:latin typeface="+mn-ea"/>
                <a:ea typeface="+mn-ea"/>
              </a:rPr>
              <a:t>수준으로 시작</a:t>
            </a:r>
            <a:endParaRPr lang="en-US" altLang="ko-KR" sz="1200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9E7F5F-8506-3645-CD1B-69A2E170A7FA}"/>
              </a:ext>
            </a:extLst>
          </p:cNvPr>
          <p:cNvSpPr txBox="1">
            <a:spLocks/>
          </p:cNvSpPr>
          <p:nvPr/>
        </p:nvSpPr>
        <p:spPr>
          <a:xfrm>
            <a:off x="4032457" y="399226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dirty="0">
                <a:latin typeface="+mn-ea"/>
                <a:ea typeface="+mn-ea"/>
              </a:rPr>
              <a:t>아키텍처 </a:t>
            </a:r>
            <a:endParaRPr lang="en-US" altLang="ko-KR" dirty="0">
              <a:latin typeface="+mn-ea"/>
              <a:ea typeface="+mn-ea"/>
            </a:endParaRPr>
          </a:p>
          <a:p>
            <a:pPr algn="ctr"/>
            <a:r>
              <a:rPr lang="ko-KR" altLang="en-US" dirty="0">
                <a:latin typeface="+mn-ea"/>
                <a:ea typeface="+mn-ea"/>
              </a:rPr>
              <a:t>축소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5161D4-439A-169F-D230-746AAE7D3A56}"/>
                  </a:ext>
                </a:extLst>
              </p:cNvPr>
              <p:cNvSpPr txBox="1"/>
              <p:nvPr/>
            </p:nvSpPr>
            <p:spPr>
              <a:xfrm>
                <a:off x="5328457" y="3846764"/>
                <a:ext cx="44077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+mn-ea"/>
                    <a:ea typeface="+mn-ea"/>
                  </a:rPr>
                  <a:t>층 수 감소</a:t>
                </a:r>
                <a:r>
                  <a:rPr lang="en-US" altLang="ko-KR" sz="1200" b="0" dirty="0">
                    <a:latin typeface="+mn-ea"/>
                    <a:ea typeface="+mn-ea"/>
                  </a:rPr>
                  <a:t>: Teacher Model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절반 또는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den>
                    </m:f>
                  </m:oMath>
                </a14:m>
                <a:r>
                  <a:rPr lang="ko-KR" altLang="en-US" sz="1200" b="0" dirty="0">
                    <a:latin typeface="+mn-ea"/>
                    <a:ea typeface="+mn-ea"/>
                  </a:rPr>
                  <a:t>로</a:t>
                </a:r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설정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+mn-ea"/>
                    <a:ea typeface="+mn-ea"/>
                  </a:rPr>
                  <a:t>폭 감소</a:t>
                </a:r>
                <a:r>
                  <a:rPr lang="en-US" altLang="ko-KR" sz="1200" b="0" dirty="0">
                    <a:latin typeface="+mn-ea"/>
                    <a:ea typeface="+mn-ea"/>
                  </a:rPr>
                  <a:t>: </a:t>
                </a:r>
                <a:r>
                  <a:rPr lang="ko-KR" altLang="en-US" sz="1200" b="0" dirty="0">
                    <a:latin typeface="+mn-ea"/>
                    <a:ea typeface="+mn-ea"/>
                  </a:rPr>
                  <a:t> 각 층 채널 수를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sz="1200" b="0" dirty="0">
                    <a:latin typeface="+mn-ea"/>
                    <a:ea typeface="+mn-ea"/>
                  </a:rPr>
                  <a:t>로 설정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+mn-ea"/>
                    <a:ea typeface="+mn-ea"/>
                  </a:rPr>
                  <a:t>혼합</a:t>
                </a:r>
                <a:r>
                  <a:rPr lang="en-US" altLang="ko-KR" sz="1200" b="0" dirty="0">
                    <a:latin typeface="+mn-ea"/>
                    <a:ea typeface="+mn-ea"/>
                  </a:rPr>
                  <a:t>: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층은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, </a:t>
                </a:r>
                <a:r>
                  <a:rPr lang="ko-KR" altLang="en-US" sz="1200" b="0" dirty="0">
                    <a:latin typeface="+mn-ea"/>
                    <a:ea typeface="+mn-ea"/>
                  </a:rPr>
                  <a:t>폭은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등 비율 조합으로 탐색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+mn-ea"/>
                    <a:ea typeface="+mn-ea"/>
                  </a:rPr>
                  <a:t>조정 보조</a:t>
                </a:r>
                <a:r>
                  <a:rPr lang="en-US" altLang="ko-KR" sz="1200" b="0" dirty="0">
                    <a:latin typeface="+mn-ea"/>
                    <a:ea typeface="+mn-ea"/>
                  </a:rPr>
                  <a:t>: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중간 크기의 모델을 사용하여 단계적 증류 적용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5161D4-439A-169F-D230-746AAE7D3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7" y="3846764"/>
                <a:ext cx="4407724" cy="830997"/>
              </a:xfrm>
              <a:prstGeom prst="rect">
                <a:avLst/>
              </a:prstGeom>
              <a:blipFill>
                <a:blip r:embed="rId3"/>
                <a:stretch>
                  <a:fillRect t="-30882" b="-272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ECBE050-E2A7-B306-AAC6-A8DDB0470464}"/>
              </a:ext>
            </a:extLst>
          </p:cNvPr>
          <p:cNvSpPr txBox="1">
            <a:spLocks/>
          </p:cNvSpPr>
          <p:nvPr/>
        </p:nvSpPr>
        <p:spPr>
          <a:xfrm>
            <a:off x="4032457" y="4942322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ko-KR" altLang="en-US" dirty="0">
                <a:latin typeface="+mn-ea"/>
                <a:ea typeface="+mn-ea"/>
              </a:rPr>
              <a:t>경험적 검증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1FA59-E87C-1B0E-F26A-ED8AE5D999A8}"/>
              </a:ext>
            </a:extLst>
          </p:cNvPr>
          <p:cNvSpPr txBox="1"/>
          <p:nvPr/>
        </p:nvSpPr>
        <p:spPr>
          <a:xfrm>
            <a:off x="5328459" y="4981489"/>
            <a:ext cx="4407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후보 </a:t>
            </a:r>
            <a:r>
              <a:rPr lang="en-US" altLang="ko-KR" sz="1200" b="0" dirty="0">
                <a:latin typeface="+mn-ea"/>
                <a:ea typeface="+mn-ea"/>
              </a:rPr>
              <a:t>Student </a:t>
            </a:r>
            <a:r>
              <a:rPr lang="ko-KR" altLang="en-US" sz="1200" b="0" dirty="0">
                <a:latin typeface="+mn-ea"/>
                <a:ea typeface="+mn-ea"/>
              </a:rPr>
              <a:t>아키텍처에 대해 </a:t>
            </a:r>
            <a:r>
              <a:rPr lang="en-US" altLang="ko-KR" sz="1200" b="0" dirty="0">
                <a:latin typeface="+mn-ea"/>
                <a:ea typeface="+mn-ea"/>
              </a:rPr>
              <a:t>Distillation </a:t>
            </a:r>
            <a:r>
              <a:rPr lang="ko-KR" altLang="en-US" sz="1200" b="0" dirty="0">
                <a:latin typeface="+mn-ea"/>
                <a:ea typeface="+mn-ea"/>
              </a:rPr>
              <a:t>수행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검증에 대한 성능과 추론 속도를 비교하여 </a:t>
            </a:r>
            <a:r>
              <a:rPr lang="ko-KR" altLang="en-US" sz="1200" b="0" dirty="0" err="1">
                <a:latin typeface="+mn-ea"/>
                <a:ea typeface="+mn-ea"/>
              </a:rPr>
              <a:t>최적점</a:t>
            </a:r>
            <a:r>
              <a:rPr lang="ko-KR" altLang="en-US" sz="1200" b="0" dirty="0">
                <a:latin typeface="+mn-ea"/>
                <a:ea typeface="+mn-ea"/>
              </a:rPr>
              <a:t> 선택</a:t>
            </a:r>
            <a:endParaRPr lang="en-US" altLang="ko-KR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6075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8910-FC94-917F-43F4-2E8B6CF2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2526290-98A5-FB1E-A810-1C868765C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7" y="2725958"/>
            <a:ext cx="2880000" cy="2241612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35B51DF-1ECB-5473-CE46-A06DFFC18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 with </a:t>
            </a:r>
            <a:r>
              <a:rPr lang="en-US" altLang="ko-KR" dirty="0" err="1"/>
              <a:t>Temperture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80938F-59EE-A027-0404-1C3720538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모델이 계산해내는 선형 조합 값인 </a:t>
            </a:r>
            <a:r>
              <a:rPr lang="ko-KR" altLang="en-US" dirty="0" err="1"/>
              <a:t>로짓</a:t>
            </a:r>
            <a:r>
              <a:rPr lang="en-US" altLang="ko-KR" dirty="0"/>
              <a:t>(Logit) </a:t>
            </a:r>
            <a:r>
              <a:rPr lang="ko-KR" altLang="en-US" dirty="0"/>
              <a:t>벡터를 </a:t>
            </a:r>
            <a:r>
              <a:rPr lang="en-US" altLang="ko-KR" dirty="0" err="1"/>
              <a:t>Softmax</a:t>
            </a:r>
            <a:r>
              <a:rPr lang="ko-KR" altLang="en-US" dirty="0"/>
              <a:t>에 적용하는 단계로 손실 계산에 사용되는 값을 생성한다</a:t>
            </a:r>
            <a:r>
              <a:rPr lang="en-US" altLang="ko-KR" dirty="0"/>
              <a:t>. 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온도라는 개념을 사용하여 보다 부드러운 확률 분포를 만들어낸다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493249C-E123-B43F-61B4-9CDC352D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EAEC0F-73E9-365C-2907-6868CDD09C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BE8AC-CD08-A24F-CFA2-39031BD553EE}"/>
              </a:ext>
            </a:extLst>
          </p:cNvPr>
          <p:cNvSpPr txBox="1">
            <a:spLocks/>
          </p:cNvSpPr>
          <p:nvPr/>
        </p:nvSpPr>
        <p:spPr>
          <a:xfrm>
            <a:off x="4032457" y="399226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 err="1">
                <a:latin typeface="+mn-ea"/>
                <a:ea typeface="+mn-ea"/>
              </a:rPr>
              <a:t>Softmax</a:t>
            </a:r>
            <a:endParaRPr lang="en-US" altLang="ko-KR" dirty="0">
              <a:latin typeface="+mn-ea"/>
              <a:ea typeface="+mn-ea"/>
            </a:endParaRPr>
          </a:p>
          <a:p>
            <a:pPr algn="ctr"/>
            <a:r>
              <a:rPr lang="en-US" altLang="ko-KR" dirty="0">
                <a:latin typeface="+mn-ea"/>
                <a:ea typeface="+mn-ea"/>
              </a:rPr>
              <a:t>(T=t)</a:t>
            </a:r>
            <a:endParaRPr lang="ko-KR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69DA2F9-3D3C-E2CF-759F-C0199AFBF039}"/>
                  </a:ext>
                </a:extLst>
              </p:cNvPr>
              <p:cNvSpPr txBox="1"/>
              <p:nvPr/>
            </p:nvSpPr>
            <p:spPr>
              <a:xfrm>
                <a:off x="5328457" y="4029942"/>
                <a:ext cx="4407724" cy="468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Teacher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ko-KR" altLang="en-US" sz="1200" b="0" dirty="0" err="1">
                    <a:latin typeface="+mn-ea"/>
                    <a:ea typeface="+mn-ea"/>
                  </a:rPr>
                  <a:t>로짓</a:t>
                </a:r>
                <a:r>
                  <a:rPr lang="ko-KR" altLang="en-US" sz="1200" b="0" dirty="0">
                    <a:latin typeface="+mn-ea"/>
                    <a:ea typeface="+mn-ea"/>
                  </a:rPr>
                  <a:t> 벡터 </a:t>
                </a:r>
                <a14:m>
                  <m:oMath xmlns:m="http://schemas.openxmlformats.org/officeDocument/2006/math">
                    <m:r>
                      <a:rPr lang="en-US" altLang="ko-KR" sz="1200" b="1" i="0" smtClean="0">
                        <a:latin typeface="Cambria Math" panose="02040503050406030204" pitchFamily="18" charset="0"/>
                        <a:ea typeface="+mn-ea"/>
                      </a:rPr>
                      <m:t>𝐳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ko-KR" altLang="en-US" sz="1200" b="0" i="1">
                        <a:latin typeface="Cambria Math" panose="02040503050406030204" pitchFamily="18" charset="0"/>
                        <a:ea typeface="+mn-ea"/>
                      </a:rPr>
                      <m:t>에</m:t>
                    </m:r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대해 적용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ko-KR" altLang="en-US" sz="1200" b="0" dirty="0" err="1">
                    <a:latin typeface="+mn-ea"/>
                    <a:ea typeface="+mn-ea"/>
                  </a:rPr>
                  <a:t>로짓</a:t>
                </a:r>
                <a:r>
                  <a:rPr lang="ko-KR" altLang="en-US" sz="1200" b="0" dirty="0">
                    <a:latin typeface="+mn-ea"/>
                    <a:ea typeface="+mn-ea"/>
                  </a:rPr>
                  <a:t> 벡터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+mn-ea"/>
                      </a:rPr>
                      <m:t>𝒔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ko-KR" altLang="en-US" sz="1200" b="0" i="1">
                        <a:latin typeface="Cambria Math" panose="02040503050406030204" pitchFamily="18" charset="0"/>
                        <a:ea typeface="+mn-ea"/>
                      </a:rPr>
                      <m:t>에</m:t>
                    </m:r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대해 적용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69DA2F9-3D3C-E2CF-759F-C0199AFBF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7" y="4029942"/>
                <a:ext cx="4407724" cy="468718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6C87968-28CA-FA23-A12E-5F1B51682F11}"/>
              </a:ext>
            </a:extLst>
          </p:cNvPr>
          <p:cNvSpPr txBox="1">
            <a:spLocks/>
          </p:cNvSpPr>
          <p:nvPr/>
        </p:nvSpPr>
        <p:spPr>
          <a:xfrm>
            <a:off x="4032457" y="4942322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 err="1">
                <a:latin typeface="+mn-ea"/>
                <a:ea typeface="+mn-ea"/>
              </a:rPr>
              <a:t>Softmax</a:t>
            </a:r>
            <a:endParaRPr lang="en-US" altLang="ko-KR" dirty="0">
              <a:latin typeface="+mn-ea"/>
              <a:ea typeface="+mn-ea"/>
            </a:endParaRPr>
          </a:p>
          <a:p>
            <a:pPr algn="ctr"/>
            <a:r>
              <a:rPr lang="en-US" altLang="ko-KR" dirty="0">
                <a:latin typeface="+mn-ea"/>
                <a:ea typeface="+mn-ea"/>
              </a:rPr>
              <a:t>(T=1)</a:t>
            </a:r>
            <a:endParaRPr lang="ko-KR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7C5CEB-684E-7992-AFC7-9A8D2B2F3590}"/>
                  </a:ext>
                </a:extLst>
              </p:cNvPr>
              <p:cNvSpPr txBox="1"/>
              <p:nvPr/>
            </p:nvSpPr>
            <p:spPr>
              <a:xfrm>
                <a:off x="5328459" y="5072059"/>
                <a:ext cx="4407724" cy="280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ko-KR" altLang="en-US" sz="1200" b="0" dirty="0" err="1">
                    <a:latin typeface="+mn-ea"/>
                    <a:ea typeface="+mn-ea"/>
                  </a:rPr>
                  <a:t>로짓</a:t>
                </a:r>
                <a:r>
                  <a:rPr lang="ko-KR" altLang="en-US" sz="1200" b="0" dirty="0">
                    <a:latin typeface="+mn-ea"/>
                    <a:ea typeface="+mn-ea"/>
                  </a:rPr>
                  <a:t> 벡터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+mn-ea"/>
                      </a:rPr>
                      <m:t>𝒔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ko-KR" altLang="en-US" sz="1200" b="0" i="1">
                        <a:latin typeface="Cambria Math" panose="02040503050406030204" pitchFamily="18" charset="0"/>
                        <a:ea typeface="+mn-ea"/>
                      </a:rPr>
                      <m:t>에</m:t>
                    </m:r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대해 적용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7C5CEB-684E-7992-AFC7-9A8D2B2F3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9" y="5072059"/>
                <a:ext cx="4407724" cy="280526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A886D8-9529-0341-B28C-6F9844EB33AA}"/>
                  </a:ext>
                </a:extLst>
              </p:cNvPr>
              <p:cNvSpPr txBox="1"/>
              <p:nvPr/>
            </p:nvSpPr>
            <p:spPr>
              <a:xfrm>
                <a:off x="4497976" y="2402426"/>
                <a:ext cx="4246421" cy="727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𝑠𝑜𝑓𝑡𝑚𝑎𝑥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𝑗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  <a:ea typeface="+mn-ea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/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2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A886D8-9529-0341-B28C-6F9844EB3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976" y="2402426"/>
                <a:ext cx="4246421" cy="7271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852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1024-2675-DD04-57E4-9EE0FDCA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F191970-5C4D-021E-8319-35DF7C390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7" y="2286093"/>
            <a:ext cx="2880000" cy="3133905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95F32C9-21FE-D812-DAB6-AA8D06C0D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FF542F-2C3D-91FF-26F5-C25435A0A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Student Model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깊이와 파라미터 수를 결정할 때는 다음 </a:t>
            </a:r>
            <a:r>
              <a:rPr lang="en-US" altLang="ko-KR" dirty="0"/>
              <a:t>4</a:t>
            </a:r>
            <a:r>
              <a:rPr lang="ko-KR" altLang="en-US" dirty="0"/>
              <a:t>가지 관점을 종합적으로 고려한다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93E3119-5155-E2C9-0A68-C3BF1CD2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1EC8EE-D24A-3DCD-BBE4-F5F13F88E1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2D2FD-39B5-2FA8-0D48-07184854F1EF}"/>
              </a:ext>
            </a:extLst>
          </p:cNvPr>
          <p:cNvSpPr txBox="1">
            <a:spLocks/>
          </p:cNvSpPr>
          <p:nvPr/>
        </p:nvSpPr>
        <p:spPr>
          <a:xfrm>
            <a:off x="4032459" y="209214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Soft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Labels</a:t>
            </a:r>
            <a:endParaRPr lang="ko-KR" altLang="en-US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6EAE79-BCF6-8B5D-C656-49CF9AA24C61}"/>
                  </a:ext>
                </a:extLst>
              </p:cNvPr>
              <p:cNvSpPr txBox="1"/>
              <p:nvPr/>
            </p:nvSpPr>
            <p:spPr>
              <a:xfrm>
                <a:off x="5328459" y="2131310"/>
                <a:ext cx="44077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Teacher</a:t>
                </a:r>
                <a:r>
                  <a:rPr lang="ko-KR" altLang="en-US" sz="1200" b="0" dirty="0">
                    <a:latin typeface="+mn-ea"/>
                    <a:ea typeface="+mn-ea"/>
                  </a:rPr>
                  <a:t>가 온도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&gt;1</m:t>
                    </m:r>
                  </m:oMath>
                </a14:m>
                <a:r>
                  <a:rPr lang="ko-KR" altLang="en-US" sz="1200" b="0" dirty="0">
                    <a:latin typeface="+mn-ea"/>
                    <a:ea typeface="+mn-ea"/>
                  </a:rPr>
                  <a:t>로 생성한 확률 분포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en-US" altLang="ko-KR" sz="1200" b="0" dirty="0">
                    <a:latin typeface="+mn-ea"/>
                    <a:ea typeface="+mn-ea"/>
                  </a:rPr>
                  <a:t>Knowledge Distillation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손실</a:t>
                </a:r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계산용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6EAE79-BCF6-8B5D-C656-49CF9AA24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9" y="2131310"/>
                <a:ext cx="4407723" cy="461665"/>
              </a:xfrm>
              <a:prstGeom prst="rect">
                <a:avLst/>
              </a:prstGeom>
              <a:blipFill>
                <a:blip r:embed="rId3"/>
                <a:stretch>
                  <a:fillRect t="-2667" b="-1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1E1446-1242-1B6B-157B-1E0F29EC1989}"/>
              </a:ext>
            </a:extLst>
          </p:cNvPr>
          <p:cNvSpPr txBox="1">
            <a:spLocks/>
          </p:cNvSpPr>
          <p:nvPr/>
        </p:nvSpPr>
        <p:spPr>
          <a:xfrm>
            <a:off x="4032459" y="304220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Soft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Predictions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8F222-653E-74F6-084E-68014593B14E}"/>
              </a:ext>
            </a:extLst>
          </p:cNvPr>
          <p:cNvSpPr txBox="1">
            <a:spLocks/>
          </p:cNvSpPr>
          <p:nvPr/>
        </p:nvSpPr>
        <p:spPr>
          <a:xfrm>
            <a:off x="4032457" y="399226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Hard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Predictions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AA7B4-9653-4593-278D-3BDF2EAF18AC}"/>
              </a:ext>
            </a:extLst>
          </p:cNvPr>
          <p:cNvSpPr txBox="1">
            <a:spLocks/>
          </p:cNvSpPr>
          <p:nvPr/>
        </p:nvSpPr>
        <p:spPr>
          <a:xfrm>
            <a:off x="4032457" y="4942322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Hard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Labels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DF981-A98C-C8F1-9BEC-9F9354D1CC70}"/>
              </a:ext>
            </a:extLst>
          </p:cNvPr>
          <p:cNvSpPr txBox="1"/>
          <p:nvPr/>
        </p:nvSpPr>
        <p:spPr>
          <a:xfrm>
            <a:off x="5328459" y="4981489"/>
            <a:ext cx="440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원</a:t>
            </a:r>
            <a:r>
              <a:rPr lang="en-US" altLang="ko-KR" sz="1200" b="0" dirty="0">
                <a:latin typeface="+mn-ea"/>
                <a:ea typeface="+mn-ea"/>
              </a:rPr>
              <a:t>-</a:t>
            </a:r>
            <a:r>
              <a:rPr lang="ko-KR" altLang="en-US" sz="1200" b="0" dirty="0">
                <a:latin typeface="+mn-ea"/>
                <a:ea typeface="+mn-ea"/>
              </a:rPr>
              <a:t>핫 정답 벡터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+mn-ea"/>
                <a:ea typeface="+mn-ea"/>
              </a:rPr>
              <a:t>Student</a:t>
            </a:r>
            <a:r>
              <a:rPr lang="ko-KR" altLang="en-US" sz="1200" b="0" dirty="0">
                <a:latin typeface="+mn-ea"/>
                <a:ea typeface="+mn-ea"/>
              </a:rPr>
              <a:t>의 손실 계산용 정답 레이블로 사용</a:t>
            </a:r>
            <a:endParaRPr lang="en-US" altLang="ko-KR" sz="1200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A642EB-BC30-EFA7-A1FB-CB24E288BB7A}"/>
                  </a:ext>
                </a:extLst>
              </p:cNvPr>
              <p:cNvSpPr txBox="1"/>
              <p:nvPr/>
            </p:nvSpPr>
            <p:spPr>
              <a:xfrm>
                <a:off x="5328457" y="3083434"/>
                <a:ext cx="44077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가 온도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&gt;1</m:t>
                    </m:r>
                  </m:oMath>
                </a14:m>
                <a:r>
                  <a:rPr lang="ko-KR" altLang="en-US" sz="1200" b="0" dirty="0">
                    <a:latin typeface="+mn-ea"/>
                    <a:ea typeface="+mn-ea"/>
                  </a:rPr>
                  <a:t>로 생성한 확률 분포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Teacher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en-US" altLang="ko-KR" sz="1200" b="0" dirty="0">
                    <a:latin typeface="+mn-ea"/>
                    <a:ea typeface="+mn-ea"/>
                  </a:rPr>
                  <a:t>Soft Labels</a:t>
                </a:r>
                <a:r>
                  <a:rPr lang="ko-KR" altLang="en-US" sz="1200" b="0" dirty="0">
                    <a:latin typeface="+mn-ea"/>
                    <a:ea typeface="+mn-ea"/>
                  </a:rPr>
                  <a:t>와 비교하여 손실 계산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A642EB-BC30-EFA7-A1FB-CB24E288B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7" y="3083434"/>
                <a:ext cx="4407723" cy="461665"/>
              </a:xfrm>
              <a:prstGeom prst="rect">
                <a:avLst/>
              </a:prstGeom>
              <a:blipFill>
                <a:blip r:embed="rId4"/>
                <a:stretch>
                  <a:fillRect t="-2632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A699F0-BAE8-AC63-04DB-DEB18ACF03DA}"/>
                  </a:ext>
                </a:extLst>
              </p:cNvPr>
              <p:cNvSpPr txBox="1"/>
              <p:nvPr/>
            </p:nvSpPr>
            <p:spPr>
              <a:xfrm>
                <a:off x="5328459" y="4029365"/>
                <a:ext cx="44077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가</a:t>
                </a:r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온도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𝑇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</m:oMath>
                </a14:m>
                <a:r>
                  <a:rPr lang="ko-KR" altLang="en-US" sz="1200" b="0" dirty="0">
                    <a:latin typeface="+mn-ea"/>
                    <a:ea typeface="+mn-ea"/>
                  </a:rPr>
                  <a:t>로 생성한 일반 </a:t>
                </a:r>
                <a:r>
                  <a:rPr lang="en-US" altLang="ko-KR" sz="1200" b="0" dirty="0" err="1">
                    <a:latin typeface="+mn-ea"/>
                    <a:ea typeface="+mn-ea"/>
                  </a:rPr>
                  <a:t>softmax</a:t>
                </a:r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확률 분포</a:t>
                </a:r>
                <a:endParaRPr lang="en-US" altLang="ko-KR" sz="1200" b="0" dirty="0">
                  <a:latin typeface="+mn-ea"/>
                  <a:ea typeface="+mn-ea"/>
                </a:endParaRP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altLang="ko-KR" sz="1200" b="0" dirty="0">
                    <a:latin typeface="+mn-ea"/>
                    <a:ea typeface="+mn-ea"/>
                  </a:rPr>
                  <a:t>Hard Labels</a:t>
                </a:r>
                <a:r>
                  <a:rPr lang="ko-KR" altLang="en-US" sz="1200" b="0" dirty="0">
                    <a:latin typeface="+mn-ea"/>
                    <a:ea typeface="+mn-ea"/>
                  </a:rPr>
                  <a:t>와 비교하여 손실 계산</a:t>
                </a:r>
                <a:endParaRPr lang="en-US" altLang="ko-KR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A699F0-BAE8-AC63-04DB-DEB18ACF0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459" y="4029365"/>
                <a:ext cx="4407723" cy="461665"/>
              </a:xfrm>
              <a:prstGeom prst="rect">
                <a:avLst/>
              </a:prstGeom>
              <a:blipFill>
                <a:blip r:embed="rId5"/>
                <a:stretch>
                  <a:fillRect t="-2632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622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7963DCF6-7136-F548-C8F4-9DE17814D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5" y="2286092"/>
            <a:ext cx="2880000" cy="3133905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0940A1E-9C55-081C-4EFB-41D0A3D78D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Loss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A4695C7-0A93-D119-42BB-CC139F471F7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각 </a:t>
                </a:r>
                <a:r>
                  <a:rPr lang="en-US" altLang="ko-KR" dirty="0"/>
                  <a:t>Labels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Predictions</a:t>
                </a:r>
                <a:r>
                  <a:rPr lang="ko-KR" altLang="en-US" dirty="0"/>
                  <a:t>를 통해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+mn-ea"/>
                          </a:rPr>
                          <m:t>𝐾𝐷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r>
                  <a:rPr lang="ko-KR" altLang="en-US" dirty="0"/>
                  <a:t>를 계산한다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이후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이 둘과 균형을 조절하는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가중합한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최종 손실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r>
                  <a:rPr lang="ko-KR" altLang="en-US" dirty="0"/>
                  <a:t>를 계산하고 이를 </a:t>
                </a:r>
                <a:r>
                  <a:rPr lang="ko-KR" altLang="en-US" dirty="0" err="1"/>
                  <a:t>경사하강법으로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줄여나가며</a:t>
                </a:r>
                <a:r>
                  <a:rPr lang="ko-KR" altLang="en-US" dirty="0"/>
                  <a:t> 실제 정답을 맞추고 </a:t>
                </a:r>
                <a:r>
                  <a:rPr lang="en-US" altLang="ko-KR" dirty="0"/>
                  <a:t>Teacher</a:t>
                </a:r>
                <a:r>
                  <a:rPr lang="ko-KR" altLang="en-US" dirty="0"/>
                  <a:t>의 분포를 모방하도록 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A4695C7-0A93-D119-42BB-CC139F471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394" t="-2564" b="-10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4FF85114-EE3E-5FFC-37C3-06AAF6F4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8B8DB4-3D03-AD61-E73C-92F65968FD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66611-C4F6-7D48-697B-1D3067817CF9}"/>
              </a:ext>
            </a:extLst>
          </p:cNvPr>
          <p:cNvSpPr txBox="1">
            <a:spLocks/>
          </p:cNvSpPr>
          <p:nvPr/>
        </p:nvSpPr>
        <p:spPr>
          <a:xfrm>
            <a:off x="4032459" y="209214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KD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Loss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61DE5-EBB2-92F1-C07F-54CD6BADC418}"/>
              </a:ext>
            </a:extLst>
          </p:cNvPr>
          <p:cNvSpPr txBox="1"/>
          <p:nvPr/>
        </p:nvSpPr>
        <p:spPr>
          <a:xfrm>
            <a:off x="5328459" y="2131310"/>
            <a:ext cx="440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+mn-ea"/>
                <a:ea typeface="+mn-ea"/>
              </a:rPr>
              <a:t>Knowledge Distillation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0" dirty="0">
                <a:latin typeface="+mn-ea"/>
                <a:ea typeface="+mn-ea"/>
              </a:rPr>
              <a:t>두 모델의 분포를 가깝게 만들기 위해 사용</a:t>
            </a:r>
            <a:endParaRPr lang="en-US" altLang="ko-KR" sz="1200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5579E-01BE-CE2D-EA81-F40624EA6749}"/>
              </a:ext>
            </a:extLst>
          </p:cNvPr>
          <p:cNvSpPr txBox="1">
            <a:spLocks/>
          </p:cNvSpPr>
          <p:nvPr/>
        </p:nvSpPr>
        <p:spPr>
          <a:xfrm>
            <a:off x="4032457" y="3992263"/>
            <a:ext cx="1296000" cy="540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ko-KR" dirty="0">
                <a:latin typeface="+mn-ea"/>
                <a:ea typeface="+mn-ea"/>
              </a:rPr>
              <a:t>Student</a:t>
            </a:r>
          </a:p>
          <a:p>
            <a:pPr algn="ctr"/>
            <a:r>
              <a:rPr lang="en-US" altLang="ko-KR" dirty="0">
                <a:latin typeface="+mn-ea"/>
                <a:ea typeface="+mn-ea"/>
              </a:rPr>
              <a:t>Loss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11D2B-0AEC-9571-5D96-D9644557EFBB}"/>
              </a:ext>
            </a:extLst>
          </p:cNvPr>
          <p:cNvSpPr txBox="1"/>
          <p:nvPr/>
        </p:nvSpPr>
        <p:spPr>
          <a:xfrm>
            <a:off x="5328459" y="4029365"/>
            <a:ext cx="4407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+mn-ea"/>
                <a:ea typeface="+mn-ea"/>
              </a:rPr>
              <a:t>Student</a:t>
            </a:r>
            <a:r>
              <a:rPr lang="ko-KR" altLang="en-US" sz="1200" b="0" dirty="0">
                <a:latin typeface="+mn-ea"/>
                <a:ea typeface="+mn-ea"/>
              </a:rPr>
              <a:t>가 실제 정답을 학습하도록 돕는 손실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b="0" dirty="0">
                <a:latin typeface="+mn-ea"/>
                <a:ea typeface="+mn-ea"/>
              </a:rPr>
              <a:t>Hard Labels</a:t>
            </a:r>
            <a:r>
              <a:rPr lang="ko-KR" altLang="en-US" sz="1200" b="0" dirty="0">
                <a:latin typeface="+mn-ea"/>
                <a:ea typeface="+mn-ea"/>
              </a:rPr>
              <a:t>와 </a:t>
            </a:r>
            <a:r>
              <a:rPr lang="en-US" altLang="ko-KR" sz="1200" b="0" dirty="0">
                <a:latin typeface="+mn-ea"/>
                <a:ea typeface="+mn-ea"/>
              </a:rPr>
              <a:t>Hard Predictions</a:t>
            </a:r>
            <a:r>
              <a:rPr lang="ko-KR" altLang="en-US" sz="1200" b="0" dirty="0">
                <a:latin typeface="+mn-ea"/>
                <a:ea typeface="+mn-ea"/>
              </a:rPr>
              <a:t>의 교차 엔트로피로 정의</a:t>
            </a:r>
            <a:endParaRPr lang="en-US" altLang="ko-KR" sz="1200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A4FFCD-3A8C-4CF4-7F19-1D28CAF5D697}"/>
                  </a:ext>
                </a:extLst>
              </p:cNvPr>
              <p:cNvSpPr txBox="1"/>
              <p:nvPr/>
            </p:nvSpPr>
            <p:spPr>
              <a:xfrm>
                <a:off x="4292379" y="2990056"/>
                <a:ext cx="4458336" cy="6422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𝐾𝐷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𝐾𝐿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𝑝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𝑞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limLoc m:val="subSup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2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A4FFCD-3A8C-4CF4-7F19-1D28CAF5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379" y="2990056"/>
                <a:ext cx="4458336" cy="642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41084C-26D3-3221-ED42-FA080021732A}"/>
                  </a:ext>
                </a:extLst>
              </p:cNvPr>
              <p:cNvSpPr txBox="1"/>
              <p:nvPr/>
            </p:nvSpPr>
            <p:spPr>
              <a:xfrm>
                <a:off x="4292379" y="4886774"/>
                <a:ext cx="2501069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𝐶𝐸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n-ea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𝑙𝑜𝑔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0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41084C-26D3-3221-ED42-FA0800217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379" y="4886774"/>
                <a:ext cx="2501069" cy="6299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BF8485-957D-FB0D-5707-B921106E665F}"/>
                  </a:ext>
                </a:extLst>
              </p:cNvPr>
              <p:cNvSpPr txBox="1"/>
              <p:nvPr/>
            </p:nvSpPr>
            <p:spPr>
              <a:xfrm>
                <a:off x="4292379" y="5547110"/>
                <a:ext cx="41888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: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원</a:t>
                </a:r>
                <a:r>
                  <a:rPr lang="en-US" altLang="ko-KR" sz="1200" b="0" dirty="0">
                    <a:latin typeface="+mn-ea"/>
                    <a:ea typeface="+mn-ea"/>
                  </a:rPr>
                  <a:t>-</a:t>
                </a:r>
                <a:r>
                  <a:rPr lang="ko-KR" altLang="en-US" sz="1200" b="0" dirty="0">
                    <a:latin typeface="+mn-ea"/>
                    <a:ea typeface="+mn-ea"/>
                  </a:rPr>
                  <a:t>핫 정답 레이블 </a:t>
                </a:r>
                <a:r>
                  <a:rPr lang="en-US" altLang="ko-KR" sz="1200" b="0" dirty="0">
                    <a:latin typeface="+mn-ea"/>
                    <a:ea typeface="+mn-ea"/>
                  </a:rPr>
                  <a:t>(Hard Labels)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𝑟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b="0" dirty="0">
                    <a:latin typeface="+mn-ea"/>
                    <a:ea typeface="+mn-ea"/>
                  </a:rPr>
                  <a:t>: Student</a:t>
                </a:r>
                <a:r>
                  <a:rPr lang="ko-KR" altLang="en-US" sz="1200" b="0" dirty="0">
                    <a:latin typeface="+mn-ea"/>
                    <a:ea typeface="+mn-ea"/>
                  </a:rPr>
                  <a:t>의 </a:t>
                </a:r>
                <a:r>
                  <a:rPr lang="en-US" altLang="ko-KR" sz="1200" b="0" dirty="0" err="1">
                    <a:latin typeface="+mn-ea"/>
                    <a:ea typeface="+mn-ea"/>
                  </a:rPr>
                  <a:t>softmax</a:t>
                </a:r>
                <a:r>
                  <a:rPr lang="en-US" altLang="ko-KR" sz="1200" b="0" dirty="0">
                    <a:latin typeface="+mn-ea"/>
                    <a:ea typeface="+mn-ea"/>
                  </a:rPr>
                  <a:t> </a:t>
                </a:r>
                <a:r>
                  <a:rPr lang="ko-KR" altLang="en-US" sz="1200" b="0" dirty="0">
                    <a:latin typeface="+mn-ea"/>
                    <a:ea typeface="+mn-ea"/>
                  </a:rPr>
                  <a:t>출력 </a:t>
                </a:r>
                <a:r>
                  <a:rPr lang="en-US" altLang="ko-KR" sz="1200" b="0" dirty="0">
                    <a:latin typeface="+mn-ea"/>
                    <a:ea typeface="+mn-ea"/>
                  </a:rPr>
                  <a:t>(Hard Predictions)</a:t>
                </a:r>
                <a:endParaRPr lang="ko-KR" altLang="en-US" sz="12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BF8485-957D-FB0D-5707-B921106E6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379" y="5547110"/>
                <a:ext cx="4188822" cy="461665"/>
              </a:xfrm>
              <a:prstGeom prst="rect">
                <a:avLst/>
              </a:prstGeom>
              <a:blipFill>
                <a:blip r:embed="rId6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85753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80574</TotalTime>
  <Words>1819</Words>
  <Application>Microsoft Office PowerPoint</Application>
  <PresentationFormat>A4 용지(210x297mm)</PresentationFormat>
  <Paragraphs>257</Paragraphs>
  <Slides>23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굴림</vt:lpstr>
      <vt:lpstr>나눔스퀘어</vt:lpstr>
      <vt:lpstr>나눔스퀘어 Bold</vt:lpstr>
      <vt:lpstr>Malgun Gothic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Model Quantization</vt:lpstr>
      <vt:lpstr>Model Quantization</vt:lpstr>
      <vt:lpstr>Model Quantization</vt:lpstr>
      <vt:lpstr>Model Quantization</vt:lpstr>
      <vt:lpstr>Model Quantization</vt:lpstr>
      <vt:lpstr>Model Quantization</vt:lpstr>
      <vt:lpstr>Model Quantization</vt:lpstr>
      <vt:lpstr>PowerPoint 프레젠테이션</vt:lpstr>
      <vt:lpstr>Distillation</vt:lpstr>
      <vt:lpstr>Distillation</vt:lpstr>
      <vt:lpstr>Distillation</vt:lpstr>
      <vt:lpstr>Distillation</vt:lpstr>
      <vt:lpstr>PowerPoint 프레젠테이션</vt:lpstr>
      <vt:lpstr>Comparison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Jinyoon Park</cp:lastModifiedBy>
  <cp:revision>4740</cp:revision>
  <cp:lastPrinted>2015-11-10T08:51:46Z</cp:lastPrinted>
  <dcterms:created xsi:type="dcterms:W3CDTF">2011-12-28T05:39:44Z</dcterms:created>
  <dcterms:modified xsi:type="dcterms:W3CDTF">2025-04-25T09:02:11Z</dcterms:modified>
</cp:coreProperties>
</file>