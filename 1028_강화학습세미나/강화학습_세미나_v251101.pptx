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23"/>
  </p:notesMasterIdLst>
  <p:handoutMasterIdLst>
    <p:handoutMasterId r:id="rId24"/>
  </p:handoutMasterIdLst>
  <p:sldIdLst>
    <p:sldId id="5704" r:id="rId2"/>
    <p:sldId id="9021" r:id="rId3"/>
    <p:sldId id="8936" r:id="rId4"/>
    <p:sldId id="9771" r:id="rId5"/>
    <p:sldId id="9764" r:id="rId6"/>
    <p:sldId id="9765" r:id="rId7"/>
    <p:sldId id="9766" r:id="rId8"/>
    <p:sldId id="9767" r:id="rId9"/>
    <p:sldId id="9768" r:id="rId10"/>
    <p:sldId id="9769" r:id="rId11"/>
    <p:sldId id="9770" r:id="rId12"/>
    <p:sldId id="9760" r:id="rId13"/>
    <p:sldId id="9772" r:id="rId14"/>
    <p:sldId id="9773" r:id="rId15"/>
    <p:sldId id="9774" r:id="rId16"/>
    <p:sldId id="9775" r:id="rId17"/>
    <p:sldId id="9762" r:id="rId18"/>
    <p:sldId id="9761" r:id="rId19"/>
    <p:sldId id="9725" r:id="rId20"/>
    <p:sldId id="9759" r:id="rId21"/>
    <p:sldId id="8796" r:id="rId22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2B775552-7DB0-4D4F-B871-D6FF3BB1E486}">
          <p14:sldIdLst>
            <p14:sldId id="5704"/>
          </p14:sldIdLst>
        </p14:section>
        <p14:section name="목차" id="{5E49B5C1-BFC6-4572-A539-731E4DEE6BFE}">
          <p14:sldIdLst>
            <p14:sldId id="9021"/>
          </p14:sldIdLst>
        </p14:section>
        <p14:section name="Ⅰ 강화학습 기초" id="{74337E82-EC53-47AA-AD9E-D01E03BC8C2B}">
          <p14:sldIdLst>
            <p14:sldId id="8936"/>
            <p14:sldId id="9771"/>
            <p14:sldId id="9764"/>
            <p14:sldId id="9765"/>
            <p14:sldId id="9766"/>
            <p14:sldId id="9767"/>
            <p14:sldId id="9768"/>
            <p14:sldId id="9769"/>
            <p14:sldId id="9770"/>
          </p14:sldIdLst>
        </p14:section>
        <p14:section name="Ⅱ 강화학습 알고리즘" id="{DAB419D3-0E42-42D9-B46C-1C3467039D6F}">
          <p14:sldIdLst>
            <p14:sldId id="9760"/>
            <p14:sldId id="9772"/>
            <p14:sldId id="9773"/>
            <p14:sldId id="9774"/>
            <p14:sldId id="9775"/>
            <p14:sldId id="9762"/>
            <p14:sldId id="9761"/>
            <p14:sldId id="9725"/>
            <p14:sldId id="9759"/>
            <p14:sldId id="8796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59C"/>
    <a:srgbClr val="3072C2"/>
    <a:srgbClr val="FF8B8B"/>
    <a:srgbClr val="CECECE"/>
    <a:srgbClr val="2F2F2F"/>
    <a:srgbClr val="F38F15"/>
    <a:srgbClr val="0000FF"/>
    <a:srgbClr val="FFFFCC"/>
    <a:srgbClr val="325F96"/>
    <a:srgbClr val="EE5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4789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1542" y="108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이번에 강화학습 세미나 진행을 맡게 된 김선중 선임입니다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시간 가까운 시간동안 강화학습 세미나를 진행하겠습니다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9852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 noChangeArrowheads="1"/>
          </p:cNvSpPr>
          <p:nvPr/>
        </p:nvSpPr>
        <p:spPr bwMode="auto">
          <a:xfrm>
            <a:off x="3853156" y="9428717"/>
            <a:ext cx="2942905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700" tIns="45347" rIns="90700" bIns="45347" anchor="b"/>
          <a:lstStyle/>
          <a:p>
            <a:pPr algn="r" defTabSz="905785"/>
            <a:fld id="{3C817677-1D2D-4299-AF74-336E1045B5D4}" type="slidenum">
              <a:rPr lang="ko-KR" altLang="en-US" sz="11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 defTabSz="905785"/>
              <a:t>1</a:t>
            </a:fld>
            <a:endParaRPr lang="en-US" altLang="ko-KR" sz="1100" b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20725" y="746125"/>
            <a:ext cx="5370513" cy="3717925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874" y="4713569"/>
            <a:ext cx="5433929" cy="4466988"/>
          </a:xfrm>
          <a:noFill/>
          <a:ln/>
        </p:spPr>
        <p:txBody>
          <a:bodyPr lIns="90700" tIns="45347" rIns="90700" bIns="45347"/>
          <a:lstStyle/>
          <a:p>
            <a:pPr eaLnBrk="1" hangingPunct="1"/>
            <a:r>
              <a:rPr lang="ko-KR" altLang="en-US" dirty="0"/>
              <a:t>목차는 다음과 같이 적어봤습니다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먼저 강화학습 기초에 대해 다루고</a:t>
            </a:r>
            <a:r>
              <a:rPr lang="en-US" altLang="ko-KR" dirty="0"/>
              <a:t>, </a:t>
            </a:r>
            <a:r>
              <a:rPr lang="ko-KR" altLang="en-US" dirty="0"/>
              <a:t>그 다음에는 </a:t>
            </a:r>
            <a:r>
              <a:rPr lang="ko-KR" altLang="en-US" dirty="0" err="1"/>
              <a:t>강화하습</a:t>
            </a:r>
            <a:r>
              <a:rPr lang="ko-KR" altLang="en-US" dirty="0"/>
              <a:t> 알고리즘에 대해 이야기하려고 합니다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마지막으로는 강화학습 중에서도 서부발전에 사용된 것과 같은 </a:t>
            </a:r>
            <a:r>
              <a:rPr lang="en-US" altLang="ko-KR" dirty="0"/>
              <a:t>offline </a:t>
            </a:r>
            <a:r>
              <a:rPr lang="ko-KR" altLang="en-US" dirty="0"/>
              <a:t>강화학습을 설명할 예정입니다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28043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첫번째 파트인 강화학습 기초입니다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강화학습에 관한 개요를 먼저 언급하고 강화학습 문제 정의 및 세팅에 해당하는 </a:t>
            </a:r>
            <a:r>
              <a:rPr lang="en-US" altLang="ko-KR" dirty="0"/>
              <a:t>finite MDP</a:t>
            </a:r>
            <a:r>
              <a:rPr lang="ko-KR" altLang="en-US" dirty="0"/>
              <a:t>에 대해 설명할 예정입니다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세번째 파트에서는 가치함수와 </a:t>
            </a:r>
            <a:r>
              <a:rPr lang="ko-KR" altLang="en-US" dirty="0" err="1"/>
              <a:t>더불어서</a:t>
            </a:r>
            <a:r>
              <a:rPr lang="ko-KR" altLang="en-US" dirty="0"/>
              <a:t> 강화학습의 기본이 되는 중요한 방정식인 </a:t>
            </a:r>
            <a:r>
              <a:rPr lang="ko-KR" altLang="en-US" dirty="0" err="1"/>
              <a:t>벨만방정식과</a:t>
            </a:r>
            <a:r>
              <a:rPr lang="ko-KR" altLang="en-US" dirty="0"/>
              <a:t> </a:t>
            </a:r>
            <a:r>
              <a:rPr lang="ko-KR" altLang="en-US" dirty="0" err="1"/>
              <a:t>벨만</a:t>
            </a:r>
            <a:r>
              <a:rPr lang="ko-KR" altLang="en-US" dirty="0"/>
              <a:t> 최적방정식을 소개하겠습니다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6066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강화학습 개요입니다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강화학습을 설명하기 위해</a:t>
            </a:r>
            <a:r>
              <a:rPr lang="en-US" altLang="ko-KR" dirty="0"/>
              <a:t>, </a:t>
            </a:r>
            <a:r>
              <a:rPr lang="ko-KR" altLang="en-US" dirty="0"/>
              <a:t>다른 인공지능 알고리즘과 강화학습을 비교해봤습니다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강화학습은</a:t>
            </a:r>
            <a:r>
              <a:rPr lang="en-US" altLang="ko-KR" dirty="0"/>
              <a:t>, </a:t>
            </a:r>
            <a:r>
              <a:rPr lang="ko-KR" altLang="en-US" dirty="0"/>
              <a:t>보통의 </a:t>
            </a:r>
            <a:r>
              <a:rPr lang="ko-KR" altLang="en-US" dirty="0" err="1"/>
              <a:t>머신러닝</a:t>
            </a:r>
            <a:r>
              <a:rPr lang="ko-KR" altLang="en-US" dirty="0"/>
              <a:t> 알고리즘인 지도학습이나 비지도학습과는 별개로 분류될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지도학습과 비지도학습 모두 데이터를 통해 학습하는 방식입니다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중 지도학습의 경우 </a:t>
            </a:r>
            <a:r>
              <a:rPr lang="ko-KR" altLang="en-US" dirty="0" err="1"/>
              <a:t>피쳐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와 라벨 </a:t>
            </a:r>
            <a:r>
              <a:rPr lang="en-US" altLang="ko-KR" dirty="0"/>
              <a:t>y</a:t>
            </a:r>
            <a:r>
              <a:rPr lang="ko-KR" altLang="en-US" dirty="0"/>
              <a:t>가 모두 포함된 데이터셋을 가지고</a:t>
            </a:r>
            <a:r>
              <a:rPr lang="en-US" altLang="ko-KR" dirty="0"/>
              <a:t>, </a:t>
            </a:r>
            <a:r>
              <a:rPr lang="ko-KR" altLang="en-US" dirty="0"/>
              <a:t>주어진 </a:t>
            </a:r>
            <a:r>
              <a:rPr lang="en-US" altLang="ko-KR" dirty="0"/>
              <a:t>x</a:t>
            </a:r>
            <a:r>
              <a:rPr lang="ko-KR" altLang="en-US" dirty="0"/>
              <a:t>에 대하여 </a:t>
            </a:r>
            <a:r>
              <a:rPr lang="en-US" altLang="ko-KR" dirty="0"/>
              <a:t>y</a:t>
            </a:r>
            <a:r>
              <a:rPr lang="ko-KR" altLang="en-US" dirty="0"/>
              <a:t>가 나오도록 학습하는 것을 말합니다</a:t>
            </a:r>
            <a:endParaRPr lang="en-US" altLang="ko-KR" dirty="0"/>
          </a:p>
          <a:p>
            <a:r>
              <a:rPr lang="ko-KR" altLang="en-US" dirty="0"/>
              <a:t>이를 통해 예측 문제나 분류문제를 푸는 것이 </a:t>
            </a:r>
            <a:r>
              <a:rPr lang="ko-KR" altLang="en-US" dirty="0" err="1"/>
              <a:t>머신러닝에서</a:t>
            </a:r>
            <a:r>
              <a:rPr lang="ko-KR" altLang="en-US" dirty="0"/>
              <a:t> 가장 대표적인 학습방식인 </a:t>
            </a:r>
            <a:r>
              <a:rPr lang="en-US" altLang="ko-KR" dirty="0"/>
              <a:t>supervised learning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비지도학습은 </a:t>
            </a:r>
            <a:r>
              <a:rPr lang="ko-KR" altLang="en-US" dirty="0" err="1"/>
              <a:t>피쳐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만이 포함된 데이터셋을 가지고 </a:t>
            </a:r>
            <a:r>
              <a:rPr lang="en-US" altLang="ko-KR" dirty="0"/>
              <a:t>x </a:t>
            </a:r>
            <a:r>
              <a:rPr lang="ko-KR" altLang="en-US" dirty="0"/>
              <a:t>사이의 관계를 학습합니다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군집화로 데이터를 여러 그룹으로 나누건</a:t>
            </a:r>
            <a:r>
              <a:rPr lang="en-US" altLang="ko-KR" dirty="0"/>
              <a:t>, </a:t>
            </a:r>
            <a:r>
              <a:rPr lang="ko-KR" altLang="en-US" dirty="0"/>
              <a:t>아니면 </a:t>
            </a:r>
            <a:r>
              <a:rPr lang="en-US" altLang="ko-KR" dirty="0"/>
              <a:t>PCA</a:t>
            </a:r>
            <a:r>
              <a:rPr lang="ko-KR" altLang="en-US" dirty="0"/>
              <a:t>로 차원을 축소하여 </a:t>
            </a:r>
            <a:r>
              <a:rPr lang="ko-KR" altLang="en-US" dirty="0" err="1"/>
              <a:t>의미있는</a:t>
            </a:r>
            <a:r>
              <a:rPr lang="ko-KR" altLang="en-US" dirty="0"/>
              <a:t> 형태로 변환하여 시각화하기도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반면 강화학습은 데이터를 통해 학습하지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물론</a:t>
            </a:r>
            <a:r>
              <a:rPr lang="en-US" altLang="ko-KR" dirty="0"/>
              <a:t>, </a:t>
            </a:r>
            <a:r>
              <a:rPr lang="ko-KR" altLang="en-US" dirty="0"/>
              <a:t>나중에 소개할 </a:t>
            </a:r>
            <a:r>
              <a:rPr lang="en-US" altLang="ko-KR" dirty="0"/>
              <a:t>offline </a:t>
            </a:r>
            <a:r>
              <a:rPr lang="ko-KR" altLang="en-US" dirty="0"/>
              <a:t>강화학습의 경우 데이터를 통해 학습하는 방식을 취하지만 고전적인 강화학습은 데이터를 통해 학습하는 대신</a:t>
            </a:r>
            <a:r>
              <a:rPr lang="en-US" altLang="ko-KR" dirty="0"/>
              <a:t>, agent</a:t>
            </a:r>
            <a:r>
              <a:rPr lang="ko-KR" altLang="en-US" dirty="0"/>
              <a:t>가 환경과 시행착오를 거치며 학습하는 것을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제가 지금 </a:t>
            </a:r>
            <a:r>
              <a:rPr lang="en-US" altLang="ko-KR" dirty="0"/>
              <a:t>agent</a:t>
            </a:r>
            <a:r>
              <a:rPr lang="ko-KR" altLang="en-US" dirty="0"/>
              <a:t>와 환경이라는 말을 했는데 오른쪽 아래 그림을 보시면 될 것 같습니다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agent</a:t>
            </a:r>
            <a:r>
              <a:rPr lang="ko-KR" altLang="en-US" dirty="0"/>
              <a:t>는 학습하는 주체를</a:t>
            </a:r>
            <a:r>
              <a:rPr lang="en-US" altLang="ko-KR" dirty="0"/>
              <a:t> </a:t>
            </a:r>
            <a:r>
              <a:rPr lang="ko-KR" altLang="en-US" dirty="0"/>
              <a:t>말합니다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agent</a:t>
            </a:r>
            <a:r>
              <a:rPr lang="ko-KR" altLang="en-US" dirty="0"/>
              <a:t>는 주어진 상황에 대하여 행동을 취하고 그에 따른 보상을 받습니다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그럼으로써 보상을 많이 받도록 하는 </a:t>
            </a:r>
            <a:r>
              <a:rPr lang="en-US" altLang="ko-KR" dirty="0"/>
              <a:t>(</a:t>
            </a:r>
            <a:r>
              <a:rPr lang="ko-KR" altLang="en-US" dirty="0"/>
              <a:t>정확하게는</a:t>
            </a:r>
            <a:r>
              <a:rPr lang="en-US" altLang="ko-KR" dirty="0"/>
              <a:t>, </a:t>
            </a:r>
            <a:r>
              <a:rPr lang="ko-KR" altLang="en-US" dirty="0"/>
              <a:t>조금 있다가 더 말씀드리겠지만 보상의 합이 최대가 되는</a:t>
            </a:r>
            <a:r>
              <a:rPr lang="en-US" altLang="ko-KR" dirty="0"/>
              <a:t>) </a:t>
            </a:r>
            <a:r>
              <a:rPr lang="ko-KR" altLang="en-US" dirty="0"/>
              <a:t>방식으로 행동을 선택하도록 학습합니다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이것은 실제 우리가 뭔가를 배우는 상황과도 매우 유사합니다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아이가 걸음마를 처음 배운다고 할 때</a:t>
            </a:r>
            <a:r>
              <a:rPr lang="en-US" altLang="ko-KR" dirty="0"/>
              <a:t>, </a:t>
            </a:r>
            <a:r>
              <a:rPr lang="ko-KR" altLang="en-US" dirty="0"/>
              <a:t>엄마는 아이에게 어떻게 해야 걸을 수 있는지를 지도하지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걸음마를 배우는 것은 지도학습에 속하지 않습니다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아이는 주어진 자세에서 어떤 근육에 얼만큼 힘을 주어야 하는지를 시행착오를 통해 학습합니다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근육에 얼만큼의 힘을 주어 행동했더니 넘어졌다면 보상을 마이너스로 받았으므로 다음에는 그렇게 행동하지 않도록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이번에는 다른 근육에 또 다른 힘을 주어 조금 더 일어서는 자세가 되었다면 스스로 뿌듯하다는 보상이 주어져 그 방식으로 행동하도록 학습됩니다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</a:t>
            </a:r>
            <a:r>
              <a:rPr lang="en-US" altLang="ko-KR" dirty="0"/>
              <a:t>, </a:t>
            </a:r>
            <a:r>
              <a:rPr lang="ko-KR" altLang="en-US" dirty="0"/>
              <a:t>수 천 번</a:t>
            </a:r>
            <a:r>
              <a:rPr lang="en-US" altLang="ko-KR" dirty="0"/>
              <a:t>,</a:t>
            </a:r>
            <a:r>
              <a:rPr lang="ko-KR" altLang="en-US" dirty="0"/>
              <a:t> 수 만 번의 시행착오를 </a:t>
            </a:r>
            <a:r>
              <a:rPr lang="ko-KR" altLang="en-US" dirty="0" err="1"/>
              <a:t>반복하다보면</a:t>
            </a:r>
            <a:r>
              <a:rPr lang="ko-KR" altLang="en-US" dirty="0"/>
              <a:t> 아이는 뒤뚱뒤뚱 설 수 있게 되고 나중에는 안정적인 자세로 걷거나 빠르게 달릴 수도 있게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이것은 옆에서 엄마가 지도하여 얻어진 </a:t>
            </a:r>
            <a:r>
              <a:rPr lang="ko-KR" altLang="en-US" dirty="0" err="1"/>
              <a:t>것이라고는</a:t>
            </a:r>
            <a:r>
              <a:rPr lang="ko-KR" altLang="en-US" dirty="0"/>
              <a:t> 볼 수 없습니다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물론 옆에서 부모가 격려해주거나 시범을 보이는 것이 영향을 줄 수는 있겠지만 그보다는 스스로 </a:t>
            </a:r>
            <a:r>
              <a:rPr lang="ko-KR" altLang="en-US" dirty="0" err="1"/>
              <a:t>학습해나가는</a:t>
            </a:r>
            <a:r>
              <a:rPr lang="ko-KR" altLang="en-US" dirty="0"/>
              <a:t> 면이 더 큽니다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걸음마를 배우는 것은 지도학습으로 분류되기는 힘듭니다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</a:t>
            </a:r>
            <a:r>
              <a:rPr lang="en-US" altLang="ko-KR" dirty="0"/>
              <a:t>, </a:t>
            </a:r>
            <a:r>
              <a:rPr lang="ko-KR" altLang="en-US" dirty="0"/>
              <a:t>여러 상황에 대한 행동을 여러가지로 시도해보고</a:t>
            </a:r>
            <a:r>
              <a:rPr lang="en-US" altLang="ko-KR" dirty="0"/>
              <a:t>, </a:t>
            </a:r>
            <a:r>
              <a:rPr lang="ko-KR" altLang="en-US" dirty="0"/>
              <a:t>그에 따른 보상을 통해 학습하는 방식인 강화학습으로 이해될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아이가 말을 배우거나 예절을 배울 때에도 일종의 강화학습이 적용됩니다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때에는 부모가 아이에 대한 </a:t>
            </a:r>
            <a:r>
              <a:rPr lang="en-US" altLang="ko-KR" dirty="0"/>
              <a:t>supervisor, </a:t>
            </a:r>
            <a:r>
              <a:rPr lang="ko-KR" altLang="en-US" dirty="0"/>
              <a:t>즉 지도자로서 아이의 행동을 지도하는 역할을 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그러니까</a:t>
            </a:r>
            <a:r>
              <a:rPr lang="en-US" altLang="ko-KR" dirty="0"/>
              <a:t>, </a:t>
            </a:r>
            <a:r>
              <a:rPr lang="ko-KR" altLang="en-US" dirty="0"/>
              <a:t>부모는 아이가 말이나 행동을 잘하도록 모범을 보이기도 한다는 점에서 이것은 지도학습으로도 설명될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말을 잘하거나 잘하지 못했을 때</a:t>
            </a:r>
            <a:r>
              <a:rPr lang="en-US" altLang="ko-KR" dirty="0"/>
              <a:t>, </a:t>
            </a:r>
            <a:r>
              <a:rPr lang="ko-KR" altLang="en-US" dirty="0"/>
              <a:t>부모는 아이에 대해</a:t>
            </a:r>
            <a:r>
              <a:rPr lang="en-US" altLang="ko-KR" dirty="0"/>
              <a:t> </a:t>
            </a:r>
            <a:r>
              <a:rPr lang="ko-KR" altLang="en-US" dirty="0"/>
              <a:t>그에 따른 칭찬이나 지적을 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</a:t>
            </a:r>
            <a:r>
              <a:rPr lang="ko-KR" altLang="en-US" dirty="0"/>
              <a:t> 아이가 말이나 행동을 하나하나 함에 따라 긍정적인 피드백 혹은 부정적인 피드백을 주는 것으로 생각할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이와 같은 관점에서 보면 </a:t>
            </a:r>
            <a:r>
              <a:rPr lang="ko-KR" altLang="en-US" dirty="0" err="1"/>
              <a:t>강화학습이란</a:t>
            </a:r>
            <a:r>
              <a:rPr lang="ko-KR" altLang="en-US" dirty="0"/>
              <a:t> 일반적인 </a:t>
            </a:r>
            <a:r>
              <a:rPr lang="en-US" altLang="ko-KR" dirty="0"/>
              <a:t>‘</a:t>
            </a:r>
            <a:r>
              <a:rPr lang="ko-KR" altLang="en-US" dirty="0"/>
              <a:t>학습</a:t>
            </a:r>
            <a:r>
              <a:rPr lang="en-US" altLang="ko-KR" dirty="0"/>
              <a:t>‘</a:t>
            </a:r>
            <a:r>
              <a:rPr lang="ko-KR" altLang="en-US" dirty="0"/>
              <a:t>과 긴밀히 </a:t>
            </a:r>
            <a:r>
              <a:rPr lang="ko-KR" altLang="en-US" dirty="0" err="1"/>
              <a:t>연결되어있는</a:t>
            </a:r>
            <a:r>
              <a:rPr lang="ko-KR" altLang="en-US" dirty="0"/>
              <a:t> 개념이라고 생각할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14890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강화학습의 발전과정을 살펴보려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사실 강화학습은 컴퓨터공학이나 </a:t>
            </a:r>
            <a:r>
              <a:rPr lang="ko-KR" altLang="en-US" dirty="0" err="1"/>
              <a:t>수학에서보다</a:t>
            </a:r>
            <a:r>
              <a:rPr lang="ko-KR" altLang="en-US" dirty="0"/>
              <a:t> 심리학</a:t>
            </a:r>
            <a:r>
              <a:rPr lang="en-US" altLang="ko-KR" dirty="0"/>
              <a:t>, </a:t>
            </a:r>
            <a:r>
              <a:rPr lang="ko-KR" altLang="en-US" dirty="0"/>
              <a:t>그 중에서도 행동심리학에서 먼저 나온 말이라고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보이는 그림은 스키너라는 심리학자가 고안한 장치입니다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장치는 박스 안의 쥐가 레버를 누르면 먹이가 나오도록 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쥐는 시행착오를 통해 </a:t>
            </a:r>
            <a:r>
              <a:rPr lang="en-US" altLang="ko-KR" dirty="0"/>
              <a:t>‘</a:t>
            </a:r>
            <a:r>
              <a:rPr lang="ko-KR" altLang="en-US" dirty="0"/>
              <a:t>먹이를 얻으려면 레버를 누르면 된다</a:t>
            </a:r>
            <a:r>
              <a:rPr lang="en-US" altLang="ko-KR" dirty="0"/>
              <a:t>＇</a:t>
            </a:r>
            <a:r>
              <a:rPr lang="ko-KR" altLang="en-US" dirty="0"/>
              <a:t>는 것을 학습하게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개념은 컴퓨터 공학이나 수학에서의 강화학습이 발전하기 이전에 존재하여</a:t>
            </a:r>
            <a:r>
              <a:rPr lang="en-US" altLang="ko-KR" dirty="0"/>
              <a:t>, </a:t>
            </a:r>
            <a:r>
              <a:rPr lang="ko-KR" altLang="en-US" dirty="0"/>
              <a:t>교육학 등에도 영향을 미쳤습니다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한편</a:t>
            </a:r>
            <a:r>
              <a:rPr lang="en-US" altLang="ko-KR" dirty="0"/>
              <a:t>, 1950</a:t>
            </a:r>
            <a:r>
              <a:rPr lang="ko-KR" altLang="en-US" dirty="0"/>
              <a:t>년대에 리처드 </a:t>
            </a:r>
            <a:r>
              <a:rPr lang="ko-KR" altLang="en-US" dirty="0" err="1"/>
              <a:t>벨만은</a:t>
            </a:r>
            <a:r>
              <a:rPr lang="ko-KR" altLang="en-US" dirty="0"/>
              <a:t> 동적계획법</a:t>
            </a:r>
            <a:r>
              <a:rPr lang="en-US" altLang="ko-KR" dirty="0"/>
              <a:t>(DP)</a:t>
            </a:r>
            <a:r>
              <a:rPr lang="ko-KR" altLang="en-US" dirty="0"/>
              <a:t>을 개발하여 순차적 의사결정 문제를 풀 수 있는 수학적인 도구를 마련했습니다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벨만방정식으로</a:t>
            </a:r>
            <a:r>
              <a:rPr lang="ko-KR" altLang="en-US" dirty="0"/>
              <a:t> 알려진 식에 기반한 이 방법은 나중에 강화학습의 이론적 토대가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방법론은 이후에 </a:t>
            </a:r>
            <a:r>
              <a:rPr lang="ko-KR" altLang="en-US" dirty="0" err="1"/>
              <a:t>몬테카를로나</a:t>
            </a:r>
            <a:r>
              <a:rPr lang="ko-KR" altLang="en-US" dirty="0"/>
              <a:t> 시간차 학습 등으로 발전하면서 강화학습이라는 이름으로 거듭나게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1989</a:t>
            </a:r>
            <a:r>
              <a:rPr lang="ko-KR" altLang="en-US" dirty="0"/>
              <a:t>년에는 </a:t>
            </a:r>
            <a:r>
              <a:rPr lang="en-US" altLang="ko-KR" dirty="0"/>
              <a:t>Q-learning</a:t>
            </a:r>
            <a:r>
              <a:rPr lang="ko-KR" altLang="en-US" dirty="0"/>
              <a:t>이</a:t>
            </a:r>
            <a:r>
              <a:rPr lang="en-US" altLang="ko-KR" dirty="0"/>
              <a:t>, 2010</a:t>
            </a:r>
            <a:r>
              <a:rPr lang="ko-KR" altLang="en-US" dirty="0"/>
              <a:t>년대에는 </a:t>
            </a:r>
            <a:r>
              <a:rPr lang="ko-KR" altLang="en-US" dirty="0" err="1"/>
              <a:t>딥러닝과</a:t>
            </a:r>
            <a:r>
              <a:rPr lang="ko-KR" altLang="en-US" dirty="0"/>
              <a:t> 결합된 </a:t>
            </a:r>
            <a:r>
              <a:rPr lang="en-US" altLang="ko-KR" dirty="0"/>
              <a:t>DQN</a:t>
            </a:r>
            <a:r>
              <a:rPr lang="ko-KR" altLang="en-US" dirty="0"/>
              <a:t>이 개발되면서 강화학습은 발전을 거듭하는데요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오늘 세미나에서는 이 장표에 나온 알고리즘들 정도까지 다루게 될 것 같습니다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229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강화학습의 기본 개념들을 살펴보려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강화학습에서는 에이전트라고 하는 존재가 환경과 상호작용하면서 어떻게 행동할지를 </a:t>
            </a:r>
            <a:r>
              <a:rPr lang="ko-KR" altLang="en-US" dirty="0" err="1"/>
              <a:t>학습해나갑니다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바로 이전 슬라이드에서 말씀드렸던 스키너 상자의 예시로 보면</a:t>
            </a:r>
            <a:r>
              <a:rPr lang="en-US" altLang="ko-KR" dirty="0"/>
              <a:t>, </a:t>
            </a:r>
            <a:r>
              <a:rPr lang="ko-KR" altLang="en-US" dirty="0"/>
              <a:t>환경에 해당하는 것은 상자이고 에이전트에 해당하는 것은 쥐입니다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아래 그림을 보시면 강화학습의 기본 구조를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에이전트는 현재 상태에서 어떤 행동을 선택합니다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환경은 이 행동에 대하여 보상을 주고 다음 상태로 전이됩니다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순환이 반복되면서 에이전트는 더 많은 보상을 받을 수 있는 행동을 학습하게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이러한 순차적인 의사결정과정</a:t>
            </a:r>
            <a:r>
              <a:rPr lang="en-US" altLang="ko-KR" dirty="0"/>
              <a:t> (decision process)</a:t>
            </a:r>
            <a:r>
              <a:rPr lang="ko-KR" altLang="en-US" dirty="0"/>
              <a:t> 에 관해서는 다음 슬라이드에서 더 자세하게 말씀드리겠습니다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9534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슬라이드부터 나오는 세 개의 슬라이드에서 </a:t>
                </a:r>
                <a:r>
                  <a:rPr lang="en-US" altLang="ko-KR" dirty="0"/>
                  <a:t>MDP, </a:t>
                </a:r>
                <a:r>
                  <a:rPr lang="ko-KR" altLang="en-US" dirty="0"/>
                  <a:t>즉 </a:t>
                </a:r>
                <a:r>
                  <a:rPr lang="en-US" altLang="ko-KR" dirty="0"/>
                  <a:t>Markov decision process</a:t>
                </a:r>
                <a:r>
                  <a:rPr lang="ko-KR" altLang="en-US" dirty="0"/>
                  <a:t>에 대해 설명해보려 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는 강화학습에서 다루는 문제가 어떤 문제인지 설명합니다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수학에서 확률과정</a:t>
                </a:r>
                <a:r>
                  <a:rPr lang="en-US" altLang="ko-KR" dirty="0"/>
                  <a:t>(random process) </a:t>
                </a:r>
                <a:r>
                  <a:rPr lang="ko-KR" altLang="en-US" dirty="0"/>
                  <a:t>이라고 하면 확률변수들의 나열을 말합니다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도 하나의 </a:t>
                </a:r>
                <a:r>
                  <a:rPr lang="en-US" altLang="ko-KR" dirty="0"/>
                  <a:t>process</a:t>
                </a:r>
                <a:r>
                  <a:rPr lang="ko-KR" altLang="en-US" dirty="0"/>
                  <a:t>이므로 마찬가지로 확률변수들의 나열인데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는 특정한 변수들의 나열입니다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다시 말해</a:t>
                </a:r>
                <a:r>
                  <a:rPr lang="en-US" altLang="ko-KR" dirty="0"/>
                  <a:t>, S, A, R, S, A, R</a:t>
                </a:r>
                <a:r>
                  <a:rPr lang="ko-KR" altLang="en-US" dirty="0"/>
                  <a:t>과 같은 확률변수들이 나열되는 것을 의사결정과정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그리고 그 중에서도 </a:t>
                </a:r>
                <a:r>
                  <a:rPr lang="ko-KR" altLang="en-US" dirty="0" err="1"/>
                  <a:t>마르코프</a:t>
                </a:r>
                <a:r>
                  <a:rPr lang="ko-KR" altLang="en-US" dirty="0"/>
                  <a:t> 성질을 만족시키는 의사결정과정을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각각의 확률변수들은 시간순서를 명시할 필요가 있기 때문에 </a:t>
                </a:r>
                <a:r>
                  <a:rPr lang="en-US" altLang="ko-KR" dirty="0" err="1"/>
                  <a:t>S_t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A_t</a:t>
                </a:r>
                <a:r>
                  <a:rPr lang="en-US" altLang="ko-KR" dirty="0"/>
                  <a:t>, R_{t+1} … </a:t>
                </a:r>
                <a:r>
                  <a:rPr lang="ko-KR" altLang="en-US" dirty="0"/>
                  <a:t>등과 같이 </a:t>
                </a:r>
                <a:r>
                  <a:rPr lang="en-US" altLang="ko-KR" dirty="0"/>
                  <a:t>timestep t</a:t>
                </a:r>
                <a:r>
                  <a:rPr lang="ko-KR" altLang="en-US" dirty="0"/>
                  <a:t>를 붙여서 표현합니다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확률변수들에 특정 값들이 지정된 상태를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라고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부릅니다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이러한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는 끝없이 계속될 수도 있고 어느 순간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도달하여 멈출 수도 있습니다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도달하는 경우에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episode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너무 개념적인 설명만 많이 했기 때문에 예를 들어 설명해보겠습니다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아래 그림과 같은 격자모양의 공간이 있다고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(1,1)</a:t>
                </a:r>
                <a:r>
                  <a:rPr lang="ko-KR" altLang="en-US" dirty="0"/>
                  <a:t>에서 시작하여 상하좌우로 움직이는 몇 번의 과정 뒤에 </a:t>
                </a:r>
                <a:r>
                  <a:rPr lang="en-US" altLang="ko-KR" dirty="0"/>
                  <a:t>(4,2) </a:t>
                </a:r>
                <a:r>
                  <a:rPr lang="ko-KR" altLang="en-US" dirty="0"/>
                  <a:t>또는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끝나는 환경을 생각하겠습니다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움직일 때 </a:t>
                </a:r>
                <a:r>
                  <a:rPr lang="ko-KR" altLang="en-US" dirty="0" err="1"/>
                  <a:t>막혀있는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(2,2)</a:t>
                </a:r>
                <a:r>
                  <a:rPr lang="ko-KR" altLang="en-US" dirty="0"/>
                  <a:t>같은 부분이 있으면 움직일 수 없습니다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예를 들어 </a:t>
                </a:r>
                <a:r>
                  <a:rPr lang="en-US" altLang="ko-KR" dirty="0"/>
                  <a:t>(1,2)</a:t>
                </a:r>
                <a:r>
                  <a:rPr lang="ko-KR" altLang="en-US" dirty="0"/>
                  <a:t>에서는 왼쪽이나 오른쪽으로 움직일 수 없으니 위쪽 또는 아래쪽으로만 움직일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(2,4)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(3,4)</a:t>
                </a:r>
                <a:r>
                  <a:rPr lang="ko-KR" altLang="en-US" dirty="0"/>
                  <a:t>는 도달하면 끝나기 때문에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해당하는데 </a:t>
                </a:r>
                <a:r>
                  <a:rPr lang="en-US" altLang="ko-KR" dirty="0"/>
                  <a:t>(4,2)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-1</a:t>
                </a:r>
                <a:r>
                  <a:rPr lang="ko-KR" altLang="en-US" dirty="0"/>
                  <a:t>의 보상을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보상을 받습니다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그리고 </a:t>
                </a:r>
                <a:r>
                  <a:rPr lang="en-US" altLang="ko-KR" dirty="0"/>
                  <a:t>agent</a:t>
                </a:r>
                <a:r>
                  <a:rPr lang="ko-KR" altLang="en-US" dirty="0"/>
                  <a:t>는 매번 움직일 때마다 움직이는 비용으로서 </a:t>
                </a:r>
                <a:r>
                  <a:rPr lang="en-US" altLang="ko-KR" dirty="0"/>
                  <a:t>-0.1</a:t>
                </a:r>
                <a:r>
                  <a:rPr lang="ko-KR" altLang="en-US" dirty="0"/>
                  <a:t>의 보상을 받는다고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이러한 환경을 </a:t>
                </a:r>
                <a:r>
                  <a:rPr lang="en-US" altLang="ko-KR" dirty="0"/>
                  <a:t>grid world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이때 상태집합</a:t>
                </a:r>
                <a:r>
                  <a:rPr lang="en-US" altLang="ko-KR" dirty="0"/>
                  <a:t>(state space)</a:t>
                </a:r>
                <a:r>
                  <a:rPr lang="ko-KR" altLang="en-US" dirty="0"/>
                  <a:t>은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b="1" i="0" dirty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lit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,⋯,</m:t>
                    </m:r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m:rPr>
                        <m:lit/>
                      </m:rPr>
                      <a:rPr lang="en-US" altLang="ko-K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행동집합</a:t>
                </a:r>
                <a:r>
                  <a:rPr lang="en-US" altLang="ko-KR" dirty="0"/>
                  <a:t>(action space)</a:t>
                </a:r>
                <a:r>
                  <a:rPr lang="ko-KR" altLang="en-US" dirty="0"/>
                  <a:t>은 </a:t>
                </a:r>
                <a14:m>
                  <m:oMath xmlns:m="http://schemas.openxmlformats.org/officeDocument/2006/math">
                    <m:r>
                      <a:rPr kumimoji="1" lang="en-US" altLang="ko-KR" sz="1100" b="1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𝑨</m:t>
                    </m:r>
                    <m:r>
                      <a:rPr kumimoji="1" lang="en-US" altLang="ko-KR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=</m:t>
                    </m:r>
                    <m:r>
                      <m:rPr>
                        <m:lit/>
                      </m:rPr>
                      <a:rPr kumimoji="1" lang="en-US" altLang="ko-KR" sz="1100" b="0" i="0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{</m:t>
                    </m:r>
                    <m:r>
                      <a:rPr kumimoji="1" lang="ko-KR" altLang="en-US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→</m:t>
                    </m:r>
                    <m:r>
                      <a:rPr kumimoji="1" lang="en-US" altLang="ko-KR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, </m:t>
                    </m:r>
                    <m:r>
                      <a:rPr kumimoji="1" lang="ko-KR" altLang="en-US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←</m:t>
                    </m:r>
                    <m:r>
                      <a:rPr kumimoji="1" lang="en-US" altLang="ko-KR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, </m:t>
                    </m:r>
                    <m:r>
                      <a:rPr kumimoji="1" lang="ko-KR" altLang="en-US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↑</m:t>
                    </m:r>
                    <m:r>
                      <a:rPr kumimoji="1" lang="en-US" altLang="ko-KR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, </m:t>
                    </m:r>
                    <m:r>
                      <a:rPr kumimoji="1" lang="ko-KR" altLang="en-US" sz="1100" b="0" i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↓</m:t>
                    </m:r>
                    <m:r>
                      <m:rPr>
                        <m:lit/>
                      </m:rPr>
                      <a:rPr kumimoji="1" lang="en-US" altLang="ko-KR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}</m:t>
                    </m:r>
                    <m:r>
                      <m:rPr>
                        <m:lit/>
                      </m:rPr>
                      <a:rPr kumimoji="1" lang="ko-KR" altLang="en-US" sz="1100" b="0" i="1" kern="12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  <a:cs typeface="+mn-cs"/>
                      </a:rPr>
                      <m:t>로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표현할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간단한 강화학습에서는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가 모두 유한집합인 경우만을 생각하는데 이것을 </a:t>
                </a:r>
                <a:r>
                  <a:rPr lang="en-US" altLang="ko-KR" dirty="0"/>
                  <a:t>finite MDP</a:t>
                </a:r>
                <a:r>
                  <a:rPr lang="ko-KR" altLang="en-US" dirty="0"/>
                  <a:t>라고도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다음으로는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이라는 것이 있습니다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이것은 </a:t>
                </a:r>
                <a:r>
                  <a:rPr lang="ko-KR" altLang="en-US" dirty="0" err="1"/>
                  <a:t>뭐냐하면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현재의 상태가 바로 이전 스텝의 상태와 행동에만 의존한다는 가정입니다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그러니까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일반적으로는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현재의 상태가 바로 이전 스텝의 상태와 행동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말고도 더 이전 스텝의 상태와 행동에도 영향을 받겠지만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 </a:t>
                </a:r>
                <a:r>
                  <a:rPr lang="en-US" altLang="ko-KR" dirty="0"/>
                  <a:t>decision process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마코프</a:t>
                </a:r>
                <a:r>
                  <a:rPr lang="ko-KR" altLang="en-US" dirty="0"/>
                  <a:t> 성질을 가진다면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두 스텝 이전의 상태와 행동과는 무관하게 바로 직전의 상태와 행동에만 영향을 받는다는 가정입니다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 성질은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에 대한 수학적인 묘사를 더 간단하게 해줍니다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또한 많은 강화학습 문제 상황들은 이 가정을 해도 괜찮은 경우가 많습니다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좀 더 일반적으로는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확률과정에서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를 만족시키면 그것을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process </a:t>
                </a:r>
                <a:r>
                  <a:rPr lang="ko-KR" altLang="en-US" dirty="0"/>
                  <a:t>혹은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chain</a:t>
                </a:r>
                <a:r>
                  <a:rPr lang="ko-KR" altLang="en-US" dirty="0"/>
                  <a:t>이라고도 부릅니다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슬라이드부터 나오는 세 개의 슬라이드에서 </a:t>
                </a:r>
                <a:r>
                  <a:rPr lang="en-US" altLang="ko-KR" dirty="0"/>
                  <a:t>MDP, </a:t>
                </a:r>
                <a:r>
                  <a:rPr lang="ko-KR" altLang="en-US" dirty="0"/>
                  <a:t>즉 </a:t>
                </a:r>
                <a:r>
                  <a:rPr lang="en-US" altLang="ko-KR" dirty="0"/>
                  <a:t>Markov decision process</a:t>
                </a:r>
                <a:r>
                  <a:rPr lang="ko-KR" altLang="en-US" dirty="0"/>
                  <a:t>에 대해 설명해보려 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는 강화학습에서 다루는 문제가 어떤 문제인지 설명합니다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수학에서 확률과정</a:t>
                </a:r>
                <a:r>
                  <a:rPr lang="en-US" altLang="ko-KR" dirty="0"/>
                  <a:t>(random process) </a:t>
                </a:r>
                <a:r>
                  <a:rPr lang="ko-KR" altLang="en-US" dirty="0"/>
                  <a:t>이라고 하면 확률변수들의 나열을 말합니다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MDP</a:t>
                </a:r>
                <a:r>
                  <a:rPr lang="ko-KR" altLang="en-US" dirty="0"/>
                  <a:t>도 하나의 </a:t>
                </a:r>
                <a:r>
                  <a:rPr lang="en-US" altLang="ko-KR" dirty="0"/>
                  <a:t>process</a:t>
                </a:r>
                <a:r>
                  <a:rPr lang="ko-KR" altLang="en-US" dirty="0"/>
                  <a:t>이므로 마찬가지로 확률변수들의 나열인데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는 특정한 변수들의 나열입니다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다시 말해</a:t>
                </a:r>
                <a:r>
                  <a:rPr lang="en-US" altLang="ko-KR" dirty="0"/>
                  <a:t>, S, A, R, S, A, R</a:t>
                </a:r>
                <a:r>
                  <a:rPr lang="ko-KR" altLang="en-US" dirty="0"/>
                  <a:t>과 같은 확률변수들이 나열되는 것을 의사결정과정</a:t>
                </a:r>
                <a:r>
                  <a:rPr lang="en-US" altLang="ko-KR" dirty="0"/>
                  <a:t>, decision process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그리고 그 중에서도 </a:t>
                </a:r>
                <a:r>
                  <a:rPr lang="ko-KR" altLang="en-US" dirty="0" err="1"/>
                  <a:t>마르코프</a:t>
                </a:r>
                <a:r>
                  <a:rPr lang="ko-KR" altLang="en-US" dirty="0"/>
                  <a:t> 성질을 만족시키는 의사결정과정을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라고 합니다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각각의 확률변수들은 시간순서를 명시할 필요가 있기 때문에 </a:t>
                </a:r>
                <a:r>
                  <a:rPr lang="en-US" altLang="ko-KR" dirty="0" err="1"/>
                  <a:t>S_t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A_t</a:t>
                </a:r>
                <a:r>
                  <a:rPr lang="en-US" altLang="ko-KR" dirty="0"/>
                  <a:t>, R_{t+1} … </a:t>
                </a:r>
                <a:r>
                  <a:rPr lang="ko-KR" altLang="en-US" dirty="0"/>
                  <a:t>등과 같이 </a:t>
                </a:r>
                <a:r>
                  <a:rPr lang="en-US" altLang="ko-KR" dirty="0"/>
                  <a:t>timestep t</a:t>
                </a:r>
                <a:r>
                  <a:rPr lang="ko-KR" altLang="en-US" dirty="0"/>
                  <a:t>를 붙여서 표현합니다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확률변수들에 특정 값들이 지정된 상태를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라고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부릅니다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이러한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는 끝없이 계속될 수도 있고 어느 순간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도달하여 멈출 수도 있습니다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terminal state</a:t>
                </a:r>
                <a:r>
                  <a:rPr lang="ko-KR" altLang="en-US" dirty="0"/>
                  <a:t>에 도달하는 경우에 </a:t>
                </a:r>
                <a:r>
                  <a:rPr lang="en-US" altLang="ko-KR" dirty="0"/>
                  <a:t>trajectory</a:t>
                </a:r>
                <a:r>
                  <a:rPr lang="ko-KR" altLang="en-US" dirty="0"/>
                  <a:t>를 </a:t>
                </a:r>
                <a:r>
                  <a:rPr lang="en-US" altLang="ko-KR" dirty="0"/>
                  <a:t>episode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너무 개념적인 설명만 많이 했기 때문에 예를 들어 설명해보겠습니다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아래 그림과 같은 격자모양의 공간이 있다고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(1,1)</a:t>
                </a:r>
                <a:r>
                  <a:rPr lang="ko-KR" altLang="en-US" dirty="0"/>
                  <a:t>에서 시작하여 상하좌우로 움직이는 몇 번의 과정 뒤에 </a:t>
                </a:r>
                <a:r>
                  <a:rPr lang="en-US" altLang="ko-KR" dirty="0"/>
                  <a:t>(4,2) </a:t>
                </a:r>
                <a:r>
                  <a:rPr lang="ko-KR" altLang="en-US" dirty="0"/>
                  <a:t>또는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끝나는 환경을 생각하겠습니다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움직일 때 </a:t>
                </a:r>
                <a:r>
                  <a:rPr lang="ko-KR" altLang="en-US" dirty="0" err="1"/>
                  <a:t>막혀있는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(2,2)</a:t>
                </a:r>
                <a:r>
                  <a:rPr lang="ko-KR" altLang="en-US" dirty="0"/>
                  <a:t>같은 부분이 있으면 움직일 수 없습니다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예를 들어 </a:t>
                </a:r>
                <a:r>
                  <a:rPr lang="en-US" altLang="ko-KR" dirty="0"/>
                  <a:t>(1,2)</a:t>
                </a:r>
                <a:r>
                  <a:rPr lang="ko-KR" altLang="en-US" dirty="0"/>
                  <a:t>에서는 왼쪽이나 오른쪽으로 움직일 수 없으니 위쪽 또는 아래쪽으로만 움직일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(2,4)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(3,4)</a:t>
                </a:r>
                <a:r>
                  <a:rPr lang="ko-KR" altLang="en-US" dirty="0"/>
                  <a:t>는 도달하면 끝나기 때문에 </a:t>
                </a:r>
                <a:r>
                  <a:rPr lang="en-US" altLang="ko-KR" dirty="0"/>
                  <a:t>terminal state</a:t>
                </a:r>
                <a:r>
                  <a:rPr lang="ko-KR" altLang="en-US" dirty="0"/>
                  <a:t>에 해당하는데 </a:t>
                </a:r>
                <a:r>
                  <a:rPr lang="en-US" altLang="ko-KR" dirty="0"/>
                  <a:t>(4,2)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-1</a:t>
                </a:r>
                <a:r>
                  <a:rPr lang="ko-KR" altLang="en-US" dirty="0"/>
                  <a:t>의 보상을 </a:t>
                </a:r>
                <a:r>
                  <a:rPr lang="en-US" altLang="ko-KR" dirty="0"/>
                  <a:t>(4,3)</a:t>
                </a:r>
                <a:r>
                  <a:rPr lang="ko-KR" altLang="en-US" dirty="0"/>
                  <a:t>에 도달하면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보상을 받습니다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그리고 </a:t>
                </a:r>
                <a:r>
                  <a:rPr lang="en-US" altLang="ko-KR" dirty="0"/>
                  <a:t>agent</a:t>
                </a:r>
                <a:r>
                  <a:rPr lang="ko-KR" altLang="en-US" dirty="0"/>
                  <a:t>는 매번 움직일 때마다 움직이는 비용으로서 </a:t>
                </a:r>
                <a:r>
                  <a:rPr lang="en-US" altLang="ko-KR" dirty="0"/>
                  <a:t>-0.1</a:t>
                </a:r>
                <a:r>
                  <a:rPr lang="ko-KR" altLang="en-US" dirty="0"/>
                  <a:t>의 보상을 받는다고 하겠습니다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이러한 환경을 </a:t>
                </a:r>
                <a:r>
                  <a:rPr lang="en-US" altLang="ko-KR" dirty="0"/>
                  <a:t>grid world</a:t>
                </a:r>
                <a:r>
                  <a:rPr lang="ko-KR" altLang="en-US" dirty="0"/>
                  <a:t>라고 부릅니다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이때 상태집합</a:t>
                </a:r>
                <a:r>
                  <a:rPr lang="en-US" altLang="ko-KR" dirty="0"/>
                  <a:t>(state space)</a:t>
                </a:r>
                <a:r>
                  <a:rPr lang="ko-KR" altLang="en-US" dirty="0"/>
                  <a:t>은 </a:t>
                </a:r>
                <a:r>
                  <a:rPr lang="en-US" altLang="ko-KR" b="1" i="0" dirty="0">
                    <a:latin typeface="Cambria Math" panose="02040503050406030204" pitchFamily="18" charset="0"/>
                  </a:rPr>
                  <a:t>\𝐒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=\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{(1,1),(1,2),⋯,(4,3)\}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행동집합</a:t>
                </a:r>
                <a:r>
                  <a:rPr lang="en-US" altLang="ko-KR" dirty="0"/>
                  <a:t>(action space)</a:t>
                </a:r>
                <a:r>
                  <a:rPr lang="ko-KR" altLang="en-US" dirty="0"/>
                  <a:t>은 </a:t>
                </a:r>
                <a:r>
                  <a:rPr kumimoji="1" lang="en-US" altLang="ko-KR" sz="1100" b="1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𝑨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=\{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→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←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↑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, 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↓</a:t>
                </a:r>
                <a:r>
                  <a:rPr kumimoji="1" lang="en-US" altLang="ko-KR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\}</a:t>
                </a:r>
                <a:r>
                  <a:rPr kumimoji="1" lang="ko-KR" altLang="en-US" sz="1100" b="0" i="0" kern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맑은 고딕" panose="020B0503020000020004" pitchFamily="50" charset="-127"/>
                    <a:cs typeface="+mn-cs"/>
                  </a:rPr>
                  <a:t>\로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표현할 수 있습니다</a:t>
                </a:r>
                <a:r>
                  <a:rPr lang="en-US" altLang="ko-KR" dirty="0"/>
                  <a:t>.</a:t>
                </a:r>
              </a:p>
              <a:p>
                <a:pPr marL="0" marR="0" lvl="0" indent="0" algn="l" defTabSz="914400" rtl="0" eaLnBrk="0" fontAlgn="base" latinLnBrk="1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dirty="0"/>
                  <a:t>간단한 강화학습에서는 </a:t>
                </a:r>
                <a:r>
                  <a:rPr lang="en-US" altLang="ko-KR" dirty="0"/>
                  <a:t>S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가 모두 유한집합인 경우만을 생각하는데 이것을 </a:t>
                </a:r>
                <a:r>
                  <a:rPr lang="en-US" altLang="ko-KR" dirty="0"/>
                  <a:t>finite MDP</a:t>
                </a:r>
                <a:r>
                  <a:rPr lang="ko-KR" altLang="en-US" dirty="0"/>
                  <a:t>라고도 부릅니다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다음으로는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이라는 것이 있습니다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이것은 </a:t>
                </a:r>
                <a:r>
                  <a:rPr lang="ko-KR" altLang="en-US" dirty="0" err="1"/>
                  <a:t>뭐냐하면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현재의 상태가 바로 이전 스텝의 상태와 행동에만 의존한다는 가정입니다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그러니까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일반적으로는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현재의 상태가 바로 이전 스텝의 상태와 행동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말고도 더 이전 스텝의 상태와 행동에도 영향을 받겠지만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 </a:t>
                </a:r>
                <a:r>
                  <a:rPr lang="en-US" altLang="ko-KR" dirty="0"/>
                  <a:t>decision process</a:t>
                </a:r>
                <a:r>
                  <a:rPr lang="ko-KR" altLang="en-US" dirty="0"/>
                  <a:t>가 </a:t>
                </a:r>
                <a:r>
                  <a:rPr lang="ko-KR" altLang="en-US" dirty="0" err="1"/>
                  <a:t>마코프</a:t>
                </a:r>
                <a:r>
                  <a:rPr lang="ko-KR" altLang="en-US" dirty="0"/>
                  <a:t> 성질을 가진다면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두 스텝 이전의 상태와 행동과는 무관하게 바로 직전의 상태와 행동에만 영향을 받는다는 가정입니다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이 성질은 </a:t>
                </a:r>
                <a:r>
                  <a:rPr lang="en-US" altLang="ko-KR" dirty="0"/>
                  <a:t>MDP</a:t>
                </a:r>
                <a:r>
                  <a:rPr lang="ko-KR" altLang="en-US" dirty="0"/>
                  <a:t>에 대한 수학적인 묘사를 더 간단하게 해줍니다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또한 많은 강화학습 문제 상황들은 이 가정을 해도 괜찮은 경우가 많습니다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좀 더 일반적으로는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확률과정에서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property</a:t>
                </a:r>
                <a:r>
                  <a:rPr lang="ko-KR" altLang="en-US" dirty="0"/>
                  <a:t>를 만족시키면 그것을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process </a:t>
                </a:r>
                <a:r>
                  <a:rPr lang="ko-KR" altLang="en-US" dirty="0"/>
                  <a:t>혹은 </a:t>
                </a:r>
                <a:r>
                  <a:rPr lang="en-US" altLang="ko-KR" dirty="0" err="1"/>
                  <a:t>markov</a:t>
                </a:r>
                <a:r>
                  <a:rPr lang="en-US" altLang="ko-KR" dirty="0"/>
                  <a:t> chain</a:t>
                </a:r>
                <a:r>
                  <a:rPr lang="ko-KR" altLang="en-US" dirty="0"/>
                  <a:t>이라고도 부릅니다</a:t>
                </a:r>
                <a:r>
                  <a:rPr lang="en-US" altLang="ko-KR" dirty="0"/>
                  <a:t>.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46269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의 환경모델에 대한 설명입니다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다음의 두 환경모델</a:t>
            </a:r>
            <a:r>
              <a:rPr lang="en-US" altLang="ko-KR" dirty="0"/>
              <a:t>, </a:t>
            </a:r>
            <a:r>
              <a:rPr lang="ko-KR" altLang="en-US" dirty="0"/>
              <a:t>전이확률과 보상함수는 환경의 특성을 표현하는 함수 또는 확률식을 말합니다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이것들은 어떤 상태에서 다음 상태로 전이될 때 어떻게 전이되는지를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이것을 환경모델 즉 </a:t>
            </a:r>
            <a:r>
              <a:rPr lang="en-US" altLang="ko-KR" dirty="0"/>
              <a:t>environment model</a:t>
            </a:r>
            <a:r>
              <a:rPr lang="ko-KR" altLang="en-US" dirty="0"/>
              <a:t>이라고도 부르지만 </a:t>
            </a:r>
            <a:r>
              <a:rPr lang="en-US" altLang="ko-KR" dirty="0"/>
              <a:t>transition dynamics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환경모델 중 전이확률에 대해서 먼저 말해보겠습니다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이전 슬라이드에서 </a:t>
            </a:r>
            <a:r>
              <a:rPr lang="ko-KR" altLang="en-US" dirty="0" err="1"/>
              <a:t>마코프</a:t>
            </a:r>
            <a:r>
              <a:rPr lang="ko-KR" altLang="en-US" dirty="0"/>
              <a:t> </a:t>
            </a:r>
            <a:r>
              <a:rPr lang="ko-KR" altLang="en-US" dirty="0" err="1"/>
              <a:t>성질을가정했기</a:t>
            </a:r>
            <a:r>
              <a:rPr lang="ko-KR" altLang="en-US" dirty="0"/>
              <a:t> 때문에 여기에 쓴 이 확률 </a:t>
            </a:r>
            <a:r>
              <a:rPr lang="en-US" altLang="ko-KR" dirty="0"/>
              <a:t>p(s‘,</a:t>
            </a:r>
            <a:r>
              <a:rPr lang="en-US" altLang="ko-KR" dirty="0" err="1"/>
              <a:t>r|s,a</a:t>
            </a:r>
            <a:r>
              <a:rPr lang="en-US" altLang="ko-KR" dirty="0"/>
              <a:t>)</a:t>
            </a:r>
            <a:r>
              <a:rPr lang="ko-KR" altLang="en-US" dirty="0"/>
              <a:t> 하나만으로도 상태가 어떻게 전이되는지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다음 상태와 보상을 함께 표현했지만 실제로는 전이확률인 </a:t>
            </a:r>
            <a:r>
              <a:rPr lang="en-US" altLang="ko-KR" dirty="0"/>
              <a:t>p(s’|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와 보상함수 </a:t>
            </a:r>
            <a:r>
              <a:rPr lang="en-US" altLang="ko-KR" dirty="0"/>
              <a:t>r(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가 따로 표현되는 경우가 더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심지어는 확률에 무관하게 다음 상태가 결정되는 경우도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실제로</a:t>
            </a:r>
            <a:r>
              <a:rPr lang="en-US" altLang="ko-KR" dirty="0"/>
              <a:t>, </a:t>
            </a:r>
            <a:r>
              <a:rPr lang="ko-KR" altLang="en-US" dirty="0"/>
              <a:t>이전에 </a:t>
            </a:r>
            <a:r>
              <a:rPr lang="ko-KR" altLang="en-US" dirty="0" err="1"/>
              <a:t>소개드린</a:t>
            </a:r>
            <a:r>
              <a:rPr lang="ko-KR" altLang="en-US" dirty="0"/>
              <a:t> </a:t>
            </a:r>
            <a:r>
              <a:rPr lang="en-US" altLang="ko-KR" dirty="0"/>
              <a:t>grid world</a:t>
            </a:r>
            <a:r>
              <a:rPr lang="ko-KR" altLang="en-US" dirty="0"/>
              <a:t>에서는 </a:t>
            </a:r>
            <a:r>
              <a:rPr lang="en-US" altLang="ko-KR" dirty="0"/>
              <a:t>s</a:t>
            </a:r>
            <a:r>
              <a:rPr lang="ko-KR" altLang="en-US" dirty="0"/>
              <a:t>와 </a:t>
            </a:r>
            <a:r>
              <a:rPr lang="en-US" altLang="ko-KR" dirty="0"/>
              <a:t>a</a:t>
            </a:r>
            <a:r>
              <a:rPr lang="ko-KR" altLang="en-US" dirty="0"/>
              <a:t>가 주어졌을 때 그 다음 상태가 확률에 무관하게 결정적으로 주어집니다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grid world </a:t>
            </a:r>
            <a:r>
              <a:rPr lang="ko-KR" altLang="en-US" dirty="0"/>
              <a:t>그림을 보시면 </a:t>
            </a:r>
            <a:r>
              <a:rPr lang="en-US" altLang="ko-KR" dirty="0"/>
              <a:t>(1,2)</a:t>
            </a:r>
            <a:r>
              <a:rPr lang="ko-KR" altLang="en-US" dirty="0"/>
              <a:t>라는 상태에서 위로 가는 행동을 취하면 분명히 </a:t>
            </a:r>
            <a:r>
              <a:rPr lang="en-US" altLang="ko-KR" dirty="0"/>
              <a:t>(1,3)</a:t>
            </a:r>
            <a:r>
              <a:rPr lang="ko-KR" altLang="en-US" dirty="0"/>
              <a:t>로 이동하기 때문에 </a:t>
            </a:r>
            <a:r>
              <a:rPr lang="en-US" altLang="ko-KR" dirty="0"/>
              <a:t>p((1,3)|(1,2),</a:t>
            </a:r>
            <a:r>
              <a:rPr lang="ko-KR" altLang="en-US" dirty="0"/>
              <a:t>↑</a:t>
            </a:r>
            <a:r>
              <a:rPr lang="en-US" altLang="ko-KR" dirty="0"/>
              <a:t>)=1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 같은 상태에서 아래로 가면 분명히 </a:t>
            </a:r>
            <a:r>
              <a:rPr lang="en-US" altLang="ko-KR" dirty="0"/>
              <a:t>(1,1)</a:t>
            </a:r>
            <a:r>
              <a:rPr lang="ko-KR" altLang="en-US" dirty="0"/>
              <a:t>로 이동하기 때문에 </a:t>
            </a:r>
            <a:r>
              <a:rPr lang="en-US" altLang="ko-KR" dirty="0"/>
              <a:t>p((1,1)|(1,2),</a:t>
            </a:r>
            <a:r>
              <a:rPr lang="ko-KR" altLang="en-US" dirty="0"/>
              <a:t>↓</a:t>
            </a:r>
            <a:r>
              <a:rPr lang="en-US" altLang="ko-KR" dirty="0"/>
              <a:t>)=1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이때의 보상은</a:t>
            </a:r>
            <a:r>
              <a:rPr lang="en-US" altLang="ko-KR" dirty="0"/>
              <a:t>, </a:t>
            </a:r>
            <a:r>
              <a:rPr lang="ko-KR" altLang="en-US" dirty="0"/>
              <a:t>아까 이동시마다 </a:t>
            </a:r>
            <a:r>
              <a:rPr lang="en-US" altLang="ko-KR" dirty="0"/>
              <a:t>-0.1</a:t>
            </a:r>
            <a:r>
              <a:rPr lang="ko-KR" altLang="en-US" dirty="0"/>
              <a:t>이라고 </a:t>
            </a:r>
            <a:r>
              <a:rPr lang="ko-KR" altLang="en-US" dirty="0" err="1"/>
              <a:t>했었기</a:t>
            </a:r>
            <a:r>
              <a:rPr lang="ko-KR" altLang="en-US" dirty="0"/>
              <a:t> 때문에 모두 </a:t>
            </a:r>
            <a:r>
              <a:rPr lang="en-US" altLang="ko-KR" dirty="0"/>
              <a:t>-0.1</a:t>
            </a:r>
            <a:r>
              <a:rPr lang="ko-KR" altLang="en-US" dirty="0"/>
              <a:t>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참고로 말씀드리면</a:t>
            </a:r>
            <a:r>
              <a:rPr lang="en-US" altLang="ko-KR" dirty="0"/>
              <a:t>,</a:t>
            </a:r>
            <a:r>
              <a:rPr lang="ko-KR" altLang="en-US" dirty="0"/>
              <a:t> 실제 강화학습에서는 대부분 환경모델을 모른다고 가정합니다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환경모델을 알 때 쓰는 알고리즘을 </a:t>
            </a:r>
            <a:r>
              <a:rPr lang="en-US" altLang="ko-KR" dirty="0"/>
              <a:t>model based </a:t>
            </a:r>
            <a:r>
              <a:rPr lang="ko-KR" altLang="en-US" dirty="0"/>
              <a:t>방법이라고 부르고</a:t>
            </a:r>
            <a:r>
              <a:rPr lang="en-US" altLang="ko-KR" dirty="0"/>
              <a:t> dynamic programming</a:t>
            </a:r>
            <a:r>
              <a:rPr lang="ko-KR" altLang="en-US" dirty="0"/>
              <a:t>이 대표적인 반면에 환경 모델을 모를 때에는 </a:t>
            </a:r>
            <a:r>
              <a:rPr lang="en-US" altLang="ko-KR" dirty="0"/>
              <a:t>model free </a:t>
            </a:r>
            <a:r>
              <a:rPr lang="ko-KR" altLang="en-US" dirty="0"/>
              <a:t>방법을 사용하는데 대부분의 강화학습 문제는 </a:t>
            </a:r>
            <a:r>
              <a:rPr lang="en-US" altLang="ko-KR" dirty="0"/>
              <a:t>model free </a:t>
            </a:r>
            <a:r>
              <a:rPr lang="ko-KR" altLang="en-US" dirty="0"/>
              <a:t>방식으로 접근하게 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574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MDP</a:t>
            </a:r>
            <a:r>
              <a:rPr lang="ko-KR" altLang="en-US" dirty="0"/>
              <a:t>에서의 다음 개념은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이것들까지 소개하고 나면 강화학습의 목적을 설명할 수 있는데요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en-US" altLang="ko-KR" dirty="0"/>
              <a:t>return</a:t>
            </a:r>
            <a:r>
              <a:rPr lang="ko-KR" altLang="en-US" dirty="0"/>
              <a:t>이란</a:t>
            </a:r>
            <a:r>
              <a:rPr lang="en-US" altLang="ko-KR" dirty="0"/>
              <a:t>, </a:t>
            </a:r>
            <a:r>
              <a:rPr lang="ko-KR" altLang="en-US" dirty="0"/>
              <a:t>보상들의 합을 의미합니다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강화학습에서의 목적은 보상이 최대가 되는 것이기보다는 보상들의 합이 최대가 되는 것이어야만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체스나 장기도 </a:t>
            </a:r>
            <a:r>
              <a:rPr lang="en-US" altLang="ko-KR" dirty="0"/>
              <a:t>MDP</a:t>
            </a:r>
            <a:r>
              <a:rPr lang="ko-KR" altLang="en-US" dirty="0"/>
              <a:t>와 강화학습으로 표현될 수 있는데 기물을 잡을 때마다 보상을 받는다고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만약</a:t>
            </a:r>
            <a:r>
              <a:rPr lang="en-US" altLang="ko-KR" dirty="0"/>
              <a:t>, </a:t>
            </a:r>
            <a:r>
              <a:rPr lang="ko-KR" altLang="en-US" dirty="0"/>
              <a:t>당장 졸을 </a:t>
            </a:r>
            <a:r>
              <a:rPr lang="ko-KR" altLang="en-US" dirty="0" err="1"/>
              <a:t>잡으려다가</a:t>
            </a:r>
            <a:r>
              <a:rPr lang="ko-KR" altLang="en-US" dirty="0"/>
              <a:t> 다음 수에서 중요한 기물을 잃는다면 이는 대국 전체로 봤을 때는 손해입니다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다시 말해</a:t>
            </a:r>
            <a:r>
              <a:rPr lang="en-US" altLang="ko-KR" dirty="0"/>
              <a:t>, </a:t>
            </a:r>
            <a:r>
              <a:rPr lang="ko-KR" altLang="en-US" dirty="0"/>
              <a:t>당장의 보상보다는 전체 게임에서의 보상합이 더 중요하다고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그렇기 때문에 강화학습의 목적은 보상이 최대가 되는 것이 아닌 보상들의 합이 최대가 되도록 되어야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장표에 보시면 </a:t>
            </a:r>
            <a:r>
              <a:rPr lang="en-US" altLang="ko-KR" dirty="0"/>
              <a:t>return </a:t>
            </a:r>
            <a:r>
              <a:rPr lang="en-US" altLang="ko-KR" dirty="0" err="1"/>
              <a:t>G_t</a:t>
            </a:r>
            <a:r>
              <a:rPr lang="ko-KR" altLang="en-US" dirty="0"/>
              <a:t>를 정의할 때 단순히 더하는 것이 아니라 </a:t>
            </a:r>
            <a:r>
              <a:rPr lang="en-US" altLang="ko-KR" dirty="0"/>
              <a:t>gamma</a:t>
            </a:r>
            <a:r>
              <a:rPr lang="ko-KR" altLang="en-US" dirty="0"/>
              <a:t>라는 숫자를 시간이 지날 때마다 곱해서 더하는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때의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discount factor </a:t>
            </a:r>
            <a:r>
              <a:rPr lang="ko-KR" altLang="en-US" dirty="0"/>
              <a:t>혹은 한국어로는 감가율이라고 하는데요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gamma</a:t>
            </a:r>
            <a:r>
              <a:rPr lang="ko-KR" altLang="en-US" dirty="0"/>
              <a:t>를 곱하는 데에는 두 가지 정도의 의미가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첫째로는 수학적으로 계산하는 데 안정적입니다</a:t>
            </a:r>
            <a:r>
              <a:rPr lang="en-US" altLang="ko-KR" dirty="0"/>
              <a:t>. </a:t>
            </a:r>
            <a:r>
              <a:rPr lang="ko-KR" altLang="en-US" dirty="0"/>
              <a:t>만약 단순히 보상을 더하는 것이라서 </a:t>
            </a:r>
            <a:r>
              <a:rPr lang="en-US" altLang="ko-KR" dirty="0"/>
              <a:t>gamma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이라면 </a:t>
            </a:r>
            <a:r>
              <a:rPr lang="en-US" altLang="ko-KR" dirty="0" err="1"/>
              <a:t>G_t</a:t>
            </a:r>
            <a:r>
              <a:rPr lang="ko-KR" altLang="en-US" dirty="0"/>
              <a:t>를 계산하는 급수가 발산할 여지가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</a:t>
            </a:r>
            <a:r>
              <a:rPr lang="en-US" altLang="ko-KR" dirty="0"/>
              <a:t>1</a:t>
            </a:r>
            <a:r>
              <a:rPr lang="ko-KR" altLang="en-US" dirty="0"/>
              <a:t>보다 작은 </a:t>
            </a:r>
            <a:r>
              <a:rPr lang="en-US" altLang="ko-KR" dirty="0"/>
              <a:t>gamma</a:t>
            </a:r>
            <a:r>
              <a:rPr lang="ko-KR" altLang="en-US" dirty="0"/>
              <a:t>를 적용하게 되면 이것은 멱급수가 되어 무조건 수렴합니다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두번째로 </a:t>
            </a:r>
            <a:r>
              <a:rPr lang="en-US" altLang="ko-KR" dirty="0"/>
              <a:t>gamma</a:t>
            </a:r>
            <a:r>
              <a:rPr lang="ko-KR" altLang="en-US" dirty="0"/>
              <a:t>가 중요한 이유는 의미적인 부분 때문입니다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G_t</a:t>
            </a:r>
            <a:r>
              <a:rPr lang="ko-KR" altLang="en-US" dirty="0"/>
              <a:t>의 정의를 보시면 </a:t>
            </a:r>
            <a:r>
              <a:rPr lang="en-US" altLang="ko-KR" dirty="0"/>
              <a:t>R_t+1</a:t>
            </a:r>
            <a:r>
              <a:rPr lang="ko-KR" altLang="en-US" dirty="0"/>
              <a:t>이 가장 중요하고 </a:t>
            </a:r>
            <a:r>
              <a:rPr lang="en-US" altLang="ko-KR" dirty="0"/>
              <a:t>R_t+2</a:t>
            </a:r>
            <a:r>
              <a:rPr lang="ko-KR" altLang="en-US" dirty="0"/>
              <a:t>는 덜 중요하며</a:t>
            </a:r>
            <a:r>
              <a:rPr lang="en-US" altLang="ko-KR" dirty="0"/>
              <a:t>, </a:t>
            </a:r>
            <a:r>
              <a:rPr lang="ko-KR" altLang="en-US" dirty="0"/>
              <a:t>계속해서 시간이 지날수록 </a:t>
            </a:r>
            <a:r>
              <a:rPr lang="en-US" altLang="ko-KR" dirty="0"/>
              <a:t>R</a:t>
            </a:r>
            <a:r>
              <a:rPr lang="ko-KR" altLang="en-US" dirty="0"/>
              <a:t>값은 덜 중요해지는 것을 확인하실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식으로 최근의 </a:t>
            </a:r>
            <a:r>
              <a:rPr lang="en-US" altLang="ko-KR" dirty="0"/>
              <a:t>R</a:t>
            </a:r>
            <a:r>
              <a:rPr lang="ko-KR" altLang="en-US" dirty="0"/>
              <a:t>값을 더 중요하게 생각한다는 의미에서 </a:t>
            </a:r>
            <a:r>
              <a:rPr lang="en-US" altLang="ko-KR" dirty="0"/>
              <a:t>gamma</a:t>
            </a:r>
            <a:r>
              <a:rPr lang="ko-KR" altLang="en-US" dirty="0"/>
              <a:t>를 도입하는 것이기도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현재의</a:t>
            </a:r>
            <a:r>
              <a:rPr lang="en-US" altLang="ko-KR" dirty="0"/>
              <a:t> </a:t>
            </a:r>
            <a:r>
              <a:rPr lang="en-US" altLang="ko-KR" dirty="0" err="1"/>
              <a:t>G_t</a:t>
            </a:r>
            <a:r>
              <a:rPr lang="ko-KR" altLang="en-US" dirty="0"/>
              <a:t>와 다음 시점의 </a:t>
            </a:r>
            <a:r>
              <a:rPr lang="en-US" altLang="ko-KR" dirty="0"/>
              <a:t>G_t+1 </a:t>
            </a:r>
            <a:r>
              <a:rPr lang="ko-KR" altLang="en-US" dirty="0"/>
              <a:t>사이에는 다음과 같은 관계식이 성립합니다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앞으로의 설명에서 자주 등장하게 될 것이므로 적어보았습니다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</a:t>
            </a:r>
            <a:r>
              <a:rPr lang="en-US" altLang="ko-KR" dirty="0"/>
              <a:t>MDP</a:t>
            </a:r>
            <a:r>
              <a:rPr lang="ko-KR" altLang="en-US" dirty="0"/>
              <a:t>의 개념은 정책입니다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오른쪽의 </a:t>
            </a:r>
            <a:r>
              <a:rPr lang="en-US" altLang="ko-KR" dirty="0"/>
              <a:t>trajectory</a:t>
            </a:r>
            <a:r>
              <a:rPr lang="ko-KR" altLang="en-US" dirty="0"/>
              <a:t>를 보시면 </a:t>
            </a:r>
            <a:r>
              <a:rPr lang="en-US" altLang="ko-KR" dirty="0"/>
              <a:t>state transition probability p</a:t>
            </a:r>
            <a:r>
              <a:rPr lang="ko-KR" altLang="en-US" dirty="0"/>
              <a:t>는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s’</a:t>
            </a:r>
            <a:r>
              <a:rPr lang="ko-KR" altLang="en-US" dirty="0"/>
              <a:t>을 결정해주고</a:t>
            </a:r>
            <a:r>
              <a:rPr lang="en-US" altLang="ko-KR" dirty="0"/>
              <a:t>, reward function</a:t>
            </a:r>
            <a:r>
              <a:rPr lang="ko-KR" altLang="en-US" dirty="0"/>
              <a:t>은 </a:t>
            </a:r>
            <a:r>
              <a:rPr lang="en-US" altLang="ko-KR" dirty="0"/>
              <a:t>s, a</a:t>
            </a:r>
            <a:r>
              <a:rPr lang="ko-KR" altLang="en-US" dirty="0"/>
              <a:t>가 주어졌을 때 다음 </a:t>
            </a:r>
            <a:r>
              <a:rPr lang="en-US" altLang="ko-KR" dirty="0"/>
              <a:t>r</a:t>
            </a:r>
            <a:r>
              <a:rPr lang="ko-KR" altLang="en-US" dirty="0"/>
              <a:t>을 결정해줍니다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그런데 가만히 생각해보면 이 두 개의 환경모델만으로는 </a:t>
            </a:r>
            <a:r>
              <a:rPr lang="en-US" altLang="ko-KR" dirty="0"/>
              <a:t>trajectory</a:t>
            </a:r>
            <a:r>
              <a:rPr lang="ko-KR" altLang="en-US" dirty="0"/>
              <a:t>가 결정되지 않음을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한가지 빈 곳이</a:t>
            </a:r>
            <a:r>
              <a:rPr lang="en-US" altLang="ko-KR" dirty="0"/>
              <a:t>, s</a:t>
            </a:r>
            <a:r>
              <a:rPr lang="ko-KR" altLang="en-US" dirty="0"/>
              <a:t>가 주어졌을 때 </a:t>
            </a:r>
            <a:r>
              <a:rPr lang="en-US" altLang="ko-KR" dirty="0"/>
              <a:t>a</a:t>
            </a:r>
            <a:r>
              <a:rPr lang="ko-KR" altLang="en-US" dirty="0"/>
              <a:t>가 어떻게 주어질 것이냐 하는 문제인데요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이것을 정책이라고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주어진 상태에 대하여 다음 행동을 결정하는 것을 정책</a:t>
            </a:r>
            <a:r>
              <a:rPr lang="en-US" altLang="ko-KR" dirty="0"/>
              <a:t>, </a:t>
            </a:r>
            <a:r>
              <a:rPr lang="ko-KR" altLang="en-US" dirty="0"/>
              <a:t>영어로는 </a:t>
            </a:r>
            <a:r>
              <a:rPr lang="en-US" altLang="ko-KR" dirty="0"/>
              <a:t>policy</a:t>
            </a:r>
            <a:r>
              <a:rPr lang="ko-KR" altLang="en-US" dirty="0"/>
              <a:t>라고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사실 조금 더 정확하게는</a:t>
            </a:r>
            <a:r>
              <a:rPr lang="en-US" altLang="ko-KR" dirty="0"/>
              <a:t>, </a:t>
            </a:r>
            <a:r>
              <a:rPr lang="ko-KR" altLang="en-US" dirty="0"/>
              <a:t>주어진 상태에서의 행동의 확률분포라고 해야 하고 따라서 식으로는 다음과 같이 써야 하는데</a:t>
            </a:r>
            <a:r>
              <a:rPr lang="en-US" altLang="ko-KR" dirty="0"/>
              <a:t>, </a:t>
            </a:r>
            <a:r>
              <a:rPr lang="ko-KR" altLang="en-US" dirty="0"/>
              <a:t>그냥 단순히 주어진 상태에서 행동을 결정하는 것 정도로 봐도 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앞서 말씀드린 </a:t>
            </a:r>
            <a:r>
              <a:rPr lang="en-US" altLang="ko-KR" dirty="0"/>
              <a:t>transition</a:t>
            </a:r>
            <a:r>
              <a:rPr lang="ko-KR" altLang="en-US" dirty="0"/>
              <a:t> </a:t>
            </a:r>
            <a:r>
              <a:rPr lang="en-US" altLang="ko-KR" dirty="0"/>
              <a:t>dynamics</a:t>
            </a:r>
            <a:r>
              <a:rPr lang="ko-KR" altLang="en-US" dirty="0"/>
              <a:t>에 </a:t>
            </a:r>
            <a:r>
              <a:rPr lang="en-US" altLang="ko-KR" dirty="0"/>
              <a:t>policy</a:t>
            </a:r>
            <a:r>
              <a:rPr lang="ko-KR" altLang="en-US" dirty="0"/>
              <a:t>까지 결정되고 나면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trajectory</a:t>
            </a:r>
            <a:r>
              <a:rPr lang="ko-KR" altLang="en-US" dirty="0"/>
              <a:t>가 </a:t>
            </a:r>
            <a:r>
              <a:rPr lang="en-US" altLang="ko-KR" dirty="0"/>
              <a:t>(</a:t>
            </a:r>
            <a:r>
              <a:rPr lang="ko-KR" altLang="en-US" dirty="0"/>
              <a:t>적어도 확률적으로는</a:t>
            </a:r>
            <a:r>
              <a:rPr lang="en-US" altLang="ko-KR" dirty="0"/>
              <a:t>) </a:t>
            </a:r>
            <a:r>
              <a:rPr lang="ko-KR" altLang="en-US" dirty="0"/>
              <a:t>결정될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</a:t>
            </a:r>
            <a:r>
              <a:rPr lang="en-US" altLang="ko-KR" dirty="0"/>
              <a:t>, </a:t>
            </a:r>
            <a:r>
              <a:rPr lang="ko-KR" altLang="en-US" dirty="0"/>
              <a:t>강화학습의 목적은</a:t>
            </a:r>
            <a:r>
              <a:rPr lang="en-US" altLang="ko-KR" dirty="0"/>
              <a:t>, </a:t>
            </a:r>
            <a:r>
              <a:rPr lang="ko-KR" altLang="en-US" dirty="0"/>
              <a:t>바로 주어진 환경</a:t>
            </a:r>
            <a:r>
              <a:rPr lang="en-US" altLang="ko-KR" dirty="0"/>
              <a:t> (</a:t>
            </a:r>
            <a:r>
              <a:rPr lang="ko-KR" altLang="en-US" dirty="0"/>
              <a:t>즉</a:t>
            </a:r>
            <a:r>
              <a:rPr lang="en-US" altLang="ko-KR" dirty="0"/>
              <a:t>, transition dynamics)</a:t>
            </a:r>
            <a:r>
              <a:rPr lang="ko-KR" altLang="en-US" dirty="0"/>
              <a:t>에서 어떤 정책을 취해야만 </a:t>
            </a:r>
            <a:r>
              <a:rPr lang="en-US" altLang="ko-KR" dirty="0"/>
              <a:t>return</a:t>
            </a:r>
            <a:r>
              <a:rPr lang="ko-KR" altLang="en-US" dirty="0"/>
              <a:t>이 최대가 될지를 결정하는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주어진 상태마다 어떤 행동을 취할지를 잘 결정하여</a:t>
            </a:r>
            <a:r>
              <a:rPr lang="en-US" altLang="ko-KR" dirty="0"/>
              <a:t>, </a:t>
            </a:r>
            <a:r>
              <a:rPr lang="ko-KR" altLang="en-US" dirty="0"/>
              <a:t>보상들의 합이 최대가 되도록 하는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정책을 최적정책이라고 부릅니다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앞서 말씀드렸던 </a:t>
            </a:r>
            <a:r>
              <a:rPr lang="en-US" altLang="ko-KR" dirty="0"/>
              <a:t>grid world</a:t>
            </a:r>
            <a:r>
              <a:rPr lang="ko-KR" altLang="en-US" dirty="0"/>
              <a:t>에서 위에 언급한 </a:t>
            </a:r>
            <a:r>
              <a:rPr lang="en-US" altLang="ko-KR" dirty="0"/>
              <a:t>return</a:t>
            </a:r>
            <a:r>
              <a:rPr lang="ko-KR" altLang="en-US" dirty="0"/>
              <a:t>과 </a:t>
            </a:r>
            <a:r>
              <a:rPr lang="en-US" altLang="ko-KR" dirty="0"/>
              <a:t>policy</a:t>
            </a:r>
            <a:r>
              <a:rPr lang="ko-KR" altLang="en-US" dirty="0"/>
              <a:t>에 대해 말해보겠습니다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grid world</a:t>
            </a:r>
            <a:r>
              <a:rPr lang="ko-KR" altLang="en-US" dirty="0"/>
              <a:t>에서 위로 두 칸 간 다음 오른쪽으로 세 칸 가는 </a:t>
            </a:r>
            <a:r>
              <a:rPr lang="en-US" altLang="ko-KR" dirty="0"/>
              <a:t>trajectory</a:t>
            </a:r>
            <a:r>
              <a:rPr lang="ko-KR" altLang="en-US" dirty="0"/>
              <a:t>를 생각했을 때</a:t>
            </a:r>
            <a:endParaRPr lang="en-US" altLang="ko-KR" dirty="0"/>
          </a:p>
          <a:p>
            <a:r>
              <a:rPr lang="ko-KR" altLang="en-US" dirty="0"/>
              <a:t>누적보상합은 </a:t>
            </a:r>
            <a:r>
              <a:rPr lang="en-US" altLang="ko-KR" dirty="0"/>
              <a:t>0.5 </a:t>
            </a:r>
            <a:r>
              <a:rPr lang="ko-KR" altLang="en-US" dirty="0"/>
              <a:t>정도로 계산됩니다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계산을 간단히 하기 위해 </a:t>
            </a:r>
            <a:r>
              <a:rPr lang="en-US" altLang="ko-KR" dirty="0"/>
              <a:t>gamma</a:t>
            </a:r>
            <a:r>
              <a:rPr lang="ko-KR" altLang="en-US" dirty="0"/>
              <a:t>를 </a:t>
            </a:r>
            <a:r>
              <a:rPr lang="en-US" altLang="ko-KR" dirty="0"/>
              <a:t>1</a:t>
            </a:r>
            <a:r>
              <a:rPr lang="ko-KR" altLang="en-US" dirty="0"/>
              <a:t>로 두었습니다</a:t>
            </a:r>
            <a:r>
              <a:rPr lang="en-US" altLang="ko-KR" dirty="0"/>
              <a:t>.)</a:t>
            </a:r>
          </a:p>
          <a:p>
            <a:endParaRPr lang="en-US" altLang="ko-KR" dirty="0"/>
          </a:p>
          <a:p>
            <a:r>
              <a:rPr lang="ko-KR" altLang="en-US" dirty="0"/>
              <a:t>또 여기서의 정책은</a:t>
            </a:r>
            <a:r>
              <a:rPr lang="en-US" altLang="ko-KR" dirty="0"/>
              <a:t>, </a:t>
            </a:r>
            <a:r>
              <a:rPr lang="ko-KR" altLang="en-US" dirty="0"/>
              <a:t>여러가지 정책이 있을 수 있겠지만 균등정책을 생각해보겠습니다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(1,1)</a:t>
            </a:r>
            <a:r>
              <a:rPr lang="ko-KR" altLang="en-US" dirty="0"/>
              <a:t>에서는 위 또는 오른쪽으로 각각 </a:t>
            </a:r>
            <a:r>
              <a:rPr lang="en-US" altLang="ko-KR" dirty="0"/>
              <a:t>0.5</a:t>
            </a:r>
            <a:r>
              <a:rPr lang="ko-KR" altLang="en-US" dirty="0"/>
              <a:t>의 확률로 이동합니다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그것을 아래의 식처럼 표현해낼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최적정책은</a:t>
            </a:r>
            <a:r>
              <a:rPr lang="en-US" altLang="ko-KR" dirty="0"/>
              <a:t>, </a:t>
            </a:r>
            <a:r>
              <a:rPr lang="ko-KR" altLang="en-US" dirty="0"/>
              <a:t>지금 표시된 </a:t>
            </a:r>
            <a:r>
              <a:rPr lang="en-US" altLang="ko-KR" dirty="0"/>
              <a:t>trajectory</a:t>
            </a:r>
            <a:r>
              <a:rPr lang="ko-KR" altLang="en-US" dirty="0"/>
              <a:t>처럼 움직이는 것이 최적의 경로라는 것을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또는</a:t>
            </a:r>
            <a:r>
              <a:rPr lang="en-US" altLang="ko-KR" dirty="0"/>
              <a:t>, </a:t>
            </a:r>
            <a:r>
              <a:rPr lang="ko-KR" altLang="en-US" dirty="0"/>
              <a:t>오른쪽으로 돌아가는 </a:t>
            </a:r>
            <a:r>
              <a:rPr lang="en-US" altLang="ko-KR" dirty="0"/>
              <a:t>trajectory</a:t>
            </a:r>
            <a:r>
              <a:rPr lang="ko-KR" altLang="en-US" dirty="0"/>
              <a:t>도 최적의 경로입니다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하나의 </a:t>
            </a:r>
            <a:r>
              <a:rPr lang="en-US" altLang="ko-KR" dirty="0"/>
              <a:t>MDP</a:t>
            </a:r>
            <a:r>
              <a:rPr lang="ko-KR" altLang="en-US" dirty="0"/>
              <a:t>에서 최적정책은 여러 개 있을 수 있습니다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그중 그림에 표시된 경로에 해당하는 최적정책은</a:t>
            </a:r>
            <a:r>
              <a:rPr lang="en-US" altLang="ko-KR" dirty="0"/>
              <a:t>, </a:t>
            </a:r>
            <a:r>
              <a:rPr lang="ko-KR" altLang="en-US" dirty="0"/>
              <a:t>예를 들어 </a:t>
            </a:r>
            <a:r>
              <a:rPr lang="en-US" altLang="ko-KR" dirty="0"/>
              <a:t>(1,2)</a:t>
            </a:r>
            <a:r>
              <a:rPr lang="ko-KR" altLang="en-US" dirty="0"/>
              <a:t>이라는 상태가 주어졌을 때 위로 갈 확률만이 </a:t>
            </a:r>
            <a:r>
              <a:rPr lang="en-US" altLang="ko-KR" dirty="0"/>
              <a:t>1</a:t>
            </a:r>
            <a:r>
              <a:rPr lang="ko-KR" altLang="en-US" dirty="0"/>
              <a:t>이고 나머지 확률은 </a:t>
            </a:r>
            <a:r>
              <a:rPr lang="en-US" altLang="ko-KR" dirty="0"/>
              <a:t>0</a:t>
            </a:r>
            <a:r>
              <a:rPr lang="ko-KR" altLang="en-US" dirty="0"/>
              <a:t>으로 가는</a:t>
            </a:r>
            <a:r>
              <a:rPr lang="en-US" altLang="ko-KR" dirty="0"/>
              <a:t>, action</a:t>
            </a:r>
            <a:r>
              <a:rPr lang="ko-KR" altLang="en-US" dirty="0"/>
              <a:t>들의 확률분포를 갖게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지금은 </a:t>
            </a:r>
            <a:r>
              <a:rPr lang="en-US" altLang="ko-KR" dirty="0"/>
              <a:t>(1,2)</a:t>
            </a:r>
            <a:r>
              <a:rPr lang="ko-KR" altLang="en-US" dirty="0"/>
              <a:t>에 대해서만 했지만 나머지 점들에 대해서도 </a:t>
            </a:r>
            <a:r>
              <a:rPr lang="en-US" altLang="ko-KR" dirty="0"/>
              <a:t>action</a:t>
            </a:r>
            <a:r>
              <a:rPr lang="ko-KR" altLang="en-US" dirty="0"/>
              <a:t>을 적절히 정하게 되면 최적정책을 만들어낼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최적정책은 </a:t>
            </a:r>
            <a:r>
              <a:rPr lang="en-US" altLang="ko-KR" dirty="0"/>
              <a:t>state</a:t>
            </a:r>
            <a:r>
              <a:rPr lang="ko-KR" altLang="en-US" dirty="0"/>
              <a:t>가 주어졌을 때 </a:t>
            </a:r>
            <a:r>
              <a:rPr lang="en-US" altLang="ko-KR" dirty="0"/>
              <a:t>action</a:t>
            </a:r>
            <a:r>
              <a:rPr lang="ko-KR" altLang="en-US" dirty="0"/>
              <a:t>이 고정적으로 하나 결정되는 형식의 </a:t>
            </a:r>
            <a:r>
              <a:rPr lang="en-US" altLang="ko-KR" dirty="0"/>
              <a:t>policy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식의 정책을 </a:t>
            </a:r>
            <a:r>
              <a:rPr lang="en-US" altLang="ko-KR" dirty="0"/>
              <a:t>deterministic policy</a:t>
            </a:r>
            <a:r>
              <a:rPr lang="ko-KR" altLang="en-US" dirty="0"/>
              <a:t>라고 부르는데</a:t>
            </a:r>
            <a:r>
              <a:rPr lang="en-US" altLang="ko-KR" dirty="0"/>
              <a:t>, </a:t>
            </a:r>
            <a:r>
              <a:rPr lang="ko-KR" altLang="en-US" dirty="0"/>
              <a:t>일반적으로는 그렇지 않습니다</a:t>
            </a:r>
            <a:r>
              <a:rPr lang="en-US" altLang="ko-KR" dirty="0"/>
              <a:t>, </a:t>
            </a:r>
            <a:r>
              <a:rPr lang="ko-KR" altLang="en-US" dirty="0"/>
              <a:t>그 반대급부를 </a:t>
            </a:r>
            <a:r>
              <a:rPr lang="en-US" altLang="ko-KR" dirty="0"/>
              <a:t>stochastic policy</a:t>
            </a:r>
            <a:r>
              <a:rPr lang="ko-KR" altLang="en-US" dirty="0"/>
              <a:t>라고도 부릅니다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5731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이전 장표에서 언급한 강화학습의 목적</a:t>
            </a:r>
            <a:r>
              <a:rPr lang="en-US" altLang="ko-KR" dirty="0"/>
              <a:t>, </a:t>
            </a:r>
            <a:r>
              <a:rPr lang="ko-KR" altLang="en-US" dirty="0"/>
              <a:t>즉 최적정책을 찾기 위해서는 가치함수라는 개념을 도입합니다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어떤 정책 </a:t>
            </a:r>
            <a:r>
              <a:rPr lang="en-US" altLang="ko-KR" dirty="0"/>
              <a:t>\pi</a:t>
            </a:r>
            <a:r>
              <a:rPr lang="ko-KR" altLang="en-US" dirty="0"/>
              <a:t>에 대하여 가치함수는 다음과 같이 두 종류가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하나는 현재 상태에 대한 가치를 나타내는 </a:t>
            </a:r>
            <a:r>
              <a:rPr lang="en-US" altLang="ko-KR" dirty="0"/>
              <a:t>state-value function v_\pi</a:t>
            </a:r>
            <a:r>
              <a:rPr lang="ko-KR" altLang="en-US" dirty="0"/>
              <a:t>이고</a:t>
            </a:r>
            <a:endParaRPr lang="en-US" altLang="ko-KR" dirty="0"/>
          </a:p>
          <a:p>
            <a:r>
              <a:rPr lang="ko-KR" altLang="en-US" dirty="0"/>
              <a:t>다른 하나는 현재의 상태와 행동에 대한 가치를 나타내는 </a:t>
            </a:r>
            <a:r>
              <a:rPr lang="en-US" altLang="ko-KR" dirty="0"/>
              <a:t>action-value function q_\pi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정확하게는</a:t>
            </a:r>
            <a:r>
              <a:rPr lang="en-US" altLang="ko-KR" dirty="0"/>
              <a:t>, v_\pi(s)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가 주어졌다는 조건 하에서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기댓값이고</a:t>
            </a:r>
            <a:r>
              <a:rPr lang="ko-KR" altLang="en-US" dirty="0"/>
              <a:t> </a:t>
            </a:r>
            <a:r>
              <a:rPr lang="en-US" altLang="ko-KR" dirty="0"/>
              <a:t>q_\pi(</a:t>
            </a:r>
            <a:r>
              <a:rPr lang="en-US" altLang="ko-KR" dirty="0" err="1"/>
              <a:t>s,a</a:t>
            </a:r>
            <a:r>
              <a:rPr lang="en-US" altLang="ko-KR" dirty="0"/>
              <a:t>)</a:t>
            </a:r>
            <a:r>
              <a:rPr lang="ko-KR" altLang="en-US" dirty="0"/>
              <a:t>는 현재 상태 </a:t>
            </a:r>
            <a:r>
              <a:rPr lang="en-US" altLang="ko-KR" dirty="0"/>
              <a:t>s</a:t>
            </a:r>
            <a:r>
              <a:rPr lang="ko-KR" altLang="en-US" dirty="0"/>
              <a:t>와 행동 </a:t>
            </a:r>
            <a:r>
              <a:rPr lang="en-US" altLang="ko-KR" dirty="0"/>
              <a:t>a</a:t>
            </a:r>
            <a:r>
              <a:rPr lang="ko-KR" altLang="en-US" dirty="0"/>
              <a:t>가 주어졌다는 조건 하에서의 </a:t>
            </a:r>
            <a:r>
              <a:rPr lang="en-US" altLang="ko-KR" dirty="0" err="1"/>
              <a:t>G_t</a:t>
            </a:r>
            <a:r>
              <a:rPr lang="ko-KR" altLang="en-US" dirty="0"/>
              <a:t>의 </a:t>
            </a:r>
            <a:r>
              <a:rPr lang="ko-KR" altLang="en-US" dirty="0" err="1"/>
              <a:t>기댓값입니다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두가지의 가치함수 중에 더 요긴한 것은 당연히 </a:t>
            </a:r>
            <a:r>
              <a:rPr lang="en-US" altLang="ko-KR" dirty="0"/>
              <a:t>action-value function q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</a:t>
            </a:r>
            <a:r>
              <a:rPr lang="en-US" altLang="ko-KR" dirty="0"/>
              <a:t> q_\pi</a:t>
            </a:r>
            <a:r>
              <a:rPr lang="ko-KR" altLang="en-US" dirty="0"/>
              <a:t>를 안다면</a:t>
            </a:r>
            <a:r>
              <a:rPr lang="en-US" altLang="ko-KR" dirty="0"/>
              <a:t>, </a:t>
            </a:r>
            <a:r>
              <a:rPr lang="ko-KR" altLang="en-US" dirty="0"/>
              <a:t>상태 </a:t>
            </a:r>
            <a:r>
              <a:rPr lang="en-US" altLang="ko-KR" dirty="0"/>
              <a:t>s</a:t>
            </a:r>
            <a:r>
              <a:rPr lang="ko-KR" altLang="en-US" dirty="0"/>
              <a:t>가 주어졌을 때 어떤 행동을 취해야 정책이 개선될 수 있을지 판단할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Q-learning</a:t>
            </a:r>
            <a:r>
              <a:rPr lang="ko-KR" altLang="en-US" dirty="0"/>
              <a:t>이나 </a:t>
            </a:r>
            <a:r>
              <a:rPr lang="en-US" altLang="ko-KR" dirty="0"/>
              <a:t>DQN </a:t>
            </a:r>
            <a:r>
              <a:rPr lang="ko-KR" altLang="en-US" dirty="0"/>
              <a:t>등은 모두 </a:t>
            </a:r>
            <a:r>
              <a:rPr lang="en-US" altLang="ko-KR" dirty="0"/>
              <a:t>Q </a:t>
            </a:r>
            <a:r>
              <a:rPr lang="ko-KR" altLang="en-US" dirty="0"/>
              <a:t>함수를 사용하는 강화학습 방법들입니다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8846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</a:t>
            </a:r>
            <a:r>
              <a:rPr lang="ko-KR" altLang="en-US" dirty="0" err="1"/>
              <a:t>벨만방정식에</a:t>
            </a:r>
            <a:r>
              <a:rPr lang="ko-KR" altLang="en-US" dirty="0"/>
              <a:t> 대한 소개입니다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벨만방정식은</a:t>
            </a:r>
            <a:r>
              <a:rPr lang="ko-KR" altLang="en-US" dirty="0"/>
              <a:t> 가치함수들이 만족시켜야 하는 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위의 식은 </a:t>
            </a:r>
            <a:r>
              <a:rPr lang="en-US" altLang="ko-KR" dirty="0"/>
              <a:t>v_\pi</a:t>
            </a:r>
            <a:r>
              <a:rPr lang="ko-KR" altLang="en-US" dirty="0"/>
              <a:t>에 대한 </a:t>
            </a:r>
            <a:r>
              <a:rPr lang="ko-KR" altLang="en-US" dirty="0" err="1"/>
              <a:t>벨만방정식</a:t>
            </a:r>
            <a:r>
              <a:rPr lang="ko-KR" altLang="en-US" dirty="0"/>
              <a:t> 입니다</a:t>
            </a:r>
            <a:r>
              <a:rPr lang="en-US" altLang="ko-KR" dirty="0"/>
              <a:t>..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주어진 </a:t>
            </a:r>
            <a:r>
              <a:rPr lang="en-US" altLang="ko-KR" dirty="0"/>
              <a:t>timestep</a:t>
            </a:r>
            <a:r>
              <a:rPr lang="ko-KR" altLang="en-US" dirty="0"/>
              <a:t>과 다음 </a:t>
            </a:r>
            <a:r>
              <a:rPr lang="en-US" altLang="ko-KR" dirty="0"/>
              <a:t>timestep</a:t>
            </a:r>
            <a:r>
              <a:rPr lang="ko-KR" altLang="en-US" dirty="0"/>
              <a:t>의 </a:t>
            </a:r>
            <a:r>
              <a:rPr lang="en-US" altLang="ko-KR" dirty="0"/>
              <a:t>v_\pi(s)</a:t>
            </a:r>
            <a:r>
              <a:rPr lang="ko-KR" altLang="en-US" dirty="0"/>
              <a:t> 값들을 비교하면 다음과 같은 식이 성립함을 계산을 통해 알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식은 모든 상태 </a:t>
            </a:r>
            <a:r>
              <a:rPr lang="en-US" altLang="ko-KR" dirty="0"/>
              <a:t>s</a:t>
            </a:r>
            <a:r>
              <a:rPr lang="ko-KR" altLang="en-US" dirty="0"/>
              <a:t>에 대해 성립하는 식으로서</a:t>
            </a:r>
            <a:r>
              <a:rPr lang="en-US" altLang="ko-KR" dirty="0"/>
              <a:t> </a:t>
            </a:r>
            <a:r>
              <a:rPr lang="ko-KR" altLang="en-US" dirty="0" err="1"/>
              <a:t>일차연립방정식에</a:t>
            </a:r>
            <a:r>
              <a:rPr lang="ko-KR" altLang="en-US" dirty="0"/>
              <a:t> 해당한다고 볼 수도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</a:t>
            </a:r>
            <a:r>
              <a:rPr lang="en-US" altLang="ko-KR" dirty="0"/>
              <a:t>transition dynamics</a:t>
            </a:r>
            <a:r>
              <a:rPr lang="ko-KR" altLang="en-US" dirty="0"/>
              <a:t>를 알고 있다면 </a:t>
            </a:r>
            <a:r>
              <a:rPr lang="en-US" altLang="ko-KR" dirty="0"/>
              <a:t>v_\pi</a:t>
            </a:r>
            <a:r>
              <a:rPr lang="ko-KR" altLang="en-US" dirty="0"/>
              <a:t>는 연립방정식을 푸는 방법을 통해서도 계산해낼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아래의 식은 </a:t>
            </a:r>
            <a:r>
              <a:rPr lang="en-US" altLang="ko-KR" dirty="0"/>
              <a:t>q_\pi</a:t>
            </a:r>
            <a:r>
              <a:rPr lang="ko-KR" altLang="en-US" dirty="0"/>
              <a:t>에 대한 </a:t>
            </a:r>
            <a:r>
              <a:rPr lang="ko-KR" altLang="en-US" dirty="0" err="1"/>
              <a:t>벨만방정식입니다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마찬가지로 인접한 </a:t>
            </a:r>
            <a:r>
              <a:rPr lang="en-US" altLang="ko-KR" dirty="0"/>
              <a:t>timestep </a:t>
            </a:r>
            <a:r>
              <a:rPr lang="ko-KR" altLang="en-US" dirty="0"/>
              <a:t>사이의 </a:t>
            </a:r>
            <a:r>
              <a:rPr lang="en-US" altLang="ko-KR" dirty="0"/>
              <a:t>q</a:t>
            </a:r>
            <a:r>
              <a:rPr lang="ko-KR" altLang="en-US" dirty="0"/>
              <a:t>값을 비교하여 계산하면 해당 식들이 성립함을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ko-KR" altLang="en-US" dirty="0" err="1"/>
              <a:t>벨만방정식들은</a:t>
            </a:r>
            <a:r>
              <a:rPr lang="ko-KR" altLang="en-US" dirty="0"/>
              <a:t> 강화학습에서 아주 중요한 식들입니다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(Monte Carlo </a:t>
            </a:r>
            <a:r>
              <a:rPr lang="ko-KR" altLang="en-US" dirty="0"/>
              <a:t>방법을 제외하면</a:t>
            </a:r>
            <a:r>
              <a:rPr lang="en-US" altLang="ko-KR" dirty="0"/>
              <a:t>) </a:t>
            </a:r>
            <a:r>
              <a:rPr lang="ko-KR" altLang="en-US" dirty="0"/>
              <a:t>강화학습의 모든 알고리즘이 </a:t>
            </a:r>
            <a:r>
              <a:rPr lang="ko-KR" altLang="en-US" dirty="0" err="1"/>
              <a:t>벨만방정식을</a:t>
            </a:r>
            <a:r>
              <a:rPr lang="ko-KR" altLang="en-US" dirty="0"/>
              <a:t> 기반으로 수행됩니다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한편 </a:t>
            </a:r>
            <a:r>
              <a:rPr lang="ko-KR" altLang="en-US" dirty="0" err="1"/>
              <a:t>벨만최적방정식이라고</a:t>
            </a:r>
            <a:r>
              <a:rPr lang="ko-KR" altLang="en-US" dirty="0"/>
              <a:t> 불리는 식도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이것은 최적 정책의 가치함수들이 만족시켜야 하는 식을 말하는데요</a:t>
            </a:r>
            <a:r>
              <a:rPr lang="en-US" altLang="ko-KR" dirty="0"/>
              <a:t>, </a:t>
            </a:r>
            <a:r>
              <a:rPr lang="ko-KR" altLang="en-US" dirty="0"/>
              <a:t>다음과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식들 또한 연립방정식이라고 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다만</a:t>
            </a:r>
            <a:r>
              <a:rPr lang="en-US" altLang="ko-KR" dirty="0"/>
              <a:t>, max </a:t>
            </a:r>
            <a:r>
              <a:rPr lang="ko-KR" altLang="en-US" dirty="0"/>
              <a:t>표시가 있기 때문에 선형 연립방정식이 아닌 비선형 연립방정식입니다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최적 가치함수를 </a:t>
            </a:r>
            <a:r>
              <a:rPr lang="ko-KR" altLang="en-US" dirty="0" err="1"/>
              <a:t>구하게되면</a:t>
            </a:r>
            <a:r>
              <a:rPr lang="ko-KR" altLang="en-US" dirty="0"/>
              <a:t> 그것으로 최적정책을 찾을 수 있기 때문에</a:t>
            </a:r>
            <a:r>
              <a:rPr lang="en-US" altLang="ko-KR" dirty="0"/>
              <a:t>, </a:t>
            </a:r>
            <a:r>
              <a:rPr lang="ko-KR" altLang="en-US" dirty="0"/>
              <a:t>이 식들은 매우 중요합니다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ko-KR" altLang="en-US" dirty="0" err="1"/>
              <a:t>벨만최적방정식은</a:t>
            </a:r>
            <a:r>
              <a:rPr lang="ko-KR" altLang="en-US" dirty="0"/>
              <a:t> 여러 알고리즘들과 직접적으로 연관되어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Q</a:t>
            </a:r>
            <a:r>
              <a:rPr lang="ko-KR" altLang="en-US" dirty="0"/>
              <a:t>러닝은 </a:t>
            </a:r>
            <a:r>
              <a:rPr lang="en-US" altLang="ko-KR" dirty="0"/>
              <a:t>Q</a:t>
            </a:r>
            <a:r>
              <a:rPr lang="ko-KR" altLang="en-US" dirty="0"/>
              <a:t>함수에 대한 </a:t>
            </a:r>
            <a:r>
              <a:rPr lang="ko-KR" altLang="en-US" dirty="0" err="1"/>
              <a:t>벨만최적방정식을</a:t>
            </a:r>
            <a:r>
              <a:rPr lang="ko-KR" altLang="en-US" dirty="0"/>
              <a:t> 응용한 것이고</a:t>
            </a:r>
            <a:endParaRPr lang="en-US" altLang="ko-KR" dirty="0"/>
          </a:p>
          <a:p>
            <a:r>
              <a:rPr lang="en-US" altLang="ko-KR" dirty="0"/>
              <a:t>dynamic </a:t>
            </a:r>
            <a:r>
              <a:rPr lang="en-US" altLang="ko-KR" dirty="0" err="1"/>
              <a:t>programmin</a:t>
            </a:r>
            <a:r>
              <a:rPr lang="ko-KR" altLang="en-US" dirty="0"/>
              <a:t>에서의 </a:t>
            </a:r>
            <a:r>
              <a:rPr lang="en-US" altLang="ko-KR" dirty="0"/>
              <a:t>value iteration</a:t>
            </a:r>
            <a:r>
              <a:rPr lang="ko-KR" altLang="en-US" dirty="0"/>
              <a:t>이라는 알고리즘은 </a:t>
            </a:r>
            <a:r>
              <a:rPr lang="en-US" altLang="ko-KR" dirty="0"/>
              <a:t>V</a:t>
            </a:r>
            <a:r>
              <a:rPr lang="ko-KR" altLang="en-US" dirty="0"/>
              <a:t>함수에 대한 </a:t>
            </a:r>
            <a:r>
              <a:rPr lang="ko-KR" altLang="en-US" dirty="0" err="1"/>
              <a:t>벨만최적방정식을</a:t>
            </a:r>
            <a:r>
              <a:rPr lang="ko-KR" altLang="en-US" dirty="0"/>
              <a:t> 직접 사용한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594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 알고리즘들 중 첫번째로 동적계획법을 </a:t>
            </a:r>
            <a:r>
              <a:rPr lang="ko-KR" altLang="en-US" dirty="0" err="1"/>
              <a:t>설명드리려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동적계획법은 환경모델을 알고 있을 때 사용할 수 있는 강화학습 방법입니다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일반적인 강화학습과는 달리 환경모델이 필요하다는 차이가 있지만 이론적으로 중요하기 때문에 먼저 설명하겠습니다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동적계획법의 대표적인 알고리즘으로는 </a:t>
            </a:r>
            <a:r>
              <a:rPr lang="en-US" altLang="ko-KR" dirty="0"/>
              <a:t>policy iteration</a:t>
            </a:r>
            <a:r>
              <a:rPr lang="ko-KR" altLang="en-US" dirty="0"/>
              <a:t>과 </a:t>
            </a:r>
            <a:r>
              <a:rPr lang="en-US" altLang="ko-KR" dirty="0"/>
              <a:t>value iteration</a:t>
            </a:r>
            <a:r>
              <a:rPr lang="ko-KR" altLang="en-US" dirty="0"/>
              <a:t>이 있는데 이 두 알고리즘 모두 </a:t>
            </a:r>
            <a:r>
              <a:rPr lang="en-US" altLang="ko-KR" dirty="0"/>
              <a:t>v_\pi</a:t>
            </a:r>
            <a:r>
              <a:rPr lang="ko-KR" altLang="en-US" dirty="0"/>
              <a:t>에 대한 </a:t>
            </a:r>
            <a:r>
              <a:rPr lang="ko-KR" altLang="en-US" dirty="0" err="1"/>
              <a:t>벨만방정식을</a:t>
            </a:r>
            <a:r>
              <a:rPr lang="ko-KR" altLang="en-US" dirty="0"/>
              <a:t> 점화식처럼 반복적으로 적용하고 정책을 개선함으로써 최적 정책을 </a:t>
            </a:r>
            <a:r>
              <a:rPr lang="ko-KR" altLang="en-US" dirty="0" err="1"/>
              <a:t>찾아나가게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동적계획법에서는 모든 상태 </a:t>
            </a:r>
            <a:r>
              <a:rPr lang="en-US" altLang="ko-KR" dirty="0"/>
              <a:t>s’</a:t>
            </a:r>
            <a:r>
              <a:rPr lang="ko-KR" altLang="en-US" dirty="0"/>
              <a:t>에 대하여 가치함수 값을 계산해야 하기 때문에 </a:t>
            </a:r>
            <a:r>
              <a:rPr lang="en-US" altLang="ko-KR" dirty="0"/>
              <a:t>full-backup</a:t>
            </a:r>
            <a:r>
              <a:rPr lang="ko-KR" altLang="en-US" dirty="0"/>
              <a:t>이라는 특성을 가집니다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</a:t>
            </a:r>
            <a:r>
              <a:rPr lang="en-US" altLang="ko-KR" dirty="0"/>
              <a:t>tree</a:t>
            </a:r>
            <a:r>
              <a:rPr lang="ko-KR" altLang="en-US" dirty="0"/>
              <a:t>는 가능한 모든 </a:t>
            </a:r>
            <a:r>
              <a:rPr lang="en-US" altLang="ko-KR" dirty="0"/>
              <a:t>trajectory</a:t>
            </a:r>
            <a:r>
              <a:rPr lang="ko-KR" altLang="en-US" dirty="0"/>
              <a:t>를 표현하고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빨간색 </a:t>
            </a:r>
            <a:r>
              <a:rPr lang="en-US" altLang="ko-KR" dirty="0"/>
              <a:t>T</a:t>
            </a:r>
            <a:r>
              <a:rPr lang="ko-KR" altLang="en-US" dirty="0"/>
              <a:t>는 </a:t>
            </a:r>
            <a:r>
              <a:rPr lang="en-US" altLang="ko-KR" dirty="0"/>
              <a:t>terminal state, </a:t>
            </a:r>
            <a:r>
              <a:rPr lang="ko-KR" altLang="en-US" dirty="0"/>
              <a:t>즉 종료상태를 표현합니다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다음 깊이의 </a:t>
            </a:r>
            <a:r>
              <a:rPr lang="ko-KR" altLang="en-US" dirty="0" err="1"/>
              <a:t>상태노드까지</a:t>
            </a:r>
            <a:r>
              <a:rPr lang="ko-KR" altLang="en-US" dirty="0"/>
              <a:t> 다 계산하여 현재 상태의 가치를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이것이 </a:t>
            </a:r>
            <a:r>
              <a:rPr lang="en-US" altLang="ko-KR" dirty="0"/>
              <a:t>full-backup</a:t>
            </a:r>
            <a:r>
              <a:rPr lang="ko-KR" altLang="en-US" dirty="0"/>
              <a:t>의 의미입니다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또한 </a:t>
            </a:r>
            <a:r>
              <a:rPr lang="en-US" altLang="ko-KR" dirty="0"/>
              <a:t>bootstrapping</a:t>
            </a:r>
            <a:r>
              <a:rPr lang="ko-KR" altLang="en-US" dirty="0"/>
              <a:t>이라는 특징을 가집니다</a:t>
            </a:r>
            <a:r>
              <a:rPr lang="en-US" altLang="ko-KR" dirty="0"/>
              <a:t>. terminal state</a:t>
            </a:r>
            <a:r>
              <a:rPr lang="ko-KR" altLang="en-US" dirty="0"/>
              <a:t>까지 가지 않고 바로 다음 스텝의 가치 추정치를 사용하여 현재 가치를 업데이트 하고 있는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동적계획법에서는 강화학습에서의 일반적인 세팅과는 달리 환경모델 전체가 필요하다는 점에서 강화학습과 다릅니다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동적계획법은 상태공간의 크기에 따라 </a:t>
            </a:r>
            <a:r>
              <a:rPr lang="ko-KR" altLang="en-US" dirty="0" err="1"/>
              <a:t>계산량이</a:t>
            </a:r>
            <a:r>
              <a:rPr lang="ko-KR" altLang="en-US" dirty="0"/>
              <a:t> 증가한다는 단점 또한 가지고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그럼에도 이것을 언급하는 이유는 강화학습의 이론적인 토대를 제공하기 때문입니다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3594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959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909D-5DA0-027C-5ECA-ABC67D317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FC4ED8-2073-9865-2208-1E4A6CDF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42AE8-8569-DA07-9035-54C68E17C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452D55-69B8-7771-E657-731B899EDD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19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748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extLst>
      <p:ext uri="{BB962C8B-B14F-4D97-AF65-F5344CB8AC3E}">
        <p14:creationId xmlns:p14="http://schemas.microsoft.com/office/powerpoint/2010/main" val="341560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/>
              <a:t>I. </a:t>
            </a:r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9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  <p:sldLayoutId id="2147483812" r:id="rId6"/>
    <p:sldLayoutId id="2147483813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16.png"/><Relationship Id="rId10" Type="http://schemas.openxmlformats.org/officeDocument/2006/relationships/image" Target="../media/image25.png"/><Relationship Id="rId4" Type="http://schemas.openxmlformats.org/officeDocument/2006/relationships/image" Target="../media/image150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0951" y="1740473"/>
            <a:ext cx="9207078" cy="1216815"/>
          </a:xfrm>
        </p:spPr>
        <p:txBody>
          <a:bodyPr/>
          <a:lstStyle/>
          <a:p>
            <a:r>
              <a:rPr lang="ko-KR" altLang="en-US" dirty="0"/>
              <a:t>강화학습 세미나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1143" y="4509119"/>
            <a:ext cx="3019307" cy="970278"/>
          </a:xfrm>
        </p:spPr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11</a:t>
            </a:r>
            <a:r>
              <a:rPr lang="ko-KR" altLang="en-US" dirty="0"/>
              <a:t>월 </a:t>
            </a:r>
            <a:r>
              <a:rPr lang="en-US" altLang="ko-KR" dirty="0"/>
              <a:t>14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"/>
          <p:cNvSpPr txBox="1">
            <a:spLocks/>
          </p:cNvSpPr>
          <p:nvPr/>
        </p:nvSpPr>
        <p:spPr>
          <a:xfrm>
            <a:off x="498029" y="248846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8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한컴돋움" pitchFamily="18" charset="2"/>
              </a:rPr>
              <a:t>CONTENTS</a:t>
            </a:r>
            <a:endParaRPr lang="ko-KR" altLang="en-US" sz="2800" b="1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한컴돋움" pitchFamily="18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570356-5398-4117-BE9B-872AFE7AE7C3}"/>
              </a:ext>
            </a:extLst>
          </p:cNvPr>
          <p:cNvSpPr/>
          <p:nvPr/>
        </p:nvSpPr>
        <p:spPr>
          <a:xfrm>
            <a:off x="3209061" y="2079688"/>
            <a:ext cx="3275256" cy="19907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기초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 알고리즘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AutoNum type="romanUcPeriod"/>
            </a:pPr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4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212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D0A6F44-18B5-18ED-5E11-8D8722A703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Ⅰ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기초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16EF7B-61A7-BDC4-6C6B-FF09DB80E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MDP(Markov decision process)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가치함수와 </a:t>
            </a:r>
            <a:r>
              <a:rPr lang="ko-KR" altLang="en-US" sz="1800" dirty="0" err="1">
                <a:latin typeface="+mn-ea"/>
                <a:ea typeface="+mn-ea"/>
              </a:rPr>
              <a:t>벨만방정식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76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38B6-A585-1D57-34D6-1E47C844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8F47AB-A764-AECC-FE82-9C49A385F8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머신러닝의</a:t>
            </a:r>
            <a:r>
              <a:rPr lang="ko-KR" altLang="en-US" dirty="0"/>
              <a:t> 세가지 갈래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</p:spPr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지도학습 </a:t>
                </a:r>
                <a:r>
                  <a:rPr lang="en-US" altLang="ko-KR" dirty="0"/>
                  <a:t>(supervised learning)</a:t>
                </a:r>
                <a:endParaRPr lang="en-US" altLang="ko-KR" dirty="0">
                  <a:ea typeface="Cambria Math" panose="02040503050406030204" pitchFamily="18" charset="0"/>
                </a:endParaRP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</a:t>
                </a:r>
                <a:r>
                  <a:rPr lang="en-US" altLang="ko-KR" sz="140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)</a:t>
                </a:r>
                <a:r>
                  <a:rPr lang="ko-KR" altLang="en-US" sz="1400" dirty="0">
                    <a:latin typeface="+mn-ea"/>
                  </a:rPr>
                  <a:t>이 포함된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)|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사용하여 예측 </a:t>
                </a:r>
                <a:r>
                  <a:rPr lang="en-US" altLang="ko-KR" sz="1400" dirty="0">
                    <a:latin typeface="+mn-ea"/>
                  </a:rPr>
                  <a:t>/ </a:t>
                </a:r>
                <a:r>
                  <a:rPr lang="ko-KR" altLang="en-US" sz="1400" dirty="0">
                    <a:latin typeface="+mn-ea"/>
                  </a:rPr>
                  <a:t>분류</a:t>
                </a:r>
                <a:endParaRPr lang="en-US" altLang="ko-KR" sz="1400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비지도학습 </a:t>
                </a:r>
                <a:r>
                  <a:rPr lang="en-US" altLang="ko-KR" dirty="0">
                    <a:latin typeface="+mn-ea"/>
                  </a:rPr>
                  <a:t>(unsupervised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라벨이 포함되지 않은 데이터셋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1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lit/>
                      </m:rPr>
                      <a:rPr lang="en-US" altLang="ko-KR" sz="14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을 사용하여 데이터 구조 파악 </a:t>
                </a:r>
                <a:r>
                  <a:rPr lang="en-US" altLang="ko-KR" sz="1400" dirty="0">
                    <a:latin typeface="+mn-ea"/>
                  </a:rPr>
                  <a:t>(PCA, clustering </a:t>
                </a:r>
                <a:r>
                  <a:rPr lang="ko-KR" altLang="en-US" sz="1400" dirty="0">
                    <a:latin typeface="+mn-ea"/>
                  </a:rPr>
                  <a:t>등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 </a:t>
                </a:r>
                <a:r>
                  <a:rPr lang="en-US" altLang="ko-KR" dirty="0">
                    <a:latin typeface="+mn-ea"/>
                  </a:rPr>
                  <a:t>(reinforcement learning)</a:t>
                </a:r>
              </a:p>
              <a:p>
                <a:pPr marL="360000" lvl="1" indent="18000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n-ea"/>
                  </a:rPr>
                  <a:t>데이터셋 없이 에이전트가 환경과 상호작용하며 보상을 최대화하는 최적의 행동을 학습</a:t>
                </a:r>
                <a:endParaRPr lang="en-US" altLang="ko-KR" sz="1400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0C78BF7-8FF8-00FC-AECC-65573FD3E3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7"/>
                <a:ext cx="9270641" cy="1644956"/>
              </a:xfrm>
              <a:blipFill>
                <a:blip r:embed="rId3"/>
                <a:stretch>
                  <a:fillRect l="-263" t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F6AC97F9-D139-557B-21F4-A5FC832B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B3E2BB4-D9C6-0459-2E26-4428AD4AE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102B02-B6AC-7183-1B4E-8689EF96E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93" y="2625531"/>
            <a:ext cx="3807341" cy="307609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A3CA3C4-9889-1842-4E84-F7E3DB737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3470" y="3251073"/>
            <a:ext cx="4584974" cy="16449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0710A-C9D2-AFA5-7F06-518BB668F942}"/>
              </a:ext>
            </a:extLst>
          </p:cNvPr>
          <p:cNvSpPr txBox="1"/>
          <p:nvPr/>
        </p:nvSpPr>
        <p:spPr>
          <a:xfrm>
            <a:off x="106878" y="5810483"/>
            <a:ext cx="6072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b="0" dirty="0">
                <a:latin typeface="+mn-ea"/>
                <a:ea typeface="+mn-ea"/>
              </a:rPr>
              <a:t>※ </a:t>
            </a:r>
            <a:r>
              <a:rPr lang="ko-KR" altLang="en-US" sz="1100" b="0" dirty="0">
                <a:latin typeface="+mn-ea"/>
                <a:ea typeface="+mn-ea"/>
              </a:rPr>
              <a:t>강화학습의 예시 </a:t>
            </a:r>
            <a:r>
              <a:rPr lang="en-US" altLang="ko-KR" sz="1100" b="0" dirty="0">
                <a:latin typeface="+mn-ea"/>
                <a:ea typeface="+mn-ea"/>
              </a:rPr>
              <a:t>: </a:t>
            </a:r>
            <a:r>
              <a:rPr lang="ko-KR" altLang="en-US" sz="1100" b="0" dirty="0">
                <a:latin typeface="+mn-ea"/>
                <a:ea typeface="+mn-ea"/>
              </a:rPr>
              <a:t>어린아이의 걸음마</a:t>
            </a:r>
            <a:r>
              <a:rPr lang="en-US" altLang="ko-KR" sz="1100" b="0" dirty="0">
                <a:latin typeface="+mn-ea"/>
                <a:ea typeface="+mn-ea"/>
              </a:rPr>
              <a:t> </a:t>
            </a:r>
            <a:r>
              <a:rPr lang="ko-KR" altLang="en-US" sz="1100" b="0" dirty="0">
                <a:latin typeface="+mn-ea"/>
                <a:ea typeface="+mn-ea"/>
              </a:rPr>
              <a:t>학습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말 배우기 학습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로봇운동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자율주행</a:t>
            </a:r>
            <a:r>
              <a:rPr lang="en-US" altLang="ko-KR" sz="1100" b="0" dirty="0">
                <a:latin typeface="+mn-ea"/>
                <a:ea typeface="+mn-ea"/>
              </a:rPr>
              <a:t>, </a:t>
            </a:r>
            <a:r>
              <a:rPr lang="ko-KR" altLang="en-US" sz="1100" b="0" dirty="0">
                <a:latin typeface="+mn-ea"/>
                <a:ea typeface="+mn-ea"/>
              </a:rPr>
              <a:t>게임 </a:t>
            </a:r>
            <a:r>
              <a:rPr lang="en-US" altLang="ko-KR" sz="1100" b="0" dirty="0">
                <a:latin typeface="+mn-ea"/>
                <a:ea typeface="+mn-ea"/>
              </a:rPr>
              <a:t>AI </a:t>
            </a:r>
            <a:r>
              <a:rPr lang="ko-KR" altLang="en-US" sz="1100" b="0" dirty="0">
                <a:latin typeface="+mn-ea"/>
                <a:ea typeface="+mn-ea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26800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07BA-283E-1B91-1F7D-6B5295A5D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E90782-8134-091A-7D2B-0F68BB2861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발전과정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5473A56-48DF-84F6-412E-5202638C50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1296790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행동심리학에서의 강화</a:t>
            </a:r>
            <a:r>
              <a:rPr lang="en-US" altLang="ko-KR" dirty="0">
                <a:latin typeface="+mn-ea"/>
              </a:rPr>
              <a:t>(reinforcement)</a:t>
            </a:r>
            <a:r>
              <a:rPr lang="ko-KR" altLang="en-US" dirty="0">
                <a:latin typeface="+mn-ea"/>
              </a:rPr>
              <a:t>의 개념 </a:t>
            </a:r>
            <a:r>
              <a:rPr lang="en-US" altLang="ko-KR" dirty="0">
                <a:latin typeface="+mn-ea"/>
              </a:rPr>
              <a:t>: 1930</a:t>
            </a:r>
            <a:r>
              <a:rPr lang="ko-KR" altLang="en-US" dirty="0">
                <a:latin typeface="+mn-ea"/>
              </a:rPr>
              <a:t>년대 초</a:t>
            </a:r>
            <a:r>
              <a:rPr lang="en-US" altLang="ko-KR" dirty="0">
                <a:latin typeface="+mn-ea"/>
              </a:rPr>
              <a:t>, Edward Thorndike, </a:t>
            </a:r>
            <a:r>
              <a:rPr lang="en-US" altLang="ko-KR" dirty="0"/>
              <a:t>Burrhus Skinner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동적계획법</a:t>
            </a:r>
            <a:r>
              <a:rPr lang="en-US" altLang="ko-KR" dirty="0">
                <a:latin typeface="+mn-ea"/>
              </a:rPr>
              <a:t>(dynamic programming) : 1950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Bellman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시간차 학습 </a:t>
            </a:r>
            <a:r>
              <a:rPr lang="en-US" altLang="ko-KR" dirty="0">
                <a:latin typeface="+mn-ea"/>
              </a:rPr>
              <a:t>(temporal difference) : 1980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Richard Sutton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Q-learning : 1989</a:t>
            </a:r>
            <a:r>
              <a:rPr lang="ko-KR" altLang="en-US" dirty="0">
                <a:latin typeface="+mn-ea"/>
              </a:rPr>
              <a:t>년</a:t>
            </a:r>
            <a:r>
              <a:rPr lang="en-US" altLang="ko-KR" dirty="0">
                <a:latin typeface="+mn-ea"/>
              </a:rPr>
              <a:t>, Chris Watkins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latin typeface="+mn-ea"/>
              </a:rPr>
              <a:t>DQN (Deep Q Learning) : 2010</a:t>
            </a:r>
            <a:r>
              <a:rPr lang="ko-KR" altLang="en-US" dirty="0">
                <a:latin typeface="+mn-ea"/>
              </a:rPr>
              <a:t>년대</a:t>
            </a:r>
            <a:r>
              <a:rPr lang="en-US" altLang="ko-KR" dirty="0">
                <a:latin typeface="+mn-ea"/>
              </a:rPr>
              <a:t>, DeepMind </a:t>
            </a:r>
            <a:r>
              <a:rPr lang="ko-KR" altLang="en-US" dirty="0">
                <a:latin typeface="+mn-ea"/>
              </a:rPr>
              <a:t>팀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>
              <a:latin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7271C04-85E7-CE22-9A63-20924E4E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 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D44E9F7-53C1-31CC-FE41-90CD8D541E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90949B3-4FFA-5C23-C099-53B7A297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84" y="3113317"/>
            <a:ext cx="3143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5E941A-C89B-C7EA-4C4F-78DE181FDB37}"/>
              </a:ext>
            </a:extLst>
          </p:cNvPr>
          <p:cNvSpPr txBox="1"/>
          <p:nvPr/>
        </p:nvSpPr>
        <p:spPr>
          <a:xfrm>
            <a:off x="4887454" y="3659819"/>
            <a:ext cx="22701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※</a:t>
            </a:r>
            <a:r>
              <a:rPr lang="ko-KR" altLang="en-US" b="0" dirty="0">
                <a:latin typeface="+mn-ea"/>
                <a:ea typeface="+mn-ea"/>
              </a:rPr>
              <a:t>행동심리학에서의 </a:t>
            </a:r>
            <a:r>
              <a:rPr lang="en-US" altLang="ko-KR" b="0" dirty="0">
                <a:latin typeface="+mn-ea"/>
                <a:ea typeface="+mn-ea"/>
              </a:rPr>
              <a:t>‘</a:t>
            </a:r>
            <a:r>
              <a:rPr lang="ko-KR" altLang="en-US" b="0" dirty="0">
                <a:latin typeface="+mn-ea"/>
                <a:ea typeface="+mn-ea"/>
              </a:rPr>
              <a:t>강화</a:t>
            </a:r>
            <a:r>
              <a:rPr lang="en-US" altLang="ko-KR" b="0" dirty="0">
                <a:latin typeface="+mn-ea"/>
                <a:ea typeface="+mn-ea"/>
              </a:rPr>
              <a:t>’</a:t>
            </a: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en-US" altLang="ko-KR" b="0" dirty="0">
              <a:latin typeface="+mn-ea"/>
              <a:ea typeface="+mn-ea"/>
            </a:endParaRPr>
          </a:p>
          <a:p>
            <a:pPr algn="l"/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584486-22FD-E8B3-0CDC-76CC23E65234}"/>
              </a:ext>
            </a:extLst>
          </p:cNvPr>
          <p:cNvSpPr/>
          <p:nvPr/>
        </p:nvSpPr>
        <p:spPr bwMode="auto">
          <a:xfrm>
            <a:off x="4953000" y="4069512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상자 안의 쥐는 버튼을 누르면 먹이를 얻음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C0C531-8932-BBB5-9603-E94422DCEBFC}"/>
              </a:ext>
            </a:extLst>
          </p:cNvPr>
          <p:cNvSpPr/>
          <p:nvPr/>
        </p:nvSpPr>
        <p:spPr bwMode="auto">
          <a:xfrm>
            <a:off x="4953000" y="5175156"/>
            <a:ext cx="3684233" cy="43500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쥐는 버튼을 누르는 것을 학습함</a:t>
            </a:r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3535B47-5148-5C08-C909-2F4FB63DE0AB}"/>
              </a:ext>
            </a:extLst>
          </p:cNvPr>
          <p:cNvSpPr/>
          <p:nvPr/>
        </p:nvSpPr>
        <p:spPr bwMode="auto">
          <a:xfrm>
            <a:off x="6613860" y="4613926"/>
            <a:ext cx="362511" cy="481614"/>
          </a:xfrm>
          <a:prstGeom prst="down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939E1-77B7-03C1-7CD0-F29361ED6433}"/>
              </a:ext>
            </a:extLst>
          </p:cNvPr>
          <p:cNvSpPr txBox="1"/>
          <p:nvPr/>
        </p:nvSpPr>
        <p:spPr>
          <a:xfrm>
            <a:off x="1691567" y="6131253"/>
            <a:ext cx="2418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&lt;</a:t>
            </a:r>
            <a:r>
              <a:rPr lang="ko-KR" altLang="en-US" b="0" dirty="0">
                <a:latin typeface="+mn-ea"/>
                <a:ea typeface="+mn-ea"/>
              </a:rPr>
              <a:t>스키너 상자 </a:t>
            </a:r>
            <a:r>
              <a:rPr lang="en-US" altLang="ko-KR" b="0" dirty="0">
                <a:latin typeface="+mn-ea"/>
                <a:ea typeface="+mn-ea"/>
              </a:rPr>
              <a:t>Skinner box&gt;</a:t>
            </a:r>
            <a:endParaRPr lang="ko-KR" altLang="en-US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597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69DA7-DCB0-3D6B-70AD-0A462457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DE3CE4-1AF9-F579-CF9B-BF4E1E8BFE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기본 개념들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에이전트</a:t>
                </a:r>
                <a:r>
                  <a:rPr lang="en-US" altLang="ko-KR" dirty="0">
                    <a:latin typeface="+mn-ea"/>
                  </a:rPr>
                  <a:t>(agent) :</a:t>
                </a:r>
                <a:r>
                  <a:rPr lang="ko-KR" altLang="en-US" dirty="0">
                    <a:latin typeface="+mn-ea"/>
                  </a:rPr>
                  <a:t> 환경 속에서 행동을 하는 주체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환경 </a:t>
                </a:r>
                <a:r>
                  <a:rPr lang="en-US" altLang="ko-KR" dirty="0">
                    <a:latin typeface="+mn-ea"/>
                  </a:rPr>
                  <a:t>(environment) : agent</a:t>
                </a:r>
                <a:r>
                  <a:rPr lang="ko-KR" altLang="en-US" dirty="0">
                    <a:latin typeface="+mn-ea"/>
                  </a:rPr>
                  <a:t>를 둘러싸고 있는 주변 환경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상태 </a:t>
                </a:r>
                <a:r>
                  <a:rPr lang="en-US" altLang="ko-KR" dirty="0">
                    <a:latin typeface="+mn-ea"/>
                  </a:rPr>
                  <a:t>(state,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시점의 환경 정보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상황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행동 </a:t>
                </a:r>
                <a:r>
                  <a:rPr lang="en-US" altLang="ko-KR" dirty="0">
                    <a:latin typeface="+mn-ea"/>
                  </a:rPr>
                  <a:t>(action,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특정 시점에 에이전트가 취하는 행위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선택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 </a:t>
                </a:r>
                <a:r>
                  <a:rPr lang="en-US" altLang="ko-KR" dirty="0">
                    <a:latin typeface="+mn-ea"/>
                  </a:rPr>
                  <a:t>(reward,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>
                    <a:latin typeface="+mn-ea"/>
                  </a:rPr>
                  <a:t>) : </a:t>
                </a:r>
                <a:r>
                  <a:rPr lang="ko-KR" altLang="en-US" dirty="0">
                    <a:latin typeface="+mn-ea"/>
                  </a:rPr>
                  <a:t>에이전트가 받는 피드백</a:t>
                </a:r>
                <a:r>
                  <a:rPr lang="en-US" altLang="ko-KR" dirty="0">
                    <a:latin typeface="+mn-ea"/>
                  </a:rPr>
                  <a:t>(</a:t>
                </a:r>
                <a:r>
                  <a:rPr lang="ko-KR" altLang="en-US" dirty="0">
                    <a:latin typeface="+mn-ea"/>
                  </a:rPr>
                  <a:t>점수</a:t>
                </a:r>
                <a:r>
                  <a:rPr lang="en-US" altLang="ko-KR" dirty="0">
                    <a:latin typeface="+mn-ea"/>
                  </a:rPr>
                  <a:t>)</a:t>
                </a:r>
                <a:endParaRPr lang="ko-KR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0D24920-72AD-90E4-E6F7-3DD92ACAC1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22626"/>
                <a:ext cx="9270641" cy="2359441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E8B740A-15F3-46E3-ED20-18B60ED5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Ⅰ-1. </a:t>
            </a:r>
            <a:r>
              <a:rPr lang="ko-KR" altLang="en-US" dirty="0"/>
              <a:t>강화학습 개요</a:t>
            </a:r>
            <a:r>
              <a:rPr lang="en-US" altLang="ko-KR" dirty="0"/>
              <a:t>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F5FD83-4BED-9A3E-E307-E1EE8DB19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1478C8E-5E31-CF9E-D699-D43A48B2C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7051" y="3575934"/>
            <a:ext cx="5668556" cy="1919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733B18-2CC4-35A2-2CA3-5D206006C7CF}"/>
              </a:ext>
            </a:extLst>
          </p:cNvPr>
          <p:cNvSpPr txBox="1"/>
          <p:nvPr/>
        </p:nvSpPr>
        <p:spPr>
          <a:xfrm>
            <a:off x="7996252" y="3684254"/>
            <a:ext cx="1521570" cy="1441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+mn-ea"/>
                <a:ea typeface="+mn-ea"/>
              </a:rPr>
              <a:t>[</a:t>
            </a:r>
            <a:r>
              <a:rPr lang="ko-KR" altLang="en-US" sz="1200" dirty="0">
                <a:latin typeface="+mn-ea"/>
                <a:ea typeface="+mn-ea"/>
              </a:rPr>
              <a:t>스키너 상자 예시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algn="l">
              <a:lnSpc>
                <a:spcPct val="150000"/>
              </a:lnSpc>
            </a:pPr>
            <a:r>
              <a:rPr lang="en-US" altLang="ko-KR" sz="1200" b="0" dirty="0">
                <a:latin typeface="+mn-ea"/>
                <a:ea typeface="+mn-ea"/>
              </a:rPr>
              <a:t>- </a:t>
            </a:r>
            <a:r>
              <a:rPr lang="ko-KR" altLang="en-US" sz="1200" b="0" dirty="0">
                <a:latin typeface="+mn-ea"/>
                <a:ea typeface="+mn-ea"/>
              </a:rPr>
              <a:t>환경 </a:t>
            </a:r>
            <a:r>
              <a:rPr lang="en-US" altLang="ko-KR" sz="1200" b="0" dirty="0">
                <a:latin typeface="+mn-ea"/>
                <a:ea typeface="+mn-ea"/>
              </a:rPr>
              <a:t>: </a:t>
            </a:r>
            <a:r>
              <a:rPr lang="ko-KR" altLang="en-US" sz="1200" b="0" dirty="0">
                <a:latin typeface="+mn-ea"/>
                <a:ea typeface="+mn-ea"/>
              </a:rPr>
              <a:t>상자</a:t>
            </a:r>
            <a:endParaRPr lang="en-US" altLang="ko-KR" sz="1200" b="0" dirty="0"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ko-KR" sz="1200" b="0" dirty="0">
                <a:latin typeface="+mn-ea"/>
                <a:ea typeface="+mn-ea"/>
              </a:rPr>
              <a:t>- agent</a:t>
            </a:r>
            <a:r>
              <a:rPr lang="ko-KR" altLang="en-US" sz="1200" b="0" dirty="0">
                <a:latin typeface="+mn-ea"/>
                <a:ea typeface="+mn-ea"/>
              </a:rPr>
              <a:t> </a:t>
            </a:r>
            <a:r>
              <a:rPr lang="en-US" altLang="ko-KR" sz="1200" b="0" dirty="0">
                <a:latin typeface="+mn-ea"/>
                <a:ea typeface="+mn-ea"/>
              </a:rPr>
              <a:t>:</a:t>
            </a:r>
            <a:r>
              <a:rPr lang="ko-KR" altLang="en-US" sz="1200" b="0" dirty="0">
                <a:latin typeface="+mn-ea"/>
                <a:ea typeface="+mn-ea"/>
              </a:rPr>
              <a:t> 쥐</a:t>
            </a:r>
            <a:endParaRPr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  <a:ea typeface="+mn-ea"/>
              </a:rPr>
              <a:t>행동 </a:t>
            </a:r>
            <a:r>
              <a:rPr lang="en-US" altLang="ko-KR" sz="1200" b="0" dirty="0">
                <a:latin typeface="+mn-ea"/>
                <a:ea typeface="+mn-ea"/>
              </a:rPr>
              <a:t>: </a:t>
            </a:r>
            <a:r>
              <a:rPr lang="ko-KR" altLang="en-US" sz="1200" b="0" dirty="0" err="1">
                <a:latin typeface="+mn-ea"/>
                <a:ea typeface="+mn-ea"/>
              </a:rPr>
              <a:t>버튼누르기</a:t>
            </a:r>
            <a:endParaRPr lang="en-US" altLang="ko-KR" sz="1200" b="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latin typeface="+mn-ea"/>
              </a:rPr>
              <a:t>- </a:t>
            </a:r>
            <a:r>
              <a:rPr lang="ko-KR" altLang="en-US" sz="1200" b="0" dirty="0">
                <a:latin typeface="+mn-ea"/>
                <a:ea typeface="+mn-ea"/>
              </a:rPr>
              <a:t>보상 </a:t>
            </a:r>
            <a:r>
              <a:rPr lang="en-US" altLang="ko-KR" sz="1200" b="0" dirty="0">
                <a:latin typeface="+mn-ea"/>
                <a:ea typeface="+mn-ea"/>
              </a:rPr>
              <a:t>: </a:t>
            </a:r>
            <a:r>
              <a:rPr lang="ko-KR" altLang="en-US" sz="1200" b="0" dirty="0">
                <a:latin typeface="+mn-ea"/>
                <a:ea typeface="+mn-ea"/>
              </a:rPr>
              <a:t>먹이</a:t>
            </a:r>
          </a:p>
        </p:txBody>
      </p:sp>
    </p:spTree>
    <p:extLst>
      <p:ext uri="{BB962C8B-B14F-4D97-AF65-F5344CB8AC3E}">
        <p14:creationId xmlns:p14="http://schemas.microsoft.com/office/powerpoint/2010/main" val="2494392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0520-3DB3-2F26-74D9-0C3780B5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49B9C-2D71-A8C0-7CA8-B2D972E301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Markov Decision Process (</a:t>
            </a:r>
            <a:r>
              <a:rPr lang="ko-KR" altLang="en-US" dirty="0" err="1"/>
              <a:t>마르코프</a:t>
            </a:r>
            <a:r>
              <a:rPr lang="ko-KR" altLang="en-US" dirty="0"/>
              <a:t> 의사결정 과정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359441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MDP : </a:t>
                </a:r>
                <a:r>
                  <a:rPr lang="ko-KR" altLang="en-US" dirty="0">
                    <a:latin typeface="+mn-ea"/>
                  </a:rPr>
                  <a:t>확률변수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들의 나열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latin typeface="+mn-ea"/>
                  </a:rPr>
                  <a:t>trajectory(</a:t>
                </a:r>
                <a:r>
                  <a:rPr lang="ko-KR" altLang="en-US" sz="1200" dirty="0">
                    <a:latin typeface="+mn-ea"/>
                  </a:rPr>
                  <a:t>궤적</a:t>
                </a:r>
                <a:r>
                  <a:rPr lang="en-US" altLang="ko-KR" sz="1200" dirty="0">
                    <a:latin typeface="+mn-ea"/>
                  </a:rPr>
                  <a:t>) : </a:t>
                </a:r>
                <a:r>
                  <a:rPr lang="ko-KR" altLang="en-US" sz="1200" dirty="0">
                    <a:latin typeface="+mn-ea"/>
                  </a:rPr>
                  <a:t>각 확률변수가 특정 값들에 지정된 상태</a:t>
                </a:r>
                <a:endParaRPr lang="en-US" altLang="ko-KR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r>
                  <a:rPr lang="en-US" altLang="ko-KR" sz="12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/>
                  <a:t>     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,⋯)</m:t>
                    </m:r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에피소드</a:t>
                </a:r>
                <a:r>
                  <a:rPr lang="en-US" altLang="ko-KR" sz="1200" dirty="0">
                    <a:latin typeface="+mn-ea"/>
                  </a:rPr>
                  <a:t>(episode) : </a:t>
                </a:r>
                <a:r>
                  <a:rPr lang="ko-KR" altLang="en-US" sz="1200" dirty="0">
                    <a:latin typeface="+mn-ea"/>
                  </a:rPr>
                  <a:t>종료상태</a:t>
                </a:r>
                <a:r>
                  <a:rPr lang="en-US" altLang="ko-KR" sz="1200" dirty="0">
                    <a:latin typeface="+mn-ea"/>
                  </a:rPr>
                  <a:t>(terminal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state)</a:t>
                </a:r>
                <a:r>
                  <a:rPr lang="ko-KR" altLang="en-US" sz="1200" dirty="0">
                    <a:latin typeface="+mn-ea"/>
                  </a:rPr>
                  <a:t>에 도달하여 끝나는 </a:t>
                </a:r>
                <a:r>
                  <a:rPr lang="en-US" altLang="ko-KR" sz="1200" dirty="0">
                    <a:latin typeface="+mn-ea"/>
                  </a:rPr>
                  <a:t>trajectory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r>
                  <a:rPr lang="en-US" altLang="ko-KR" sz="1200" b="0" dirty="0"/>
                  <a:t>  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Markov property (</a:t>
                </a:r>
                <a:r>
                  <a:rPr lang="ko-KR" altLang="en-US" dirty="0" err="1">
                    <a:latin typeface="+mn-ea"/>
                  </a:rPr>
                  <a:t>마코프</a:t>
                </a:r>
                <a:r>
                  <a:rPr lang="ko-KR" altLang="en-US" dirty="0">
                    <a:latin typeface="+mn-ea"/>
                  </a:rPr>
                  <a:t> 성질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현재의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와 보상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가 바로 이전의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와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에만 의존하는 상황을 가정함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i="1" dirty="0" err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sz="1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fr-FR" altLang="ko-KR" sz="1200" dirty="0"/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D3277A26-7CE2-C634-3F6D-D1FB564C9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359441"/>
              </a:xfrm>
              <a:blipFill>
                <a:blip r:embed="rId3"/>
                <a:stretch>
                  <a:fillRect l="-263" b="-21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509BE7F0-C467-9991-6EFA-97B0CEE6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(1/3)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0D0F9AE-229B-3CAB-181C-050D23D152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9E0A89B-0A7F-AAD5-4099-8691E5435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056937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363250-B419-0EC7-822C-18E2EC0E24C0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1E2217-AAE9-3A03-5A81-39EBE45F204E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DF2D2-D73D-28FC-8228-668A340F9118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92293-AD19-C048-DE57-D2C7576D5127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9CB976-D6ED-06DE-C6B5-D8C49666CEE1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D42DBC-325A-D0CE-80A5-449B22623521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9E2F13-3A84-98E4-2FE4-BD30FFFACE14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45F9D7-527C-57E6-8E09-539EC8B7967E}"/>
              </a:ext>
            </a:extLst>
          </p:cNvPr>
          <p:cNvSpPr txBox="1"/>
          <p:nvPr/>
        </p:nvSpPr>
        <p:spPr>
          <a:xfrm>
            <a:off x="1617381" y="6108660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/>
              <p:nvPr/>
            </p:nvSpPr>
            <p:spPr>
              <a:xfrm>
                <a:off x="4014172" y="4883618"/>
                <a:ext cx="3696310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상태집합 </a:t>
                </a:r>
                <a:r>
                  <a:rPr lang="en-US" altLang="ko-KR" b="0" dirty="0">
                    <a:latin typeface="+mn-ea"/>
                    <a:ea typeface="+mn-ea"/>
                  </a:rPr>
                  <a:t>:</a:t>
                </a:r>
                <a:r>
                  <a:rPr lang="ko-KR" altLang="en-US" b="0" dirty="0">
                    <a:latin typeface="+mn-ea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ko-KR" dirty="0">
                        <a:latin typeface="Cambria Math" panose="02040503050406030204" pitchFamily="18" charset="0"/>
                      </a:rPr>
                      <m:t>𝐒</m:t>
                    </m:r>
                    <m:r>
                      <m:rPr>
                        <m:lit/>
                      </m:rPr>
                      <a:rPr lang="en-US" altLang="ko-KR" b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,⋯,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m:rPr>
                        <m:lit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행동집합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  <a:ea typeface="+mn-ea"/>
                      </a:rPr>
                      <m:t>𝑨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m:rPr>
                        <m:lit/>
                      </m:rPr>
                      <a:rPr lang="en-US" altLang="ko-KR" b="0" i="0" dirty="0" smtClean="0">
                        <a:latin typeface="Cambria Math" panose="02040503050406030204" pitchFamily="18" charset="0"/>
                        <a:ea typeface="+mn-ea"/>
                      </a:rPr>
                      <m:t>{</m:t>
                    </m:r>
                    <m:r>
                      <a:rPr lang="ko-KR" altLang="en-US" b="0" i="1" dirty="0" smtClean="0">
                        <a:latin typeface="Cambria Math" panose="02040503050406030204" pitchFamily="18" charset="0"/>
                        <a:ea typeface="+mn-ea"/>
                      </a:rPr>
                      <m:t>→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←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↑</m:t>
                    </m:r>
                    <m:r>
                      <a:rPr lang="en-US" altLang="ko-KR" b="0" i="1" dirty="0">
                        <a:latin typeface="Cambria Math" panose="02040503050406030204" pitchFamily="18" charset="0"/>
                        <a:ea typeface="+mn-ea"/>
                      </a:rPr>
                      <m:t>, </m:t>
                    </m:r>
                    <m:r>
                      <a:rPr lang="ko-KR" altLang="en-US" b="0" i="1" dirty="0">
                        <a:latin typeface="Cambria Math" panose="02040503050406030204" pitchFamily="18" charset="0"/>
                        <a:ea typeface="+mn-ea"/>
                      </a:rPr>
                      <m:t>↓</m:t>
                    </m:r>
                    <m:r>
                      <m:rPr>
                        <m:lit/>
                      </m:rP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}</m:t>
                    </m:r>
                  </m:oMath>
                </a14:m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D72D21-67F6-5BA4-756E-3B46B52DF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172" y="4883618"/>
                <a:ext cx="3696310" cy="738664"/>
              </a:xfrm>
              <a:prstGeom prst="rect">
                <a:avLst/>
              </a:prstGeom>
              <a:blipFill>
                <a:blip r:embed="rId4"/>
                <a:stretch>
                  <a:fillRect l="-494" t="-1653" b="-8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E34335A8-F0C3-3B3D-ADDC-E5D0EAFDC0B7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5BE482A1-2509-B52C-B065-114E5C63DEEC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9CAD7C74-3DB0-CC7D-57EB-552286412A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1200966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5785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24BE-544D-2C37-3593-25BBC457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91C66B-122D-40C7-BE56-AAE858650B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환경모델</a:t>
            </a:r>
            <a:r>
              <a:rPr lang="en-US" altLang="ko-KR" dirty="0"/>
              <a:t>(environment model, transition dynamics)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강화학습에서 환경이 어떻게 작동하는지 표현하는 모델</a:t>
                </a:r>
                <a:endParaRPr lang="en-US" altLang="ko-KR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’,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altLang="ko-KR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fr-FR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ko-KR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전이확률 </a:t>
                </a:r>
                <a:r>
                  <a:rPr lang="en-US" altLang="ko-KR" dirty="0">
                    <a:latin typeface="+mn-ea"/>
                  </a:rPr>
                  <a:t>(state transition probability)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Cambria Math" panose="02040503050406030204" pitchFamily="18" charset="0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200" b="0" dirty="0">
                    <a:latin typeface="Cambria Math" panose="02040503050406030204" pitchFamily="18" charset="0"/>
                  </a:rPr>
                  <a:t>를 취했을 때 다음 상태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</a:rPr>
                  <a:t>(</a:t>
                </a:r>
                <a:r>
                  <a:rPr lang="ko-KR" altLang="en-US" sz="1200" b="0" dirty="0">
                    <a:latin typeface="Cambria Math" panose="02040503050406030204" pitchFamily="18" charset="0"/>
                  </a:rPr>
                  <a:t>와 보상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</a:rPr>
                  <a:t>)</a:t>
                </a:r>
                <a:r>
                  <a:rPr lang="ko-KR" altLang="en-US" sz="1200" b="0" dirty="0">
                    <a:latin typeface="Cambria Math" panose="02040503050406030204" pitchFamily="18" charset="0"/>
                  </a:rPr>
                  <a:t>이 될 확률</a:t>
                </a: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20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보상함수 </a:t>
                </a:r>
                <a:r>
                  <a:rPr lang="en-US" altLang="ko-KR" dirty="0">
                    <a:latin typeface="+mn-ea"/>
                  </a:rPr>
                  <a:t>(reward function)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상태 </a:t>
                </a:r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에서 행동 </a:t>
                </a:r>
                <a14:m>
                  <m:oMath xmlns:m="http://schemas.openxmlformats.org/officeDocument/2006/math"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를 했을 때 받는 보상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altLang="ko-KR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+mn-ea"/>
                </a:endParaRPr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A9B6B5A0-AAC5-5ED5-1CE8-2520A9660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3383045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76187E36-27B1-4E25-F680-48501D667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(2/3)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B961DD8-75AE-6115-6D44-6DCD6764D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CB70D66-AD4C-DA3B-424A-254679E01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21140"/>
              </p:ext>
            </p:extLst>
          </p:nvPr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76A875-5A81-F164-76D9-1A0BE481DD3F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EAA7C4-60CE-19AC-0555-1E61DCB0CD78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D1873-2DDD-DE03-15AD-829124B850A2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4C12A-7D25-4734-ED24-DC07A5EA176B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70607-144F-E3BC-AB7A-E87DE9D8F592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3869E-A4A3-9265-7B77-4D3D2E228732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6860F7-A76B-C016-4F8E-8BEAA60A5972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6A0BF-74E2-9BA9-82E7-06C720FC7D53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129A1-643E-198D-A156-E041B3E71E04}"/>
              </a:ext>
            </a:extLst>
          </p:cNvPr>
          <p:cNvSpPr txBox="1"/>
          <p:nvPr/>
        </p:nvSpPr>
        <p:spPr>
          <a:xfrm>
            <a:off x="4097590" y="5977634"/>
            <a:ext cx="48057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※ </a:t>
            </a:r>
            <a:r>
              <a:rPr lang="ko-KR" altLang="en-US" b="0" dirty="0">
                <a:latin typeface="+mn-ea"/>
                <a:ea typeface="+mn-ea"/>
              </a:rPr>
              <a:t>환경모델이 주어지는 지 여부에 따른 알고리즘 분류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ko-KR" altLang="en-US" b="0" dirty="0">
                <a:latin typeface="+mn-ea"/>
                <a:ea typeface="+mn-ea"/>
              </a:rPr>
              <a:t>   </a:t>
            </a:r>
            <a:r>
              <a:rPr lang="en-US" altLang="ko-KR" b="0" dirty="0">
                <a:latin typeface="+mn-ea"/>
                <a:ea typeface="+mn-ea"/>
              </a:rPr>
              <a:t>- model based :</a:t>
            </a:r>
            <a:r>
              <a:rPr lang="ko-KR" altLang="en-US" b="0" dirty="0">
                <a:latin typeface="+mn-ea"/>
                <a:ea typeface="+mn-ea"/>
              </a:rPr>
              <a:t> </a:t>
            </a:r>
            <a:r>
              <a:rPr lang="en-US" altLang="ko-KR" b="0" dirty="0">
                <a:latin typeface="+mn-ea"/>
                <a:ea typeface="+mn-ea"/>
              </a:rPr>
              <a:t>dynamic programming </a:t>
            </a:r>
            <a:r>
              <a:rPr lang="ko-KR" altLang="en-US" b="0" dirty="0">
                <a:latin typeface="+mn-ea"/>
                <a:ea typeface="+mn-ea"/>
              </a:rPr>
              <a:t>등</a:t>
            </a:r>
            <a:endParaRPr lang="en-US" altLang="ko-KR" b="0" dirty="0">
              <a:latin typeface="+mn-ea"/>
              <a:ea typeface="+mn-ea"/>
            </a:endParaRPr>
          </a:p>
          <a:p>
            <a:pPr algn="l"/>
            <a:r>
              <a:rPr lang="en-US" altLang="ko-KR" b="0" dirty="0">
                <a:latin typeface="+mn-ea"/>
                <a:ea typeface="+mn-ea"/>
              </a:rPr>
              <a:t>   - model free : Monte</a:t>
            </a:r>
            <a:r>
              <a:rPr lang="ko-KR" altLang="en-US" b="0" dirty="0">
                <a:latin typeface="+mn-ea"/>
                <a:ea typeface="+mn-ea"/>
              </a:rPr>
              <a:t> </a:t>
            </a:r>
            <a:r>
              <a:rPr lang="en-US" altLang="ko-KR" b="0" dirty="0">
                <a:latin typeface="+mn-ea"/>
                <a:ea typeface="+mn-ea"/>
              </a:rPr>
              <a:t>Carlo, TD </a:t>
            </a:r>
            <a:r>
              <a:rPr lang="ko-KR" altLang="en-US" b="0" dirty="0">
                <a:latin typeface="+mn-ea"/>
                <a:ea typeface="+mn-ea"/>
              </a:rPr>
              <a:t>등 강화학습 알고리즘</a:t>
            </a:r>
          </a:p>
        </p:txBody>
      </p:sp>
      <p:sp>
        <p:nvSpPr>
          <p:cNvPr id="16" name="화살표: 위쪽 15">
            <a:extLst>
              <a:ext uri="{FF2B5EF4-FFF2-40B4-BE49-F238E27FC236}">
                <a16:creationId xmlns:a16="http://schemas.microsoft.com/office/drawing/2014/main" id="{B27A578A-3A11-1597-A871-27E65FA8A51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화살표: 위쪽 16">
            <a:extLst>
              <a:ext uri="{FF2B5EF4-FFF2-40B4-BE49-F238E27FC236}">
                <a16:creationId xmlns:a16="http://schemas.microsoft.com/office/drawing/2014/main" id="{08420D8D-1B99-58B3-8619-F2C555C2A6E0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/>
              <p:nvPr/>
            </p:nvSpPr>
            <p:spPr>
              <a:xfrm>
                <a:off x="4457178" y="4318662"/>
                <a:ext cx="1842620" cy="10618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1,3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09A1CC-1076-8598-5425-87D16E11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78" y="4318662"/>
                <a:ext cx="1842620" cy="10618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/>
              <p:nvPr/>
            </p:nvSpPr>
            <p:spPr>
              <a:xfrm>
                <a:off x="6682691" y="4258349"/>
                <a:ext cx="1670650" cy="11449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  <a:ea typeface="+mn-ea"/>
                            </a:rPr>
                            <m:t>↑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=−0.1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 algn="l">
                  <a:lnSpc>
                    <a:spcPct val="150000"/>
                  </a:lnSpc>
                </a:pPr>
                <a:endParaRPr lang="en-US" altLang="ko-KR" b="0" i="1" dirty="0">
                  <a:latin typeface="Cambria Math" panose="02040503050406030204" pitchFamily="18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altLang="ko-KR" b="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=−0.1</m:t>
                      </m:r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A5EFAF-587B-6C91-B228-BF8A4693F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691" y="4258349"/>
                <a:ext cx="1670650" cy="11449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16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B565-3194-BFB2-4747-F8444DC9B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A52DFA-2BEE-3FB4-5255-7B66A656A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강화학습의 목적 </a:t>
            </a:r>
            <a:r>
              <a:rPr lang="en-US" altLang="ko-KR" dirty="0"/>
              <a:t>: return</a:t>
            </a:r>
            <a:r>
              <a:rPr lang="ko-KR" altLang="en-US" dirty="0"/>
              <a:t>을 최대화하는 최적의 정책을 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return(</a:t>
                </a:r>
                <a:r>
                  <a:rPr lang="ko-KR" altLang="en-US" dirty="0">
                    <a:latin typeface="+mn-ea"/>
                  </a:rPr>
                  <a:t>누적보상합</a:t>
                </a:r>
                <a:r>
                  <a:rPr lang="en-US" altLang="ko-KR" dirty="0">
                    <a:latin typeface="+mn-ea"/>
                  </a:rPr>
                  <a:t>, discounted sum of rewards)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b="0" dirty="0">
                    <a:latin typeface="Cambria Math" panose="02040503050406030204" pitchFamily="18" charset="0"/>
                  </a:rPr>
                  <a:t>시간에 따른 중요도를 고려한 보상들의 합</a:t>
                </a: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ko-KR" sz="1200" i="1" dirty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</a:rPr>
                  <a:t>  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200" b="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</a:rPr>
                      <m:t>(≤1)</m:t>
                    </m:r>
                  </m:oMath>
                </a14:m>
                <a:r>
                  <a:rPr lang="en-US" sz="1200" dirty="0"/>
                  <a:t> : discount factor(</a:t>
                </a:r>
                <a:r>
                  <a:rPr lang="ko-KR" altLang="en-US" sz="1200" dirty="0" err="1"/>
                  <a:t>감가율</a:t>
                </a:r>
                <a:r>
                  <a:rPr lang="en-US" altLang="ko-KR" sz="1200" dirty="0"/>
                  <a:t>) /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인접한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return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사이의 </a:t>
                </a:r>
                <a:r>
                  <a:rPr lang="ko-KR" altLang="en-US" sz="1200" dirty="0" err="1">
                    <a:latin typeface="Cambria Math" panose="02040503050406030204" pitchFamily="18" charset="0"/>
                  </a:rPr>
                  <a:t>점화식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policy(</a:t>
                </a:r>
                <a:r>
                  <a:rPr lang="ko-KR" altLang="en-US" dirty="0">
                    <a:latin typeface="+mn-ea"/>
                  </a:rPr>
                  <a:t>정책</a:t>
                </a:r>
                <a:r>
                  <a:rPr lang="en-US" altLang="ko-KR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주어진 상태에 대한 행동을 결정 </a:t>
                </a:r>
                <a:r>
                  <a:rPr lang="en-US" altLang="ko-KR" sz="1200" dirty="0">
                    <a:latin typeface="+mn-ea"/>
                  </a:rPr>
                  <a:t>(</a:t>
                </a:r>
                <a:r>
                  <a:rPr lang="ko-KR" altLang="en-US" sz="1200" dirty="0">
                    <a:latin typeface="+mn-ea"/>
                  </a:rPr>
                  <a:t>정확하게는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주어진 상태에 대한 행동의 확률분포</a:t>
                </a:r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sSub>
                          <m:sSubPr>
                            <m:ctrlP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1200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fr-FR" altLang="ko-KR" sz="1200" dirty="0"/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/>
                  <a:t>최적정책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: return</a:t>
                </a:r>
                <a:r>
                  <a:rPr lang="ko-KR" altLang="en-US" sz="1200" dirty="0"/>
                  <a:t>을 최대화하는 정책</a:t>
                </a:r>
                <a:endParaRPr lang="fr-FR" altLang="ko-KR" sz="1200" dirty="0"/>
              </a:p>
            </p:txBody>
          </p:sp>
        </mc:Choice>
        <mc:Fallback xmlns="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26D3FEA9-00FC-070C-F32B-EBD20ADAEE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8DDC290-85E1-C621-61CA-8E48903E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Ⅰ-2. Markov Decision Process (3/3)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23F487D-BD34-F619-C195-460ECCBA98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273B1B1-7CD0-688D-DA80-276DFD3BA4EE}"/>
              </a:ext>
            </a:extLst>
          </p:cNvPr>
          <p:cNvGraphicFramePr>
            <a:graphicFrameLocks noGrp="1"/>
          </p:cNvGraphicFramePr>
          <p:nvPr/>
        </p:nvGraphicFramePr>
        <p:xfrm>
          <a:off x="381118" y="3944232"/>
          <a:ext cx="3436280" cy="1844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070">
                  <a:extLst>
                    <a:ext uri="{9D8B030D-6E8A-4147-A177-3AD203B41FA5}">
                      <a16:colId xmlns:a16="http://schemas.microsoft.com/office/drawing/2014/main" val="3283410258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591898217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1445315171"/>
                    </a:ext>
                  </a:extLst>
                </a:gridCol>
                <a:gridCol w="859070">
                  <a:extLst>
                    <a:ext uri="{9D8B030D-6E8A-4147-A177-3AD203B41FA5}">
                      <a16:colId xmlns:a16="http://schemas.microsoft.com/office/drawing/2014/main" val="856673349"/>
                    </a:ext>
                  </a:extLst>
                </a:gridCol>
              </a:tblGrid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+1(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638875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-1(</a:t>
                      </a:r>
                      <a:r>
                        <a:rPr lang="ko-KR" altLang="en-US" sz="1400" dirty="0"/>
                        <a:t>종료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969099"/>
                  </a:ext>
                </a:extLst>
              </a:tr>
              <a:tr h="6146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6044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C6B45E1-A170-CEA5-A7A0-3E12FF02AB1A}"/>
              </a:ext>
            </a:extLst>
          </p:cNvPr>
          <p:cNvSpPr txBox="1"/>
          <p:nvPr/>
        </p:nvSpPr>
        <p:spPr>
          <a:xfrm>
            <a:off x="656948" y="58237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9F331-34D4-4DE0-6F59-8691EF947FA4}"/>
              </a:ext>
            </a:extLst>
          </p:cNvPr>
          <p:cNvSpPr txBox="1"/>
          <p:nvPr/>
        </p:nvSpPr>
        <p:spPr>
          <a:xfrm>
            <a:off x="1510687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684F4-6717-F187-9FB2-710C0D64B5C6}"/>
              </a:ext>
            </a:extLst>
          </p:cNvPr>
          <p:cNvSpPr txBox="1"/>
          <p:nvPr/>
        </p:nvSpPr>
        <p:spPr>
          <a:xfrm>
            <a:off x="2377269" y="583410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0D9226-D1DB-42E2-A9CD-607DB490845D}"/>
              </a:ext>
            </a:extLst>
          </p:cNvPr>
          <p:cNvSpPr txBox="1"/>
          <p:nvPr/>
        </p:nvSpPr>
        <p:spPr>
          <a:xfrm>
            <a:off x="3231008" y="584445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4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EA9C2-0C82-8F6F-BF19-2744997771D9}"/>
              </a:ext>
            </a:extLst>
          </p:cNvPr>
          <p:cNvSpPr txBox="1"/>
          <p:nvPr/>
        </p:nvSpPr>
        <p:spPr>
          <a:xfrm>
            <a:off x="19235" y="52570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1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DB1B1B-4C7B-77AD-651E-517ED4C01C19}"/>
              </a:ext>
            </a:extLst>
          </p:cNvPr>
          <p:cNvSpPr txBox="1"/>
          <p:nvPr/>
        </p:nvSpPr>
        <p:spPr>
          <a:xfrm>
            <a:off x="29609" y="4712346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2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69D24-29E0-ACF3-D886-A3C84452CC03}"/>
              </a:ext>
            </a:extLst>
          </p:cNvPr>
          <p:cNvSpPr txBox="1"/>
          <p:nvPr/>
        </p:nvSpPr>
        <p:spPr>
          <a:xfrm>
            <a:off x="29609" y="410679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3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FB11CF-9F9B-52AB-2B40-C35A67DA2F52}"/>
              </a:ext>
            </a:extLst>
          </p:cNvPr>
          <p:cNvSpPr txBox="1"/>
          <p:nvPr/>
        </p:nvSpPr>
        <p:spPr>
          <a:xfrm>
            <a:off x="1573568" y="3560983"/>
            <a:ext cx="1043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0" dirty="0">
                <a:latin typeface="+mn-ea"/>
                <a:ea typeface="+mn-ea"/>
              </a:rPr>
              <a:t>grid world </a:t>
            </a:r>
            <a:endParaRPr lang="ko-KR" altLang="en-US" b="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DAD76F-2153-50EE-53DA-23ABC7BD3EE0}"/>
                  </a:ext>
                </a:extLst>
              </p:cNvPr>
              <p:cNvSpPr txBox="1"/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※ </a:t>
                </a:r>
                <a:r>
                  <a:rPr lang="ko-KR" altLang="en-US" b="0" dirty="0">
                    <a:latin typeface="+mn-ea"/>
                    <a:ea typeface="+mn-ea"/>
                  </a:rPr>
                  <a:t>행동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→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←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↑</a:t>
                </a:r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↓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 algn="l"/>
                <a:r>
                  <a:rPr lang="en-US" altLang="ko-KR" b="0" dirty="0">
                    <a:latin typeface="+mn-ea"/>
                    <a:ea typeface="+mn-ea"/>
                  </a:rPr>
                  <a:t>   </a:t>
                </a:r>
                <a:r>
                  <a:rPr lang="ko-KR" altLang="en-US" b="0" dirty="0">
                    <a:latin typeface="+mn-ea"/>
                    <a:ea typeface="+mn-ea"/>
                  </a:rPr>
                  <a:t>보상 </a:t>
                </a:r>
                <a:r>
                  <a:rPr lang="en-US" altLang="ko-KR" b="0" dirty="0">
                    <a:latin typeface="+mn-ea"/>
                    <a:ea typeface="+mn-ea"/>
                  </a:rPr>
                  <a:t>: </a:t>
                </a:r>
                <a:r>
                  <a:rPr lang="ko-KR" altLang="en-US" b="0" dirty="0">
                    <a:latin typeface="+mn-ea"/>
                    <a:ea typeface="+mn-ea"/>
                  </a:rPr>
                  <a:t>이동시마다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−0.1</m:t>
                    </m:r>
                  </m:oMath>
                </a14:m>
                <a:r>
                  <a:rPr lang="en-US" altLang="ko-KR" b="0" dirty="0">
                    <a:latin typeface="+mn-ea"/>
                    <a:ea typeface="+mn-ea"/>
                  </a:rPr>
                  <a:t>, </a:t>
                </a:r>
                <a:r>
                  <a:rPr lang="ko-KR" altLang="en-US" b="0" dirty="0">
                    <a:latin typeface="+mn-ea"/>
                    <a:ea typeface="+mn-ea"/>
                  </a:rPr>
                  <a:t>종료지점에서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±1</m:t>
                    </m:r>
                  </m:oMath>
                </a14:m>
                <a:endParaRPr lang="ko-KR" altLang="en-US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DAD76F-2153-50EE-53DA-23ABC7BD3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21" y="6118860"/>
                <a:ext cx="3696310" cy="523220"/>
              </a:xfrm>
              <a:prstGeom prst="rect">
                <a:avLst/>
              </a:prstGeom>
              <a:blipFill>
                <a:blip r:embed="rId4"/>
                <a:stretch>
                  <a:fillRect l="-495" t="-2326" b="-104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화살표: 위쪽 18">
            <a:extLst>
              <a:ext uri="{FF2B5EF4-FFF2-40B4-BE49-F238E27FC236}">
                <a16:creationId xmlns:a16="http://schemas.microsoft.com/office/drawing/2014/main" id="{F4B42709-FA8B-36B6-84B8-A38426246206}"/>
              </a:ext>
            </a:extLst>
          </p:cNvPr>
          <p:cNvSpPr/>
          <p:nvPr/>
        </p:nvSpPr>
        <p:spPr bwMode="auto">
          <a:xfrm>
            <a:off x="704780" y="4363048"/>
            <a:ext cx="236220" cy="9775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화살표: 위쪽 19">
            <a:extLst>
              <a:ext uri="{FF2B5EF4-FFF2-40B4-BE49-F238E27FC236}">
                <a16:creationId xmlns:a16="http://schemas.microsoft.com/office/drawing/2014/main" id="{0457D6C4-8623-9737-24E2-CE65504ACD05}"/>
              </a:ext>
            </a:extLst>
          </p:cNvPr>
          <p:cNvSpPr/>
          <p:nvPr/>
        </p:nvSpPr>
        <p:spPr bwMode="auto">
          <a:xfrm rot="5400000">
            <a:off x="1865885" y="3265620"/>
            <a:ext cx="236220" cy="2085991"/>
          </a:xfrm>
          <a:prstGeom prst="upArrow">
            <a:avLst/>
          </a:prstGeom>
          <a:solidFill>
            <a:srgbClr val="31859C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200" b="1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03E980B4-A812-3301-AF2C-498EE13398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5368303"/>
                  </p:ext>
                </p:extLst>
              </p:nvPr>
            </p:nvGraphicFramePr>
            <p:xfrm>
              <a:off x="4036533" y="3926877"/>
              <a:ext cx="5746672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67">
                      <a:extLst>
                        <a:ext uri="{9D8B030D-6E8A-4147-A177-3AD203B41FA5}">
                          <a16:colId xmlns:a16="http://schemas.microsoft.com/office/drawing/2014/main" val="324517196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66152607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30246319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46947733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630501421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064521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763839846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54458399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34970499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63532662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86183249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642156900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592392835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2974705727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327161703"/>
                        </a:ext>
                      </a:extLst>
                    </a:gridCol>
                    <a:gridCol w="359167">
                      <a:extLst>
                        <a:ext uri="{9D8B030D-6E8A-4147-A177-3AD203B41FA5}">
                          <a16:colId xmlns:a16="http://schemas.microsoft.com/office/drawing/2014/main" val="173256928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695" t="-1639" r="-15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1695" t="-1639" r="-14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201695" t="-1639" r="-13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301695" t="-1639" r="-12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401695" t="-1639" r="-11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501695" t="-1639" r="-10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601695" t="-1639" r="-9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701695" t="-1639" r="-80678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815517" t="-1639" r="-72069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900000" t="-1639" r="-6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000000" t="-1639" r="-5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100000" t="-1639" r="-4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200000" t="-1639" r="-3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300000" t="-1639" r="-2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400000" t="-1639" r="-108475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0" marR="0" marT="0" marB="0" anchor="ctr">
                        <a:blipFill>
                          <a:blip r:embed="rId5"/>
                          <a:stretch>
                            <a:fillRect l="-1500000" t="-1639" r="-8475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7193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(1,1)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(1,2)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↑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(1,3)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(2,3)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-0.1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(3,3)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/>
                            <a:t>→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0.9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(4,3)</a:t>
                          </a:r>
                          <a:endParaRPr lang="ko-KR" altLang="en-US" sz="1200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6985961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왼쪽 대괄호 2">
            <a:extLst>
              <a:ext uri="{FF2B5EF4-FFF2-40B4-BE49-F238E27FC236}">
                <a16:creationId xmlns:a16="http://schemas.microsoft.com/office/drawing/2014/main" id="{FC18F03A-6639-53E5-39A5-ABFE152C38A2}"/>
              </a:ext>
            </a:extLst>
          </p:cNvPr>
          <p:cNvSpPr/>
          <p:nvPr/>
        </p:nvSpPr>
        <p:spPr>
          <a:xfrm rot="5400000">
            <a:off x="4382082" y="3563433"/>
            <a:ext cx="113503" cy="51490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AF75DF96-BECB-DBF6-A94B-5EB0BBDFB223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56931" y="3554750"/>
            <a:ext cx="113503" cy="482496"/>
          </a:xfrm>
          <a:prstGeom prst="bentConnector4">
            <a:avLst>
              <a:gd name="adj1" fmla="val -201404"/>
              <a:gd name="adj2" fmla="val 99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BC59E17-09C9-F8B8-A35F-92B0CA193238}"/>
              </a:ext>
            </a:extLst>
          </p:cNvPr>
          <p:cNvCxnSpPr>
            <a:cxnSpLocks/>
            <a:stCxn id="3" idx="1"/>
          </p:cNvCxnSpPr>
          <p:nvPr/>
        </p:nvCxnSpPr>
        <p:spPr>
          <a:xfrm rot="16200000" flipH="1">
            <a:off x="4769723" y="3433243"/>
            <a:ext cx="145367" cy="807149"/>
          </a:xfrm>
          <a:prstGeom prst="bentConnector4">
            <a:avLst>
              <a:gd name="adj1" fmla="val -224965"/>
              <a:gd name="adj2" fmla="val 999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/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𝑟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220128-CC2C-237B-AE3B-B7562FF9B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306" y="3427301"/>
                <a:ext cx="313676" cy="307777"/>
              </a:xfrm>
              <a:prstGeom prst="rect">
                <a:avLst/>
              </a:prstGeom>
              <a:blipFill>
                <a:blip r:embed="rId6"/>
                <a:stretch>
                  <a:fillRect t="-5882" r="-9804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/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𝑝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AC1A885-5E67-1518-354F-883BBE690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913" y="3357881"/>
                <a:ext cx="326308" cy="307777"/>
              </a:xfrm>
              <a:prstGeom prst="rect">
                <a:avLst/>
              </a:prstGeom>
              <a:blipFill>
                <a:blip r:embed="rId7"/>
                <a:stretch>
                  <a:fillRect t="-6000" r="-1132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원호 41">
            <a:extLst>
              <a:ext uri="{FF2B5EF4-FFF2-40B4-BE49-F238E27FC236}">
                <a16:creationId xmlns:a16="http://schemas.microsoft.com/office/drawing/2014/main" id="{0DE69BBF-8749-F25C-2364-F5AB00E290AE}"/>
              </a:ext>
            </a:extLst>
          </p:cNvPr>
          <p:cNvSpPr/>
          <p:nvPr/>
        </p:nvSpPr>
        <p:spPr>
          <a:xfrm>
            <a:off x="4235672" y="4363048"/>
            <a:ext cx="350061" cy="514168"/>
          </a:xfrm>
          <a:prstGeom prst="arc">
            <a:avLst>
              <a:gd name="adj1" fmla="val 1630318"/>
              <a:gd name="adj2" fmla="val 9256406"/>
            </a:avLst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/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 smtClean="0">
                          <a:latin typeface="Cambria Math" panose="02040503050406030204" pitchFamily="18" charset="0"/>
                          <a:ea typeface="+mn-ea"/>
                        </a:rPr>
                        <m:t>π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4450B1-9415-6FF4-819F-1FA347F10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548" y="4795193"/>
                <a:ext cx="332142" cy="307777"/>
              </a:xfrm>
              <a:prstGeom prst="rect">
                <a:avLst/>
              </a:prstGeom>
              <a:blipFill>
                <a:blip r:embed="rId8"/>
                <a:stretch>
                  <a:fillRect t="-6000" r="-11111" b="-1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/>
              <p:nvPr/>
            </p:nvSpPr>
            <p:spPr>
              <a:xfrm>
                <a:off x="4036533" y="5080595"/>
                <a:ext cx="534787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=1</m:t>
                    </m:r>
                  </m:oMath>
                </a14:m>
                <a:r>
                  <a:rPr lang="ko-KR" altLang="en-US" b="0" dirty="0">
                    <a:latin typeface="+mn-ea"/>
                    <a:ea typeface="+mn-ea"/>
                  </a:rPr>
                  <a:t>일 때의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𝐺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0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>
                            <a:latin typeface="Cambria Math" panose="02040503050406030204" pitchFamily="18" charset="0"/>
                          </a:rPr>
                          <m:t>−0.1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+0.9=0.5</m:t>
                    </m:r>
                  </m:oMath>
                </a14:m>
                <a:endParaRPr lang="en-US" altLang="ko-KR" b="0" dirty="0">
                  <a:latin typeface="+mn-ea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F1802D3-8E51-959B-0397-1C27EA067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533" y="5080595"/>
                <a:ext cx="5347874" cy="307777"/>
              </a:xfrm>
              <a:prstGeom prst="rect">
                <a:avLst/>
              </a:prstGeom>
              <a:blipFill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6AEE115-907A-E3C9-D597-911AEA3E50A9}"/>
                  </a:ext>
                </a:extLst>
              </p:cNvPr>
              <p:cNvSpPr txBox="1"/>
              <p:nvPr/>
            </p:nvSpPr>
            <p:spPr>
              <a:xfrm>
                <a:off x="4235671" y="5400013"/>
                <a:ext cx="255241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0" dirty="0">
                    <a:latin typeface="+mn-ea"/>
                    <a:ea typeface="+mn-ea"/>
                  </a:rPr>
                  <a:t>정책의 예시 </a:t>
                </a:r>
                <a:r>
                  <a:rPr lang="en-US" altLang="ko-KR" b="0" dirty="0">
                    <a:latin typeface="+mn-ea"/>
                    <a:ea typeface="+mn-ea"/>
                  </a:rPr>
                  <a:t>(</a:t>
                </a:r>
                <a:r>
                  <a:rPr lang="ko-KR" altLang="en-US" b="0" dirty="0">
                    <a:latin typeface="+mn-ea"/>
                    <a:ea typeface="+mn-ea"/>
                  </a:rPr>
                  <a:t>균등정책</a:t>
                </a:r>
                <a:r>
                  <a:rPr lang="en-US" altLang="ko-KR" b="0" dirty="0">
                    <a:latin typeface="+mn-ea"/>
                    <a:ea typeface="+mn-ea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altLang="ko-KR" b="0" i="1" dirty="0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→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dPr>
                            <m:e>
                              <m:r>
                                <a:rPr lang="en-US" altLang="ko-KR" b="0" i="1" dirty="0">
                                  <a:latin typeface="Cambria Math" panose="02040503050406030204" pitchFamily="18" charset="0"/>
                                  <a:ea typeface="+mn-ea"/>
                                </a:rPr>
                                <m:t>1,1</m:t>
                              </m:r>
                            </m:e>
                          </m:d>
                        </m:e>
                      </m:d>
                      <m:r>
                        <a:rPr lang="en-US" altLang="ko-KR" b="0" i="1" dirty="0">
                          <a:latin typeface="Cambria Math" panose="02040503050406030204" pitchFamily="18" charset="0"/>
                          <a:ea typeface="+mn-ea"/>
                        </a:rPr>
                        <m:t>=0.5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b="0" i="1" dirty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b="0" i="1" dirty="0">
                                  <a:latin typeface="Cambria Math" panose="02040503050406030204" pitchFamily="18" charset="0"/>
                                </a:rPr>
                                <m:t>←</m:t>
                              </m:r>
                            </m:e>
                          </m:d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dirty="0"/>
              </a:p>
              <a:p>
                <a:endParaRPr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6AEE115-907A-E3C9-D597-911AEA3E5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671" y="5400013"/>
                <a:ext cx="2552413" cy="1384995"/>
              </a:xfrm>
              <a:prstGeom prst="rect">
                <a:avLst/>
              </a:prstGeom>
              <a:blipFill>
                <a:blip r:embed="rId10"/>
                <a:stretch>
                  <a:fillRect l="-716" t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FC2ED8-7025-B25E-3675-8D6AABED30D8}"/>
                  </a:ext>
                </a:extLst>
              </p:cNvPr>
              <p:cNvSpPr txBox="1"/>
              <p:nvPr/>
            </p:nvSpPr>
            <p:spPr>
              <a:xfrm>
                <a:off x="6981492" y="5400013"/>
                <a:ext cx="2155270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b="0" dirty="0">
                    <a:latin typeface="+mn-ea"/>
                    <a:ea typeface="+mn-ea"/>
                  </a:rPr>
                  <a:t>최적정책</a:t>
                </a:r>
                <a:endParaRPr lang="en-US" altLang="ko-KR" b="0" dirty="0">
                  <a:latin typeface="+mn-ea"/>
                  <a:ea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↑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↓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b="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ar-AE" altLang="ko-KR" b="0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ar-AE" altLang="ko-KR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b="0" i="1" dirty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e>
                          <m:d>
                            <m:dPr>
                              <m:ctrlP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ko-KR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ar-AE" altLang="ko-KR" b="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altLang="ko-K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0FC2ED8-7025-B25E-3675-8D6AABED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492" y="5400013"/>
                <a:ext cx="2155270" cy="1169551"/>
              </a:xfrm>
              <a:prstGeom prst="rect">
                <a:avLst/>
              </a:prstGeom>
              <a:blipFill>
                <a:blip r:embed="rId11"/>
                <a:stretch>
                  <a:fillRect l="-847" t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67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B572-E87E-243A-6664-536DB4086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68D864-81C2-10E4-4C6F-DD85A4FE2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가치함수 </a:t>
            </a:r>
            <a:r>
              <a:rPr lang="en-US" altLang="ko-KR" dirty="0"/>
              <a:t>(value function)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현재 상태에서의 가치를 나타내는 값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 (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정확하게는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, 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주어진 상태에 대한 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return</a:t>
                </a:r>
                <a:r>
                  <a:rPr lang="ko-KR" altLang="en-US" sz="1200" dirty="0">
                    <a:latin typeface="Cambria Math" panose="02040503050406030204" pitchFamily="18" charset="0"/>
                  </a:rPr>
                  <a:t>의 </a:t>
                </a:r>
                <a:r>
                  <a:rPr lang="ko-KR" altLang="en-US" sz="1200" dirty="0" err="1">
                    <a:latin typeface="Cambria Math" panose="02040503050406030204" pitchFamily="18" charset="0"/>
                  </a:rPr>
                  <a:t>기댓값</a:t>
                </a:r>
                <a:r>
                  <a:rPr lang="en-US" altLang="ko-KR" sz="1200" dirty="0">
                    <a:latin typeface="Cambria Math" panose="02040503050406030204" pitchFamily="18" charset="0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i="1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dirty="0">
                    <a:latin typeface="+mn-ea"/>
                  </a:rPr>
                  <a:t>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현재 상태 및 행동에서의 가치를 나타내는 값 </a:t>
                </a:r>
                <a:r>
                  <a:rPr lang="en-US" altLang="ko-KR" sz="1200" dirty="0">
                    <a:latin typeface="+mn-ea"/>
                  </a:rPr>
                  <a:t>(</a:t>
                </a:r>
                <a:r>
                  <a:rPr lang="ko-KR" altLang="en-US" sz="1200" dirty="0">
                    <a:latin typeface="+mn-ea"/>
                  </a:rPr>
                  <a:t>정확하게는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주어진 상태 및 행동에 대한 </a:t>
                </a:r>
                <a:r>
                  <a:rPr lang="en-US" altLang="ko-KR" sz="1200" dirty="0">
                    <a:latin typeface="+mn-ea"/>
                  </a:rPr>
                  <a:t>return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</a:t>
                </a:r>
                <a:r>
                  <a:rPr lang="en-US" altLang="ko-KR" sz="1200" dirty="0">
                    <a:latin typeface="+mn-ea"/>
                  </a:rPr>
                  <a:t>)</a:t>
                </a: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05AA2C06-C634-3FAA-1726-290C7803A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C4A6679B-D3B4-4857-7A7C-47497EAA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(1/2)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2EFC852-BF9F-2D7A-AE60-AE63B90CD8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1CDE4C-82EE-0EE9-50DE-80B8BFA35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0927" y="1755734"/>
            <a:ext cx="1700804" cy="266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DF6260-C919-1D63-0549-7666EF7F6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591" y="2967123"/>
            <a:ext cx="2224818" cy="248534"/>
          </a:xfrm>
          <a:prstGeom prst="rect">
            <a:avLst/>
          </a:prstGeom>
        </p:spPr>
      </p:pic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95AA504B-2AC6-4BAF-D2EA-5AB9F89E8827}"/>
              </a:ext>
            </a:extLst>
          </p:cNvPr>
          <p:cNvSpPr txBox="1">
            <a:spLocks/>
          </p:cNvSpPr>
          <p:nvPr/>
        </p:nvSpPr>
        <p:spPr>
          <a:xfrm>
            <a:off x="209708" y="3513140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dirty="0"/>
              <a:t>최적 정책 </a:t>
            </a:r>
            <a:r>
              <a:rPr kumimoji="0" lang="en-US" altLang="ko-KR" dirty="0"/>
              <a:t>(optimal policy)</a:t>
            </a:r>
            <a:endParaRPr kumimoji="0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텍스트 개체 틀 5">
                <a:extLst>
                  <a:ext uri="{FF2B5EF4-FFF2-40B4-BE49-F238E27FC236}">
                    <a16:creationId xmlns:a16="http://schemas.microsoft.com/office/drawing/2014/main" id="{E31293D8-9277-2EDC-E14F-910F808FE9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3845152"/>
                <a:ext cx="9270641" cy="717254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sz="1200" b="0" dirty="0">
                    <a:latin typeface="+mn-ea"/>
                  </a:rPr>
                  <a:t>최적 정책이란 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ko-KR" altLang="en-US" sz="1200" b="0" dirty="0">
                    <a:latin typeface="+mn-ea"/>
                  </a:rPr>
                  <a:t>의 관점에서 가장 높은 가치를 가지는 정책</a:t>
                </a:r>
                <a:endParaRPr kumimoji="0" lang="en-US" altLang="ko-KR" sz="1200" b="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sz="1200" b="0" dirty="0">
                    <a:latin typeface="+mn-ea"/>
                  </a:rPr>
                  <a:t>정확하게는</a:t>
                </a:r>
                <a:r>
                  <a:rPr kumimoji="0" lang="en-US" altLang="ko-KR" sz="1200" b="0" dirty="0">
                    <a:latin typeface="+mn-ea"/>
                  </a:rPr>
                  <a:t>, </a:t>
                </a:r>
                <a:r>
                  <a:rPr kumimoji="0" lang="ko-KR" altLang="en-US" sz="1200" b="0" dirty="0">
                    <a:latin typeface="+mn-ea"/>
                  </a:rPr>
                  <a:t>모든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와</a:t>
                </a:r>
                <a:r>
                  <a:rPr kumimoji="0" lang="en-US" altLang="ko-KR" sz="1200" b="0" dirty="0">
                    <a:latin typeface="+mn-ea"/>
                  </a:rPr>
                  <a:t> </a:t>
                </a:r>
                <a:r>
                  <a:rPr kumimoji="0" lang="ko-KR" altLang="en-US" sz="1200" b="0" dirty="0">
                    <a:latin typeface="+mn-ea"/>
                  </a:rPr>
                  <a:t>모든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kumimoji="0" lang="en-US" altLang="ko-KR" sz="1200" b="1" i="1" dirty="0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에 대하여 다음 식이 성립하는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0" lang="en-US" altLang="ko-KR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kumimoji="0" lang="en-US" altLang="ko-KR" sz="1200" b="0" dirty="0">
                  <a:latin typeface="+mn-ea"/>
                </a:endParaRPr>
              </a:p>
            </p:txBody>
          </p:sp>
        </mc:Choice>
        <mc:Fallback>
          <p:sp>
            <p:nvSpPr>
              <p:cNvPr id="11" name="텍스트 개체 틀 5">
                <a:extLst>
                  <a:ext uri="{FF2B5EF4-FFF2-40B4-BE49-F238E27FC236}">
                    <a16:creationId xmlns:a16="http://schemas.microsoft.com/office/drawing/2014/main" id="{E31293D8-9277-2EDC-E14F-910F808FE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3845152"/>
                <a:ext cx="9270641" cy="717254"/>
              </a:xfrm>
              <a:prstGeom prst="rect">
                <a:avLst/>
              </a:prstGeom>
              <a:blipFill>
                <a:blip r:embed="rId6"/>
                <a:stretch>
                  <a:fillRect l="-1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그림 15">
            <a:extLst>
              <a:ext uri="{FF2B5EF4-FFF2-40B4-BE49-F238E27FC236}">
                <a16:creationId xmlns:a16="http://schemas.microsoft.com/office/drawing/2014/main" id="{0E2A9F78-67B1-4595-6E52-46AE7B5387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871352"/>
            <a:ext cx="1310640" cy="33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58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16BD-5F0A-670C-B225-336DB48D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B9DDB9-5B8A-88FA-63E1-4E4DDF6A7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벨만방정식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</p:spPr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Cambria Math" panose="02040503050406030204" pitchFamily="18" charset="0"/>
                  </a:rPr>
                  <a:t>정책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1200" dirty="0">
                    <a:latin typeface="Cambria Math" panose="02040503050406030204" pitchFamily="18" charset="0"/>
                  </a:rPr>
                  <a:t> 대한 가치함수가 만족시켜야 하는 식</a:t>
                </a: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200" dirty="0">
                    <a:latin typeface="+mn-ea"/>
                  </a:rPr>
                  <a:t>DP, TD(0) </a:t>
                </a:r>
                <a:r>
                  <a:rPr lang="ko-KR" altLang="en-US" sz="1200" dirty="0">
                    <a:latin typeface="+mn-ea"/>
                  </a:rPr>
                  <a:t>등 거의 모든 강화학습 알고리즘의 기본이 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b="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dirty="0" err="1">
                    <a:latin typeface="+mn-ea"/>
                  </a:rPr>
                  <a:t>벨만최적방정식</a:t>
                </a:r>
                <a:r>
                  <a:rPr lang="ko-KR" altLang="en-US" dirty="0">
                    <a:latin typeface="+mn-ea"/>
                  </a:rPr>
                  <a:t> </a:t>
                </a:r>
                <a:r>
                  <a:rPr lang="en-US" altLang="ko-KR" dirty="0">
                    <a:latin typeface="+mn-ea"/>
                  </a:rPr>
                  <a:t>(Bellman optimal equation)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200" dirty="0">
                    <a:latin typeface="+mn-ea"/>
                  </a:rPr>
                  <a:t>최적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20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에 대한 가치함수가 만족시켜야 하는 식</a:t>
                </a:r>
                <a:endParaRPr lang="en-US" altLang="ko-KR" sz="1200" dirty="0">
                  <a:latin typeface="+mn-ea"/>
                </a:endParaRPr>
              </a:p>
              <a:p>
                <a:pPr marL="180000" lvl="1" indent="0">
                  <a:lnSpc>
                    <a:spcPct val="150000"/>
                  </a:lnSpc>
                  <a:buNone/>
                </a:pPr>
                <a:endParaRPr lang="en-US" altLang="ko-KR" sz="1200" dirty="0">
                  <a:latin typeface="+mn-ea"/>
                </a:endParaRPr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F9C8E683-A2B0-3349-DCD6-FA0B299D9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362309" y="904870"/>
                <a:ext cx="9270641" cy="2617194"/>
              </a:xfrm>
              <a:blipFill>
                <a:blip r:embed="rId3"/>
                <a:stretch>
                  <a:fillRect l="-263" b="-35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EF735B29-60D8-FB49-BCB0-C2357093D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Ⅰ-3. </a:t>
            </a:r>
            <a:r>
              <a:rPr lang="ko-KR" altLang="en-US" dirty="0"/>
              <a:t>가치함수와 </a:t>
            </a:r>
            <a:r>
              <a:rPr lang="ko-KR" altLang="en-US" dirty="0" err="1"/>
              <a:t>벨만방정식</a:t>
            </a:r>
            <a:r>
              <a:rPr lang="en-US" altLang="ko-KR" dirty="0"/>
              <a:t> (2/2)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0D2A82-BFB9-4450-E376-D4968A39B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D8DDD8-E6F4-4D0B-AA3D-950616046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321" y="4705004"/>
            <a:ext cx="3893156" cy="5716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032840-16DA-3E9F-23D6-C52105027D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133" y="5308043"/>
            <a:ext cx="4325542" cy="64508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879D2BE-67FF-44B6-B1A5-50851F252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4669" y="2106068"/>
            <a:ext cx="4139006" cy="1633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5AEFF4-6044-3F1E-B463-38207F4211AE}"/>
              </a:ext>
            </a:extLst>
          </p:cNvPr>
          <p:cNvSpPr txBox="1"/>
          <p:nvPr/>
        </p:nvSpPr>
        <p:spPr>
          <a:xfrm>
            <a:off x="6935096" y="5462016"/>
            <a:ext cx="24786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→ </a:t>
            </a:r>
            <a:r>
              <a:rPr lang="en-US" altLang="ko-KR" b="0" dirty="0">
                <a:latin typeface="+mn-ea"/>
                <a:ea typeface="+mn-ea"/>
              </a:rPr>
              <a:t>Q</a:t>
            </a:r>
            <a:r>
              <a:rPr lang="ko-KR" altLang="en-US" b="0" dirty="0">
                <a:latin typeface="+mn-ea"/>
                <a:ea typeface="+mn-ea"/>
              </a:rPr>
              <a:t>러닝</a:t>
            </a:r>
            <a:r>
              <a:rPr lang="en-US" altLang="ko-KR" b="0" dirty="0">
                <a:latin typeface="+mn-ea"/>
                <a:ea typeface="+mn-ea"/>
              </a:rPr>
              <a:t>, policy iteration </a:t>
            </a:r>
            <a:r>
              <a:rPr lang="ko-KR" altLang="en-US" b="0" dirty="0">
                <a:latin typeface="+mn-ea"/>
                <a:ea typeface="+mn-ea"/>
              </a:rPr>
              <a:t>등</a:t>
            </a:r>
          </a:p>
        </p:txBody>
      </p:sp>
    </p:spTree>
    <p:extLst>
      <p:ext uri="{BB962C8B-B14F-4D97-AF65-F5344CB8AC3E}">
        <p14:creationId xmlns:p14="http://schemas.microsoft.com/office/powerpoint/2010/main" val="4292374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5365-C184-AFCE-2600-6B0D7B92E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753AF4-85ED-B71F-C79D-E9812AF437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강화학습 알고리즘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30211-7DDA-F99E-C57E-EB4454D062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동적계획법 </a:t>
            </a:r>
            <a:r>
              <a:rPr lang="en-US" altLang="ko-KR" sz="1800" dirty="0">
                <a:latin typeface="+mn-ea"/>
                <a:ea typeface="+mn-ea"/>
              </a:rPr>
              <a:t>(dynamic programming) 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Monte Carlo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TD(0)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Q-learning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DQN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continuous action </a:t>
            </a:r>
            <a:r>
              <a:rPr lang="ko-KR" altLang="en-US" sz="1800" dirty="0">
                <a:latin typeface="+mn-ea"/>
                <a:ea typeface="+mn-ea"/>
              </a:rPr>
              <a:t>문제 </a:t>
            </a:r>
            <a:r>
              <a:rPr lang="en-US" altLang="ko-KR" sz="1800" dirty="0">
                <a:latin typeface="+mn-ea"/>
                <a:ea typeface="+mn-ea"/>
              </a:rPr>
              <a:t>: REINFORCE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DDPG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</a:t>
            </a:r>
          </a:p>
        </p:txBody>
      </p:sp>
    </p:spTree>
    <p:extLst>
      <p:ext uri="{BB962C8B-B14F-4D97-AF65-F5344CB8AC3E}">
        <p14:creationId xmlns:p14="http://schemas.microsoft.com/office/powerpoint/2010/main" val="470747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8A51B-BC13-160D-9902-AB8F2774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4A0AE0-96ED-0298-44F2-3E5710223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동적계획법 </a:t>
            </a:r>
            <a:r>
              <a:rPr lang="en-US" altLang="ko-KR" dirty="0"/>
              <a:t>(dynamic programming)</a:t>
            </a:r>
            <a:r>
              <a:rPr lang="ko-KR" altLang="en-US" dirty="0"/>
              <a:t> 개요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9A3113E-A8B6-B125-71B8-57048ECF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(1/4)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40E59072-516E-BB04-BE02-18322A9FE7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B10E0844-EC63-0AEA-7582-1FC796FF6A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04870"/>
                <a:ext cx="9270641" cy="1387226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en-US" altLang="ko-KR" b="0" dirty="0">
                    <a:latin typeface="+mn-ea"/>
                  </a:rPr>
                  <a:t>MDP</a:t>
                </a:r>
                <a:r>
                  <a:rPr kumimoji="0" lang="ko-KR" altLang="en-US" b="0" dirty="0">
                    <a:latin typeface="+mn-ea"/>
                  </a:rPr>
                  <a:t>의 환경모델을 알 때 최적정책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kumimoji="0" lang="ko-KR" altLang="en-US" b="0" dirty="0">
                    <a:latin typeface="+mn-ea"/>
                  </a:rPr>
                  <a:t>을 순차적으로 </a:t>
                </a:r>
                <a:r>
                  <a:rPr kumimoji="0" lang="ko-KR" altLang="en-US" b="0" dirty="0" err="1">
                    <a:latin typeface="+mn-ea"/>
                  </a:rPr>
                  <a:t>계산해나가는</a:t>
                </a:r>
                <a:r>
                  <a:rPr kumimoji="0" lang="ko-KR" altLang="en-US" b="0" dirty="0">
                    <a:latin typeface="+mn-ea"/>
                  </a:rPr>
                  <a:t> 방법 </a:t>
                </a:r>
                <a:r>
                  <a:rPr kumimoji="0" lang="en-US" altLang="ko-KR" b="0" dirty="0">
                    <a:latin typeface="+mn-ea"/>
                  </a:rPr>
                  <a:t>(model-based)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b="0" dirty="0">
                    <a:latin typeface="+mn-ea"/>
                  </a:rPr>
                  <a:t>대표적인 알고리즘 </a:t>
                </a:r>
                <a:r>
                  <a:rPr kumimoji="0" lang="en-US" altLang="ko-KR" b="0" dirty="0">
                    <a:latin typeface="+mn-ea"/>
                  </a:rPr>
                  <a:t>: policy iteration(</a:t>
                </a:r>
                <a:r>
                  <a:rPr kumimoji="0" lang="ko-KR" altLang="en-US" b="0" dirty="0">
                    <a:latin typeface="+mn-ea"/>
                  </a:rPr>
                  <a:t>정책 반복</a:t>
                </a:r>
                <a:r>
                  <a:rPr kumimoji="0" lang="en-US" altLang="ko-KR" b="0" dirty="0">
                    <a:latin typeface="+mn-ea"/>
                  </a:rPr>
                  <a:t>), value iteration(</a:t>
                </a:r>
                <a:r>
                  <a:rPr kumimoji="0" lang="ko-KR" altLang="en-US" b="0" dirty="0">
                    <a:latin typeface="+mn-ea"/>
                  </a:rPr>
                  <a:t>가치 반복</a:t>
                </a:r>
                <a:r>
                  <a:rPr kumimoji="0" lang="en-US" altLang="ko-KR" b="0" dirty="0">
                    <a:latin typeface="+mn-ea"/>
                  </a:rPr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ko-KR" altLang="en-US" b="0" dirty="0">
                    <a:latin typeface="+mn-ea"/>
                  </a:rPr>
                  <a:t>에 대한 </a:t>
                </a:r>
                <a:r>
                  <a:rPr kumimoji="0" lang="ko-KR" altLang="en-US" b="0" dirty="0" err="1">
                    <a:latin typeface="+mn-ea"/>
                  </a:rPr>
                  <a:t>벨만방정식을</a:t>
                </a:r>
                <a:r>
                  <a:rPr kumimoji="0" lang="ko-KR" altLang="en-US" b="0" dirty="0">
                    <a:latin typeface="+mn-ea"/>
                  </a:rPr>
                  <a:t> 점화식처럼 반복적으로 적용</a:t>
                </a:r>
                <a:endParaRPr kumimoji="0" lang="en-US" altLang="ko-KR" sz="1200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특징 </a:t>
                </a:r>
                <a:r>
                  <a:rPr kumimoji="0" lang="en-US" altLang="ko-KR" sz="1200" b="0" dirty="0">
                    <a:latin typeface="+mn-ea"/>
                  </a:rPr>
                  <a:t>: full-backup, bootstrapping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한계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>
                    <a:latin typeface="+mn-ea"/>
                  </a:rPr>
                  <a:t>환경모델 필요</a:t>
                </a:r>
                <a:r>
                  <a:rPr kumimoji="0" lang="en-US" altLang="ko-KR" sz="1200" b="0" dirty="0">
                    <a:latin typeface="+mn-ea"/>
                  </a:rPr>
                  <a:t>, </a:t>
                </a:r>
                <a:r>
                  <a:rPr kumimoji="0" lang="ko-KR" altLang="en-US" sz="1200" b="0" dirty="0">
                    <a:latin typeface="+mn-ea"/>
                  </a:rPr>
                  <a:t>상태공간이 크면</a:t>
                </a:r>
                <a:r>
                  <a:rPr kumimoji="0" lang="en-US" altLang="ko-KR" sz="1200" b="0" dirty="0">
                    <a:latin typeface="+mn-ea"/>
                  </a:rPr>
                  <a:t> </a:t>
                </a:r>
                <a:r>
                  <a:rPr kumimoji="0" lang="ko-KR" altLang="en-US" sz="1200" b="0" dirty="0" err="1">
                    <a:latin typeface="+mn-ea"/>
                  </a:rPr>
                  <a:t>계산량</a:t>
                </a:r>
                <a:r>
                  <a:rPr kumimoji="0" lang="ko-KR" altLang="en-US" sz="1200" b="0" dirty="0">
                    <a:latin typeface="+mn-ea"/>
                  </a:rPr>
                  <a:t> 증가</a:t>
                </a:r>
                <a:endParaRPr lang="en-US" altLang="ko-KR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의의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>
                    <a:latin typeface="+mn-ea"/>
                  </a:rPr>
                  <a:t>강화학습 알고리즘의 이론적 토대</a:t>
                </a:r>
                <a:endParaRPr kumimoji="0" lang="en-US" altLang="ko-KR" b="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kumimoji="0" lang="en-US" altLang="ko-KR" sz="1200" b="0" dirty="0">
                  <a:latin typeface="+mn-ea"/>
                </a:endParaRPr>
              </a:p>
            </p:txBody>
          </p:sp>
        </mc:Choice>
        <mc:Fallback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B10E0844-EC63-0AEA-7582-1FC796FF6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04870"/>
                <a:ext cx="9270641" cy="1387226"/>
              </a:xfrm>
              <a:prstGeom prst="rect">
                <a:avLst/>
              </a:prstGeom>
              <a:blipFill>
                <a:blip r:embed="rId3"/>
                <a:stretch>
                  <a:fillRect l="-263" b="-429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95C0E43F-C978-DB44-8BA5-31C7B3AC8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12" y="3149161"/>
            <a:ext cx="5307234" cy="291759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88B6F59-A978-C96D-7D34-2C1F72A43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196" y="2116696"/>
            <a:ext cx="3411201" cy="4866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F52B74-203B-2FFD-FDBF-36FEF488AEDC}"/>
              </a:ext>
            </a:extLst>
          </p:cNvPr>
          <p:cNvSpPr txBox="1"/>
          <p:nvPr/>
        </p:nvSpPr>
        <p:spPr>
          <a:xfrm>
            <a:off x="8778240" y="217380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200" b="0" dirty="0" err="1">
                <a:latin typeface="+mn-ea"/>
                <a:ea typeface="+mn-ea"/>
              </a:rPr>
              <a:t>벨만방정식</a:t>
            </a:r>
            <a:endParaRPr lang="ko-KR" altLang="en-US" sz="12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52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854E4-01AE-31E5-0B77-796EE26D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ACA88C-4CA7-35B2-38D1-E09A557AEF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정책 반복 </a:t>
            </a:r>
            <a:r>
              <a:rPr lang="en-US" altLang="ko-KR" dirty="0"/>
              <a:t>(policy iteration)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D6E16EE-54D3-3620-063E-7D9872F6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A98540-6154-5320-479C-E35E09934B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0FDAF527-3764-5040-0F52-71D53E215F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b="0" dirty="0">
                    <a:latin typeface="+mn-ea"/>
                  </a:rPr>
                  <a:t>정책평가와 정책개선을 통해 순차적으로 정책을 최적정책에 수렴시키는 방법</a:t>
                </a:r>
                <a:endParaRPr kumimoji="0" lang="en-US" altLang="ko-KR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정책평가</a:t>
                </a:r>
                <a:r>
                  <a:rPr kumimoji="0" lang="en-US" altLang="ko-KR" sz="1200" b="0" dirty="0">
                    <a:latin typeface="+mn-ea"/>
                  </a:rPr>
                  <a:t>(policy evaluation)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 err="1">
                    <a:latin typeface="+mn-ea"/>
                  </a:rPr>
                  <a:t>벨만방정식을</a:t>
                </a:r>
                <a:r>
                  <a:rPr kumimoji="0" lang="ko-KR" altLang="en-US" sz="1200" b="0" dirty="0">
                    <a:latin typeface="+mn-ea"/>
                  </a:rPr>
                  <a:t> 점화식으로 사용하여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에 대하여 그에 대한 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ko-KR" altLang="en-US" sz="1200" b="0" dirty="0">
                    <a:latin typeface="+mn-ea"/>
                  </a:rPr>
                  <a:t>를 추정</a:t>
                </a:r>
                <a:endParaRPr kumimoji="0" lang="en-US" altLang="ko-KR" sz="1200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정책개선</a:t>
                </a:r>
                <a:r>
                  <a:rPr kumimoji="0" lang="en-US" altLang="ko-KR" sz="1200" b="0" dirty="0">
                    <a:latin typeface="+mn-ea"/>
                  </a:rPr>
                  <a:t>(policy improvement)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kumimoji="0" lang="ko-KR" altLang="en-US" sz="1200" b="0" i="1" dirty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</a:t>
                </a:r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사용하여 이전보다 개선된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0" lang="en-US" altLang="ko-KR" sz="1200" b="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을 얻어냄</a:t>
                </a:r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(</a:t>
                </a:r>
                <a:r>
                  <a:rPr kumimoji="0" lang="en-US" altLang="ko-KR" sz="1200" b="0">
                    <a:latin typeface="+mn-ea"/>
                  </a:rPr>
                  <a:t>greedy policy)</a:t>
                </a:r>
                <a:endParaRPr kumimoji="0" lang="en-US" altLang="ko-KR" sz="1200" b="0" dirty="0">
                  <a:latin typeface="+mn-ea"/>
                </a:endParaRPr>
              </a:p>
            </p:txBody>
          </p:sp>
        </mc:Choice>
        <mc:Fallback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0FDAF527-3764-5040-0F52-71D53E215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43769D03-CAB2-3C98-52EC-170D29F62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769" y="2006936"/>
            <a:ext cx="5684462" cy="3385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F92BF5-D0B3-B9C5-A55C-B022142E8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321" y="2441985"/>
            <a:ext cx="6224016" cy="422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15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7AAF-2E3F-6D5B-1901-03BE6328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B30B77-619A-B1AC-AB01-1E79A4B869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GPI</a:t>
            </a:r>
            <a:r>
              <a:rPr lang="ko-KR" altLang="en-US" dirty="0"/>
              <a:t> </a:t>
            </a:r>
            <a:r>
              <a:rPr lang="en-US" altLang="ko-KR" dirty="0"/>
              <a:t>(generalized policy iteration)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40FFA30-5CD5-E365-0D46-58052CA02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07214CD-EC7C-3942-2F46-13645105D9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397808F8-06EE-21F8-56D1-291F7372A1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en-US" altLang="ko-KR" b="0" dirty="0">
                    <a:latin typeface="+mn-ea"/>
                  </a:rPr>
                  <a:t>GPI</a:t>
                </a:r>
                <a:r>
                  <a:rPr kumimoji="0" lang="ko-KR" altLang="en-US" b="0" dirty="0">
                    <a:latin typeface="+mn-ea"/>
                  </a:rPr>
                  <a:t>는 정책개선</a:t>
                </a:r>
                <a:r>
                  <a:rPr kumimoji="0" lang="en-US" altLang="ko-KR" b="0" dirty="0">
                    <a:latin typeface="+mn-ea"/>
                  </a:rPr>
                  <a:t>(policy iteration)</a:t>
                </a:r>
                <a:r>
                  <a:rPr kumimoji="0" lang="ko-KR" altLang="en-US" b="0" dirty="0">
                    <a:latin typeface="+mn-ea"/>
                  </a:rPr>
                  <a:t>의 일반화된 개념</a:t>
                </a:r>
                <a:endParaRPr kumimoji="0" lang="en-US" altLang="ko-KR" b="0" dirty="0">
                  <a:latin typeface="+mn-ea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kumimoji="0" lang="ko-KR" altLang="en-US" b="0" dirty="0">
                    <a:latin typeface="+mn-ea"/>
                  </a:rPr>
                  <a:t>거의 모든 강화학습 알고리즘은 정책평가와 정책개선이 반복되는 형태</a:t>
                </a:r>
                <a:endParaRPr kumimoji="0" lang="en-US" altLang="ko-KR" b="0" dirty="0">
                  <a:latin typeface="+mn-ea"/>
                </a:endParaRP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정책평가</a:t>
                </a:r>
                <a:r>
                  <a:rPr kumimoji="0" lang="en-US" altLang="ko-KR" sz="1200" b="0" dirty="0">
                    <a:latin typeface="+mn-ea"/>
                  </a:rPr>
                  <a:t>(policy evaluation)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:r>
                  <a:rPr kumimoji="0" lang="ko-KR" altLang="en-US" sz="1200" b="0" dirty="0">
                    <a:latin typeface="+mn-ea"/>
                  </a:rPr>
                  <a:t>현재 정책 </a:t>
                </a:r>
                <a14:m>
                  <m:oMath xmlns:m="http://schemas.openxmlformats.org/officeDocument/2006/math">
                    <m:r>
                      <a:rPr kumimoji="0" lang="en-US" altLang="ko-KR" sz="1200" b="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0" lang="ko-KR" altLang="en-US" sz="1200" b="0" dirty="0">
                    <a:latin typeface="+mn-ea"/>
                  </a:rPr>
                  <a:t>에 대한 가치 평가 </a:t>
                </a:r>
                <a:r>
                  <a:rPr kumimoji="0" lang="en-US" altLang="ko-KR" sz="1200" b="0" dirty="0"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en-US" altLang="ko-KR" sz="1200" b="0" dirty="0">
                    <a:latin typeface="+mn-ea"/>
                  </a:rPr>
                  <a:t> </a:t>
                </a:r>
                <a:r>
                  <a:rPr kumimoji="0" lang="ko-KR" altLang="en-US" sz="1200" b="0" dirty="0">
                    <a:latin typeface="+mn-ea"/>
                  </a:rPr>
                  <a:t>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ko-KR" sz="1200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kumimoji="0" lang="en-US" altLang="ko-KR" sz="1200" b="0" dirty="0">
                    <a:latin typeface="+mn-ea"/>
                  </a:rPr>
                  <a:t>)</a:t>
                </a:r>
              </a:p>
              <a:p>
                <a:pPr marL="180000" lvl="1" indent="1800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0" lang="ko-KR" altLang="en-US" sz="1200" b="0" dirty="0">
                    <a:latin typeface="+mn-ea"/>
                  </a:rPr>
                  <a:t>정책개선</a:t>
                </a:r>
                <a:r>
                  <a:rPr kumimoji="0" lang="en-US" altLang="ko-KR" sz="1200" b="0" dirty="0">
                    <a:latin typeface="+mn-ea"/>
                  </a:rPr>
                  <a:t>(policy improvement)</a:t>
                </a:r>
                <a:r>
                  <a:rPr kumimoji="0" lang="ko-KR" altLang="en-US" sz="1200" b="0" dirty="0">
                    <a:latin typeface="+mn-ea"/>
                  </a:rPr>
                  <a:t> </a:t>
                </a:r>
                <a:r>
                  <a:rPr kumimoji="0" lang="en-US" altLang="ko-KR" sz="1200" b="0" dirty="0">
                    <a:latin typeface="+mn-ea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ko-KR" altLang="en-US" sz="1200" b="0" i="1" dirty="0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치함수에 기반하여 개선된 정책</a:t>
                </a:r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</a:t>
                </a:r>
                <a:r>
                  <a:rPr kumimoji="0" lang="ko-KR" altLang="en-US" sz="1200" b="0" dirty="0">
                    <a:latin typeface="Cambria Math" panose="02040503050406030204" pitchFamily="18" charset="0"/>
                  </a:rPr>
                  <a:t>도출</a:t>
                </a:r>
                <a:r>
                  <a:rPr kumimoji="0" lang="en-US" altLang="ko-KR" sz="1200" b="0" dirty="0">
                    <a:latin typeface="Cambria Math" panose="02040503050406030204" pitchFamily="18" charset="0"/>
                  </a:rPr>
                  <a:t> (</a:t>
                </a:r>
                <a:r>
                  <a:rPr kumimoji="0" lang="en-US" altLang="ko-KR" sz="1200" b="0" dirty="0">
                    <a:latin typeface="+mn-ea"/>
                  </a:rPr>
                  <a:t>greedy </a:t>
                </a:r>
                <a:r>
                  <a:rPr kumimoji="0" lang="ko-KR" altLang="en-US" sz="1200" b="0" dirty="0">
                    <a:latin typeface="+mn-ea"/>
                  </a:rPr>
                  <a:t>정책</a:t>
                </a:r>
                <a:r>
                  <a:rPr kumimoji="0" lang="en-US" altLang="ko-KR" sz="1200" b="0" dirty="0">
                    <a:latin typeface="+mn-ea"/>
                  </a:rPr>
                  <a:t>)</a:t>
                </a:r>
              </a:p>
            </p:txBody>
          </p:sp>
        </mc:Choice>
        <mc:Fallback>
          <p:sp>
            <p:nvSpPr>
              <p:cNvPr id="10" name="텍스트 개체 틀 5">
                <a:extLst>
                  <a:ext uri="{FF2B5EF4-FFF2-40B4-BE49-F238E27FC236}">
                    <a16:creationId xmlns:a16="http://schemas.microsoft.com/office/drawing/2014/main" id="{397808F8-06EE-21F8-56D1-291F7372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04870"/>
                <a:ext cx="9270641" cy="2617194"/>
              </a:xfrm>
              <a:prstGeom prst="rect">
                <a:avLst/>
              </a:prstGeom>
              <a:blipFill>
                <a:blip r:embed="rId2"/>
                <a:stretch>
                  <a:fillRect l="-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EFB574E5-19A5-EEFA-CCF6-39021B4D5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2434" y="2706955"/>
            <a:ext cx="4675634" cy="2997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63045D5-2F16-96BB-B759-1FBFE4D87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345" y="2789098"/>
            <a:ext cx="1952898" cy="29150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D39A51-E18E-A176-95CB-FBDAC6000A75}"/>
              </a:ext>
            </a:extLst>
          </p:cNvPr>
          <p:cNvSpPr txBox="1"/>
          <p:nvPr/>
        </p:nvSpPr>
        <p:spPr>
          <a:xfrm>
            <a:off x="6609521" y="1656459"/>
            <a:ext cx="8034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→ </a:t>
            </a:r>
            <a:r>
              <a:rPr lang="en-US" altLang="ko-KR" b="0" dirty="0">
                <a:latin typeface="+mn-ea"/>
                <a:ea typeface="+mn-ea"/>
              </a:rPr>
              <a:t>critic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51C14B-5F7B-0692-7C22-19A067939CD5}"/>
              </a:ext>
            </a:extLst>
          </p:cNvPr>
          <p:cNvSpPr txBox="1"/>
          <p:nvPr/>
        </p:nvSpPr>
        <p:spPr>
          <a:xfrm>
            <a:off x="6615617" y="1942971"/>
            <a:ext cx="827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→ </a:t>
            </a:r>
            <a:r>
              <a:rPr lang="en-US" altLang="ko-KR" b="0" dirty="0">
                <a:latin typeface="+mn-ea"/>
                <a:ea typeface="+mn-ea"/>
              </a:rPr>
              <a:t>actor</a:t>
            </a:r>
            <a:endParaRPr lang="ko-KR" altLang="en-US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64483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DCF6-9B8C-A11E-87B4-318E9B0B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3EC319-F5BD-7B63-4CDB-9092A0301D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grid</a:t>
            </a:r>
            <a:r>
              <a:rPr lang="ko-KR" altLang="en-US" dirty="0"/>
              <a:t> </a:t>
            </a:r>
            <a:r>
              <a:rPr lang="en-US" altLang="ko-KR" dirty="0"/>
              <a:t>world</a:t>
            </a:r>
            <a:r>
              <a:rPr lang="ko-KR" altLang="en-US" dirty="0"/>
              <a:t> 예시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EB3AD5F-F1F7-0612-C1A5-8E94796B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Ⅱ-1. </a:t>
            </a:r>
            <a:r>
              <a:rPr lang="ko-KR" altLang="en-US" dirty="0"/>
              <a:t>동적계획법 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BFD1474-E6B8-376A-1A8B-15F5D5D4E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Ⅰ </a:t>
            </a:r>
            <a:r>
              <a:rPr lang="ko-KR" altLang="en-US" dirty="0"/>
              <a:t>강화학습 기초</a:t>
            </a:r>
          </a:p>
        </p:txBody>
      </p:sp>
      <p:sp>
        <p:nvSpPr>
          <p:cNvPr id="10" name="텍스트 개체 틀 5">
            <a:extLst>
              <a:ext uri="{FF2B5EF4-FFF2-40B4-BE49-F238E27FC236}">
                <a16:creationId xmlns:a16="http://schemas.microsoft.com/office/drawing/2014/main" id="{8043DDBB-3FD0-2CAB-C33A-FB53D9E6C29C}"/>
              </a:ext>
            </a:extLst>
          </p:cNvPr>
          <p:cNvSpPr txBox="1">
            <a:spLocks/>
          </p:cNvSpPr>
          <p:nvPr/>
        </p:nvSpPr>
        <p:spPr>
          <a:xfrm>
            <a:off x="362309" y="904870"/>
            <a:ext cx="9270641" cy="2617194"/>
          </a:xfrm>
          <a:prstGeom prst="rect">
            <a:avLst/>
          </a:prstGeom>
        </p:spPr>
        <p:txBody>
          <a:bodyPr lIns="72000" tIns="3600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ko-KR" b="0" dirty="0">
                <a:latin typeface="+mn-ea"/>
              </a:rPr>
              <a:t>GPI</a:t>
            </a:r>
            <a:r>
              <a:rPr kumimoji="0" lang="ko-KR" altLang="en-US" b="0" dirty="0">
                <a:latin typeface="+mn-ea"/>
              </a:rPr>
              <a:t>는</a:t>
            </a:r>
            <a:r>
              <a:rPr kumimoji="0" lang="en-US" altLang="ko-KR" sz="1200" b="0" dirty="0">
                <a:latin typeface="+mn-ea"/>
              </a:rPr>
              <a:t>)</a:t>
            </a:r>
          </a:p>
          <a:p>
            <a:pPr marL="180000" lvl="1" indent="18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ko-KR" altLang="en-US" sz="1200" b="0" dirty="0">
                <a:latin typeface="+mn-ea"/>
              </a:rPr>
              <a:t>정책개선</a:t>
            </a:r>
            <a:r>
              <a:rPr kumimoji="0" lang="en-US" altLang="ko-KR" sz="1200" b="0" dirty="0">
                <a:latin typeface="+mn-ea"/>
              </a:rPr>
              <a:t>(policy)</a:t>
            </a:r>
          </a:p>
        </p:txBody>
      </p:sp>
    </p:spTree>
    <p:extLst>
      <p:ext uri="{BB962C8B-B14F-4D97-AF65-F5344CB8AC3E}">
        <p14:creationId xmlns:p14="http://schemas.microsoft.com/office/powerpoint/2010/main" val="1044020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3D0E-9AE6-3969-96E1-CD85002A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9CC0B9D-F507-B4F9-735B-E4F4E13D2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29904" y="1407161"/>
            <a:ext cx="5643476" cy="419702"/>
          </a:xfrm>
        </p:spPr>
        <p:txBody>
          <a:bodyPr/>
          <a:lstStyle/>
          <a:p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offline </a:t>
            </a:r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강화학습</a:t>
            </a:r>
            <a:endParaRPr lang="en-US" altLang="ko-KR" sz="20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CD1DD2-CD92-24C7-B8D5-6B260F3320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94235" y="2132856"/>
            <a:ext cx="5479145" cy="331798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offline </a:t>
            </a:r>
            <a:r>
              <a:rPr lang="ko-KR" altLang="en-US" sz="1800" dirty="0">
                <a:latin typeface="+mn-ea"/>
                <a:ea typeface="+mn-ea"/>
              </a:rPr>
              <a:t>강화학습 개요</a:t>
            </a: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weighted BC</a:t>
            </a:r>
          </a:p>
          <a:p>
            <a:pPr>
              <a:lnSpc>
                <a:spcPct val="100000"/>
              </a:lnSpc>
            </a:pPr>
            <a:r>
              <a:rPr lang="en-US" altLang="ko-KR" sz="1800" dirty="0">
                <a:latin typeface="+mn-ea"/>
                <a:ea typeface="+mn-ea"/>
              </a:rPr>
              <a:t>TD3BC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 half-cheetah</a:t>
            </a:r>
          </a:p>
          <a:p>
            <a:pPr>
              <a:lnSpc>
                <a:spcPct val="100000"/>
              </a:lnSpc>
            </a:pPr>
            <a:r>
              <a:rPr lang="ko-KR" altLang="en-US" sz="1800" dirty="0">
                <a:latin typeface="+mn-ea"/>
                <a:ea typeface="+mn-ea"/>
              </a:rPr>
              <a:t>적용사례 </a:t>
            </a:r>
            <a:r>
              <a:rPr lang="en-US" altLang="ko-KR" sz="1800" dirty="0">
                <a:latin typeface="+mn-ea"/>
                <a:ea typeface="+mn-ea"/>
              </a:rPr>
              <a:t>:</a:t>
            </a:r>
            <a:r>
              <a:rPr lang="ko-KR" altLang="en-US" sz="1800" dirty="0">
                <a:latin typeface="+mn-ea"/>
                <a:ea typeface="+mn-ea"/>
              </a:rPr>
              <a:t> 서부발전</a:t>
            </a:r>
            <a:endParaRPr lang="en-US" altLang="ko-KR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22958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F89C861-04FC-494C-6BF7-CDF8B8EC7F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B9A01-0D2C-6077-B6EA-ABDB0CDAF4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496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D4C202D-2764-270B-2BB9-AEAAC6C6C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407399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D9F2-45C3-4E6A-9DCD-C1DE302C1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65EBB-89E7-BBB6-6B98-DDC5F3CD2F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86909" y="1215854"/>
            <a:ext cx="6803594" cy="5299282"/>
          </a:xfrm>
        </p:spPr>
        <p:txBody>
          <a:bodyPr/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기초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강화학습 개요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finite</a:t>
            </a:r>
            <a:r>
              <a:rPr lang="ko-KR" altLang="en-US" sz="1600" dirty="0"/>
              <a:t> </a:t>
            </a:r>
            <a:r>
              <a:rPr lang="en-US" altLang="ko-KR" sz="1600" dirty="0"/>
              <a:t>MDP</a:t>
            </a:r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가치함수와 </a:t>
            </a:r>
            <a:r>
              <a:rPr lang="ko-KR" altLang="en-US" sz="1600" dirty="0" err="1"/>
              <a:t>벨만방정식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시간차 학습 </a:t>
            </a:r>
            <a:r>
              <a:rPr lang="en-US" altLang="ko-KR" sz="1600" dirty="0"/>
              <a:t>(time difference)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알고리즘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Q-learning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DQN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DDPG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</a:t>
            </a:r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TD3BC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z="2000" dirty="0"/>
              <a:t>강화학습 적용 사례</a:t>
            </a:r>
            <a:endParaRPr lang="en-US" altLang="ko-KR" sz="2000" dirty="0"/>
          </a:p>
          <a:p>
            <a:pPr marL="720000" lvl="1" indent="-360000">
              <a:buFont typeface="+mj-lt"/>
              <a:buAutoNum type="arabicPeriod"/>
            </a:pPr>
            <a:r>
              <a:rPr lang="ko-KR" altLang="en-US" sz="1600" dirty="0"/>
              <a:t>서부발전 희석질소 제어 문제</a:t>
            </a:r>
            <a:endParaRPr lang="en-US" altLang="ko-KR" sz="1600" dirty="0"/>
          </a:p>
          <a:p>
            <a:pPr marL="720000" lvl="1" indent="-360000">
              <a:buFont typeface="+mj-lt"/>
              <a:buAutoNum type="arabicPeriod"/>
            </a:pPr>
            <a:r>
              <a:rPr lang="en-US" altLang="ko-KR" sz="1600" dirty="0"/>
              <a:t>half-cheetah </a:t>
            </a:r>
          </a:p>
        </p:txBody>
      </p:sp>
    </p:spTree>
    <p:extLst>
      <p:ext uri="{BB962C8B-B14F-4D97-AF65-F5344CB8AC3E}">
        <p14:creationId xmlns:p14="http://schemas.microsoft.com/office/powerpoint/2010/main" val="1261259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104929</TotalTime>
  <Words>4162</Words>
  <Application>Microsoft Office PowerPoint</Application>
  <PresentationFormat>A4 용지(210x297mm)</PresentationFormat>
  <Paragraphs>541</Paragraphs>
  <Slides>21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PowerPoint 프레젠테이션</vt:lpstr>
      <vt:lpstr>PowerPoint 프레젠테이션</vt:lpstr>
      <vt:lpstr>Ⅰ-1. 강화학습 개요</vt:lpstr>
      <vt:lpstr>Ⅰ-1. 강화학습 개요 (2/3)</vt:lpstr>
      <vt:lpstr>Ⅰ-1. 강화학습 개요 (3/3)</vt:lpstr>
      <vt:lpstr>Ⅰ-2. Markov Decision Process (1/3)</vt:lpstr>
      <vt:lpstr>Ⅰ-2. Markov Decision Process (2/3)</vt:lpstr>
      <vt:lpstr>Ⅰ-2. Markov Decision Process (3/3)</vt:lpstr>
      <vt:lpstr>Ⅰ-3. 가치함수와 벨만방정식 (1/2)</vt:lpstr>
      <vt:lpstr>Ⅰ-3. 가치함수와 벨만방정식 (2/2)</vt:lpstr>
      <vt:lpstr>PowerPoint 프레젠테이션</vt:lpstr>
      <vt:lpstr>Ⅱ-1. 동적계획법 (1/4)</vt:lpstr>
      <vt:lpstr>Ⅱ-1. 동적계획법 (2/4)</vt:lpstr>
      <vt:lpstr>Ⅱ-1. 동적계획법 (3/4)</vt:lpstr>
      <vt:lpstr>Ⅱ-1. 동적계획법 (3/4)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선중 김</cp:lastModifiedBy>
  <cp:revision>7864</cp:revision>
  <cp:lastPrinted>2025-07-14T07:44:34Z</cp:lastPrinted>
  <dcterms:created xsi:type="dcterms:W3CDTF">2011-12-28T05:39:44Z</dcterms:created>
  <dcterms:modified xsi:type="dcterms:W3CDTF">2025-11-02T00:11:42Z</dcterms:modified>
</cp:coreProperties>
</file>