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20"/>
  </p:notesMasterIdLst>
  <p:handoutMasterIdLst>
    <p:handoutMasterId r:id="rId21"/>
  </p:handoutMasterIdLst>
  <p:sldIdLst>
    <p:sldId id="5704" r:id="rId2"/>
    <p:sldId id="9021" r:id="rId3"/>
    <p:sldId id="8936" r:id="rId4"/>
    <p:sldId id="9771" r:id="rId5"/>
    <p:sldId id="9764" r:id="rId6"/>
    <p:sldId id="9765" r:id="rId7"/>
    <p:sldId id="9766" r:id="rId8"/>
    <p:sldId id="9767" r:id="rId9"/>
    <p:sldId id="9768" r:id="rId10"/>
    <p:sldId id="9769" r:id="rId11"/>
    <p:sldId id="9770" r:id="rId12"/>
    <p:sldId id="9760" r:id="rId13"/>
    <p:sldId id="9772" r:id="rId14"/>
    <p:sldId id="9762" r:id="rId15"/>
    <p:sldId id="9761" r:id="rId16"/>
    <p:sldId id="9725" r:id="rId17"/>
    <p:sldId id="9759" r:id="rId18"/>
    <p:sldId id="8796" r:id="rId19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2B775552-7DB0-4D4F-B871-D6FF3BB1E486}">
          <p14:sldIdLst>
            <p14:sldId id="5704"/>
          </p14:sldIdLst>
        </p14:section>
        <p14:section name="목차" id="{5E49B5C1-BFC6-4572-A539-731E4DEE6BFE}">
          <p14:sldIdLst>
            <p14:sldId id="9021"/>
          </p14:sldIdLst>
        </p14:section>
        <p14:section name="Ⅰ 강화학습 기초" id="{74337E82-EC53-47AA-AD9E-D01E03BC8C2B}">
          <p14:sldIdLst>
            <p14:sldId id="8936"/>
            <p14:sldId id="9771"/>
            <p14:sldId id="9764"/>
            <p14:sldId id="9765"/>
            <p14:sldId id="9766"/>
            <p14:sldId id="9767"/>
            <p14:sldId id="9768"/>
            <p14:sldId id="9769"/>
            <p14:sldId id="9770"/>
          </p14:sldIdLst>
        </p14:section>
        <p14:section name="Ⅱ 강화학습 알고리즘" id="{DAB419D3-0E42-42D9-B46C-1C3467039D6F}">
          <p14:sldIdLst>
            <p14:sldId id="9760"/>
            <p14:sldId id="9772"/>
            <p14:sldId id="9762"/>
            <p14:sldId id="9761"/>
            <p14:sldId id="9725"/>
            <p14:sldId id="9759"/>
            <p14:sldId id="87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59C"/>
    <a:srgbClr val="3072C2"/>
    <a:srgbClr val="FF8B8B"/>
    <a:srgbClr val="CECECE"/>
    <a:srgbClr val="2F2F2F"/>
    <a:srgbClr val="F38F15"/>
    <a:srgbClr val="0000FF"/>
    <a:srgbClr val="FFFFCC"/>
    <a:srgbClr val="325F96"/>
    <a:srgbClr val="EE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242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1278" y="114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3156" y="9428717"/>
            <a:ext cx="2942905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700" tIns="45347" rIns="90700" bIns="45347" anchor="b"/>
          <a:lstStyle/>
          <a:p>
            <a:pPr algn="r" defTabSz="905785"/>
            <a:fld id="{3C817677-1D2D-4299-AF74-336E1045B5D4}" type="slidenum"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defTabSz="905785"/>
              <a:t>1</a:t>
            </a:fld>
            <a:endParaRPr lang="en-US" altLang="ko-KR" sz="11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0725" y="746125"/>
            <a:ext cx="5370513" cy="371792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74" y="4713569"/>
            <a:ext cx="5433929" cy="4466988"/>
          </a:xfrm>
          <a:noFill/>
          <a:ln/>
        </p:spPr>
        <p:txBody>
          <a:bodyPr lIns="90700" tIns="45347" rIns="90700" bIns="45347"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8043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59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09D-5DA0-027C-5ECA-ABC67D31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FC4ED8-2073-9865-2208-1E4A6CDF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42AE8-8569-DA07-9035-54C68E17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52D55-69B8-7771-E657-731B899ED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748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156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/>
              <a:t>I. 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9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  <p:sldLayoutId id="2147483813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0951" y="1740473"/>
            <a:ext cx="9207078" cy="1216815"/>
          </a:xfrm>
        </p:spPr>
        <p:txBody>
          <a:bodyPr/>
          <a:lstStyle/>
          <a:p>
            <a:r>
              <a:rPr lang="ko-KR" altLang="en-US" dirty="0"/>
              <a:t>강화학습 세미나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43" y="4509119"/>
            <a:ext cx="3019307" cy="97027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29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 txBox="1">
            <a:spLocks/>
          </p:cNvSpPr>
          <p:nvPr/>
        </p:nvSpPr>
        <p:spPr>
          <a:xfrm>
            <a:off x="498029" y="248846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컴돋움" pitchFamily="18" charset="2"/>
              </a:rPr>
              <a:t>CONTENTS</a:t>
            </a:r>
            <a:endParaRPr lang="ko-KR" altLang="en-US" sz="2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한컴돋움" pitchFamily="18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70356-5398-4117-BE9B-872AFE7AE7C3}"/>
              </a:ext>
            </a:extLst>
          </p:cNvPr>
          <p:cNvSpPr/>
          <p:nvPr/>
        </p:nvSpPr>
        <p:spPr>
          <a:xfrm>
            <a:off x="3209061" y="2079688"/>
            <a:ext cx="3275256" cy="1990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기초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알고리즘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12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A6F44-18B5-18ED-5E11-8D8722A703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Ⅰ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기초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6EF7B-61A7-BDC4-6C6B-FF09DB80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finite MDP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가치함수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방정식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최적 방정식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76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8B6-A585-1D57-34D6-1E47C844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F47AB-A764-AECC-FE82-9C49A385F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)|1≤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|1≤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데이터셋 없이 에이전트가 환경과 상호작용하며 보상을 최대화하는 최적의 행동을 학습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  <a:blipFill>
                <a:blip r:embed="rId2"/>
                <a:stretch>
                  <a:fillRect l="-263" t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F6AC97F9-D139-557B-21F4-A5FC832B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3E2BB4-D9C6-0459-2E26-4428AD4A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102B02-B6AC-7183-1B4E-8689EF96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3" y="3290548"/>
            <a:ext cx="3807341" cy="30760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3CA3C4-9889-1842-4E84-F7E3DB73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470" y="3916090"/>
            <a:ext cx="4584974" cy="164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0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07BA-283E-1B91-1F7D-6B5295A5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E90782-8134-091A-7D2B-0F68BB2861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발전과정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473A56-48DF-84F6-412E-5202638C50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12967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행동심리학에서의 강화</a:t>
            </a:r>
            <a:r>
              <a:rPr lang="en-US" altLang="ko-KR" dirty="0">
                <a:latin typeface="+mn-ea"/>
              </a:rPr>
              <a:t>(reinforcement)</a:t>
            </a:r>
            <a:r>
              <a:rPr lang="ko-KR" altLang="en-US" dirty="0">
                <a:latin typeface="+mn-ea"/>
              </a:rPr>
              <a:t>의 개념 </a:t>
            </a:r>
            <a:r>
              <a:rPr lang="en-US" altLang="ko-KR" dirty="0">
                <a:latin typeface="+mn-ea"/>
              </a:rPr>
              <a:t>: 1930</a:t>
            </a:r>
            <a:r>
              <a:rPr lang="ko-KR" altLang="en-US" dirty="0">
                <a:latin typeface="+mn-ea"/>
              </a:rPr>
              <a:t>년대 초</a:t>
            </a:r>
            <a:r>
              <a:rPr lang="en-US" altLang="ko-KR" dirty="0">
                <a:latin typeface="+mn-ea"/>
              </a:rPr>
              <a:t>, B. F. Skinner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동적계획법</a:t>
            </a:r>
            <a:r>
              <a:rPr lang="en-US" altLang="ko-KR" dirty="0">
                <a:latin typeface="+mn-ea"/>
              </a:rPr>
              <a:t>(dynamic programming) : 1950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Bellman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시간차 학습 </a:t>
            </a:r>
            <a:r>
              <a:rPr lang="en-US" altLang="ko-KR" dirty="0">
                <a:latin typeface="+mn-ea"/>
              </a:rPr>
              <a:t>(temporal difference) : 1980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Sutton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Q-learning : 1989</a:t>
            </a:r>
            <a:r>
              <a:rPr lang="ko-KR" altLang="en-US" dirty="0">
                <a:latin typeface="+mn-ea"/>
              </a:rPr>
              <a:t>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DQN (Deep Q Learning) : 2010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DeepMind </a:t>
            </a:r>
            <a:r>
              <a:rPr lang="ko-KR" altLang="en-US" dirty="0">
                <a:latin typeface="+mn-ea"/>
              </a:rPr>
              <a:t>팀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>
              <a:latin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271C04-85E7-CE22-9A63-20924E4E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D44E9F7-53C1-31CC-FE41-90CD8D541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0949B3-4FFA-5C23-C099-53B7A297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84" y="3113317"/>
            <a:ext cx="3143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E941A-C89B-C7EA-4C4F-78DE181FDB37}"/>
              </a:ext>
            </a:extLst>
          </p:cNvPr>
          <p:cNvSpPr txBox="1"/>
          <p:nvPr/>
        </p:nvSpPr>
        <p:spPr>
          <a:xfrm>
            <a:off x="4887454" y="3659819"/>
            <a:ext cx="22701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※</a:t>
            </a:r>
            <a:r>
              <a:rPr lang="ko-KR" altLang="en-US" b="0" dirty="0">
                <a:latin typeface="+mn-ea"/>
                <a:ea typeface="+mn-ea"/>
              </a:rPr>
              <a:t>행동심리학에서의 </a:t>
            </a:r>
            <a:r>
              <a:rPr lang="en-US" altLang="ko-KR" b="0" dirty="0">
                <a:latin typeface="+mn-ea"/>
                <a:ea typeface="+mn-ea"/>
              </a:rPr>
              <a:t>‘</a:t>
            </a:r>
            <a:r>
              <a:rPr lang="ko-KR" altLang="en-US" b="0" dirty="0">
                <a:latin typeface="+mn-ea"/>
                <a:ea typeface="+mn-ea"/>
              </a:rPr>
              <a:t>강화</a:t>
            </a:r>
            <a:r>
              <a:rPr lang="en-US" altLang="ko-KR" b="0" dirty="0">
                <a:latin typeface="+mn-ea"/>
                <a:ea typeface="+mn-ea"/>
              </a:rPr>
              <a:t>’</a:t>
            </a: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84486-22FD-E8B3-0CDC-76CC23E65234}"/>
              </a:ext>
            </a:extLst>
          </p:cNvPr>
          <p:cNvSpPr/>
          <p:nvPr/>
        </p:nvSpPr>
        <p:spPr bwMode="auto">
          <a:xfrm>
            <a:off x="4953000" y="4069512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상자 안의 쥐는 버튼을 누르면 먹이를 얻음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C0C531-8932-BBB5-9603-E94422DCEBFC}"/>
              </a:ext>
            </a:extLst>
          </p:cNvPr>
          <p:cNvSpPr/>
          <p:nvPr/>
        </p:nvSpPr>
        <p:spPr bwMode="auto">
          <a:xfrm>
            <a:off x="4953000" y="5175156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쥐는 버튼을 누르는 것을 학습함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3535B47-5148-5C08-C909-2F4FB63DE0AB}"/>
              </a:ext>
            </a:extLst>
          </p:cNvPr>
          <p:cNvSpPr/>
          <p:nvPr/>
        </p:nvSpPr>
        <p:spPr bwMode="auto">
          <a:xfrm>
            <a:off x="6613860" y="4613926"/>
            <a:ext cx="362511" cy="481614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33B18-2CC4-35A2-2CA3-5D206006C7CF}"/>
              </a:ext>
            </a:extLst>
          </p:cNvPr>
          <p:cNvSpPr txBox="1"/>
          <p:nvPr/>
        </p:nvSpPr>
        <p:spPr>
          <a:xfrm>
            <a:off x="8744397" y="4287014"/>
            <a:ext cx="1200970" cy="98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환경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>
                <a:latin typeface="+mn-ea"/>
                <a:ea typeface="+mn-ea"/>
              </a:rPr>
              <a:t>상자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dirty="0">
                <a:latin typeface="+mn-ea"/>
                <a:ea typeface="+mn-ea"/>
              </a:rPr>
              <a:t>agent</a:t>
            </a:r>
            <a:r>
              <a:rPr lang="ko-KR" altLang="en-US" sz="1000" b="0" dirty="0">
                <a:latin typeface="+mn-ea"/>
                <a:ea typeface="+mn-ea"/>
              </a:rPr>
              <a:t> </a:t>
            </a:r>
            <a:r>
              <a:rPr lang="en-US" altLang="ko-KR" sz="1000" b="0" dirty="0">
                <a:latin typeface="+mn-ea"/>
                <a:ea typeface="+mn-ea"/>
              </a:rPr>
              <a:t>:</a:t>
            </a:r>
            <a:r>
              <a:rPr lang="ko-KR" altLang="en-US" sz="1000" b="0" dirty="0">
                <a:latin typeface="+mn-ea"/>
                <a:ea typeface="+mn-ea"/>
              </a:rPr>
              <a:t> 쥐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행동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 err="1">
                <a:latin typeface="+mn-ea"/>
                <a:ea typeface="+mn-ea"/>
              </a:rPr>
              <a:t>버튼누르기</a:t>
            </a:r>
            <a:endParaRPr lang="en-US" altLang="ko-KR" sz="10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dirty="0">
                <a:latin typeface="+mn-ea"/>
                <a:ea typeface="+mn-ea"/>
              </a:rPr>
              <a:t>보상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ko-KR" altLang="en-US" sz="1000" b="0" dirty="0">
                <a:latin typeface="+mn-ea"/>
                <a:ea typeface="+mn-ea"/>
              </a:rPr>
              <a:t>먹이</a:t>
            </a:r>
          </a:p>
        </p:txBody>
      </p:sp>
    </p:spTree>
    <p:extLst>
      <p:ext uri="{BB962C8B-B14F-4D97-AF65-F5344CB8AC3E}">
        <p14:creationId xmlns:p14="http://schemas.microsoft.com/office/powerpoint/2010/main" val="350597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9DA7-DCB0-3D6B-70AD-0A462457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DE3CE4-1AF9-F579-CF9B-BF4E1E8BF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기본 개념들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에이전트</a:t>
                </a:r>
                <a:r>
                  <a:rPr lang="en-US" altLang="ko-KR" dirty="0">
                    <a:latin typeface="+mn-ea"/>
                  </a:rPr>
                  <a:t>(agent) :</a:t>
                </a:r>
                <a:r>
                  <a:rPr lang="ko-KR" altLang="en-US" dirty="0">
                    <a:latin typeface="+mn-ea"/>
                  </a:rPr>
                  <a:t> 환경 속에서 행동을 하는 주체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환경 </a:t>
                </a:r>
                <a:r>
                  <a:rPr lang="en-US" altLang="ko-KR" dirty="0">
                    <a:latin typeface="+mn-ea"/>
                  </a:rPr>
                  <a:t>(environment) : agent</a:t>
                </a:r>
                <a:r>
                  <a:rPr lang="ko-KR" altLang="en-US" dirty="0">
                    <a:latin typeface="+mn-ea"/>
                  </a:rPr>
                  <a:t>를 둘러싸고 있는 주변 환경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상태 </a:t>
                </a:r>
                <a:r>
                  <a:rPr lang="en-US" altLang="ko-KR" dirty="0">
                    <a:latin typeface="+mn-ea"/>
                  </a:rPr>
                  <a:t>(state,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시점의 환경 정보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상황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 </a:t>
                </a:r>
                <a:r>
                  <a:rPr lang="en-US" altLang="ko-KR" dirty="0">
                    <a:latin typeface="+mn-ea"/>
                  </a:rPr>
                  <a:t>(action,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시점에 에이전트가 취하는 행위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선택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 </a:t>
                </a:r>
                <a:r>
                  <a:rPr lang="en-US" altLang="ko-KR" dirty="0">
                    <a:latin typeface="+mn-ea"/>
                  </a:rPr>
                  <a:t>(reward,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에이전트가 받는 피드백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점수</a:t>
                </a:r>
                <a:r>
                  <a:rPr lang="en-US" altLang="ko-KR" dirty="0">
                    <a:latin typeface="+mn-ea"/>
                  </a:rPr>
                  <a:t>)</a:t>
                </a:r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E8B740A-15F3-46E3-ED20-18B60ED5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  <a:r>
              <a:rPr lang="en-US" altLang="ko-KR" dirty="0"/>
              <a:t>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F5FD83-4BED-9A3E-E307-E1EE8DB19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478C8E-5E31-CF9E-D699-D43A48B2C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51" y="3575934"/>
            <a:ext cx="5668556" cy="19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9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520-3DB3-2F26-74D9-0C3780B5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49B9C-2D71-A8C0-7CA8-B2D972E30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Markov Decision Process (</a:t>
            </a:r>
            <a:r>
              <a:rPr lang="ko-KR" altLang="en-US" dirty="0" err="1"/>
              <a:t>마르코프</a:t>
            </a:r>
            <a:r>
              <a:rPr lang="ko-KR" altLang="en-US" dirty="0"/>
              <a:t> 의사결정 과정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MDP : </a:t>
                </a:r>
                <a:r>
                  <a:rPr lang="ko-KR" altLang="en-US" dirty="0">
                    <a:latin typeface="+mn-ea"/>
                  </a:rPr>
                  <a:t>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들의 나열</a:t>
                </a:r>
                <a:endParaRPr lang="en-US" altLang="ko-KR" b="1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trajectory(</a:t>
                </a:r>
                <a:r>
                  <a:rPr lang="ko-KR" altLang="en-US" dirty="0">
                    <a:latin typeface="+mn-ea"/>
                  </a:rPr>
                  <a:t>궤적</a:t>
                </a:r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각 확률변수가 특정 값에 지정된 상태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에피소드</a:t>
                </a:r>
                <a:r>
                  <a:rPr lang="en-US" altLang="ko-KR" dirty="0">
                    <a:latin typeface="+mn-ea"/>
                  </a:rPr>
                  <a:t>(episode) : </a:t>
                </a:r>
                <a:r>
                  <a:rPr lang="ko-KR" altLang="en-US" dirty="0">
                    <a:latin typeface="+mn-ea"/>
                  </a:rPr>
                  <a:t>종료상태</a:t>
                </a:r>
                <a:r>
                  <a:rPr lang="en-US" altLang="ko-KR" dirty="0">
                    <a:latin typeface="+mn-ea"/>
                  </a:rPr>
                  <a:t>(terminal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>
                    <a:latin typeface="+mn-ea"/>
                  </a:rPr>
                  <a:t>state)</a:t>
                </a:r>
                <a:r>
                  <a:rPr lang="ko-KR" altLang="en-US">
                    <a:latin typeface="+mn-ea"/>
                  </a:rPr>
                  <a:t>어느 </a:t>
                </a:r>
                <a:r>
                  <a:rPr lang="ko-KR" altLang="en-US" dirty="0" err="1">
                    <a:latin typeface="+mn-ea"/>
                  </a:rPr>
                  <a:t>시점엔가</a:t>
                </a:r>
                <a:r>
                  <a:rPr lang="ko-KR" altLang="en-US" dirty="0">
                    <a:latin typeface="+mn-ea"/>
                  </a:rPr>
                  <a:t> 종료되는 </a:t>
                </a:r>
                <a:r>
                  <a:rPr lang="en-US" altLang="ko-KR" dirty="0">
                    <a:latin typeface="+mn-ea"/>
                  </a:rPr>
                  <a:t>trajectory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Markov property (</a:t>
                </a:r>
                <a:r>
                  <a:rPr lang="ko-KR" altLang="en-US" dirty="0" err="1">
                    <a:latin typeface="+mn-ea"/>
                  </a:rPr>
                  <a:t>마르코프</a:t>
                </a:r>
                <a:r>
                  <a:rPr lang="ko-KR" altLang="en-US" dirty="0">
                    <a:latin typeface="+mn-ea"/>
                  </a:rPr>
                  <a:t> 성질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가 바로 이전의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에만 의존하는 상황을 가정함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fr-FR" altLang="ko-KR" sz="1200" dirty="0"/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09BE7F0-C467-9991-6EFA-97B0CEE6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(1/3)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0D0F9AE-229B-3CAB-181C-050D23D152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E0A89B-0A7F-AAD5-4099-8691E5435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56937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363250-B419-0EC7-822C-18E2EC0E24C0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217-AAE9-3A03-5A81-39EBE45F204E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DF2D2-D73D-28FC-8228-668A340F9118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92293-AD19-C048-DE57-D2C7576D5127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CB976-D6ED-06DE-C6B5-D8C49666CEE1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2DBC-325A-D0CE-80A5-449B22623521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E2F13-3A84-98E4-2FE4-BD30FFFACE14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9D7-527C-57E6-8E09-539EC8B7967E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3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E34335A8-F0C3-3B3D-ADDC-E5D0EAFDC0B7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5BE482A1-2509-B52C-B065-114E5C63DEEC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785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24BE-544D-2C37-3593-25BBC457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1C66B-122D-40C7-BE56-AAE858650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환경모델</a:t>
            </a:r>
            <a:r>
              <a:rPr lang="en-US" altLang="ko-KR" dirty="0"/>
              <a:t>(environment Model)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강화학습에서 환경이 어떻게 작동하는지 표현하는 모델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전이확률 </a:t>
                </a:r>
                <a:r>
                  <a:rPr lang="en-US" altLang="ko-KR" dirty="0">
                    <a:latin typeface="+mn-ea"/>
                  </a:rPr>
                  <a:t>(state transition probability)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를 취했을 때 다음 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와 보상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)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이 될 확률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’,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 i="1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또는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   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← 확률적 전이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(stochastic transition)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                                                                                                         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← 결정적 전이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(deterministic transition)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보상함수 </a:t>
                </a:r>
                <a:r>
                  <a:rPr lang="en-US" altLang="ko-KR" dirty="0">
                    <a:latin typeface="+mn-ea"/>
                  </a:rPr>
                  <a:t>(reward function)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를 했을 때 받는 보상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76187E36-27B1-4E25-F680-48501D66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B961DD8-75AE-6115-6D44-6DCD6764D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B70D66-AD4C-DA3B-424A-254679E0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21140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76A875-5A81-F164-76D9-1A0BE481DD3F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AA7C4-60CE-19AC-0555-1E61DCB0CD78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D1873-2DDD-DE03-15AD-829124B850A2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4C12A-7D25-4734-ED24-DC07A5EA176B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70607-144F-E3BC-AB7A-E87DE9D8F592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3869E-A4A3-9265-7B77-4D3D2E228732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860F7-A76B-C016-4F8E-8BEAA60A5972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6A0BF-74E2-9BA9-82E7-06C720FC7D53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129A1-643E-198D-A156-E041B3E71E04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D129A1-643E-198D-A156-E041B3E7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3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화살표: 위쪽 15">
            <a:extLst>
              <a:ext uri="{FF2B5EF4-FFF2-40B4-BE49-F238E27FC236}">
                <a16:creationId xmlns:a16="http://schemas.microsoft.com/office/drawing/2014/main" id="{B27A578A-3A11-1597-A871-27E65FA8A51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08420D8D-1B99-58B3-8619-F2C555C2A6E0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/>
              <p:nvPr/>
            </p:nvSpPr>
            <p:spPr>
              <a:xfrm>
                <a:off x="4457178" y="4318662"/>
                <a:ext cx="1979709" cy="1061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1,3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78" y="4318662"/>
                <a:ext cx="1979709" cy="1061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/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16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B565-3194-BFB2-4747-F8444DC9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A52DFA-2BEE-3FB4-5255-7B66A656A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목적 </a:t>
            </a:r>
            <a:r>
              <a:rPr lang="en-US" altLang="ko-KR" dirty="0"/>
              <a:t>: return</a:t>
            </a:r>
            <a:r>
              <a:rPr lang="ko-KR" altLang="en-US" dirty="0"/>
              <a:t>을 최대화하는 최적의 정책을 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return(</a:t>
                </a:r>
                <a:r>
                  <a:rPr lang="ko-KR" altLang="en-US" dirty="0">
                    <a:latin typeface="+mn-ea"/>
                  </a:rPr>
                  <a:t>누적보상합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시간에 따른 중요도를 고려한 보상들의 합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2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(≤1)</m:t>
                    </m:r>
                  </m:oMath>
                </a14:m>
                <a:r>
                  <a:rPr lang="en-US" sz="1200" dirty="0"/>
                  <a:t> : discount factor(</a:t>
                </a:r>
                <a:r>
                  <a:rPr lang="ko-KR" altLang="en-US" sz="1200" dirty="0" err="1"/>
                  <a:t>감가율</a:t>
                </a:r>
                <a:r>
                  <a:rPr lang="en-US" altLang="ko-KR" sz="1200" dirty="0"/>
                  <a:t>) /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인접한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사이의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점화식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정책</a:t>
                </a:r>
                <a:r>
                  <a:rPr lang="en-US" altLang="ko-KR" dirty="0">
                    <a:latin typeface="+mn-ea"/>
                  </a:rPr>
                  <a:t>(policy)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주어진 상태에 대한 행동을 결정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상태에 대한 행동의 확률분포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fr-FR" altLang="ko-KR" sz="1200" dirty="0"/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/>
                  <a:t>최적정책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return</a:t>
                </a:r>
                <a:r>
                  <a:rPr lang="ko-KR" altLang="en-US" sz="1200" dirty="0"/>
                  <a:t>을 최대화하는 정책</a:t>
                </a:r>
                <a:endParaRPr lang="fr-FR" altLang="ko-KR" sz="1200" dirty="0"/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8DDC290-85E1-C621-61CA-8E48903E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23F487D-BD34-F619-C195-460ECCBA98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273B1B1-7CD0-688D-DA80-276DFD3BA4EE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6B45E1-A170-CEA5-A7A0-3E12FF02AB1A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9F331-34D4-4DE0-6F59-8691EF947FA4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684F4-6717-F187-9FB2-710C0D64B5C6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D9226-D1DB-42E2-A9CD-607DB490845D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EA9C2-0C82-8F6F-BF19-2744997771D9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B1B1B-4C7B-77AD-651E-517ED4C01C19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69D24-29E0-ACF3-D886-A3C84452CC03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B11CF-9F9B-52AB-2B40-C35A67DA2F52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3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F4B42709-FA8B-36B6-84B8-A3842624620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0457D6C4-8623-9737-24E2-CE65504ACD05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FC18F03A-6639-53E5-39A5-ABFE152C38A2}"/>
              </a:ext>
            </a:extLst>
          </p:cNvPr>
          <p:cNvSpPr/>
          <p:nvPr/>
        </p:nvSpPr>
        <p:spPr>
          <a:xfrm rot="5400000">
            <a:off x="4382082" y="3563433"/>
            <a:ext cx="113503" cy="51490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AF75DF96-BECB-DBF6-A94B-5EB0BBDFB22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6931" y="3554750"/>
            <a:ext cx="113503" cy="482496"/>
          </a:xfrm>
          <a:prstGeom prst="bentConnector4">
            <a:avLst>
              <a:gd name="adj1" fmla="val -201404"/>
              <a:gd name="adj2" fmla="val 9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BC59E17-09C9-F8B8-A35F-92B0CA193238}"/>
              </a:ext>
            </a:extLst>
          </p:cNvPr>
          <p:cNvCxnSpPr>
            <a:cxnSpLocks/>
            <a:stCxn id="3" idx="1"/>
          </p:cNvCxnSpPr>
          <p:nvPr/>
        </p:nvCxnSpPr>
        <p:spPr>
          <a:xfrm rot="16200000" flipH="1">
            <a:off x="4769723" y="3433243"/>
            <a:ext cx="145367" cy="807149"/>
          </a:xfrm>
          <a:prstGeom prst="bentConnector4">
            <a:avLst>
              <a:gd name="adj1" fmla="val -224965"/>
              <a:gd name="adj2" fmla="val 99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/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blipFill>
                <a:blip r:embed="rId5"/>
                <a:stretch>
                  <a:fillRect t="-5882" r="-9804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/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blipFill>
                <a:blip r:embed="rId6"/>
                <a:stretch>
                  <a:fillRect t="-6000" r="-1132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원호 41">
            <a:extLst>
              <a:ext uri="{FF2B5EF4-FFF2-40B4-BE49-F238E27FC236}">
                <a16:creationId xmlns:a16="http://schemas.microsoft.com/office/drawing/2014/main" id="{0DE69BBF-8749-F25C-2364-F5AB00E290AE}"/>
              </a:ext>
            </a:extLst>
          </p:cNvPr>
          <p:cNvSpPr/>
          <p:nvPr/>
        </p:nvSpPr>
        <p:spPr>
          <a:xfrm>
            <a:off x="4235672" y="4363048"/>
            <a:ext cx="350061" cy="514168"/>
          </a:xfrm>
          <a:prstGeom prst="arc">
            <a:avLst>
              <a:gd name="adj1" fmla="val 1630318"/>
              <a:gd name="adj2" fmla="val 9256406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/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blipFill>
                <a:blip r:embed="rId7"/>
                <a:stretch>
                  <a:fillRect t="-6000" r="-1111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/>
              <p:nvPr/>
            </p:nvSpPr>
            <p:spPr>
              <a:xfrm>
                <a:off x="4036533" y="5232995"/>
                <a:ext cx="534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</m:oMath>
                </a14:m>
                <a:r>
                  <a:rPr lang="ko-KR" altLang="en-US" b="0" dirty="0">
                    <a:latin typeface="+mn-ea"/>
                    <a:ea typeface="+mn-ea"/>
                  </a:rPr>
                  <a:t>일 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𝐺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+0.9=0.5</m:t>
                    </m:r>
                  </m:oMath>
                </a14:m>
                <a:endParaRPr lang="en-US" altLang="ko-KR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533" y="5232995"/>
                <a:ext cx="5347874" cy="307777"/>
              </a:xfrm>
              <a:prstGeom prst="rect">
                <a:avLst/>
              </a:prstGeom>
              <a:blipFill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/>
              <p:nvPr/>
            </p:nvSpPr>
            <p:spPr>
              <a:xfrm>
                <a:off x="4235672" y="5869913"/>
                <a:ext cx="2155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=0.5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𝜋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/>
              </a:p>
              <a:p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72" y="5869913"/>
                <a:ext cx="2155270" cy="523220"/>
              </a:xfrm>
              <a:prstGeom prst="rect">
                <a:avLst/>
              </a:prstGeom>
              <a:blipFill>
                <a:blip r:embed="rId9"/>
                <a:stretch>
                  <a:fillRect t="-34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/>
              <p:nvPr/>
            </p:nvSpPr>
            <p:spPr>
              <a:xfrm>
                <a:off x="6390942" y="5869913"/>
                <a:ext cx="2155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=0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𝜋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3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1</m:t>
                      </m:r>
                    </m:oMath>
                  </m:oMathPara>
                </a14:m>
                <a:endParaRPr/>
              </a:p>
              <a:p>
                <a:endParaRPr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942" y="5869913"/>
                <a:ext cx="2155270" cy="523220"/>
              </a:xfrm>
              <a:prstGeom prst="rect">
                <a:avLst/>
              </a:prstGeom>
              <a:blipFill>
                <a:blip r:embed="rId10"/>
                <a:stretch>
                  <a:fillRect t="-34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7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572-E87E-243A-6664-536DB408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8D864-81C2-10E4-4C6F-DD85A4FE2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현재 상태에서의 가치를 나타내는 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(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정확하게는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주어진 상태에 대한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기댓값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 상태 및 행동에서의 가치를 나타내는 값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 및 행동에 대한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4A6679B-D3B4-4857-7A7C-47497EA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2EFC852-BF9F-2D7A-AE60-AE63B90CD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7676003-1741-5243-406D-FB774F63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433" y="1770887"/>
            <a:ext cx="4425792" cy="88516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FCF1BDC-DC4F-93EE-72CE-767049ABD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983" y="4066255"/>
            <a:ext cx="5530692" cy="72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5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16BD-5F0A-670C-B225-336DB48D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B9DDB9-5B8A-88FA-63E1-4E4DDF6A7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</a:rPr>
                  <a:t> 대한 가치함수가 만족시켜야 하는 식</a:t>
                </a: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latin typeface="+mn-ea"/>
                  </a:rPr>
                  <a:t>DP, TD(0) </a:t>
                </a:r>
                <a:r>
                  <a:rPr lang="ko-KR" altLang="en-US" sz="1200" dirty="0">
                    <a:latin typeface="+mn-ea"/>
                  </a:rPr>
                  <a:t>등 거의 모든 강화학습 알고리즘의 기본이 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 b="-35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F735B29-60D8-FB49-BCB0-C2357093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(2/2)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0D2A82-BFB9-4450-E376-D4968A39B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D8DDD8-E6F4-4D0B-AA3D-95061604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032840-16DA-3E9F-23D6-C52105027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79D2BE-67FF-44B6-B1A5-50851F252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669" y="2106068"/>
            <a:ext cx="4139006" cy="16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7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365-C184-AFCE-2600-6B0D7B9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753AF4-85ED-B71F-C79D-E9812AF4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알고리즘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30211-7DDA-F99E-C57E-EB4454D06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동적계획법 </a:t>
            </a:r>
            <a:r>
              <a:rPr lang="en-US" altLang="ko-KR" sz="1800" dirty="0">
                <a:latin typeface="+mn-ea"/>
                <a:ea typeface="+mn-ea"/>
              </a:rPr>
              <a:t>(dynamic programming)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GPI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Monte Carlo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TD(0)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Q-learning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DQN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continuous action </a:t>
            </a:r>
            <a:r>
              <a:rPr lang="ko-KR" altLang="en-US" sz="1800" dirty="0">
                <a:latin typeface="+mn-ea"/>
                <a:ea typeface="+mn-ea"/>
              </a:rPr>
              <a:t>문제 </a:t>
            </a:r>
            <a:r>
              <a:rPr lang="en-US" altLang="ko-KR" sz="1800" dirty="0">
                <a:latin typeface="+mn-ea"/>
                <a:ea typeface="+mn-ea"/>
              </a:rPr>
              <a:t>: REINFORCE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DDPG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47074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A51B-BC13-160D-9902-AB8F2774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4A0AE0-96ED-0298-44F2-3E5710223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96E60C1F-A063-E72C-C67C-4D813CAE00C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96E60C1F-A063-E72C-C67C-4D813CAE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A9A3113E-A8B6-B125-71B8-57048ECF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(dynamic programming)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0E59072-516E-BB04-BE02-18322A9FE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225154-0F40-B8F9-118F-CEAEE05D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1B83E5-F8BC-52D7-B4E3-6665B30BC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D0E-9AE6-3969-96E1-CD85002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C0B9D-F507-B4F9-735B-E4F4E13D2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D1DD2-CD92-24C7-B8D5-6B260F3320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offline </a:t>
            </a: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weighted BC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TD3BC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 half-cheetah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</a:t>
            </a:r>
            <a:r>
              <a:rPr lang="ko-KR" altLang="en-US" sz="1800" dirty="0">
                <a:latin typeface="+mn-ea"/>
                <a:ea typeface="+mn-ea"/>
              </a:rPr>
              <a:t> 서부발전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9C861-04FC-494C-6BF7-CDF8B8EC7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B9A01-0D2C-6077-B6EA-ABDB0CDA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96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4C202D-2764-270B-2BB9-AEAAC6C6C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407399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9F2-45C3-4E6A-9DCD-C1DE302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65EBB-89E7-BBB6-6B98-DDC5F3CD2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126125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103333</TotalTime>
  <Words>1124</Words>
  <Application>Microsoft Office PowerPoint</Application>
  <PresentationFormat>A4 용지(210x297mm)</PresentationFormat>
  <Paragraphs>276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Ⅰ-1. 강화학습 개요</vt:lpstr>
      <vt:lpstr>Ⅰ-1. 강화학습 개요 (2/3)</vt:lpstr>
      <vt:lpstr>Ⅰ-1. 강화학습 개요 (3/3)</vt:lpstr>
      <vt:lpstr>Ⅰ-2. Markov Decision Process (1/3)</vt:lpstr>
      <vt:lpstr>Ⅰ-2. Markov Decision Process (2/3)</vt:lpstr>
      <vt:lpstr>Ⅰ-2. Markov Decision Process (3/3)</vt:lpstr>
      <vt:lpstr>Ⅰ-3. 가치함수와 벨만방정식 (1/2)</vt:lpstr>
      <vt:lpstr>Ⅰ-3. 가치함수와 벨만방정식 (2/2)</vt:lpstr>
      <vt:lpstr>PowerPoint 프레젠테이션</vt:lpstr>
      <vt:lpstr>Ⅱ-1. 동적계획법 (dynamic programming)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7551</cp:revision>
  <cp:lastPrinted>2025-07-14T07:44:34Z</cp:lastPrinted>
  <dcterms:created xsi:type="dcterms:W3CDTF">2011-12-28T05:39:44Z</dcterms:created>
  <dcterms:modified xsi:type="dcterms:W3CDTF">2025-10-31T03:55:29Z</dcterms:modified>
</cp:coreProperties>
</file>