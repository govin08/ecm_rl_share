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9"/>
  </p:notesMasterIdLst>
  <p:handoutMasterIdLst>
    <p:handoutMasterId r:id="rId10"/>
  </p:handoutMasterIdLst>
  <p:sldIdLst>
    <p:sldId id="5704" r:id="rId2"/>
    <p:sldId id="9714" r:id="rId3"/>
    <p:sldId id="9717" r:id="rId4"/>
    <p:sldId id="9716" r:id="rId5"/>
    <p:sldId id="9718" r:id="rId6"/>
    <p:sldId id="8813" r:id="rId7"/>
    <p:sldId id="8796" r:id="rId8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38F15"/>
    <a:srgbClr val="3072C2"/>
    <a:srgbClr val="FFFFCC"/>
    <a:srgbClr val="31859C"/>
    <a:srgbClr val="325F96"/>
    <a:srgbClr val="EE541E"/>
    <a:srgbClr val="A6A6A6"/>
    <a:srgbClr val="00FF00"/>
    <a:srgbClr val="31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6242" autoAdjust="0"/>
  </p:normalViewPr>
  <p:slideViewPr>
    <p:cSldViewPr snapToGrid="0" snapToObjects="1" showGuides="1">
      <p:cViewPr varScale="1">
        <p:scale>
          <a:sx n="78" d="100"/>
          <a:sy n="78" d="100"/>
        </p:scale>
        <p:origin x="1325" y="67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8CB6-F189-A88F-F9BB-3C30C751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43791-7E64-4922-208B-D02E91071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6328C-731B-0047-4028-17446AB06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171D79-EEBD-B32B-EE1F-787E17B4F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9570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45636" y="1740473"/>
            <a:ext cx="6814729" cy="1216815"/>
          </a:xfrm>
        </p:spPr>
        <p:txBody>
          <a:bodyPr/>
          <a:lstStyle/>
          <a:p>
            <a:r>
              <a:rPr lang="en-US" altLang="ko-KR" dirty="0"/>
              <a:t>Q-learning (grid</a:t>
            </a:r>
            <a:r>
              <a:rPr lang="ko-KR" altLang="en-US" dirty="0"/>
              <a:t> </a:t>
            </a:r>
            <a:r>
              <a:rPr lang="en-US" altLang="ko-KR" dirty="0"/>
              <a:t>world)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22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683B-B27B-FC32-B7FC-D23A3717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C368F94-C493-566A-D6C2-C5C04F55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(1/4)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A6A61A-EADE-3654-F03F-5AC5F62C8D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4B12EA-A6A5-9FBB-091A-2058BC554E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Q-learning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A20DF5-4514-2944-65F1-A208F1F841C7}"/>
              </a:ext>
            </a:extLst>
          </p:cNvPr>
          <p:cNvGrpSpPr/>
          <p:nvPr/>
        </p:nvGrpSpPr>
        <p:grpSpPr>
          <a:xfrm>
            <a:off x="1636127" y="2969642"/>
            <a:ext cx="5641550" cy="2312925"/>
            <a:chOff x="1636127" y="2535537"/>
            <a:chExt cx="5641550" cy="231292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1FFDD0-13B9-D434-9AAB-ABBB84D0F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6127" y="2535537"/>
              <a:ext cx="5641550" cy="2312925"/>
            </a:xfrm>
            <a:prstGeom prst="rect">
              <a:avLst/>
            </a:prstGeom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9C7483F-B3AE-B2EC-768F-F2981141B5BD}"/>
                </a:ext>
              </a:extLst>
            </p:cNvPr>
            <p:cNvCxnSpPr/>
            <p:nvPr/>
          </p:nvCxnSpPr>
          <p:spPr>
            <a:xfrm>
              <a:off x="2188152" y="4395652"/>
              <a:ext cx="36195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818D8E4-157C-909C-A505-051FAF6E4676}"/>
              </a:ext>
            </a:extLst>
          </p:cNvPr>
          <p:cNvCxnSpPr>
            <a:cxnSpLocks/>
          </p:cNvCxnSpPr>
          <p:nvPr/>
        </p:nvCxnSpPr>
        <p:spPr>
          <a:xfrm>
            <a:off x="752475" y="2623600"/>
            <a:ext cx="1447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FBACE1F-49F7-985C-3EEC-9FBB5A5CF30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b="1" dirty="0"/>
                  <a:t>"</a:t>
                </a:r>
                <a:r>
                  <a:rPr lang="ko-KR" altLang="en-US" b="1" dirty="0"/>
                  <a:t>각 상황에서 어떤 행동이 가장 </a:t>
                </a:r>
                <a:r>
                  <a:rPr lang="ko-KR" altLang="en-US" b="1" dirty="0" err="1"/>
                  <a:t>좋은지</a:t>
                </a:r>
                <a:r>
                  <a:rPr lang="ko-KR" altLang="en-US" b="1" dirty="0"/>
                  <a:t> 점수표를 만들어 나가자</a:t>
                </a:r>
                <a:r>
                  <a:rPr lang="en-US" altLang="ko-KR" b="1" dirty="0"/>
                  <a:t>"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행동가치함수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dirty="0">
                    <a:latin typeface="+mn-ea"/>
                  </a:rPr>
                  <a:t> </a:t>
                </a:r>
                <a:r>
                  <a:rPr lang="ko-KR" altLang="en-US" dirty="0">
                    <a:latin typeface="+mn-ea"/>
                  </a:rPr>
                  <a:t>표로 만들어 지속적으로 업데이트하는 방식</a:t>
                </a:r>
                <a:endParaRPr lang="en-US" altLang="ko-KR" dirty="0"/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표의 크기는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</a:rPr>
                      <m:t>×|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ko-KR" altLang="en-US" sz="1400" dirty="0"/>
                  <a:t>형식</a:t>
                </a:r>
                <a:endParaRPr lang="en-US" altLang="ko-KR" sz="1400" dirty="0"/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따라서 </a:t>
                </a:r>
                <a:r>
                  <a:rPr lang="en-US" altLang="ko-KR" sz="1400" dirty="0"/>
                  <a:t>Q-learning</a:t>
                </a:r>
                <a:r>
                  <a:rPr lang="ko-KR" altLang="en-US" sz="1400" dirty="0"/>
                  <a:t>은 </a:t>
                </a:r>
                <a:r>
                  <a:rPr lang="en-US" altLang="ko-KR" sz="1400" dirty="0"/>
                  <a:t>state space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action space</a:t>
                </a:r>
                <a:r>
                  <a:rPr lang="ko-KR" altLang="en-US" sz="1400" dirty="0"/>
                  <a:t>가 유한한 경우에만 사용 가능</a:t>
                </a:r>
                <a:endParaRPr lang="en-US" altLang="ko-KR" sz="1400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학습과정</a:t>
                </a:r>
                <a:endParaRPr lang="en-US" altLang="ko-KR" dirty="0"/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400" dirty="0"/>
                  <a:t>greedy </a:t>
                </a:r>
                <a:r>
                  <a:rPr lang="ko-KR" altLang="en-US" sz="1400" dirty="0"/>
                  <a:t>방식을 통한 행동선택 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다음 상태는 행동에 의해 결정됨</a:t>
                </a:r>
                <a:r>
                  <a:rPr lang="en-US" altLang="ko-KR" sz="1400" dirty="0"/>
                  <a:t>)</a:t>
                </a:r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Q table </a:t>
                </a:r>
                <a:r>
                  <a:rPr lang="ko-KR" altLang="en-US" sz="1400" dirty="0"/>
                  <a:t>업데이트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FBACE1F-49F7-985C-3EEC-9FBB5A5CF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263" t="-2564" b="-15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0424ED-F71F-4908-7338-F68BB7AAB36E}"/>
                  </a:ext>
                </a:extLst>
              </p:cNvPr>
              <p:cNvSpPr txBox="1"/>
              <p:nvPr/>
            </p:nvSpPr>
            <p:spPr>
              <a:xfrm>
                <a:off x="2577176" y="5309887"/>
                <a:ext cx="391668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b="0" dirty="0">
                    <a:latin typeface="+mn-ea"/>
                    <a:ea typeface="+mn-ea"/>
                  </a:rPr>
                  <a:t>※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Q table </a:t>
                </a:r>
                <a:r>
                  <a:rPr lang="ko-KR" altLang="en-US" sz="1100" b="0" dirty="0">
                    <a:latin typeface="+mn-ea"/>
                    <a:ea typeface="+mn-ea"/>
                  </a:rPr>
                  <a:t>업데이트 상세</a:t>
                </a:r>
                <a:endParaRPr lang="en-US" altLang="ko-KR" sz="1100" b="0" dirty="0">
                  <a:latin typeface="+mn-ea"/>
                  <a:ea typeface="+mn-ea"/>
                </a:endParaRPr>
              </a:p>
              <a:p>
                <a:r>
                  <a:rPr lang="ko-KR" altLang="en-US" sz="1100" b="0" dirty="0" err="1">
                    <a:latin typeface="+mn-ea"/>
                    <a:ea typeface="+mn-ea"/>
                  </a:rPr>
                  <a:t>현재값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𝑄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𝑆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𝐴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endParaRPr lang="en-US" altLang="ko-KR" sz="1100" b="0" dirty="0">
                  <a:latin typeface="+mn-ea"/>
                  <a:ea typeface="+mn-ea"/>
                </a:endParaRPr>
              </a:p>
              <a:p>
                <a:r>
                  <a:rPr lang="ko-KR" altLang="en-US" sz="1100" b="0" dirty="0" err="1">
                    <a:latin typeface="+mn-ea"/>
                    <a:ea typeface="+mn-ea"/>
                  </a:rPr>
                  <a:t>목표값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𝑅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func>
                      <m:funcPr>
                        <m:ctrlP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𝑄</m:t>
                        </m:r>
                      </m:e>
                    </m:func>
                    <m:d>
                      <m:dPr>
                        <m:ctrlP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</m:d>
                  </m:oMath>
                </a14:m>
                <a:r>
                  <a:rPr lang="ko-KR" altLang="en-US" sz="1100" b="0" dirty="0">
                    <a:latin typeface="+mn-ea"/>
                    <a:ea typeface="+mn-ea"/>
                  </a:rPr>
                  <a:t>  ←</a:t>
                </a:r>
                <a:r>
                  <a:rPr lang="en-US" altLang="ko-KR" sz="1100" b="0" dirty="0">
                    <a:latin typeface="+mn-ea"/>
                    <a:ea typeface="+mn-ea"/>
                  </a:rPr>
                  <a:t> Bellman optimal equation</a:t>
                </a:r>
              </a:p>
              <a:p>
                <a:r>
                  <a:rPr lang="ko-KR" altLang="en-US" sz="1100" b="0" dirty="0">
                    <a:latin typeface="+mn-ea"/>
                    <a:ea typeface="+mn-ea"/>
                  </a:rPr>
                  <a:t>→</a:t>
                </a:r>
                <a:r>
                  <a:rPr lang="en-US" altLang="ko-KR" sz="1100" b="0" dirty="0">
                    <a:latin typeface="+mn-ea"/>
                    <a:ea typeface="+mn-ea"/>
                  </a:rPr>
                  <a:t> </a:t>
                </a:r>
                <a:r>
                  <a:rPr lang="ko-KR" altLang="en-US" sz="1100" b="0" dirty="0" err="1">
                    <a:latin typeface="+mn-ea"/>
                    <a:ea typeface="+mn-ea"/>
                  </a:rPr>
                  <a:t>현재값에서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ko-KR" altLang="en-US" sz="1100" b="0" dirty="0" err="1">
                    <a:latin typeface="+mn-ea"/>
                    <a:ea typeface="+mn-ea"/>
                  </a:rPr>
                  <a:t>목표값을</a:t>
                </a:r>
                <a:r>
                  <a:rPr lang="ko-KR" altLang="en-US" sz="1100" b="0" dirty="0">
                    <a:latin typeface="+mn-ea"/>
                    <a:ea typeface="+mn-ea"/>
                  </a:rPr>
                  <a:t> 향해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α</m:t>
                    </m:r>
                  </m:oMath>
                </a14:m>
                <a:r>
                  <a:rPr lang="ko-KR" altLang="en-US" sz="1100" b="0" dirty="0">
                    <a:latin typeface="+mn-ea"/>
                    <a:ea typeface="+mn-ea"/>
                  </a:rPr>
                  <a:t>만큼의 </a:t>
                </a:r>
                <a:r>
                  <a:rPr lang="ko-KR" altLang="en-US" sz="1100" b="0" dirty="0" err="1">
                    <a:latin typeface="+mn-ea"/>
                    <a:ea typeface="+mn-ea"/>
                  </a:rPr>
                  <a:t>학습률로</a:t>
                </a:r>
                <a:r>
                  <a:rPr lang="ko-KR" altLang="en-US" sz="1100" b="0" dirty="0">
                    <a:latin typeface="+mn-ea"/>
                    <a:ea typeface="+mn-ea"/>
                  </a:rPr>
                  <a:t> 업데이트함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0424ED-F71F-4908-7338-F68BB7AAB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176" y="5309887"/>
                <a:ext cx="3916680" cy="769441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6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C3E3-05EA-2505-A387-4FFFDE94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728D05-8898-1DEB-02DC-40192228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(2/4)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ECC05-FE6A-A14C-F4A6-E1D964BB65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FBC1E-ECD0-ADF6-5157-09FF59ADE0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 x 5 grid world </a:t>
            </a:r>
            <a:r>
              <a:rPr lang="ko-KR" altLang="en-US" dirty="0"/>
              <a:t>환경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967F7EE3-68A4-9088-4987-77A46C1582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6"/>
            <a:ext cx="9270641" cy="103270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시작점</a:t>
            </a:r>
            <a:r>
              <a:rPr lang="en-US" altLang="ko-KR" dirty="0">
                <a:latin typeface="+mn-ea"/>
              </a:rPr>
              <a:t>(0,0),</a:t>
            </a:r>
            <a:r>
              <a:rPr lang="ko-KR" altLang="en-US" dirty="0">
                <a:latin typeface="+mn-ea"/>
              </a:rPr>
              <a:t> 도착점</a:t>
            </a:r>
            <a:r>
              <a:rPr lang="en-US" altLang="ko-KR" dirty="0">
                <a:latin typeface="+mn-ea"/>
              </a:rPr>
              <a:t>(4,4), 3</a:t>
            </a:r>
            <a:r>
              <a:rPr lang="ko-KR" altLang="en-US" dirty="0">
                <a:latin typeface="+mn-ea"/>
              </a:rPr>
              <a:t>개의 함정 설정</a:t>
            </a:r>
            <a:endParaRPr lang="en-US" altLang="ko-KR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보상함수 설정</a:t>
            </a:r>
            <a:endParaRPr lang="en-US" altLang="ko-KR" dirty="0"/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ko-KR" altLang="en-US" sz="1400" dirty="0"/>
              <a:t>일반 이동비용 </a:t>
            </a:r>
            <a:r>
              <a:rPr lang="en-US" altLang="ko-KR" sz="1400" dirty="0"/>
              <a:t>-0.1, </a:t>
            </a:r>
            <a:r>
              <a:rPr lang="ko-KR" altLang="en-US" sz="1400" dirty="0" err="1"/>
              <a:t>목표도달시</a:t>
            </a:r>
            <a:r>
              <a:rPr lang="ko-KR" altLang="en-US" sz="1400" dirty="0"/>
              <a:t> </a:t>
            </a:r>
            <a:r>
              <a:rPr lang="en-US" altLang="ko-KR" sz="1400" dirty="0"/>
              <a:t>+10(</a:t>
            </a:r>
            <a:r>
              <a:rPr lang="ko-KR" altLang="en-US" sz="1400" dirty="0"/>
              <a:t>종료</a:t>
            </a:r>
            <a:r>
              <a:rPr lang="en-US" altLang="ko-KR" sz="1400" dirty="0"/>
              <a:t>), </a:t>
            </a:r>
            <a:r>
              <a:rPr lang="ko-KR" altLang="en-US" sz="1400" dirty="0"/>
              <a:t>함정에 </a:t>
            </a:r>
            <a:r>
              <a:rPr lang="ko-KR" altLang="en-US" sz="1400" dirty="0" err="1"/>
              <a:t>빠질시</a:t>
            </a:r>
            <a:r>
              <a:rPr lang="ko-KR" altLang="en-US" sz="1400" dirty="0"/>
              <a:t> </a:t>
            </a:r>
            <a:r>
              <a:rPr lang="en-US" altLang="ko-KR" sz="1400" dirty="0"/>
              <a:t>-5(</a:t>
            </a:r>
            <a:r>
              <a:rPr lang="ko-KR" altLang="en-US" sz="1400" dirty="0"/>
              <a:t>종료</a:t>
            </a:r>
            <a:r>
              <a:rPr lang="en-US" altLang="ko-KR" sz="1400" dirty="0"/>
              <a:t>)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ED285393-F597-5195-7F03-34374028B4D3}"/>
              </a:ext>
            </a:extLst>
          </p:cNvPr>
          <p:cNvSpPr txBox="1">
            <a:spLocks/>
          </p:cNvSpPr>
          <p:nvPr/>
        </p:nvSpPr>
        <p:spPr>
          <a:xfrm>
            <a:off x="209708" y="4041412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dirty="0"/>
              <a:t>학습과정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41319EFA-1611-F16F-5E9C-CAB0D9BF1502}"/>
              </a:ext>
            </a:extLst>
          </p:cNvPr>
          <p:cNvSpPr txBox="1">
            <a:spLocks/>
          </p:cNvSpPr>
          <p:nvPr/>
        </p:nvSpPr>
        <p:spPr>
          <a:xfrm>
            <a:off x="362309" y="4391180"/>
            <a:ext cx="5701125" cy="1032702"/>
          </a:xfrm>
          <a:prstGeom prst="rect">
            <a:avLst/>
          </a:prstGeom>
        </p:spPr>
        <p:txBody>
          <a:bodyPr lIns="72000" tIns="3600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0" lang="en-US" altLang="ko-KR" b="0" dirty="0">
                <a:latin typeface="+mn-ea"/>
              </a:rPr>
              <a:t>1000</a:t>
            </a:r>
            <a:r>
              <a:rPr kumimoji="0" lang="ko-KR" altLang="en-US" b="0" dirty="0">
                <a:latin typeface="+mn-ea"/>
              </a:rPr>
              <a:t>번의 에피소드</a:t>
            </a:r>
            <a:r>
              <a:rPr kumimoji="0" lang="en-US" altLang="ko-KR" b="0" dirty="0">
                <a:latin typeface="+mn-ea"/>
              </a:rPr>
              <a:t>, </a:t>
            </a:r>
            <a:r>
              <a:rPr kumimoji="0" lang="ko-KR" altLang="en-US" b="0" dirty="0">
                <a:latin typeface="+mn-ea"/>
              </a:rPr>
              <a:t>각 에피소드마다 최대 </a:t>
            </a:r>
            <a:r>
              <a:rPr kumimoji="0" lang="en-US" altLang="ko-KR" b="0" dirty="0">
                <a:latin typeface="+mn-ea"/>
              </a:rPr>
              <a:t>100</a:t>
            </a:r>
            <a:r>
              <a:rPr kumimoji="0" lang="ko-KR" altLang="en-US" b="0" dirty="0">
                <a:latin typeface="+mn-ea"/>
              </a:rPr>
              <a:t>번의 </a:t>
            </a:r>
            <a:r>
              <a:rPr kumimoji="0" lang="en-US" altLang="ko-KR" b="0" dirty="0">
                <a:latin typeface="+mn-ea"/>
              </a:rPr>
              <a:t>step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0" lang="ko-KR" altLang="en-US" b="0" dirty="0"/>
              <a:t>각</a:t>
            </a:r>
            <a:r>
              <a:rPr kumimoji="0" lang="en-US" altLang="ko-KR" b="0" dirty="0"/>
              <a:t> step</a:t>
            </a:r>
            <a:r>
              <a:rPr kumimoji="0" lang="ko-KR" altLang="en-US" b="0" dirty="0"/>
              <a:t>마다 </a:t>
            </a:r>
            <a:r>
              <a:rPr kumimoji="0" lang="en-US" altLang="ko-KR" b="0" dirty="0"/>
              <a:t>Q-table </a:t>
            </a:r>
            <a:r>
              <a:rPr kumimoji="0" lang="ko-KR" altLang="en-US" b="0" dirty="0"/>
              <a:t>업데이트</a:t>
            </a:r>
            <a:endParaRPr kumimoji="0" lang="en-US" altLang="ko-KR" b="0" dirty="0"/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kumimoji="0" lang="ko-KR" altLang="en-US" sz="1400" b="0" dirty="0"/>
              <a:t>오른쪽 그림은 </a:t>
            </a:r>
            <a:r>
              <a:rPr kumimoji="0" lang="en-US" altLang="ko-KR" sz="1400" b="0" dirty="0"/>
              <a:t>10</a:t>
            </a:r>
            <a:r>
              <a:rPr kumimoji="0" lang="ko-KR" altLang="en-US" sz="1400" b="0" dirty="0"/>
              <a:t>번의 </a:t>
            </a:r>
            <a:r>
              <a:rPr kumimoji="0" lang="en-US" altLang="ko-KR" sz="1400" b="0" dirty="0"/>
              <a:t>step</a:t>
            </a:r>
            <a:r>
              <a:rPr kumimoji="0" lang="ko-KR" altLang="en-US" sz="1400" b="0" dirty="0"/>
              <a:t>마다 </a:t>
            </a:r>
            <a:r>
              <a:rPr kumimoji="0" lang="en-US" altLang="ko-KR" sz="1400" b="0" dirty="0"/>
              <a:t>Q-table</a:t>
            </a:r>
            <a:r>
              <a:rPr kumimoji="0" lang="ko-KR" altLang="en-US" sz="1400" b="0" dirty="0"/>
              <a:t>의</a:t>
            </a:r>
            <a:r>
              <a:rPr kumimoji="0" lang="en-US" altLang="ko-KR" sz="1400" b="0" dirty="0"/>
              <a:t> </a:t>
            </a:r>
            <a:r>
              <a:rPr kumimoji="0" lang="ko-KR" altLang="en-US" sz="1400" b="0" dirty="0"/>
              <a:t>변화를 표현</a:t>
            </a:r>
            <a:endParaRPr kumimoji="0" lang="en-US" altLang="ko-KR" sz="1400" b="0" dirty="0"/>
          </a:p>
        </p:txBody>
      </p:sp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F6CD54-0486-88B2-FDC1-BD9EE50C8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836" y="772913"/>
            <a:ext cx="2856914" cy="55823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711767-CDA0-91E9-6A78-46AC5008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20" y="1902060"/>
            <a:ext cx="3524742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0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13E4B-2B6A-E858-ECD0-50F2650E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67ADFD-1239-C25F-8FF9-7C067334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(3/4)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63E32E-FA9C-1873-4FAF-E14060718A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7494C275-3F07-76D0-A955-12B767E23F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ko-KR" b="0" dirty="0">
                    <a:latin typeface="+mn-ea"/>
                  </a:rPr>
                  <a:t>(1) </a:t>
                </a:r>
                <a:r>
                  <a:rPr kumimoji="0" lang="ko-KR" altLang="en-US" b="0" dirty="0">
                    <a:latin typeface="+mn-ea"/>
                  </a:rPr>
                  <a:t>환경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함정을 우상단에 몰리도록 배치 </a:t>
                </a:r>
                <a:r>
                  <a:rPr lang="en-US" altLang="ko-KR" b="0" dirty="0"/>
                  <a:t>(0, 4), (1, 3), (2, 2)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>
                    <a:latin typeface="+mn-ea"/>
                  </a:rPr>
                  <a:t>(2) </a:t>
                </a:r>
                <a:r>
                  <a:rPr kumimoji="0" lang="ko-KR" altLang="en-US" b="0" dirty="0">
                    <a:latin typeface="+mn-ea"/>
                  </a:rPr>
                  <a:t>학습 결과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대부분</a:t>
                </a:r>
                <a:r>
                  <a:rPr kumimoji="0" lang="en-US" altLang="ko-KR" b="0" dirty="0">
                    <a:latin typeface="+mn-ea"/>
                  </a:rPr>
                  <a:t> 8</a:t>
                </a:r>
                <a:r>
                  <a:rPr kumimoji="0" lang="ko-KR" altLang="en-US" b="0" dirty="0" err="1">
                    <a:latin typeface="+mn-ea"/>
                  </a:rPr>
                  <a:t>번만에</a:t>
                </a:r>
                <a:r>
                  <a:rPr kumimoji="0" lang="ko-KR" altLang="en-US" b="0" dirty="0">
                    <a:latin typeface="+mn-ea"/>
                  </a:rPr>
                  <a:t> 도착지에 이동하도록 성공적으로 학습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/>
                  <a:t>(3) </a:t>
                </a:r>
                <a:r>
                  <a:rPr kumimoji="0" lang="ko-KR" altLang="en-US" b="0" dirty="0"/>
                  <a:t>학습된 </a:t>
                </a:r>
                <a:r>
                  <a:rPr kumimoji="0" lang="en-US" altLang="ko-KR" b="0" dirty="0"/>
                  <a:t>Q table : 25 x 4 table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altLang="ko-KR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kumimoji="0" lang="en-US" altLang="ko-KR" b="0" i="0" smtClean="0">
                        <a:latin typeface="Cambria Math" panose="02040503050406030204" pitchFamily="18" charset="0"/>
                      </a:rPr>
                      <m:t>=25, 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ko-KR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kumimoji="0" lang="en-US" altLang="ko-KR" b="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0" lang="en-US" altLang="ko-KR" b="0" dirty="0"/>
                  <a:t>)</a:t>
                </a:r>
              </a:p>
              <a:p>
                <a:r>
                  <a:rPr kumimoji="0" lang="en-US" altLang="ko-KR" b="0" dirty="0"/>
                  <a:t>(4) </a:t>
                </a:r>
                <a:r>
                  <a:rPr kumimoji="0" lang="ko-KR" altLang="en-US" sz="1400" b="0" dirty="0"/>
                  <a:t>위치별 </a:t>
                </a:r>
                <a:r>
                  <a:rPr kumimoji="0" lang="en-US" altLang="ko-KR" sz="1400" b="0" dirty="0"/>
                  <a:t>Q</a:t>
                </a:r>
                <a:r>
                  <a:rPr kumimoji="0" lang="ko-KR" altLang="en-US" sz="1400" b="0" dirty="0"/>
                  <a:t>값 평균 계산</a:t>
                </a:r>
                <a:endParaRPr kumimoji="0" lang="en-US" altLang="ko-KR" sz="1400" b="0" dirty="0"/>
              </a:p>
            </p:txBody>
          </p:sp>
        </mc:Choice>
        <mc:Fallback xmlns=""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7494C275-3F07-76D0-A955-12B767E23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  <a:blipFill>
                <a:blip r:embed="rId4"/>
                <a:stretch>
                  <a:fillRect l="-394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B69454B-41D8-F7C5-B22C-B5F5922F48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구현 예시</a:t>
            </a:r>
            <a:r>
              <a:rPr lang="en-US" altLang="ko-KR" dirty="0"/>
              <a:t> - 1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D6EE661-D192-7170-AAD9-678377536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73" y="1955328"/>
            <a:ext cx="2935952" cy="1438191"/>
          </a:xfrm>
          <a:prstGeom prst="rect">
            <a:avLst/>
          </a:prstGeom>
        </p:spPr>
      </p:pic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F52EE400-9587-99F6-1BA9-F823C6BE08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9727" y="3416597"/>
            <a:ext cx="228240" cy="218966"/>
          </a:xfrm>
        </p:spPr>
        <p:txBody>
          <a:bodyPr lIns="0" tIns="0" rIns="0" bIns="0"/>
          <a:lstStyle/>
          <a:p>
            <a:r>
              <a:rPr lang="en-US" altLang="ko-KR" sz="1400" dirty="0"/>
              <a:t>(1)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4EB7095-5362-EE27-03D3-8ADF45960F03}"/>
              </a:ext>
            </a:extLst>
          </p:cNvPr>
          <p:cNvSpPr txBox="1">
            <a:spLocks/>
          </p:cNvSpPr>
          <p:nvPr/>
        </p:nvSpPr>
        <p:spPr>
          <a:xfrm>
            <a:off x="1445724" y="6136736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(2)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C23A99C1-DBF9-A2E4-9644-DC753BA0773B}"/>
              </a:ext>
            </a:extLst>
          </p:cNvPr>
          <p:cNvSpPr txBox="1">
            <a:spLocks/>
          </p:cNvSpPr>
          <p:nvPr/>
        </p:nvSpPr>
        <p:spPr>
          <a:xfrm>
            <a:off x="4807209" y="6175659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(3)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28D08620-8B1F-97D9-9E0F-D152A0DB07A5}"/>
              </a:ext>
            </a:extLst>
          </p:cNvPr>
          <p:cNvSpPr txBox="1">
            <a:spLocks/>
          </p:cNvSpPr>
          <p:nvPr/>
        </p:nvSpPr>
        <p:spPr>
          <a:xfrm>
            <a:off x="6411260" y="2988030"/>
            <a:ext cx="3438932" cy="2403120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b="0" dirty="0"/>
              <a:t>(4)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도착점과</a:t>
            </a:r>
            <a:r>
              <a:rPr kumimoji="0" lang="en-US" altLang="ko-KR" sz="1200" b="0" dirty="0"/>
              <a:t> </a:t>
            </a:r>
            <a:r>
              <a:rPr kumimoji="0" lang="ko-KR" altLang="en-US" sz="1200" b="0" dirty="0"/>
              <a:t>함정의 </a:t>
            </a:r>
            <a:r>
              <a:rPr kumimoji="0" lang="en-US" altLang="ko-KR" sz="1200" b="0" dirty="0"/>
              <a:t>Q</a:t>
            </a:r>
            <a:r>
              <a:rPr kumimoji="0" lang="ko-KR" altLang="en-US" sz="1200" b="0" dirty="0"/>
              <a:t>값들은 </a:t>
            </a:r>
            <a:r>
              <a:rPr kumimoji="0" lang="en-US" altLang="ko-KR" sz="1200" b="0" dirty="0"/>
              <a:t>0</a:t>
            </a:r>
            <a:r>
              <a:rPr kumimoji="0" lang="ko-KR" altLang="en-US" sz="1200" b="0" dirty="0"/>
              <a:t>의 값을 가짐</a:t>
            </a:r>
            <a:r>
              <a:rPr kumimoji="0" lang="en-US" altLang="ko-KR" sz="1200" b="0" dirty="0"/>
              <a:t>(terminal state)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우상단의 값들은 작은 데 비해 좌하단의 값들은 큰 경향 </a:t>
            </a:r>
            <a:r>
              <a:rPr kumimoji="0" lang="en-US" altLang="ko-KR" sz="1200" b="0" dirty="0"/>
              <a:t>(</a:t>
            </a:r>
            <a:r>
              <a:rPr kumimoji="0" lang="ko-KR" altLang="en-US" sz="1200" b="0" dirty="0"/>
              <a:t>좌하단의 경로를 추천함</a:t>
            </a:r>
            <a:r>
              <a:rPr kumimoji="0" lang="en-US" altLang="ko-KR" sz="1200" b="0" dirty="0"/>
              <a:t>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도착점에 가까운 값들은 상대적으로 높음</a:t>
            </a:r>
            <a:r>
              <a:rPr kumimoji="0" lang="en-US" altLang="ko-KR" sz="1200" b="0" dirty="0"/>
              <a:t>(3.22, 2.58)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632AED-3B75-F00D-71D2-422930A3A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873" y="3935638"/>
            <a:ext cx="2935952" cy="21998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CEFAFE-6E83-1537-A0CC-D9F9EF98DD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5715" y="1955328"/>
            <a:ext cx="2544143" cy="41801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F03ADE5-3A11-9B48-51E9-F8941FD50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1260" y="1955328"/>
            <a:ext cx="3374291" cy="101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5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362A-2ED0-4BC2-582E-A23E6451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6FF911B-B1FD-6901-B6FC-E04F0E3E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(4/4)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162198-E5E4-9DAF-E215-D1C11ED1D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AF22A2F1-45B2-59ED-608C-6995BC49F0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ko-KR" b="0" dirty="0">
                    <a:latin typeface="+mn-ea"/>
                  </a:rPr>
                  <a:t>(1) </a:t>
                </a:r>
                <a:r>
                  <a:rPr kumimoji="0" lang="ko-KR" altLang="en-US" b="0" dirty="0">
                    <a:latin typeface="+mn-ea"/>
                  </a:rPr>
                  <a:t>환경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함정을 중앙 및 좌상단에 배치 </a:t>
                </a:r>
                <a:r>
                  <a:rPr kumimoji="0" lang="en-US" altLang="ko-KR" b="0" dirty="0">
                    <a:latin typeface="+mn-ea"/>
                  </a:rPr>
                  <a:t>-</a:t>
                </a:r>
                <a:r>
                  <a:rPr kumimoji="0" lang="ko-KR" altLang="en-US" b="0" dirty="0">
                    <a:latin typeface="+mn-ea"/>
                  </a:rPr>
                  <a:t> </a:t>
                </a:r>
                <a:r>
                  <a:rPr lang="en-US" altLang="ko-KR" b="0" dirty="0"/>
                  <a:t>(0, 4), (3, 2), (2, 2)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>
                    <a:latin typeface="+mn-ea"/>
                  </a:rPr>
                  <a:t>(2) </a:t>
                </a:r>
                <a:r>
                  <a:rPr kumimoji="0" lang="ko-KR" altLang="en-US" b="0" dirty="0">
                    <a:latin typeface="+mn-ea"/>
                  </a:rPr>
                  <a:t>학습 결과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대부분</a:t>
                </a:r>
                <a:r>
                  <a:rPr kumimoji="0" lang="en-US" altLang="ko-KR" b="0" dirty="0">
                    <a:latin typeface="+mn-ea"/>
                  </a:rPr>
                  <a:t> 8</a:t>
                </a:r>
                <a:r>
                  <a:rPr kumimoji="0" lang="ko-KR" altLang="en-US" b="0" dirty="0" err="1">
                    <a:latin typeface="+mn-ea"/>
                  </a:rPr>
                  <a:t>번만에</a:t>
                </a:r>
                <a:r>
                  <a:rPr kumimoji="0" lang="ko-KR" altLang="en-US" b="0" dirty="0">
                    <a:latin typeface="+mn-ea"/>
                  </a:rPr>
                  <a:t> 도착지에 이동하도록 성공적으로 학습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/>
                  <a:t>(3) </a:t>
                </a:r>
                <a:r>
                  <a:rPr kumimoji="0" lang="ko-KR" altLang="en-US" b="0" dirty="0"/>
                  <a:t>학습된 </a:t>
                </a:r>
                <a:r>
                  <a:rPr kumimoji="0" lang="en-US" altLang="ko-KR" b="0" dirty="0"/>
                  <a:t>Q table : 25 x 4 table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altLang="ko-KR" b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kumimoji="0" lang="en-US" altLang="ko-KR" b="0">
                        <a:latin typeface="Cambria Math" panose="02040503050406030204" pitchFamily="18" charset="0"/>
                      </a:rPr>
                      <m:t>=25, 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ko-KR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kumimoji="0" lang="en-US" altLang="ko-KR" b="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0" lang="en-US" altLang="ko-KR" b="0" dirty="0"/>
                  <a:t>)</a:t>
                </a:r>
              </a:p>
              <a:p>
                <a:r>
                  <a:rPr kumimoji="0" lang="en-US" altLang="ko-KR" b="0" dirty="0"/>
                  <a:t>(4) </a:t>
                </a:r>
                <a:r>
                  <a:rPr kumimoji="0" lang="ko-KR" altLang="en-US" sz="1400" b="0" dirty="0"/>
                  <a:t>위치별 </a:t>
                </a:r>
                <a:r>
                  <a:rPr kumimoji="0" lang="en-US" altLang="ko-KR" sz="1400" b="0" dirty="0"/>
                  <a:t>Q</a:t>
                </a:r>
                <a:r>
                  <a:rPr kumimoji="0" lang="ko-KR" altLang="en-US" sz="1400" b="0" dirty="0"/>
                  <a:t>값 평균 계산</a:t>
                </a:r>
                <a:endParaRPr kumimoji="0" lang="en-US" altLang="ko-KR" sz="1400" b="0" dirty="0"/>
              </a:p>
            </p:txBody>
          </p:sp>
        </mc:Choice>
        <mc:Fallback xmlns=""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AF22A2F1-45B2-59ED-608C-6995BC49F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  <a:blipFill>
                <a:blip r:embed="rId2"/>
                <a:stretch>
                  <a:fillRect l="-394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A07EC75A-6F83-3356-AEFB-FDB942BFC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구현 예시</a:t>
            </a:r>
            <a:r>
              <a:rPr lang="en-US" altLang="ko-KR" dirty="0"/>
              <a:t> - 2</a:t>
            </a:r>
            <a:endParaRPr lang="ko-KR" altLang="en-US" dirty="0"/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55F8A94F-275D-0984-55E4-C43369225A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9727" y="3416597"/>
            <a:ext cx="228240" cy="218966"/>
          </a:xfrm>
        </p:spPr>
        <p:txBody>
          <a:bodyPr lIns="0" tIns="0" rIns="0" bIns="0"/>
          <a:lstStyle/>
          <a:p>
            <a:r>
              <a:rPr lang="en-US" altLang="ko-KR" sz="1400" dirty="0"/>
              <a:t>(1)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D6B0727B-12CA-C0B2-1D45-B56154137F6A}"/>
              </a:ext>
            </a:extLst>
          </p:cNvPr>
          <p:cNvSpPr txBox="1">
            <a:spLocks/>
          </p:cNvSpPr>
          <p:nvPr/>
        </p:nvSpPr>
        <p:spPr>
          <a:xfrm>
            <a:off x="1445724" y="6136736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(2)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5983CA1C-EE8D-3832-5161-6BCC0A0EFC95}"/>
              </a:ext>
            </a:extLst>
          </p:cNvPr>
          <p:cNvSpPr txBox="1">
            <a:spLocks/>
          </p:cNvSpPr>
          <p:nvPr/>
        </p:nvSpPr>
        <p:spPr>
          <a:xfrm>
            <a:off x="6411260" y="2988030"/>
            <a:ext cx="3438932" cy="2403120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b="0" dirty="0"/>
              <a:t>(4)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도착점과</a:t>
            </a:r>
            <a:r>
              <a:rPr kumimoji="0" lang="en-US" altLang="ko-KR" sz="1200" b="0" dirty="0"/>
              <a:t> </a:t>
            </a:r>
            <a:r>
              <a:rPr kumimoji="0" lang="ko-KR" altLang="en-US" sz="1200" b="0" dirty="0"/>
              <a:t>함정의 </a:t>
            </a:r>
            <a:r>
              <a:rPr kumimoji="0" lang="en-US" altLang="ko-KR" sz="1200" b="0" dirty="0"/>
              <a:t>Q</a:t>
            </a:r>
            <a:r>
              <a:rPr kumimoji="0" lang="ko-KR" altLang="en-US" sz="1200" b="0" dirty="0"/>
              <a:t>값들은 </a:t>
            </a:r>
            <a:r>
              <a:rPr kumimoji="0" lang="en-US" altLang="ko-KR" sz="1200" b="0" dirty="0"/>
              <a:t>0</a:t>
            </a:r>
            <a:r>
              <a:rPr kumimoji="0" lang="ko-KR" altLang="en-US" sz="1200" b="0" dirty="0"/>
              <a:t>의 값을 가짐</a:t>
            </a:r>
            <a:r>
              <a:rPr kumimoji="0" lang="en-US" altLang="ko-KR" sz="1200" b="0" dirty="0"/>
              <a:t>(terminal state)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이전 예시에 비해 상대적으로 어려운 예시였음에도 불구하고 성공적으로 학습</a:t>
            </a:r>
            <a:endParaRPr kumimoji="0" lang="en-US" altLang="ko-KR" sz="1200" b="0" dirty="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en-US" altLang="ko-KR" sz="1200" b="0" dirty="0"/>
              <a:t>(1,3)</a:t>
            </a:r>
            <a:r>
              <a:rPr kumimoji="0" lang="ko-KR" altLang="en-US" sz="1200" b="0" dirty="0"/>
              <a:t>을 경유하는 경로를 추천하고 있음 </a:t>
            </a:r>
            <a:r>
              <a:rPr kumimoji="0" lang="en-US" altLang="ko-KR" sz="1200" b="0" dirty="0"/>
              <a:t>(</a:t>
            </a:r>
            <a:r>
              <a:rPr kumimoji="0" lang="ko-KR" altLang="en-US" sz="1200" b="0" dirty="0"/>
              <a:t>위 그림에서 </a:t>
            </a:r>
            <a:r>
              <a:rPr kumimoji="0" lang="en-US" altLang="ko-KR" sz="1200" b="0" dirty="0"/>
              <a:t>1.61</a:t>
            </a:r>
            <a:r>
              <a:rPr kumimoji="0" lang="ko-KR" altLang="en-US" sz="1200" b="0" dirty="0"/>
              <a:t>값 부분</a:t>
            </a:r>
            <a:r>
              <a:rPr kumimoji="0" lang="en-US" altLang="ko-KR" sz="1200" b="0" dirty="0"/>
              <a:t>)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768DB32A-B41B-2883-E67A-7C2EFCE05029}"/>
              </a:ext>
            </a:extLst>
          </p:cNvPr>
          <p:cNvSpPr txBox="1">
            <a:spLocks/>
          </p:cNvSpPr>
          <p:nvPr/>
        </p:nvSpPr>
        <p:spPr>
          <a:xfrm>
            <a:off x="4807209" y="6175659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(3)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8BBDA7-1170-4332-AC34-706192C4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08" y="3846622"/>
            <a:ext cx="2962116" cy="229011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6698B18-7732-9995-C3A1-1FB6E1F07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821" y="1955328"/>
            <a:ext cx="2536156" cy="41850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B62FA6D-2F7F-DF60-0E38-1C5CA4B21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74" y="1973288"/>
            <a:ext cx="3414318" cy="10157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251E1F5-433D-4488-6D76-82F109D92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472" y="1955328"/>
            <a:ext cx="2962116" cy="143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2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3CCA-AF22-6CC1-A57A-9269B149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DDF7D01-F8FD-02FA-4E5A-F1D3FFDC8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530" y="3301996"/>
            <a:ext cx="5419414" cy="3383106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96F98A2E-CDFF-570A-2D9D-7A62FAAB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GPI</a:t>
            </a:r>
            <a:r>
              <a:rPr lang="ko-KR" altLang="en-US" dirty="0"/>
              <a:t> 관점에서의 </a:t>
            </a:r>
            <a:r>
              <a:rPr lang="en-US" altLang="ko-KR" dirty="0"/>
              <a:t>Q-learning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7FB99E1-BA5A-DB0C-EB29-6687999A4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764338-387C-2C80-4CB4-FDE279C9B139}"/>
              </a:ext>
            </a:extLst>
          </p:cNvPr>
          <p:cNvSpPr/>
          <p:nvPr/>
        </p:nvSpPr>
        <p:spPr bwMode="auto">
          <a:xfrm>
            <a:off x="9466531" y="2682910"/>
            <a:ext cx="177832" cy="746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텍스트 개체 틀 5">
                <a:extLst>
                  <a:ext uri="{FF2B5EF4-FFF2-40B4-BE49-F238E27FC236}">
                    <a16:creationId xmlns:a16="http://schemas.microsoft.com/office/drawing/2014/main" id="{5107A6FE-2303-57B9-CE7C-5BA38296F9F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00471" y="615027"/>
                <a:ext cx="9266060" cy="2545315"/>
              </a:xfrm>
            </p:spPr>
            <p:txBody>
              <a:bodyPr/>
              <a:lstStyle/>
              <a:p>
                <a:pPr marL="180000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+mn-ea"/>
                  </a:rPr>
                  <a:t>강화학습의 목적은 주어진 </a:t>
                </a:r>
                <a:r>
                  <a:rPr lang="ko-KR" altLang="en-US" b="1" dirty="0">
                    <a:latin typeface="+mn-ea"/>
                  </a:rPr>
                  <a:t>상태</a:t>
                </a:r>
                <a:r>
                  <a:rPr lang="ko-KR" altLang="en-US" dirty="0">
                    <a:latin typeface="+mn-ea"/>
                  </a:rPr>
                  <a:t>에서 최적의 </a:t>
                </a:r>
                <a:r>
                  <a:rPr lang="ko-KR" altLang="en-US" b="1" dirty="0">
                    <a:latin typeface="+mn-ea"/>
                  </a:rPr>
                  <a:t>행동</a:t>
                </a:r>
                <a:r>
                  <a:rPr lang="ko-KR" altLang="en-US" dirty="0">
                    <a:latin typeface="+mn-ea"/>
                  </a:rPr>
                  <a:t>을 찾는 것 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→ 최적정책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+mn-ea"/>
                  </a:rPr>
                  <a:t>거의 모든 강화학습 알고리즘은 정책평가와 정책개선을 반복하는 과정을 거친다</a:t>
                </a:r>
                <a:r>
                  <a:rPr lang="en-US" altLang="ko-KR" dirty="0">
                    <a:latin typeface="+mn-ea"/>
                  </a:rPr>
                  <a:t>. (Generalized Policy Iteration)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정책평가</a:t>
                </a:r>
                <a:r>
                  <a:rPr lang="en-US" altLang="ko-KR" sz="1400" dirty="0">
                    <a:latin typeface="+mn-ea"/>
                  </a:rPr>
                  <a:t> : </a:t>
                </a:r>
                <a:r>
                  <a:rPr lang="ko-KR" altLang="en-US" sz="1400" dirty="0">
                    <a:latin typeface="+mn-ea"/>
                  </a:rPr>
                  <a:t>주어진 정책 </a:t>
                </a: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 대하여 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 (</a:t>
                </a:r>
                <a:r>
                  <a:rPr lang="ko-KR" altLang="en-US" sz="1400" dirty="0">
                    <a:latin typeface="+mn-ea"/>
                  </a:rPr>
                  <a:t>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를 계산함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→ </a:t>
                </a:r>
                <a:r>
                  <a:rPr lang="en-US" altLang="ko-KR" sz="1400" b="1" dirty="0">
                    <a:latin typeface="+mn-ea"/>
                  </a:rPr>
                  <a:t>critic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정책개선</a:t>
                </a:r>
                <a:r>
                  <a:rPr lang="en-US" altLang="ko-KR" sz="1400" dirty="0">
                    <a:latin typeface="+mn-ea"/>
                  </a:rPr>
                  <a:t> : </a:t>
                </a:r>
                <a:r>
                  <a:rPr lang="ko-KR" altLang="en-US" sz="1400" dirty="0">
                    <a:latin typeface="+mn-ea"/>
                  </a:rPr>
                  <a:t>주어진 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 (</a:t>
                </a:r>
                <a:r>
                  <a:rPr lang="ko-KR" altLang="en-US" sz="1400" dirty="0">
                    <a:latin typeface="+mn-ea"/>
                  </a:rPr>
                  <a:t>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에 대하여 더 나은 정책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도출함</a:t>
                </a:r>
                <a:r>
                  <a:rPr lang="en-US" altLang="ko-KR" sz="14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) </a:t>
                </a:r>
                <a:r>
                  <a:rPr lang="ko-KR" altLang="en-US" sz="1400" dirty="0">
                    <a:latin typeface="+mn-ea"/>
                  </a:rPr>
                  <a:t>→ </a:t>
                </a:r>
                <a:r>
                  <a:rPr lang="en-US" altLang="ko-KR" sz="1400" b="1" dirty="0">
                    <a:latin typeface="+mn-ea"/>
                  </a:rPr>
                  <a:t>actor</a:t>
                </a:r>
                <a:endParaRPr lang="en-US" altLang="ko-KR" dirty="0">
                  <a:latin typeface="+mn-ea"/>
                </a:endParaRPr>
              </a:p>
              <a:p>
                <a:pPr marL="180000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+mn-ea"/>
                  </a:rPr>
                  <a:t>Q-</a:t>
                </a:r>
                <a:r>
                  <a:rPr lang="en-US" altLang="ko-KR" dirty="0" err="1">
                    <a:latin typeface="+mn-ea"/>
                  </a:rPr>
                  <a:t>learing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정책평가</a:t>
                </a:r>
                <a:r>
                  <a:rPr lang="en-US" altLang="ko-KR" sz="1400" dirty="0">
                    <a:latin typeface="+mn-ea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𝛾</m:t>
                    </m:r>
                    <m:limLow>
                      <m:limLow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altLang="ko-KR" sz="1400" b="1" dirty="0">
                  <a:latin typeface="+mn-ea"/>
                </a:endParaRPr>
              </a:p>
              <a:p>
                <a:pPr marL="18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정책개선</a:t>
                </a:r>
                <a:r>
                  <a:rPr lang="en-US" altLang="ko-KR" sz="1400" dirty="0">
                    <a:latin typeface="+mn-ea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        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-greedy)</a:t>
                </a:r>
              </a:p>
            </p:txBody>
          </p:sp>
        </mc:Choice>
        <mc:Fallback>
          <p:sp>
            <p:nvSpPr>
              <p:cNvPr id="15" name="텍스트 개체 틀 5">
                <a:extLst>
                  <a:ext uri="{FF2B5EF4-FFF2-40B4-BE49-F238E27FC236}">
                    <a16:creationId xmlns:a16="http://schemas.microsoft.com/office/drawing/2014/main" id="{5107A6FE-2303-57B9-CE7C-5BA38296F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00471" y="615027"/>
                <a:ext cx="9266060" cy="2545315"/>
              </a:xfrm>
              <a:blipFill>
                <a:blip r:embed="rId4"/>
                <a:stretch>
                  <a:fillRect l="-329" b="-2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A181A17-0B27-643B-6135-0D68AEC23146}"/>
              </a:ext>
            </a:extLst>
          </p:cNvPr>
          <p:cNvSpPr txBox="1"/>
          <p:nvPr/>
        </p:nvSpPr>
        <p:spPr>
          <a:xfrm>
            <a:off x="8399969" y="6266908"/>
            <a:ext cx="14372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  <a:ea typeface="+mn-ea"/>
              </a:rPr>
              <a:t>(Sutton, 2018), 4.6</a:t>
            </a:r>
            <a:r>
              <a:rPr lang="ko-KR" altLang="en-US" sz="1000" dirty="0">
                <a:latin typeface="+mn-ea"/>
                <a:ea typeface="+mn-ea"/>
              </a:rPr>
              <a:t>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D208EC-EB30-3731-FD81-860FB4E6DF06}"/>
                  </a:ext>
                </a:extLst>
              </p:cNvPr>
              <p:cNvSpPr txBox="1"/>
              <p:nvPr/>
            </p:nvSpPr>
            <p:spPr>
              <a:xfrm>
                <a:off x="2551672" y="4885827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D208EC-EB30-3731-FD81-860FB4E6D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672" y="4885827"/>
                <a:ext cx="470000" cy="215444"/>
              </a:xfrm>
              <a:prstGeom prst="rect">
                <a:avLst/>
              </a:prstGeom>
              <a:blipFill>
                <a:blip r:embed="rId5"/>
                <a:stretch>
                  <a:fillRect l="-10390" t="-25000" r="-6494" b="-47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0F4D15-07F4-733F-18BB-D1F4D92CFD48}"/>
                  </a:ext>
                </a:extLst>
              </p:cNvPr>
              <p:cNvSpPr txBox="1"/>
              <p:nvPr/>
            </p:nvSpPr>
            <p:spPr>
              <a:xfrm>
                <a:off x="3602677" y="3429000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0F4D15-07F4-733F-18BB-D1F4D92CF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677" y="3429000"/>
                <a:ext cx="470000" cy="215444"/>
              </a:xfrm>
              <a:prstGeom prst="rect">
                <a:avLst/>
              </a:prstGeom>
              <a:blipFill>
                <a:blip r:embed="rId6"/>
                <a:stretch>
                  <a:fillRect l="-10390" t="-28571" r="-5195" b="-4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FBEFF6-4C23-00C0-CE96-7DF52B7F2E0F}"/>
                  </a:ext>
                </a:extLst>
              </p:cNvPr>
              <p:cNvSpPr txBox="1"/>
              <p:nvPr/>
            </p:nvSpPr>
            <p:spPr>
              <a:xfrm>
                <a:off x="4072677" y="6265096"/>
                <a:ext cx="46166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FBEFF6-4C23-00C0-CE96-7DF52B7F2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677" y="6265096"/>
                <a:ext cx="461665" cy="215444"/>
              </a:xfrm>
              <a:prstGeom prst="rect">
                <a:avLst/>
              </a:prstGeom>
              <a:blipFill>
                <a:blip r:embed="rId7"/>
                <a:stretch>
                  <a:fillRect l="-9211" t="-28571" r="-5263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A437B5-1800-7042-0190-157DB85BF2B3}"/>
                  </a:ext>
                </a:extLst>
              </p:cNvPr>
              <p:cNvSpPr txBox="1"/>
              <p:nvPr/>
            </p:nvSpPr>
            <p:spPr>
              <a:xfrm>
                <a:off x="4833501" y="3979842"/>
                <a:ext cx="46583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A437B5-1800-7042-0190-157DB85B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501" y="3979842"/>
                <a:ext cx="465833" cy="215444"/>
              </a:xfrm>
              <a:prstGeom prst="rect">
                <a:avLst/>
              </a:prstGeom>
              <a:blipFill>
                <a:blip r:embed="rId8"/>
                <a:stretch>
                  <a:fillRect l="-10526" t="-25714" r="-6579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E8DF8D-33A3-5A74-1B57-C7F718711343}"/>
                  </a:ext>
                </a:extLst>
              </p:cNvPr>
              <p:cNvSpPr txBox="1"/>
              <p:nvPr/>
            </p:nvSpPr>
            <p:spPr>
              <a:xfrm>
                <a:off x="5299334" y="5964255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E8DF8D-33A3-5A74-1B57-C7F718711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334" y="5964255"/>
                <a:ext cx="470000" cy="215444"/>
              </a:xfrm>
              <a:prstGeom prst="rect">
                <a:avLst/>
              </a:prstGeom>
              <a:blipFill>
                <a:blip r:embed="rId9"/>
                <a:stretch>
                  <a:fillRect l="-9091" t="-25000" r="-6494" b="-47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2288C1-AF0E-AF16-BBA8-83109DF112E5}"/>
                  </a:ext>
                </a:extLst>
              </p:cNvPr>
              <p:cNvSpPr txBox="1"/>
              <p:nvPr/>
            </p:nvSpPr>
            <p:spPr>
              <a:xfrm>
                <a:off x="5741259" y="4418391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2288C1-AF0E-AF16-BBA8-83109DF11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259" y="4418391"/>
                <a:ext cx="470000" cy="215444"/>
              </a:xfrm>
              <a:prstGeom prst="rect">
                <a:avLst/>
              </a:prstGeom>
              <a:blipFill>
                <a:blip r:embed="rId10"/>
                <a:stretch>
                  <a:fillRect l="-10390" t="-25714" r="-6494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E6F892A-9673-255D-12A7-3FDBA5CD2F4B}"/>
                  </a:ext>
                </a:extLst>
              </p:cNvPr>
              <p:cNvSpPr txBox="1"/>
              <p:nvPr/>
            </p:nvSpPr>
            <p:spPr>
              <a:xfrm>
                <a:off x="5976259" y="5739589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E6F892A-9673-255D-12A7-3FDBA5CD2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259" y="5739589"/>
                <a:ext cx="470000" cy="215444"/>
              </a:xfrm>
              <a:prstGeom prst="rect">
                <a:avLst/>
              </a:prstGeom>
              <a:blipFill>
                <a:blip r:embed="rId11"/>
                <a:stretch>
                  <a:fillRect l="-9091" t="-28571" r="-6494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F052BF-0D90-1152-7438-E42B7F2DEE70}"/>
                  </a:ext>
                </a:extLst>
              </p:cNvPr>
              <p:cNvSpPr txBox="1"/>
              <p:nvPr/>
            </p:nvSpPr>
            <p:spPr>
              <a:xfrm>
                <a:off x="6414330" y="4734500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F052BF-0D90-1152-7438-E42B7F2DE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330" y="4734500"/>
                <a:ext cx="470000" cy="215444"/>
              </a:xfrm>
              <a:prstGeom prst="rect">
                <a:avLst/>
              </a:prstGeom>
              <a:blipFill>
                <a:blip r:embed="rId12"/>
                <a:stretch>
                  <a:fillRect l="-9091" t="-28571" r="-5195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C2DA1D-1EA2-9C22-5DB2-61F8FBCFE18F}"/>
                  </a:ext>
                </a:extLst>
              </p:cNvPr>
              <p:cNvSpPr txBox="1"/>
              <p:nvPr/>
            </p:nvSpPr>
            <p:spPr>
              <a:xfrm>
                <a:off x="6582601" y="5575404"/>
                <a:ext cx="470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𝜋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4</m:t>
                        </m:r>
                      </m:sub>
                    </m:sSub>
                  </m:oMath>
                </a14:m>
                <a:endParaRPr lang="ko-KR" altLang="en-US" b="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C2DA1D-1EA2-9C22-5DB2-61F8FBCFE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601" y="5575404"/>
                <a:ext cx="470000" cy="215444"/>
              </a:xfrm>
              <a:prstGeom prst="rect">
                <a:avLst/>
              </a:prstGeom>
              <a:blipFill>
                <a:blip r:embed="rId13"/>
                <a:stretch>
                  <a:fillRect l="-10390" t="-28571" r="-5195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C26DE76A-D0EB-9EB8-7F99-AE8E51EC5BBF}"/>
              </a:ext>
            </a:extLst>
          </p:cNvPr>
          <p:cNvGrpSpPr/>
          <p:nvPr/>
        </p:nvGrpSpPr>
        <p:grpSpPr>
          <a:xfrm>
            <a:off x="97717" y="5771179"/>
            <a:ext cx="1478374" cy="734669"/>
            <a:chOff x="-69432" y="5771179"/>
            <a:chExt cx="1478374" cy="7346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39CD48-E3CE-66A6-5F81-BE81FFB45ACE}"/>
                </a:ext>
              </a:extLst>
            </p:cNvPr>
            <p:cNvSpPr txBox="1"/>
            <p:nvPr/>
          </p:nvSpPr>
          <p:spPr>
            <a:xfrm>
              <a:off x="-69432" y="5771179"/>
              <a:ext cx="12690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0" dirty="0">
                  <a:latin typeface="+mn-ea"/>
                  <a:ea typeface="+mn-ea"/>
                </a:rPr>
                <a:t>※ </a:t>
              </a:r>
              <a:r>
                <a:rPr lang="ko-KR" altLang="en-US" sz="1400" b="0" dirty="0">
                  <a:latin typeface="+mn-ea"/>
                  <a:ea typeface="+mn-ea"/>
                </a:rPr>
                <a:t>정책평가 </a:t>
              </a:r>
              <a:r>
                <a:rPr lang="en-US" altLang="ko-KR" sz="1400" b="0" dirty="0">
                  <a:latin typeface="+mn-ea"/>
                  <a:ea typeface="+mn-ea"/>
                </a:rPr>
                <a:t>: </a:t>
              </a:r>
              <a:endParaRPr lang="ko-KR" altLang="en-US" b="0" dirty="0">
                <a:latin typeface="+mn-ea"/>
                <a:ea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599D95A-172B-6C22-AF28-9D1035A83776}"/>
                </a:ext>
              </a:extLst>
            </p:cNvPr>
            <p:cNvSpPr txBox="1"/>
            <p:nvPr/>
          </p:nvSpPr>
          <p:spPr>
            <a:xfrm>
              <a:off x="137048" y="6179699"/>
              <a:ext cx="11633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0" dirty="0">
                  <a:latin typeface="+mn-ea"/>
                  <a:ea typeface="+mn-ea"/>
                </a:rPr>
                <a:t>정책</a:t>
              </a:r>
              <a:r>
                <a:rPr lang="ko-KR" altLang="en-US" b="0" dirty="0">
                  <a:latin typeface="+mn-ea"/>
                  <a:ea typeface="+mn-ea"/>
                </a:rPr>
                <a:t>개선 </a:t>
              </a:r>
              <a:r>
                <a:rPr lang="en-US" altLang="ko-KR" b="0" dirty="0">
                  <a:latin typeface="+mn-ea"/>
                  <a:ea typeface="+mn-ea"/>
                </a:rPr>
                <a:t>:</a:t>
              </a:r>
              <a:endParaRPr lang="ko-KR" altLang="en-US" b="0" dirty="0">
                <a:latin typeface="+mn-ea"/>
                <a:ea typeface="+mn-ea"/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871C17A9-EA96-C5F7-6CAC-45D89B80B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6846" y="5771179"/>
              <a:ext cx="209218" cy="356672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B681B18E-4248-4B11-AF0E-A3E15B671AB6}"/>
                </a:ext>
              </a:extLst>
            </p:cNvPr>
            <p:cNvCxnSpPr>
              <a:cxnSpLocks/>
            </p:cNvCxnSpPr>
            <p:nvPr/>
          </p:nvCxnSpPr>
          <p:spPr>
            <a:xfrm>
              <a:off x="1212173" y="6188921"/>
              <a:ext cx="196769" cy="316927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409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842A-1982-9B79-4C4B-4674FF1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95699</TotalTime>
  <Words>611</Words>
  <Application>Microsoft Office PowerPoint</Application>
  <PresentationFormat>A4 용지(210x297mm)</PresentationFormat>
  <Paragraphs>77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굴림</vt:lpstr>
      <vt:lpstr>맑은 고딕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Q-learning (grid world) 구현 (1/4)</vt:lpstr>
      <vt:lpstr>Q-learning (grid world) 구현 (2/4)</vt:lpstr>
      <vt:lpstr>Q-learning (grid world) 구현 (3/4)</vt:lpstr>
      <vt:lpstr>Q-learning (grid world) 구현 (4/4)</vt:lpstr>
      <vt:lpstr>GPI 관점에서의 Q-learning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6583</cp:revision>
  <cp:lastPrinted>2025-07-14T07:44:34Z</cp:lastPrinted>
  <dcterms:created xsi:type="dcterms:W3CDTF">2011-12-28T05:39:44Z</dcterms:created>
  <dcterms:modified xsi:type="dcterms:W3CDTF">2025-09-26T00:56:09Z</dcterms:modified>
</cp:coreProperties>
</file>