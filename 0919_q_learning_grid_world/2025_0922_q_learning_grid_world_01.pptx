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trictFirstAndLastChars="0" saveSubsetFonts="1">
  <p:sldMasterIdLst>
    <p:sldMasterId id="2147483800" r:id="rId1"/>
  </p:sldMasterIdLst>
  <p:notesMasterIdLst>
    <p:notesMasterId r:id="rId8"/>
  </p:notesMasterIdLst>
  <p:handoutMasterIdLst>
    <p:handoutMasterId r:id="rId9"/>
  </p:handoutMasterIdLst>
  <p:sldIdLst>
    <p:sldId id="5704" r:id="rId2"/>
    <p:sldId id="9714" r:id="rId3"/>
    <p:sldId id="9717" r:id="rId4"/>
    <p:sldId id="9716" r:id="rId5"/>
    <p:sldId id="9718" r:id="rId6"/>
    <p:sldId id="8796" r:id="rId7"/>
  </p:sldIdLst>
  <p:sldSz cx="9906000" cy="6858000" type="A4"/>
  <p:notesSz cx="6797675" cy="9926638"/>
  <p:defaultTextStyle>
    <a:defPPr>
      <a:defRPr lang="en-US"/>
    </a:defPPr>
    <a:lvl1pPr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1pPr>
    <a:lvl2pPr marL="4572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2pPr>
    <a:lvl3pPr marL="9144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3pPr>
    <a:lvl4pPr marL="13716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4pPr>
    <a:lvl5pPr marL="1828800" algn="l" rtl="0" fontAlgn="base" latinLnBrk="1">
      <a:spcBef>
        <a:spcPct val="0"/>
      </a:spcBef>
      <a:spcAft>
        <a:spcPct val="0"/>
      </a:spcAft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5pPr>
    <a:lvl6pPr marL="22860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6pPr>
    <a:lvl7pPr marL="27432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7pPr>
    <a:lvl8pPr marL="32004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8pPr>
    <a:lvl9pPr marL="3657600" algn="l" defTabSz="914400" rtl="0" eaLnBrk="1" latinLnBrk="1" hangingPunct="1">
      <a:defRPr kumimoji="1" sz="1400" b="1" kern="1200">
        <a:solidFill>
          <a:schemeClr val="tx1"/>
        </a:solidFill>
        <a:latin typeface="굴림" charset="-127"/>
        <a:ea typeface="굴림" charset="-127"/>
        <a:cs typeface="+mn-cs"/>
        <a:sym typeface="Wingdings" pitchFamily="2" charset="2"/>
      </a:defRPr>
    </a:lvl9pPr>
  </p:defaultTextStyle>
  <p:extLst>
    <p:ext uri="{EFAFB233-063F-42B5-8137-9DF3F51BA10A}">
      <p15:sldGuideLst xmlns:p15="http://schemas.microsoft.com/office/powerpoint/2012/main">
        <p15:guide id="2" orient="horz" pos="4042" userDrawn="1">
          <p15:clr>
            <a:srgbClr val="A4A3A4"/>
          </p15:clr>
        </p15:guide>
        <p15:guide id="5" orient="horz" pos="1094" userDrawn="1">
          <p15:clr>
            <a:srgbClr val="A4A3A4"/>
          </p15:clr>
        </p15:guide>
        <p15:guide id="6" orient="horz" pos="300" userDrawn="1">
          <p15:clr>
            <a:srgbClr val="A4A3A4"/>
          </p15:clr>
        </p15:guide>
        <p15:guide id="7" pos="1532" userDrawn="1">
          <p15:clr>
            <a:srgbClr val="A4A3A4"/>
          </p15:clr>
        </p15:guide>
        <p15:guide id="8" pos="6068" userDrawn="1">
          <p15:clr>
            <a:srgbClr val="A4A3A4"/>
          </p15:clr>
        </p15:guide>
        <p15:guide id="9" pos="3097" userDrawn="1">
          <p15:clr>
            <a:srgbClr val="A4A3A4"/>
          </p15:clr>
        </p15:guide>
        <p15:guide id="10" pos="4662" userDrawn="1">
          <p15:clr>
            <a:srgbClr val="A4A3A4"/>
          </p15:clr>
        </p15:guide>
        <p15:guide id="13" orient="horz" pos="2636" userDrawn="1">
          <p15:clr>
            <a:srgbClr val="A4A3A4"/>
          </p15:clr>
        </p15:guide>
        <p15:guide id="14" pos="126">
          <p15:clr>
            <a:srgbClr val="A4A3A4"/>
          </p15:clr>
        </p15:guide>
        <p15:guide id="15" orient="horz" pos="618" userDrawn="1">
          <p15:clr>
            <a:srgbClr val="A4A3A4"/>
          </p15:clr>
        </p15:guide>
        <p15:guide id="16" orient="horz" pos="405" userDrawn="1">
          <p15:clr>
            <a:srgbClr val="A4A3A4"/>
          </p15:clr>
        </p15:guide>
        <p15:guide id="17" orient="horz" pos="686" userDrawn="1">
          <p15:clr>
            <a:srgbClr val="A4A3A4"/>
          </p15:clr>
        </p15:guide>
        <p15:guide id="18" pos="217" userDrawn="1">
          <p15:clr>
            <a:srgbClr val="A4A3A4"/>
          </p15:clr>
        </p15:guide>
        <p15:guide id="19" orient="horz" pos="39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38" userDrawn="1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4F6478E-575D-4BA1-51CE-EBD847ADD200}" name="ECM" initials="E" userId="ECM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38F15"/>
    <a:srgbClr val="3072C2"/>
    <a:srgbClr val="FFFFCC"/>
    <a:srgbClr val="31859C"/>
    <a:srgbClr val="325F96"/>
    <a:srgbClr val="EE541E"/>
    <a:srgbClr val="A6A6A6"/>
    <a:srgbClr val="00FF00"/>
    <a:srgbClr val="3164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E3FDE45-AF77-4B5C-9715-49D594BDF05E}" styleName="밝은 스타일 1 - 강조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46F890A9-2807-4EBB-B81D-B2AA78EC7F39}" styleName="어두운 스타일 2 - 강조 5/강조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91EBBBCC-DAD2-459C-BE2E-F6DE35CF9A28}" styleName="어두운 스타일 2 - 강조 3/강조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어두운 스타일 2 - 강조 1/강조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어두운 스타일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밝은 스타일 2 - 강조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보통 스타일 1 - 강조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98" autoAdjust="0"/>
    <p:restoredTop sz="96242" autoAdjust="0"/>
  </p:normalViewPr>
  <p:slideViewPr>
    <p:cSldViewPr snapToGrid="0" snapToObjects="1" showGuides="1">
      <p:cViewPr varScale="1">
        <p:scale>
          <a:sx n="100" d="100"/>
          <a:sy n="100" d="100"/>
        </p:scale>
        <p:origin x="978" y="78"/>
      </p:cViewPr>
      <p:guideLst>
        <p:guide orient="horz" pos="4042"/>
        <p:guide orient="horz" pos="1094"/>
        <p:guide orient="horz" pos="300"/>
        <p:guide pos="1532"/>
        <p:guide pos="6068"/>
        <p:guide pos="3097"/>
        <p:guide pos="4662"/>
        <p:guide orient="horz" pos="2636"/>
        <p:guide pos="126"/>
        <p:guide orient="horz" pos="618"/>
        <p:guide orient="horz" pos="405"/>
        <p:guide orient="horz" pos="686"/>
        <p:guide pos="217"/>
        <p:guide orient="horz" pos="3974"/>
      </p:guideLst>
    </p:cSldViewPr>
  </p:slideViewPr>
  <p:outlineViewPr>
    <p:cViewPr>
      <p:scale>
        <a:sx n="33" d="100"/>
        <a:sy n="33" d="100"/>
      </p:scale>
      <p:origin x="0" y="-2376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30" d="100"/>
        <a:sy n="130" d="100"/>
      </p:scale>
      <p:origin x="0" y="-11178"/>
    </p:cViewPr>
  </p:sorterViewPr>
  <p:notesViewPr>
    <p:cSldViewPr snapToGrid="0" snapToObjects="1" showGuides="1">
      <p:cViewPr varScale="1">
        <p:scale>
          <a:sx n="65" d="100"/>
          <a:sy n="65" d="100"/>
        </p:scale>
        <p:origin x="-1644" y="-120"/>
      </p:cViewPr>
      <p:guideLst>
        <p:guide orient="horz" pos="3127"/>
        <p:guide pos="2138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microsoft.com/office/2018/10/relationships/authors" Target="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6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4770" y="6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t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6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>
              <a:ea typeface="맑은 고딕" panose="020B0503020000020004" pitchFamily="50" charset="-127"/>
            </a:endParaRPr>
          </a:p>
        </p:txBody>
      </p:sp>
      <p:sp>
        <p:nvSpPr>
          <p:cNvPr id="512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4770" y="9430308"/>
            <a:ext cx="2942907" cy="49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4937" tIns="47469" rIns="94937" bIns="47469" numCol="1" anchor="b" anchorCtr="0" compatLnSpc="1">
            <a:prstTxWarp prst="textNoShape">
              <a:avLst/>
            </a:prstTxWarp>
          </a:bodyPr>
          <a:lstStyle>
            <a:lvl1pPr algn="r" defTabSz="947232" latinLnBrk="0">
              <a:spcBef>
                <a:spcPct val="0"/>
              </a:spcBef>
              <a:defRPr kumimoji="0" sz="1100" b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D8414D26-1A5B-4156-888F-DCC378C60C78}" type="slidenum">
              <a:rPr lang="ko-KR" altLang="en-US">
                <a:ea typeface="맑은 고딕" panose="020B0503020000020004" pitchFamily="50" charset="-127"/>
              </a:rPr>
              <a:pPr>
                <a:defRPr/>
              </a:pPr>
              <a:t>‹#›</a:t>
            </a:fld>
            <a:endParaRPr lang="en-US" altLang="ko-KR" dirty="0"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6069464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67733" y="9"/>
            <a:ext cx="2918611" cy="4820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715963" y="723900"/>
            <a:ext cx="5438775" cy="376713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81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76233" y="4732653"/>
            <a:ext cx="5035494" cy="44860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dirty="0"/>
              <a:t>Click to edit Master text styles</a:t>
            </a:r>
          </a:p>
          <a:p>
            <a:pPr lvl="1"/>
            <a:r>
              <a:rPr lang="en-US" altLang="ko-KR" noProof="0" dirty="0"/>
              <a:t>Second level</a:t>
            </a:r>
          </a:p>
          <a:p>
            <a:pPr lvl="2"/>
            <a:r>
              <a:rPr lang="en-US" altLang="ko-KR" noProof="0" dirty="0"/>
              <a:t>Third level</a:t>
            </a:r>
          </a:p>
          <a:p>
            <a:pPr lvl="3"/>
            <a:r>
              <a:rPr lang="en-US" altLang="ko-KR" noProof="0" dirty="0"/>
              <a:t>Fourth level</a:t>
            </a:r>
          </a:p>
          <a:p>
            <a:pPr lvl="4"/>
            <a:r>
              <a:rPr lang="en-US" altLang="ko-KR" noProof="0" dirty="0"/>
              <a:t>Fifth level</a:t>
            </a:r>
          </a:p>
        </p:txBody>
      </p:sp>
      <p:sp>
        <p:nvSpPr>
          <p:cNvPr id="81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1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67733" y="9460532"/>
            <a:ext cx="2918611" cy="4804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894" tIns="45952" rIns="91894" bIns="45952" numCol="1" anchor="b" anchorCtr="0" compatLnSpc="1">
            <a:prstTxWarp prst="textNoShape">
              <a:avLst/>
            </a:prstTxWarp>
          </a:bodyPr>
          <a:lstStyle>
            <a:lvl1pPr algn="r" defTabSz="916932" latinLnBrk="0">
              <a:spcBef>
                <a:spcPct val="0"/>
              </a:spcBef>
              <a:defRPr kumimoji="0" sz="1100" b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79642909-6448-426E-9ED7-EFF6CDC2E25C}" type="slidenum">
              <a:rPr lang="ko-KR" altLang="en-US" smtClean="0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99798541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표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06"/>
            <a:ext cx="9906000" cy="62388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67285" y="6364091"/>
            <a:ext cx="1722052" cy="396000"/>
          </a:xfrm>
          <a:prstGeom prst="rect">
            <a:avLst/>
          </a:prstGeom>
          <a:solidFill>
            <a:schemeClr val="bg1"/>
          </a:solidFill>
        </p:spPr>
      </p:pic>
      <p:pic>
        <p:nvPicPr>
          <p:cNvPr id="4" name="Picture 8" descr="logo_goodmark_%5b245%5d">
            <a:extLst>
              <a:ext uri="{FF2B5EF4-FFF2-40B4-BE49-F238E27FC236}">
                <a16:creationId xmlns:a16="http://schemas.microsoft.com/office/drawing/2014/main" id="{1934DBAA-C187-4B71-BC05-DBE92E855E7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90520" y="262067"/>
            <a:ext cx="1143000" cy="5715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17">
            <a:extLst>
              <a:ext uri="{FF2B5EF4-FFF2-40B4-BE49-F238E27FC236}">
                <a16:creationId xmlns:a16="http://schemas.microsoft.com/office/drawing/2014/main" id="{0A8B6B62-1260-49DF-A155-60E5615934C8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5" cstate="print"/>
          <a:srcRect l="959" t="575" r="68657" b="78969"/>
          <a:stretch/>
        </p:blipFill>
        <p:spPr bwMode="auto">
          <a:xfrm>
            <a:off x="7597286" y="260648"/>
            <a:ext cx="647502" cy="57291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8" name="내용 개체 틀 7">
            <a:extLst>
              <a:ext uri="{FF2B5EF4-FFF2-40B4-BE49-F238E27FC236}">
                <a16:creationId xmlns:a16="http://schemas.microsoft.com/office/drawing/2014/main" id="{E34D8AA7-8C6E-4CCA-A0FA-DEF653DF9597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545636" y="1378603"/>
            <a:ext cx="6814729" cy="1216815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36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ko-KR" altLang="en-US" dirty="0"/>
              <a:t>제목 입력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BF9C7C0F-DB1B-4BE9-9142-410B314C4B4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74269" y="4509119"/>
            <a:ext cx="2586181" cy="970278"/>
          </a:xfrm>
          <a:prstGeom prst="rect">
            <a:avLst/>
          </a:prstGeom>
        </p:spPr>
        <p:txBody>
          <a:bodyPr anchor="ctr"/>
          <a:lstStyle>
            <a:lvl1pPr marL="0" indent="0" algn="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dirty="0">
                <a:solidFill>
                  <a:schemeClr val="bg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202y. mm. dd </a:t>
            </a:r>
            <a:r>
              <a:rPr lang="ko-KR" altLang="en-US" dirty="0"/>
              <a:t>담당자</a:t>
            </a:r>
            <a:r>
              <a:rPr lang="en-US" altLang="ko-KR" dirty="0"/>
              <a:t>/</a:t>
            </a:r>
            <a:r>
              <a:rPr lang="ko-KR" altLang="en-US" dirty="0"/>
              <a:t>직급</a:t>
            </a:r>
          </a:p>
        </p:txBody>
      </p:sp>
      <p:sp>
        <p:nvSpPr>
          <p:cNvPr id="13" name="텍스트 개체 틀 10">
            <a:extLst>
              <a:ext uri="{FF2B5EF4-FFF2-40B4-BE49-F238E27FC236}">
                <a16:creationId xmlns:a16="http://schemas.microsoft.com/office/drawing/2014/main" id="{59E7B7E7-9C05-4667-885B-AB8295A96972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65381" y="6356345"/>
            <a:ext cx="2137340" cy="411493"/>
          </a:xfrm>
          <a:prstGeom prst="rect">
            <a:avLst/>
          </a:prstGeo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1800" b="1" kern="1200" dirty="0">
                <a:solidFill>
                  <a:schemeClr val="tx1"/>
                </a:solidFill>
                <a:latin typeface="+mn-ea"/>
                <a:ea typeface="+mn-ea"/>
                <a:cs typeface="Open Sans" panose="020B0606030504020204" pitchFamily="34" charset="0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대상 업체 로고</a:t>
            </a:r>
            <a:endParaRPr lang="en-US" altLang="ko-KR" dirty="0"/>
          </a:p>
          <a:p>
            <a:pPr lvl="0"/>
            <a:r>
              <a:rPr lang="en-US" altLang="ko-KR" dirty="0"/>
              <a:t>*</a:t>
            </a:r>
            <a:r>
              <a:rPr lang="ko-KR" altLang="en-US" dirty="0"/>
              <a:t>없을 시 무시</a:t>
            </a:r>
          </a:p>
        </p:txBody>
      </p:sp>
    </p:spTree>
    <p:extLst>
      <p:ext uri="{BB962C8B-B14F-4D97-AF65-F5344CB8AC3E}">
        <p14:creationId xmlns:p14="http://schemas.microsoft.com/office/powerpoint/2010/main" val="12977840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9429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4" name="텍스트 개체 틀 2">
            <a:extLst>
              <a:ext uri="{FF2B5EF4-FFF2-40B4-BE49-F238E27FC236}">
                <a16:creationId xmlns:a16="http://schemas.microsoft.com/office/drawing/2014/main" id="{F2EC38CF-E0DA-4E4F-8879-1DB4A59C6FEA}"/>
              </a:ext>
            </a:extLst>
          </p:cNvPr>
          <p:cNvSpPr txBox="1">
            <a:spLocks/>
          </p:cNvSpPr>
          <p:nvPr userDrawn="1"/>
        </p:nvSpPr>
        <p:spPr>
          <a:xfrm>
            <a:off x="554082" y="188574"/>
            <a:ext cx="8797837" cy="56881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altLang="ko-KR" b="1" dirty="0">
                <a:solidFill>
                  <a:schemeClr val="bg1"/>
                </a:solidFill>
                <a:latin typeface="+mn-ea"/>
                <a:cs typeface="한컴돋움" pitchFamily="18" charset="2"/>
              </a:rPr>
              <a:t>CONTENTS</a:t>
            </a:r>
            <a:endParaRPr lang="ko-KR" altLang="en-US" b="1" dirty="0">
              <a:solidFill>
                <a:schemeClr val="bg1"/>
              </a:solidFill>
              <a:latin typeface="+mn-ea"/>
              <a:cs typeface="한컴돋움" pitchFamily="18" charset="2"/>
            </a:endParaRPr>
          </a:p>
        </p:txBody>
      </p:sp>
      <p:sp>
        <p:nvSpPr>
          <p:cNvPr id="7" name="텍스트 개체 틀 6">
            <a:extLst>
              <a:ext uri="{FF2B5EF4-FFF2-40B4-BE49-F238E27FC236}">
                <a16:creationId xmlns:a16="http://schemas.microsoft.com/office/drawing/2014/main" id="{C3C314B1-2864-4E0A-A4EA-09072E8A1F8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122091" y="1997810"/>
            <a:ext cx="4733230" cy="3571718"/>
          </a:xfrm>
          <a:prstGeom prst="rect">
            <a:avLst/>
          </a:prstGeom>
        </p:spPr>
        <p:txBody>
          <a:bodyPr anchor="t"/>
          <a:lstStyle>
            <a:lvl1pPr marL="360363" indent="-360363" algn="l" rtl="0" fontAlgn="base" latinLnBrk="1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romanUcPeriod"/>
              <a:defRPr kumimoji="1" lang="ko-KR" altLang="en-US" sz="28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 marL="1028700" indent="-571500">
              <a:buFont typeface="+mj-lt"/>
              <a:buAutoNum type="romanUcPeriod"/>
              <a:defRPr/>
            </a:lvl2pPr>
            <a:lvl3pPr marL="1428750" indent="-514350">
              <a:buFont typeface="+mj-lt"/>
              <a:buAutoNum type="romanUcPeriod"/>
              <a:defRPr/>
            </a:lvl3pPr>
            <a:lvl4pPr marL="1885950" indent="-514350">
              <a:buFont typeface="+mj-lt"/>
              <a:buAutoNum type="romanUcPeriod"/>
              <a:defRPr/>
            </a:lvl4pPr>
            <a:lvl5pPr marL="2343150" indent="-514350">
              <a:buFont typeface="+mj-lt"/>
              <a:buAutoNum type="romanUcPeriod"/>
              <a:defRPr/>
            </a:lvl5pPr>
          </a:lstStyle>
          <a:p>
            <a:pPr lvl="0"/>
            <a:r>
              <a:rPr lang="ko-KR" altLang="en-US" dirty="0"/>
              <a:t>챕터 제목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016675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세부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00" y="0"/>
            <a:ext cx="1952625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1F2CE6CF-FA78-495B-9442-39017B283AB8}"/>
              </a:ext>
            </a:extLst>
          </p:cNvPr>
          <p:cNvSpPr/>
          <p:nvPr userDrawn="1"/>
        </p:nvSpPr>
        <p:spPr bwMode="auto">
          <a:xfrm>
            <a:off x="2661084" y="1266012"/>
            <a:ext cx="5909568" cy="702000"/>
          </a:xfrm>
          <a:prstGeom prst="rect">
            <a:avLst/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ts val="1400"/>
              </a:lnSpc>
            </a:pPr>
            <a:endParaRPr lang="en-US" altLang="ko-KR" sz="900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4E7EA2D-A154-446D-A624-452F1F9623A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771916" y="1407161"/>
            <a:ext cx="4953000" cy="419702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kumimoji="1" lang="ko-KR" altLang="en-US" sz="2400" b="1" kern="1200" dirty="0">
                <a:solidFill>
                  <a:schemeClr val="accent1">
                    <a:lumMod val="7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  <p:sp>
        <p:nvSpPr>
          <p:cNvPr id="11" name="텍스트 개체 틀 10">
            <a:extLst>
              <a:ext uri="{FF2B5EF4-FFF2-40B4-BE49-F238E27FC236}">
                <a16:creationId xmlns:a16="http://schemas.microsoft.com/office/drawing/2014/main" id="{D2AF3831-91CA-4478-A2C9-FA92065CC9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063405" y="2295122"/>
            <a:ext cx="4507345" cy="914400"/>
          </a:xfrm>
          <a:prstGeom prst="rect">
            <a:avLst/>
          </a:prstGeom>
        </p:spPr>
        <p:txBody>
          <a:bodyPr/>
          <a:lstStyle>
            <a:lvl1pPr marL="342900" indent="-342900" algn="l" rtl="0" eaLnBrk="0" fontAlgn="base" latinLnBrk="0" hangingPunct="0">
              <a:lnSpc>
                <a:spcPct val="150000"/>
              </a:lnSpc>
              <a:spcBef>
                <a:spcPts val="600"/>
              </a:spcBef>
              <a:spcAft>
                <a:spcPct val="0"/>
              </a:spcAft>
              <a:buAutoNum type="arabicPeriod"/>
              <a:defRPr kumimoji="1" lang="ko-KR" altLang="en-US" sz="2000" b="1" kern="1200" dirty="0">
                <a:solidFill>
                  <a:srgbClr val="333333"/>
                </a:solidFill>
                <a:latin typeface="맑은 고딕" pitchFamily="50" charset="-127"/>
                <a:ea typeface="맑은 고딕" pitchFamily="50" charset="-127"/>
                <a:cs typeface="+mn-cs"/>
                <a:sym typeface="Wingdings" pitchFamily="2" charset="2"/>
              </a:defRPr>
            </a:lvl1pPr>
          </a:lstStyle>
          <a:p>
            <a:pPr lvl="0"/>
            <a:r>
              <a:rPr lang="ko-KR" altLang="en-US" dirty="0"/>
              <a:t>주제</a:t>
            </a:r>
          </a:p>
        </p:txBody>
      </p:sp>
    </p:spTree>
    <p:extLst>
      <p:ext uri="{BB962C8B-B14F-4D97-AF65-F5344CB8AC3E}">
        <p14:creationId xmlns:p14="http://schemas.microsoft.com/office/powerpoint/2010/main" val="3414547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1068"/>
          <p:cNvSpPr txBox="1">
            <a:spLocks noChangeArrowheads="1"/>
          </p:cNvSpPr>
          <p:nvPr userDrawn="1"/>
        </p:nvSpPr>
        <p:spPr bwMode="auto">
          <a:xfrm>
            <a:off x="-1513" y="6613337"/>
            <a:ext cx="4162425" cy="2000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91423" tIns="45712" rIns="91423" bIns="45712">
            <a:spAutoFit/>
          </a:bodyPr>
          <a:lstStyle/>
          <a:p>
            <a:pPr eaLnBrk="0" latinLnBrk="0" hangingPunct="0">
              <a:defRPr/>
            </a:pPr>
            <a:r>
              <a:rPr kumimoji="0" lang="ko-KR" altLang="en-US" sz="700" b="0" i="0" dirty="0">
                <a:latin typeface="맑은 고딕"/>
                <a:ea typeface="맑은 고딕"/>
              </a:rPr>
              <a:t>  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Copyright 2024. ECMiner</a:t>
            </a:r>
            <a:r>
              <a:rPr kumimoji="0" lang="en-US" altLang="ko-KR" sz="700" b="0" i="0" baseline="0" dirty="0">
                <a:latin typeface="맑은 고딕"/>
                <a:ea typeface="맑은 고딕"/>
              </a:rPr>
              <a:t> Co., Ltd. a</a:t>
            </a:r>
            <a:r>
              <a:rPr kumimoji="0" lang="en-US" altLang="ko-KR" sz="700" b="0" i="0" dirty="0">
                <a:latin typeface="맑은 고딕"/>
                <a:ea typeface="맑은 고딕"/>
              </a:rPr>
              <a:t>ll rights reserved.</a:t>
            </a:r>
          </a:p>
        </p:txBody>
      </p:sp>
      <p:sp>
        <p:nvSpPr>
          <p:cNvPr id="7" name="Rectangle 6"/>
          <p:cNvSpPr>
            <a:spLocks noChangeArrowheads="1"/>
          </p:cNvSpPr>
          <p:nvPr userDrawn="1"/>
        </p:nvSpPr>
        <p:spPr bwMode="auto">
          <a:xfrm>
            <a:off x="4797199" y="6597352"/>
            <a:ext cx="311602" cy="195814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13500000">
              <a:schemeClr val="bg2"/>
            </a:prstShdw>
          </a:effectLst>
        </p:spPr>
        <p:txBody>
          <a:bodyPr wrap="none" lIns="90000" tIns="36000" rIns="90000" bIns="36000">
            <a:spAutoFit/>
          </a:bodyPr>
          <a:lstStyle/>
          <a:p>
            <a:pPr algn="ctr">
              <a:defRPr/>
            </a:pPr>
            <a:fld id="{222CA80C-32BB-49ED-A851-5BF43CB034FC}" type="slidenum">
              <a:rPr lang="ko-KR" altLang="en-US" sz="800" b="0">
                <a:solidFill>
                  <a:prstClr val="black"/>
                </a:solidFill>
                <a:latin typeface="+mn-ea"/>
                <a:ea typeface="+mn-ea"/>
              </a:rPr>
              <a:pPr algn="ctr">
                <a:defRPr/>
              </a:pPr>
              <a:t>‹#›</a:t>
            </a:fld>
            <a:endParaRPr lang="en-US" altLang="ko-KR" sz="800" b="0" dirty="0">
              <a:solidFill>
                <a:prstClr val="black"/>
              </a:solidFill>
              <a:latin typeface="+mn-ea"/>
              <a:ea typeface="+mn-ea"/>
            </a:endParaRPr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1494"/>
            <a:ext cx="9906000" cy="561975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40822" y="6579514"/>
            <a:ext cx="939299" cy="216000"/>
          </a:xfrm>
          <a:prstGeom prst="rect">
            <a:avLst/>
          </a:prstGeom>
        </p:spPr>
      </p:pic>
      <p:sp>
        <p:nvSpPr>
          <p:cNvPr id="14" name="텍스트 개체 틀 19">
            <a:extLst>
              <a:ext uri="{FF2B5EF4-FFF2-40B4-BE49-F238E27FC236}">
                <a16:creationId xmlns:a16="http://schemas.microsoft.com/office/drawing/2014/main" id="{6BEA6CC4-7B5D-42C1-89CC-4D5372474DE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09708" y="572858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>
              <a:buFont typeface="Wingdings" panose="05000000000000000000" pitchFamily="2" charset="2"/>
              <a:buChar char="§"/>
              <a:tabLst>
                <a:tab pos="0" algn="l"/>
              </a:tabLst>
              <a:defRPr sz="1600" b="1"/>
            </a:lvl1pPr>
            <a:lvl2pPr marL="457200" indent="0">
              <a:buNone/>
              <a:defRPr/>
            </a:lvl2pPr>
          </a:lstStyle>
          <a:p>
            <a:pPr lvl="0"/>
            <a:r>
              <a:rPr lang="ko-KR" altLang="en-US" dirty="0"/>
              <a:t>소주제</a:t>
            </a:r>
          </a:p>
        </p:txBody>
      </p:sp>
      <p:sp>
        <p:nvSpPr>
          <p:cNvPr id="15" name="텍스트 개체 틀 21">
            <a:extLst>
              <a:ext uri="{FF2B5EF4-FFF2-40B4-BE49-F238E27FC236}">
                <a16:creationId xmlns:a16="http://schemas.microsoft.com/office/drawing/2014/main" id="{55D5FE98-3A06-4B9D-8C1C-494B1EC85FD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2309" y="922627"/>
            <a:ext cx="9270641" cy="708950"/>
          </a:xfrm>
          <a:prstGeom prst="rect">
            <a:avLst/>
          </a:prstGeom>
        </p:spPr>
        <p:txBody>
          <a:bodyPr lIns="72000" tIns="36000"/>
          <a:lstStyle>
            <a:lvl1pPr marL="0" indent="0" latinLnBrk="0">
              <a:lnSpc>
                <a:spcPct val="100000"/>
              </a:lnSpc>
              <a:spcBef>
                <a:spcPts val="0"/>
              </a:spcBef>
              <a:buNone/>
              <a:defRPr sz="1400"/>
            </a:lvl1pPr>
          </a:lstStyle>
          <a:p>
            <a:pPr lvl="0"/>
            <a:r>
              <a:rPr lang="en-US" altLang="ko-KR" dirty="0"/>
              <a:t>*</a:t>
            </a:r>
            <a:r>
              <a:rPr lang="ko-KR" altLang="en-US" dirty="0"/>
              <a:t>글자 폰트 </a:t>
            </a:r>
            <a:r>
              <a:rPr lang="en-US" altLang="ko-KR" dirty="0"/>
              <a:t>14 </a:t>
            </a:r>
            <a:r>
              <a:rPr lang="ko-KR" altLang="en-US" dirty="0"/>
              <a:t>유지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최대 </a:t>
            </a:r>
            <a:r>
              <a:rPr lang="en-US" altLang="ko-KR" dirty="0"/>
              <a:t>3</a:t>
            </a:r>
            <a:r>
              <a:rPr lang="ko-KR" altLang="en-US" dirty="0"/>
              <a:t>줄까지 기입                                                                                                                      </a:t>
            </a:r>
            <a:r>
              <a:rPr lang="en-US" altLang="ko-KR" dirty="0"/>
              <a:t>*</a:t>
            </a:r>
            <a:r>
              <a:rPr lang="ko-KR" altLang="en-US" dirty="0"/>
              <a:t>그림 자료가 주 내용일 경우</a:t>
            </a:r>
            <a:r>
              <a:rPr lang="en-US" altLang="ko-KR" dirty="0"/>
              <a:t>, </a:t>
            </a:r>
            <a:r>
              <a:rPr lang="ko-KR" altLang="en-US" dirty="0"/>
              <a:t>삭제 가능</a:t>
            </a:r>
          </a:p>
        </p:txBody>
      </p:sp>
      <p:sp>
        <p:nvSpPr>
          <p:cNvPr id="16" name="제목 9">
            <a:extLst>
              <a:ext uri="{FF2B5EF4-FFF2-40B4-BE49-F238E27FC236}">
                <a16:creationId xmlns:a16="http://schemas.microsoft.com/office/drawing/2014/main" id="{4218302E-124C-470D-BB79-F671E8D10CB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0472" y="76562"/>
            <a:ext cx="8543925" cy="400110"/>
          </a:xfrm>
          <a:prstGeom prst="rect">
            <a:avLst/>
          </a:prstGeom>
          <a:noFill/>
          <a:ln w="12700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>
            <a:lvl1pPr algn="l">
              <a:defRPr kumimoji="0" lang="ko-KR" altLang="en-US" sz="2000" b="1" i="0" u="none" strike="noStrike" cap="none" spc="0" normalizeH="0" baseline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Arial" charset="0"/>
                <a:sym typeface="Wingdings" pitchFamily="2" charset="2"/>
              </a:defRPr>
            </a:lvl1pPr>
          </a:lstStyle>
          <a:p>
            <a:pPr marL="0" marR="0" lvl="0" indent="0" algn="l" defTabSz="914400" eaLnBrk="1" latinLnBrk="0" hangingPunct="1">
              <a:lnSpc>
                <a:spcPct val="100000"/>
              </a:lnSpc>
              <a:spcBef>
                <a:spcPct val="50000"/>
              </a:spcBef>
              <a:buClr>
                <a:srgbClr val="4D4D4D"/>
              </a:buClr>
              <a:buSzTx/>
              <a:buFont typeface="Arial" charset="0"/>
              <a:buNone/>
              <a:tabLst/>
            </a:pPr>
            <a:r>
              <a:rPr lang="en-US" altLang="ko-KR" dirty="0"/>
              <a:t>1. </a:t>
            </a:r>
            <a:r>
              <a:rPr lang="ko-KR" altLang="en-US" dirty="0"/>
              <a:t>주제</a:t>
            </a:r>
          </a:p>
        </p:txBody>
      </p:sp>
      <p:sp>
        <p:nvSpPr>
          <p:cNvPr id="17" name="텍스트 개체 틀 3">
            <a:extLst>
              <a:ext uri="{FF2B5EF4-FFF2-40B4-BE49-F238E27FC236}">
                <a16:creationId xmlns:a16="http://schemas.microsoft.com/office/drawing/2014/main" id="{43F91B20-EC10-49FE-B09E-1E543401CC1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35096" y="273600"/>
            <a:ext cx="2952000" cy="277200"/>
          </a:xfrm>
          <a:prstGeom prst="rect">
            <a:avLst/>
          </a:prstGeom>
        </p:spPr>
        <p:txBody>
          <a:bodyPr anchor="ctr"/>
          <a:lstStyle>
            <a:lvl1pPr marL="0" indent="0" algn="r">
              <a:buFontTx/>
              <a:buNone/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1pPr>
            <a:lvl2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2pPr>
            <a:lvl3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3pPr>
            <a:lvl4pPr>
              <a:defRPr kumimoji="1" lang="ko-KR" altLang="en-US" sz="1200" b="1" kern="1200" dirty="0" smtClean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4pPr>
            <a:lvl5pPr>
              <a:defRPr kumimoji="1" lang="ko-KR" altLang="en-US" sz="1200" b="1" kern="1200" dirty="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  <a:sym typeface="Wingdings" pitchFamily="2" charset="2"/>
              </a:defRPr>
            </a:lvl5pPr>
          </a:lstStyle>
          <a:p>
            <a:pPr lvl="0"/>
            <a:r>
              <a:rPr lang="en-US" altLang="ko-KR" dirty="0"/>
              <a:t>I. </a:t>
            </a:r>
            <a:r>
              <a:rPr lang="ko-KR" altLang="en-US" dirty="0"/>
              <a:t>챕터 제목</a:t>
            </a:r>
          </a:p>
        </p:txBody>
      </p:sp>
    </p:spTree>
    <p:extLst>
      <p:ext uri="{BB962C8B-B14F-4D97-AF65-F5344CB8AC3E}">
        <p14:creationId xmlns:p14="http://schemas.microsoft.com/office/powerpoint/2010/main" val="9861827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종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-1563"/>
            <a:ext cx="9906000" cy="6238875"/>
          </a:xfrm>
          <a:prstGeom prst="rect">
            <a:avLst/>
          </a:prstGeom>
        </p:spPr>
      </p:pic>
      <p:sp>
        <p:nvSpPr>
          <p:cNvPr id="3" name="Rectangle 10"/>
          <p:cNvSpPr>
            <a:spLocks noChangeArrowheads="1"/>
          </p:cNvSpPr>
          <p:nvPr userDrawn="1"/>
        </p:nvSpPr>
        <p:spPr bwMode="auto">
          <a:xfrm>
            <a:off x="5544274" y="4536505"/>
            <a:ext cx="4245264" cy="13924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anchor="ctr" anchorCtr="0"/>
          <a:lstStyle/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㈜</a:t>
            </a:r>
            <a:r>
              <a:rPr lang="ko-KR" altLang="en-US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이씨마이너</a:t>
            </a:r>
            <a:endParaRPr lang="ko-KR" altLang="en-US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endParaRPr lang="ko-KR" altLang="en-US" sz="1200" b="1" dirty="0">
              <a:solidFill>
                <a:schemeClr val="bg1">
                  <a:lumMod val="9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ko-KR" altLang="en-US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서울특별시 강남구 </a:t>
            </a:r>
            <a:r>
              <a:rPr lang="ko-KR" altLang="en-US" sz="1200" b="1" dirty="0" err="1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논현로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28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길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54 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덕원빌딩 </a:t>
            </a: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층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Tel  02-552-5266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Fax  02-566-0768</a:t>
            </a:r>
          </a:p>
          <a:p>
            <a:pPr marL="342900" indent="-342900" algn="r">
              <a:lnSpc>
                <a:spcPct val="80000"/>
              </a:lnSpc>
              <a:spcBef>
                <a:spcPct val="20000"/>
              </a:spcBef>
            </a:pPr>
            <a:r>
              <a:rPr lang="en-US" altLang="ko-KR" sz="1200" b="1" dirty="0">
                <a:solidFill>
                  <a:schemeClr val="bg1">
                    <a:lumMod val="9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URL - http://www.ecminer.com</a:t>
            </a:r>
          </a:p>
        </p:txBody>
      </p:sp>
      <p:sp>
        <p:nvSpPr>
          <p:cNvPr id="5" name="Rectangle 14"/>
          <p:cNvSpPr>
            <a:spLocks noChangeArrowheads="1"/>
          </p:cNvSpPr>
          <p:nvPr userDrawn="1"/>
        </p:nvSpPr>
        <p:spPr bwMode="gray">
          <a:xfrm>
            <a:off x="56456" y="6431765"/>
            <a:ext cx="7704856" cy="246221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>
            <a:prstShdw prst="shdw17" dist="17961" dir="2700000">
              <a:schemeClr val="accent1">
                <a:gamma/>
                <a:shade val="60000"/>
                <a:invGamma/>
              </a:schemeClr>
            </a:prstShdw>
          </a:effectLst>
        </p:spPr>
        <p:txBody>
          <a:bodyPr wrap="square" anchor="ctr">
            <a:spAutoFit/>
          </a:bodyPr>
          <a:lstStyle/>
          <a:p>
            <a:pPr>
              <a:defRPr/>
            </a:pPr>
            <a:r>
              <a:rPr lang="ko-KR" altLang="en-US" sz="1000" b="1" dirty="0">
                <a:latin typeface="+mn-ea"/>
                <a:ea typeface="+mn-ea"/>
              </a:rPr>
              <a:t>본 문서는 </a:t>
            </a:r>
            <a:r>
              <a:rPr lang="en-US" altLang="ko-KR" sz="1000" b="1" dirty="0">
                <a:latin typeface="+mn-ea"/>
                <a:ea typeface="+mn-ea"/>
              </a:rPr>
              <a:t>㈜</a:t>
            </a:r>
            <a:r>
              <a:rPr lang="ko-KR" altLang="en-US" sz="1000" b="1" dirty="0">
                <a:latin typeface="+mn-ea"/>
                <a:ea typeface="+mn-ea"/>
              </a:rPr>
              <a:t>이씨마이너의 기밀정보 및 영업비밀을 포함하고 있으므로</a:t>
            </a:r>
            <a:r>
              <a:rPr lang="en-US" altLang="ko-KR" sz="1000" b="1" dirty="0">
                <a:latin typeface="+mn-ea"/>
                <a:ea typeface="+mn-ea"/>
              </a:rPr>
              <a:t>, </a:t>
            </a:r>
            <a:r>
              <a:rPr lang="ko-KR" altLang="en-US" sz="1000" b="1" dirty="0">
                <a:latin typeface="+mn-ea"/>
                <a:ea typeface="+mn-ea"/>
              </a:rPr>
              <a:t>제공된 목적 외에 무단으로 복제되거나</a:t>
            </a:r>
            <a:r>
              <a:rPr lang="en-US" altLang="ko-KR" sz="1000" b="1" dirty="0">
                <a:latin typeface="+mn-ea"/>
                <a:ea typeface="+mn-ea"/>
              </a:rPr>
              <a:t> </a:t>
            </a:r>
            <a:r>
              <a:rPr lang="ko-KR" altLang="en-US" sz="1000" b="1" dirty="0">
                <a:latin typeface="+mn-ea"/>
                <a:ea typeface="+mn-ea"/>
              </a:rPr>
              <a:t>배포될 수 없습니다</a:t>
            </a:r>
            <a:r>
              <a:rPr lang="en-US" altLang="ko-KR" sz="1000" b="1" dirty="0">
                <a:latin typeface="+mn-ea"/>
                <a:ea typeface="+mn-ea"/>
              </a:rPr>
              <a:t>.</a:t>
            </a:r>
          </a:p>
        </p:txBody>
      </p:sp>
      <p:sp>
        <p:nvSpPr>
          <p:cNvPr id="6" name="TextBox 5"/>
          <p:cNvSpPr txBox="1"/>
          <p:nvPr userDrawn="1"/>
        </p:nvSpPr>
        <p:spPr>
          <a:xfrm>
            <a:off x="3375123" y="2331628"/>
            <a:ext cx="3153427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400" b="0" dirty="0">
                <a:solidFill>
                  <a:schemeClr val="bg1"/>
                </a:solidFill>
                <a:latin typeface="+mn-ea"/>
                <a:ea typeface="+mn-ea"/>
              </a:rPr>
              <a:t>감사합니다</a:t>
            </a:r>
            <a:r>
              <a:rPr lang="en-US" altLang="ko-KR" sz="4400" b="0" dirty="0">
                <a:solidFill>
                  <a:schemeClr val="bg1"/>
                </a:solidFill>
                <a:latin typeface="+mn-ea"/>
                <a:ea typeface="+mn-ea"/>
              </a:rPr>
              <a:t>.</a:t>
            </a:r>
            <a:endParaRPr lang="ko-KR" altLang="en-US" sz="4400" b="0" dirty="0">
              <a:solidFill>
                <a:schemeClr val="bg1"/>
              </a:solidFill>
              <a:latin typeface="+mn-ea"/>
              <a:ea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70652" y="6427458"/>
            <a:ext cx="1252399" cy="28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997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6967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1" r:id="rId1"/>
    <p:sldLayoutId id="2147483810" r:id="rId2"/>
    <p:sldLayoutId id="2147483803" r:id="rId3"/>
    <p:sldLayoutId id="2147483808" r:id="rId4"/>
    <p:sldLayoutId id="2147483804" r:id="rId5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gi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7" Type="http://schemas.openxmlformats.org/officeDocument/2006/relationships/image" Target="../media/image16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27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>
            <a:extLst>
              <a:ext uri="{FF2B5EF4-FFF2-40B4-BE49-F238E27FC236}">
                <a16:creationId xmlns:a16="http://schemas.microsoft.com/office/drawing/2014/main" id="{6FB9C259-F067-4F41-A6FB-E2E1BE7869EE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545636" y="1740473"/>
            <a:ext cx="6814729" cy="1216815"/>
          </a:xfrm>
        </p:spPr>
        <p:txBody>
          <a:bodyPr/>
          <a:lstStyle/>
          <a:p>
            <a:r>
              <a:rPr lang="en-US" altLang="ko-KR" dirty="0"/>
              <a:t>Q-learning (grid</a:t>
            </a:r>
            <a:r>
              <a:rPr lang="ko-KR" altLang="en-US" dirty="0"/>
              <a:t> </a:t>
            </a:r>
            <a:r>
              <a:rPr lang="en-US" altLang="ko-KR" dirty="0"/>
              <a:t>world) </a:t>
            </a:r>
            <a:r>
              <a:rPr lang="ko-KR" altLang="en-US" dirty="0"/>
              <a:t>구현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3535A55-B1BF-4C4C-B8BD-EE34EE9B9E2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altLang="ko-KR" dirty="0"/>
              <a:t>2025</a:t>
            </a:r>
            <a:r>
              <a:rPr lang="ko-KR" altLang="en-US" dirty="0"/>
              <a:t>년 </a:t>
            </a:r>
            <a:r>
              <a:rPr lang="en-US" altLang="ko-KR" dirty="0"/>
              <a:t>9</a:t>
            </a:r>
            <a:r>
              <a:rPr lang="ko-KR" altLang="en-US" dirty="0"/>
              <a:t>월 </a:t>
            </a:r>
            <a:r>
              <a:rPr lang="en-US" altLang="ko-KR" dirty="0"/>
              <a:t>22</a:t>
            </a:r>
            <a:r>
              <a:rPr lang="ko-KR" altLang="en-US" dirty="0"/>
              <a:t>일</a:t>
            </a:r>
            <a:endParaRPr lang="en-US" altLang="ko-KR" dirty="0"/>
          </a:p>
          <a:p>
            <a:r>
              <a:rPr lang="ko-KR" altLang="en-US" dirty="0" err="1"/>
              <a:t>김선중</a:t>
            </a:r>
            <a:r>
              <a:rPr lang="ko-KR" altLang="en-US" dirty="0"/>
              <a:t> 선임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41FF10-64BF-4D1E-B03D-21849AC56EE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80798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5F683B-B27B-FC32-B7FC-D23A3717B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4C368F94-C493-566A-D6C2-C5C04F55BC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Q-learning (grid world) </a:t>
            </a:r>
            <a:r>
              <a:rPr lang="ko-KR" altLang="en-US" dirty="0">
                <a:latin typeface="+mn-ea"/>
              </a:rPr>
              <a:t>구현 </a:t>
            </a:r>
            <a:r>
              <a:rPr lang="en-US" altLang="ko-KR" dirty="0">
                <a:latin typeface="+mn-ea"/>
              </a:rPr>
              <a:t>(1/4)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07A6A61A-EADE-3654-F03F-5AC5F62C8D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강화학습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94B12EA-A6A5-9FBB-091A-2058BC554E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Q-learning</a:t>
            </a:r>
            <a:endParaRPr lang="ko-KR" altLang="en-US" dirty="0"/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42A20DF5-4514-2944-65F1-A208F1F841C7}"/>
              </a:ext>
            </a:extLst>
          </p:cNvPr>
          <p:cNvGrpSpPr/>
          <p:nvPr/>
        </p:nvGrpSpPr>
        <p:grpSpPr>
          <a:xfrm>
            <a:off x="1636127" y="2969642"/>
            <a:ext cx="5641550" cy="2312925"/>
            <a:chOff x="1636127" y="2535537"/>
            <a:chExt cx="5641550" cy="2312925"/>
          </a:xfrm>
        </p:grpSpPr>
        <p:pic>
          <p:nvPicPr>
            <p:cNvPr id="11" name="그림 10">
              <a:extLst>
                <a:ext uri="{FF2B5EF4-FFF2-40B4-BE49-F238E27FC236}">
                  <a16:creationId xmlns:a16="http://schemas.microsoft.com/office/drawing/2014/main" id="{771FFDD0-13B9-D434-9AAB-ABBB84D0F11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36127" y="2535537"/>
              <a:ext cx="5641550" cy="2312925"/>
            </a:xfrm>
            <a:prstGeom prst="rect">
              <a:avLst/>
            </a:prstGeom>
          </p:spPr>
        </p:pic>
        <p:cxnSp>
          <p:nvCxnSpPr>
            <p:cNvPr id="19" name="직선 연결선 18">
              <a:extLst>
                <a:ext uri="{FF2B5EF4-FFF2-40B4-BE49-F238E27FC236}">
                  <a16:creationId xmlns:a16="http://schemas.microsoft.com/office/drawing/2014/main" id="{F9C7483F-B3AE-B2EC-768F-F2981141B5BD}"/>
                </a:ext>
              </a:extLst>
            </p:cNvPr>
            <p:cNvCxnSpPr/>
            <p:nvPr/>
          </p:nvCxnSpPr>
          <p:spPr>
            <a:xfrm>
              <a:off x="2188152" y="4395652"/>
              <a:ext cx="36195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F818D8E4-157C-909C-A505-051FAF6E4676}"/>
              </a:ext>
            </a:extLst>
          </p:cNvPr>
          <p:cNvCxnSpPr>
            <a:cxnSpLocks/>
          </p:cNvCxnSpPr>
          <p:nvPr/>
        </p:nvCxnSpPr>
        <p:spPr>
          <a:xfrm>
            <a:off x="752475" y="2623600"/>
            <a:ext cx="1447800" cy="0"/>
          </a:xfrm>
          <a:prstGeom prst="line">
            <a:avLst/>
          </a:prstGeom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3FBACE1F-49F7-985C-3EEC-9FBB5A5CF307}"/>
                  </a:ext>
                </a:extLst>
              </p:cNvPr>
              <p:cNvSpPr>
                <a:spLocks noGrp="1"/>
              </p:cNvSpPr>
              <p:nvPr>
                <p:ph type="body" sz="quarter" idx="11"/>
              </p:nvPr>
            </p:nvSpPr>
            <p:spPr/>
            <p:txBody>
              <a:bodyPr/>
              <a:lstStyle/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en-US" altLang="ko-KR" b="1" dirty="0"/>
                  <a:t>"</a:t>
                </a:r>
                <a:r>
                  <a:rPr lang="ko-KR" altLang="en-US" b="1" dirty="0"/>
                  <a:t>각 상황에서 어떤 행동이 가장 </a:t>
                </a:r>
                <a:r>
                  <a:rPr lang="ko-KR" altLang="en-US" b="1" dirty="0" err="1"/>
                  <a:t>좋은지</a:t>
                </a:r>
                <a:r>
                  <a:rPr lang="ko-KR" altLang="en-US" b="1" dirty="0"/>
                  <a:t> 점수표를 만들어 나가자</a:t>
                </a:r>
                <a:r>
                  <a:rPr lang="en-US" altLang="ko-KR" b="1" dirty="0"/>
                  <a:t>"</a:t>
                </a:r>
                <a:endParaRPr lang="en-US" altLang="ko-KR" dirty="0">
                  <a:latin typeface="+mn-ea"/>
                </a:endParaRPr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>
                    <a:latin typeface="+mn-ea"/>
                  </a:rPr>
                  <a:t>행동가치함수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𝑄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𝜋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𝐸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]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 dirty="0">
                    <a:latin typeface="+mn-ea"/>
                  </a:rPr>
                  <a:t> </a:t>
                </a:r>
                <a:r>
                  <a:rPr lang="ko-KR" altLang="en-US" dirty="0">
                    <a:latin typeface="+mn-ea"/>
                  </a:rPr>
                  <a:t>표로 만들어 지속적으로 업데이트하는 방식</a:t>
                </a:r>
                <a:endParaRPr lang="en-US" altLang="ko-KR" dirty="0"/>
              </a:p>
              <a:p>
                <a:pPr marL="360000" lvl="1" indent="-18000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표의 크기는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ko-KR" sz="1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altLang="ko-KR" sz="140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lang="en-US" altLang="ko-KR" sz="1400" i="1">
                        <a:latin typeface="Cambria Math" panose="02040503050406030204" pitchFamily="18" charset="0"/>
                      </a:rPr>
                      <m:t>×|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𝑆</m:t>
                    </m:r>
                    <m:r>
                      <a:rPr lang="en-US" altLang="ko-KR" sz="1400" i="1"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lang="ko-KR" altLang="en-US" sz="1400" dirty="0"/>
                  <a:t>형식</a:t>
                </a:r>
                <a:endParaRPr lang="en-US" altLang="ko-KR" sz="1400" dirty="0"/>
              </a:p>
              <a:p>
                <a:pPr marL="360000" lvl="1" indent="-180000">
                  <a:buFont typeface="Arial" panose="020B0604020202020204" pitchFamily="34" charset="0"/>
                  <a:buChar char="•"/>
                </a:pPr>
                <a:r>
                  <a:rPr lang="ko-KR" altLang="en-US" sz="1400" dirty="0"/>
                  <a:t>따라서 </a:t>
                </a:r>
                <a:r>
                  <a:rPr lang="en-US" altLang="ko-KR" sz="1400" dirty="0"/>
                  <a:t>Q-learning</a:t>
                </a:r>
                <a:r>
                  <a:rPr lang="ko-KR" altLang="en-US" sz="1400" dirty="0"/>
                  <a:t>은 </a:t>
                </a:r>
                <a:r>
                  <a:rPr lang="en-US" altLang="ko-KR" sz="1400" dirty="0"/>
                  <a:t>state space</a:t>
                </a:r>
                <a:r>
                  <a:rPr lang="ko-KR" altLang="en-US" sz="1400" dirty="0"/>
                  <a:t>와 </a:t>
                </a:r>
                <a:r>
                  <a:rPr lang="en-US" altLang="ko-KR" sz="1400" dirty="0"/>
                  <a:t>action space</a:t>
                </a:r>
                <a:r>
                  <a:rPr lang="ko-KR" altLang="en-US" sz="1400" dirty="0"/>
                  <a:t>가 유한한 경우에만 사용 가능</a:t>
                </a:r>
                <a:endParaRPr lang="en-US" altLang="ko-KR" sz="1400" dirty="0"/>
              </a:p>
              <a:p>
                <a:pPr marL="285750" indent="-285750">
                  <a:buFont typeface="Wingdings" panose="05000000000000000000" pitchFamily="2" charset="2"/>
                  <a:buChar char="ü"/>
                </a:pPr>
                <a:r>
                  <a:rPr lang="ko-KR" altLang="en-US" dirty="0"/>
                  <a:t>학습과정</a:t>
                </a:r>
                <a:endParaRPr lang="en-US" altLang="ko-KR" dirty="0"/>
              </a:p>
              <a:p>
                <a:pPr marL="360000" lvl="1" indent="-18000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ko-KR" sz="1400" i="1" dirty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altLang="ko-KR" sz="1400" dirty="0"/>
                  <a:t>greedy </a:t>
                </a:r>
                <a:r>
                  <a:rPr lang="ko-KR" altLang="en-US" sz="1400" dirty="0"/>
                  <a:t>방식을 통한 행동선택 </a:t>
                </a:r>
                <a:r>
                  <a:rPr lang="en-US" altLang="ko-KR" sz="1400" dirty="0"/>
                  <a:t>(</a:t>
                </a:r>
                <a:r>
                  <a:rPr lang="ko-KR" altLang="en-US" sz="1400" dirty="0"/>
                  <a:t>다음 상태는 행동에 의해 결정됨</a:t>
                </a:r>
                <a:r>
                  <a:rPr lang="en-US" altLang="ko-KR" sz="1400" dirty="0"/>
                  <a:t>)</a:t>
                </a:r>
              </a:p>
              <a:p>
                <a:pPr marL="360000" lvl="1" indent="-180000">
                  <a:buFont typeface="Arial" panose="020B0604020202020204" pitchFamily="34" charset="0"/>
                  <a:buChar char="•"/>
                </a:pPr>
                <a:r>
                  <a:rPr lang="en-US" altLang="ko-KR" sz="1400" dirty="0"/>
                  <a:t>Q table </a:t>
                </a:r>
                <a:r>
                  <a:rPr lang="ko-KR" altLang="en-US" sz="1400" dirty="0"/>
                  <a:t>업데이트</a:t>
                </a:r>
                <a:endParaRPr lang="ko-KR" altLang="en-US" dirty="0"/>
              </a:p>
            </p:txBody>
          </p:sp>
        </mc:Choice>
        <mc:Fallback>
          <p:sp>
            <p:nvSpPr>
              <p:cNvPr id="6" name="텍스트 개체 틀 5">
                <a:extLst>
                  <a:ext uri="{FF2B5EF4-FFF2-40B4-BE49-F238E27FC236}">
                    <a16:creationId xmlns:a16="http://schemas.microsoft.com/office/drawing/2014/main" id="{3FBACE1F-49F7-985C-3EEC-9FBB5A5CF30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1"/>
              </p:nvPr>
            </p:nvSpPr>
            <p:spPr>
              <a:blipFill>
                <a:blip r:embed="rId3"/>
                <a:stretch>
                  <a:fillRect l="-263" t="-2564" b="-153846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0424ED-F71F-4908-7338-F68BB7AAB36E}"/>
                  </a:ext>
                </a:extLst>
              </p:cNvPr>
              <p:cNvSpPr txBox="1"/>
              <p:nvPr/>
            </p:nvSpPr>
            <p:spPr>
              <a:xfrm>
                <a:off x="2577176" y="5309887"/>
                <a:ext cx="3916680" cy="76944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altLang="ko-KR" sz="1100" b="0" dirty="0">
                    <a:latin typeface="+mn-ea"/>
                    <a:ea typeface="+mn-ea"/>
                  </a:rPr>
                  <a:t>※</a:t>
                </a:r>
                <a:r>
                  <a:rPr lang="ko-KR" altLang="en-US" sz="1100" b="0" dirty="0">
                    <a:latin typeface="+mn-ea"/>
                    <a:ea typeface="+mn-ea"/>
                  </a:rPr>
                  <a:t> </a:t>
                </a:r>
                <a:r>
                  <a:rPr lang="en-US" altLang="ko-KR" sz="1100" b="0" dirty="0">
                    <a:latin typeface="+mn-ea"/>
                    <a:ea typeface="+mn-ea"/>
                  </a:rPr>
                  <a:t>Q table </a:t>
                </a:r>
                <a:r>
                  <a:rPr lang="ko-KR" altLang="en-US" sz="1100" b="0" dirty="0">
                    <a:latin typeface="+mn-ea"/>
                    <a:ea typeface="+mn-ea"/>
                  </a:rPr>
                  <a:t>업데이트 상세</a:t>
                </a:r>
                <a:endParaRPr lang="en-US" altLang="ko-KR" sz="1100" b="0" dirty="0">
                  <a:latin typeface="+mn-ea"/>
                  <a:ea typeface="+mn-ea"/>
                </a:endParaRPr>
              </a:p>
              <a:p>
                <a:r>
                  <a:rPr lang="ko-KR" altLang="en-US" sz="1100" b="0" dirty="0" err="1">
                    <a:latin typeface="+mn-ea"/>
                    <a:ea typeface="+mn-ea"/>
                  </a:rPr>
                  <a:t>현재값</a:t>
                </a:r>
                <a:r>
                  <a:rPr lang="ko-KR" altLang="en-US" sz="1100" b="0" dirty="0">
                    <a:latin typeface="+mn-ea"/>
                    <a:ea typeface="+mn-ea"/>
                  </a:rPr>
                  <a:t> </a:t>
                </a:r>
                <a:r>
                  <a:rPr lang="en-US" altLang="ko-KR" sz="1100" b="0" dirty="0">
                    <a:latin typeface="+mn-ea"/>
                    <a:ea typeface="+mn-ea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1100" b="0" i="1" dirty="0" smtClean="0">
                        <a:latin typeface="Cambria Math" panose="02040503050406030204" pitchFamily="18" charset="0"/>
                        <a:ea typeface="+mn-ea"/>
                      </a:rPr>
                      <m:t>𝑄</m:t>
                    </m:r>
                    <m:r>
                      <a:rPr lang="en-US" altLang="ko-KR" sz="1100" b="0" i="1" dirty="0" smtClean="0">
                        <a:latin typeface="Cambria Math" panose="02040503050406030204" pitchFamily="18" charset="0"/>
                        <a:ea typeface="+mn-ea"/>
                      </a:rPr>
                      <m:t>(</m:t>
                    </m:r>
                    <m:r>
                      <a:rPr lang="en-US" altLang="ko-KR" sz="1100" b="0" i="1" dirty="0" smtClean="0">
                        <a:latin typeface="Cambria Math" panose="02040503050406030204" pitchFamily="18" charset="0"/>
                        <a:ea typeface="+mn-ea"/>
                      </a:rPr>
                      <m:t>𝑆</m:t>
                    </m:r>
                    <m:r>
                      <a:rPr lang="en-US" altLang="ko-KR" sz="1100" b="0" i="1" dirty="0" smtClean="0">
                        <a:latin typeface="Cambria Math" panose="02040503050406030204" pitchFamily="18" charset="0"/>
                        <a:ea typeface="+mn-ea"/>
                      </a:rPr>
                      <m:t>,</m:t>
                    </m:r>
                    <m:r>
                      <a:rPr lang="en-US" altLang="ko-KR" sz="1100" b="0" i="1" dirty="0" smtClean="0">
                        <a:latin typeface="Cambria Math" panose="02040503050406030204" pitchFamily="18" charset="0"/>
                        <a:ea typeface="+mn-ea"/>
                      </a:rPr>
                      <m:t>𝐴</m:t>
                    </m:r>
                    <m:r>
                      <a:rPr lang="en-US" altLang="ko-KR" sz="1100" b="0" i="1" dirty="0" smtClean="0">
                        <a:latin typeface="Cambria Math" panose="02040503050406030204" pitchFamily="18" charset="0"/>
                        <a:ea typeface="+mn-ea"/>
                      </a:rPr>
                      <m:t>)</m:t>
                    </m:r>
                  </m:oMath>
                </a14:m>
                <a:endParaRPr lang="en-US" altLang="ko-KR" sz="1100" b="0" dirty="0">
                  <a:latin typeface="+mn-ea"/>
                  <a:ea typeface="+mn-ea"/>
                </a:endParaRPr>
              </a:p>
              <a:p>
                <a:r>
                  <a:rPr lang="ko-KR" altLang="en-US" sz="1100" b="0" dirty="0" err="1">
                    <a:latin typeface="+mn-ea"/>
                    <a:ea typeface="+mn-ea"/>
                  </a:rPr>
                  <a:t>목표값</a:t>
                </a:r>
                <a:r>
                  <a:rPr lang="ko-KR" altLang="en-US" sz="1100" b="0" dirty="0">
                    <a:latin typeface="+mn-ea"/>
                    <a:ea typeface="+mn-ea"/>
                  </a:rPr>
                  <a:t> </a:t>
                </a:r>
                <a:r>
                  <a:rPr lang="en-US" altLang="ko-KR" sz="1100" b="0" dirty="0">
                    <a:latin typeface="+mn-ea"/>
                    <a:ea typeface="+mn-ea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ko-KR" sz="1100" b="0" i="1" dirty="0" smtClean="0">
                        <a:latin typeface="Cambria Math" panose="02040503050406030204" pitchFamily="18" charset="0"/>
                        <a:ea typeface="+mn-ea"/>
                      </a:rPr>
                      <m:t>𝑅</m:t>
                    </m:r>
                    <m:r>
                      <a:rPr lang="en-US" altLang="ko-KR" sz="1100" b="0" i="1" dirty="0" smtClean="0">
                        <a:latin typeface="Cambria Math" panose="02040503050406030204" pitchFamily="18" charset="0"/>
                        <a:ea typeface="+mn-ea"/>
                      </a:rPr>
                      <m:t>+</m:t>
                    </m:r>
                    <m:r>
                      <a:rPr lang="en-US" altLang="ko-KR" sz="1100" b="0" i="1" dirty="0" smtClean="0">
                        <a:latin typeface="Cambria Math" panose="02040503050406030204" pitchFamily="18" charset="0"/>
                        <a:ea typeface="+mn-ea"/>
                      </a:rPr>
                      <m:t>𝛾</m:t>
                    </m:r>
                    <m:func>
                      <m:funcPr>
                        <m:ctrlPr>
                          <a:rPr lang="en-US" altLang="ko-KR" sz="1100" b="0" i="1" dirty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ko-KR" sz="1100" b="0" i="1" dirty="0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ko-KR" sz="1100" b="0" i="0" dirty="0" smtClean="0">
                                <a:latin typeface="Cambria Math" panose="02040503050406030204" pitchFamily="18" charset="0"/>
                                <a:ea typeface="+mn-ea"/>
                              </a:rPr>
                              <m:t>max</m:t>
                            </m:r>
                          </m:e>
                          <m:lim>
                            <m:r>
                              <a:rPr lang="en-US" altLang="ko-KR" sz="1100" b="0" i="1" dirty="0" smtClean="0">
                                <a:latin typeface="Cambria Math" panose="02040503050406030204" pitchFamily="18" charset="0"/>
                                <a:ea typeface="+mn-ea"/>
                              </a:rPr>
                              <m:t>𝑎</m:t>
                            </m:r>
                          </m:lim>
                        </m:limLow>
                      </m:fName>
                      <m:e>
                        <m:r>
                          <a:rPr lang="en-US" altLang="ko-KR" sz="1100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𝑄</m:t>
                        </m:r>
                      </m:e>
                    </m:func>
                    <m:d>
                      <m:dPr>
                        <m:ctrlPr>
                          <a:rPr lang="en-US" altLang="ko-KR" sz="1100" b="0" i="1" dirty="0" smtClean="0">
                            <a:latin typeface="Cambria Math" panose="02040503050406030204" pitchFamily="18" charset="0"/>
                            <a:ea typeface="+mn-ea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sz="1100" b="0" i="1" dirty="0" smtClean="0">
                                <a:latin typeface="Cambria Math" panose="02040503050406030204" pitchFamily="18" charset="0"/>
                                <a:ea typeface="+mn-ea"/>
                              </a:rPr>
                            </m:ctrlPr>
                          </m:sSupPr>
                          <m:e>
                            <m:r>
                              <a:rPr lang="en-US" altLang="ko-KR" sz="1100" b="0" i="1" dirty="0" smtClean="0">
                                <a:latin typeface="Cambria Math" panose="02040503050406030204" pitchFamily="18" charset="0"/>
                                <a:ea typeface="+mn-ea"/>
                              </a:rPr>
                              <m:t>𝑆</m:t>
                            </m:r>
                          </m:e>
                          <m:sup>
                            <m:r>
                              <a:rPr lang="en-US" altLang="ko-KR" sz="1100" b="0" i="1" dirty="0" smtClean="0">
                                <a:latin typeface="Cambria Math" panose="02040503050406030204" pitchFamily="18" charset="0"/>
                                <a:ea typeface="+mn-ea"/>
                              </a:rPr>
                              <m:t>′</m:t>
                            </m:r>
                          </m:sup>
                        </m:sSup>
                        <m:r>
                          <a:rPr lang="en-US" altLang="ko-KR" sz="1100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,</m:t>
                        </m:r>
                        <m:r>
                          <a:rPr lang="en-US" altLang="ko-KR" sz="1100" b="0" i="1" dirty="0" smtClean="0">
                            <a:latin typeface="Cambria Math" panose="02040503050406030204" pitchFamily="18" charset="0"/>
                            <a:ea typeface="+mn-ea"/>
                          </a:rPr>
                          <m:t>𝑎</m:t>
                        </m:r>
                      </m:e>
                    </m:d>
                  </m:oMath>
                </a14:m>
                <a:r>
                  <a:rPr lang="ko-KR" altLang="en-US" sz="1100" b="0" dirty="0">
                    <a:latin typeface="+mn-ea"/>
                    <a:ea typeface="+mn-ea"/>
                  </a:rPr>
                  <a:t>  ←</a:t>
                </a:r>
                <a:r>
                  <a:rPr lang="en-US" altLang="ko-KR" sz="1100" b="0" dirty="0">
                    <a:latin typeface="+mn-ea"/>
                    <a:ea typeface="+mn-ea"/>
                  </a:rPr>
                  <a:t> Bellman optimal equation</a:t>
                </a:r>
              </a:p>
              <a:p>
                <a:r>
                  <a:rPr lang="ko-KR" altLang="en-US" sz="1100" b="0" dirty="0">
                    <a:latin typeface="+mn-ea"/>
                    <a:ea typeface="+mn-ea"/>
                  </a:rPr>
                  <a:t>→</a:t>
                </a:r>
                <a:r>
                  <a:rPr lang="en-US" altLang="ko-KR" sz="1100" b="0" dirty="0">
                    <a:latin typeface="+mn-ea"/>
                    <a:ea typeface="+mn-ea"/>
                  </a:rPr>
                  <a:t> </a:t>
                </a:r>
                <a:r>
                  <a:rPr lang="ko-KR" altLang="en-US" sz="1100" b="0" dirty="0" err="1">
                    <a:latin typeface="+mn-ea"/>
                    <a:ea typeface="+mn-ea"/>
                  </a:rPr>
                  <a:t>현재값에서</a:t>
                </a:r>
                <a:r>
                  <a:rPr lang="ko-KR" altLang="en-US" sz="1100" b="0" dirty="0">
                    <a:latin typeface="+mn-ea"/>
                    <a:ea typeface="+mn-ea"/>
                  </a:rPr>
                  <a:t> </a:t>
                </a:r>
                <a:r>
                  <a:rPr lang="ko-KR" altLang="en-US" sz="1100" b="0" dirty="0" err="1">
                    <a:latin typeface="+mn-ea"/>
                    <a:ea typeface="+mn-ea"/>
                  </a:rPr>
                  <a:t>목표값을</a:t>
                </a:r>
                <a:r>
                  <a:rPr lang="ko-KR" altLang="en-US" sz="1100" b="0" dirty="0">
                    <a:latin typeface="+mn-ea"/>
                    <a:ea typeface="+mn-ea"/>
                  </a:rPr>
                  <a:t> 향해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sz="1100" b="0" i="1" dirty="0" smtClean="0">
                        <a:latin typeface="Cambria Math" panose="02040503050406030204" pitchFamily="18" charset="0"/>
                        <a:ea typeface="+mn-ea"/>
                      </a:rPr>
                      <m:t>α</m:t>
                    </m:r>
                  </m:oMath>
                </a14:m>
                <a:r>
                  <a:rPr lang="ko-KR" altLang="en-US" sz="1100" b="0" dirty="0">
                    <a:latin typeface="+mn-ea"/>
                    <a:ea typeface="+mn-ea"/>
                  </a:rPr>
                  <a:t>만큼의 </a:t>
                </a:r>
                <a:r>
                  <a:rPr lang="ko-KR" altLang="en-US" sz="1100" b="0" dirty="0" err="1">
                    <a:latin typeface="+mn-ea"/>
                    <a:ea typeface="+mn-ea"/>
                  </a:rPr>
                  <a:t>학습률로</a:t>
                </a:r>
                <a:r>
                  <a:rPr lang="ko-KR" altLang="en-US" sz="1100" b="0" dirty="0">
                    <a:latin typeface="+mn-ea"/>
                    <a:ea typeface="+mn-ea"/>
                  </a:rPr>
                  <a:t> 업데이트함</a:t>
                </a:r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240424ED-F71F-4908-7338-F68BB7AAB36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77176" y="5309887"/>
                <a:ext cx="3916680" cy="769441"/>
              </a:xfrm>
              <a:prstGeom prst="rect">
                <a:avLst/>
              </a:prstGeom>
              <a:blipFill>
                <a:blip r:embed="rId4"/>
                <a:stretch>
                  <a:fillRect b="-1111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96345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EC3E3-05EA-2505-A387-4FFFDE949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14728D05-8898-1DEB-02DC-4019222874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Q-learning (grid world) </a:t>
            </a:r>
            <a:r>
              <a:rPr lang="ko-KR" altLang="en-US" dirty="0">
                <a:latin typeface="+mn-ea"/>
              </a:rPr>
              <a:t>구현 </a:t>
            </a:r>
            <a:r>
              <a:rPr lang="en-US" altLang="ko-KR" dirty="0">
                <a:latin typeface="+mn-ea"/>
              </a:rPr>
              <a:t>(2/4)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12ECC05-FE6A-A14C-F4A6-E1D964BB654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강화학습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73FBC1E-ECD0-ADF6-5157-09FF59ADE04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altLang="ko-KR" dirty="0"/>
              <a:t>5 x 5 grid world </a:t>
            </a:r>
            <a:r>
              <a:rPr lang="ko-KR" altLang="en-US" dirty="0"/>
              <a:t>환경</a:t>
            </a:r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967F7EE3-68A4-9088-4987-77A46C1582C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62309" y="922626"/>
            <a:ext cx="9270641" cy="1032702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>
                <a:latin typeface="+mn-ea"/>
              </a:rPr>
              <a:t>시작점</a:t>
            </a:r>
            <a:r>
              <a:rPr lang="en-US" altLang="ko-KR" dirty="0">
                <a:latin typeface="+mn-ea"/>
              </a:rPr>
              <a:t>(0,0),</a:t>
            </a:r>
            <a:r>
              <a:rPr lang="ko-KR" altLang="en-US" dirty="0">
                <a:latin typeface="+mn-ea"/>
              </a:rPr>
              <a:t> 도착점</a:t>
            </a:r>
            <a:r>
              <a:rPr lang="en-US" altLang="ko-KR" dirty="0">
                <a:latin typeface="+mn-ea"/>
              </a:rPr>
              <a:t>(4,4), 3</a:t>
            </a:r>
            <a:r>
              <a:rPr lang="ko-KR" altLang="en-US" dirty="0">
                <a:latin typeface="+mn-ea"/>
              </a:rPr>
              <a:t>개의 함정 설정</a:t>
            </a:r>
            <a:endParaRPr lang="en-US" altLang="ko-KR" dirty="0">
              <a:latin typeface="+mn-ea"/>
            </a:endParaRP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ko-KR" altLang="en-US" dirty="0"/>
              <a:t>보상함수 설정</a:t>
            </a:r>
            <a:endParaRPr lang="en-US" altLang="ko-KR" dirty="0"/>
          </a:p>
          <a:p>
            <a:pPr marL="360000" lvl="1" indent="-180000">
              <a:buFont typeface="Arial" panose="020B0604020202020204" pitchFamily="34" charset="0"/>
              <a:buChar char="•"/>
            </a:pPr>
            <a:r>
              <a:rPr lang="ko-KR" altLang="en-US" sz="1400" dirty="0"/>
              <a:t>일반 이동비용 </a:t>
            </a:r>
            <a:r>
              <a:rPr lang="en-US" altLang="ko-KR" sz="1400" dirty="0"/>
              <a:t>-0.1, </a:t>
            </a:r>
            <a:r>
              <a:rPr lang="ko-KR" altLang="en-US" sz="1400" dirty="0" err="1"/>
              <a:t>목표도달시</a:t>
            </a:r>
            <a:r>
              <a:rPr lang="ko-KR" altLang="en-US" sz="1400" dirty="0"/>
              <a:t> </a:t>
            </a:r>
            <a:r>
              <a:rPr lang="en-US" altLang="ko-KR" sz="1400" dirty="0"/>
              <a:t>+10(</a:t>
            </a:r>
            <a:r>
              <a:rPr lang="ko-KR" altLang="en-US" sz="1400" dirty="0"/>
              <a:t>종료</a:t>
            </a:r>
            <a:r>
              <a:rPr lang="en-US" altLang="ko-KR" sz="1400" dirty="0"/>
              <a:t>), </a:t>
            </a:r>
            <a:r>
              <a:rPr lang="ko-KR" altLang="en-US" sz="1400" dirty="0"/>
              <a:t>함정에 </a:t>
            </a:r>
            <a:r>
              <a:rPr lang="ko-KR" altLang="en-US" sz="1400" dirty="0" err="1"/>
              <a:t>빠질시</a:t>
            </a:r>
            <a:r>
              <a:rPr lang="ko-KR" altLang="en-US" sz="1400" dirty="0"/>
              <a:t> </a:t>
            </a:r>
            <a:r>
              <a:rPr lang="en-US" altLang="ko-KR" sz="1400" dirty="0"/>
              <a:t>-5(</a:t>
            </a:r>
            <a:r>
              <a:rPr lang="ko-KR" altLang="en-US" sz="1400" dirty="0"/>
              <a:t>종료</a:t>
            </a:r>
            <a:r>
              <a:rPr lang="en-US" altLang="ko-KR" sz="1400" dirty="0"/>
              <a:t>)</a:t>
            </a:r>
          </a:p>
        </p:txBody>
      </p:sp>
      <p:sp>
        <p:nvSpPr>
          <p:cNvPr id="8" name="텍스트 개체 틀 2">
            <a:extLst>
              <a:ext uri="{FF2B5EF4-FFF2-40B4-BE49-F238E27FC236}">
                <a16:creationId xmlns:a16="http://schemas.microsoft.com/office/drawing/2014/main" id="{ED285393-F597-5195-7F03-34374028B4D3}"/>
              </a:ext>
            </a:extLst>
          </p:cNvPr>
          <p:cNvSpPr txBox="1">
            <a:spLocks/>
          </p:cNvSpPr>
          <p:nvPr/>
        </p:nvSpPr>
        <p:spPr>
          <a:xfrm>
            <a:off x="209708" y="4041412"/>
            <a:ext cx="9423242" cy="400110"/>
          </a:xfrm>
          <a:prstGeom prst="rect">
            <a:avLst/>
          </a:prstGeom>
        </p:spPr>
        <p:txBody>
          <a:bodyPr lIns="72000" tIns="108000" anchor="ctr"/>
          <a:lstStyle>
            <a:lvl1pPr marL="182563" indent="-182563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Char char="§"/>
              <a:tabLst>
                <a:tab pos="0" algn="l"/>
              </a:tabLst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ko-KR" altLang="en-US" dirty="0"/>
              <a:t>학습과정</a:t>
            </a:r>
          </a:p>
        </p:txBody>
      </p:sp>
      <p:sp>
        <p:nvSpPr>
          <p:cNvPr id="9" name="텍스트 개체 틀 2">
            <a:extLst>
              <a:ext uri="{FF2B5EF4-FFF2-40B4-BE49-F238E27FC236}">
                <a16:creationId xmlns:a16="http://schemas.microsoft.com/office/drawing/2014/main" id="{41319EFA-1611-F16F-5E9C-CAB0D9BF1502}"/>
              </a:ext>
            </a:extLst>
          </p:cNvPr>
          <p:cNvSpPr txBox="1">
            <a:spLocks/>
          </p:cNvSpPr>
          <p:nvPr/>
        </p:nvSpPr>
        <p:spPr>
          <a:xfrm>
            <a:off x="362309" y="4391180"/>
            <a:ext cx="5701125" cy="1032702"/>
          </a:xfrm>
          <a:prstGeom prst="rect">
            <a:avLst/>
          </a:prstGeom>
        </p:spPr>
        <p:txBody>
          <a:bodyPr lIns="72000" tIns="36000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0" lang="en-US" altLang="ko-KR" b="0" dirty="0">
                <a:latin typeface="+mn-ea"/>
              </a:rPr>
              <a:t>1000</a:t>
            </a:r>
            <a:r>
              <a:rPr kumimoji="0" lang="ko-KR" altLang="en-US" b="0" dirty="0">
                <a:latin typeface="+mn-ea"/>
              </a:rPr>
              <a:t>번의 에피소드</a:t>
            </a:r>
            <a:r>
              <a:rPr kumimoji="0" lang="en-US" altLang="ko-KR" b="0" dirty="0">
                <a:latin typeface="+mn-ea"/>
              </a:rPr>
              <a:t>, </a:t>
            </a:r>
            <a:r>
              <a:rPr kumimoji="0" lang="ko-KR" altLang="en-US" b="0" dirty="0">
                <a:latin typeface="+mn-ea"/>
              </a:rPr>
              <a:t>각 에피소드마다 최대 </a:t>
            </a:r>
            <a:r>
              <a:rPr kumimoji="0" lang="en-US" altLang="ko-KR" b="0" dirty="0">
                <a:latin typeface="+mn-ea"/>
              </a:rPr>
              <a:t>100</a:t>
            </a:r>
            <a:r>
              <a:rPr kumimoji="0" lang="ko-KR" altLang="en-US" b="0" dirty="0">
                <a:latin typeface="+mn-ea"/>
              </a:rPr>
              <a:t>번의 </a:t>
            </a:r>
            <a:r>
              <a:rPr kumimoji="0" lang="en-US" altLang="ko-KR" b="0" dirty="0">
                <a:latin typeface="+mn-ea"/>
              </a:rPr>
              <a:t>step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kumimoji="0" lang="ko-KR" altLang="en-US" b="0" dirty="0"/>
              <a:t>각</a:t>
            </a:r>
            <a:r>
              <a:rPr kumimoji="0" lang="en-US" altLang="ko-KR" b="0" dirty="0"/>
              <a:t> step</a:t>
            </a:r>
            <a:r>
              <a:rPr kumimoji="0" lang="ko-KR" altLang="en-US" b="0" dirty="0"/>
              <a:t>마다 </a:t>
            </a:r>
            <a:r>
              <a:rPr kumimoji="0" lang="en-US" altLang="ko-KR" b="0" dirty="0"/>
              <a:t>Q-table </a:t>
            </a:r>
            <a:r>
              <a:rPr kumimoji="0" lang="ko-KR" altLang="en-US" b="0" dirty="0"/>
              <a:t>업데이트</a:t>
            </a:r>
            <a:endParaRPr kumimoji="0" lang="en-US" altLang="ko-KR" b="0" dirty="0"/>
          </a:p>
          <a:p>
            <a:pPr marL="360000" lvl="1" indent="-180000">
              <a:buFont typeface="Arial" panose="020B0604020202020204" pitchFamily="34" charset="0"/>
              <a:buChar char="•"/>
            </a:pPr>
            <a:r>
              <a:rPr kumimoji="0" lang="ko-KR" altLang="en-US" sz="1400" b="0" dirty="0"/>
              <a:t>오른쪽 그림은 </a:t>
            </a:r>
            <a:r>
              <a:rPr kumimoji="0" lang="en-US" altLang="ko-KR" sz="1400" b="0" dirty="0"/>
              <a:t>10</a:t>
            </a:r>
            <a:r>
              <a:rPr kumimoji="0" lang="ko-KR" altLang="en-US" sz="1400" b="0" dirty="0"/>
              <a:t>번의 </a:t>
            </a:r>
            <a:r>
              <a:rPr kumimoji="0" lang="en-US" altLang="ko-KR" sz="1400" b="0" dirty="0"/>
              <a:t>step</a:t>
            </a:r>
            <a:r>
              <a:rPr kumimoji="0" lang="ko-KR" altLang="en-US" sz="1400" b="0" dirty="0"/>
              <a:t>마다 </a:t>
            </a:r>
            <a:r>
              <a:rPr kumimoji="0" lang="en-US" altLang="ko-KR" sz="1400" b="0" dirty="0"/>
              <a:t>Q-table</a:t>
            </a:r>
            <a:r>
              <a:rPr kumimoji="0" lang="ko-KR" altLang="en-US" sz="1400" b="0" dirty="0"/>
              <a:t>의</a:t>
            </a:r>
            <a:r>
              <a:rPr kumimoji="0" lang="en-US" altLang="ko-KR" sz="1400" b="0" dirty="0"/>
              <a:t> </a:t>
            </a:r>
            <a:r>
              <a:rPr kumimoji="0" lang="ko-KR" altLang="en-US" sz="1400" b="0" dirty="0"/>
              <a:t>변화를 표현</a:t>
            </a:r>
            <a:endParaRPr kumimoji="0" lang="en-US" altLang="ko-KR" sz="1400" b="0" dirty="0"/>
          </a:p>
        </p:txBody>
      </p:sp>
      <p:pic>
        <p:nvPicPr>
          <p:cNvPr id="6" name="그림 5" descr="텍스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DF6CD54-0486-88B2-FDC1-BD9EE50C81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91836" y="772913"/>
            <a:ext cx="2856914" cy="558230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02711767-CDA0-91E9-6A78-46AC50088B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30920" y="1902060"/>
            <a:ext cx="3524742" cy="1829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503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13E4B-2B6A-E858-ECD0-50F2650E6C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CE67ADFD-1239-C25F-8FF9-7C067334F5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Q-learning (grid world) </a:t>
            </a:r>
            <a:r>
              <a:rPr lang="ko-KR" altLang="en-US" dirty="0">
                <a:latin typeface="+mn-ea"/>
              </a:rPr>
              <a:t>구현 </a:t>
            </a:r>
            <a:r>
              <a:rPr lang="en-US" altLang="ko-KR" dirty="0">
                <a:latin typeface="+mn-ea"/>
              </a:rPr>
              <a:t>(3/4)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063E32E-FA9C-1873-4FAF-E14060718A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강화학습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텍스트 개체 틀 2">
                <a:extLst>
                  <a:ext uri="{FF2B5EF4-FFF2-40B4-BE49-F238E27FC236}">
                    <a16:creationId xmlns:a16="http://schemas.microsoft.com/office/drawing/2014/main" id="{7494C275-3F07-76D0-A955-12B767E23FF3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2309" y="922626"/>
                <a:ext cx="9270641" cy="1032702"/>
              </a:xfrm>
              <a:prstGeom prst="rect">
                <a:avLst/>
              </a:prstGeom>
            </p:spPr>
            <p:txBody>
              <a:bodyPr lIns="72000" tIns="36000"/>
              <a:lstStyle>
                <a:lvl1pPr marL="0" indent="0" algn="l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Font typeface="Arial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en-US" altLang="ko-KR" b="0" dirty="0">
                    <a:latin typeface="+mn-ea"/>
                  </a:rPr>
                  <a:t>(1) </a:t>
                </a:r>
                <a:r>
                  <a:rPr kumimoji="0" lang="ko-KR" altLang="en-US" b="0" dirty="0">
                    <a:latin typeface="+mn-ea"/>
                  </a:rPr>
                  <a:t>환경 </a:t>
                </a:r>
                <a:r>
                  <a:rPr kumimoji="0" lang="en-US" altLang="ko-KR" b="0" dirty="0">
                    <a:latin typeface="+mn-ea"/>
                  </a:rPr>
                  <a:t>: </a:t>
                </a:r>
                <a:r>
                  <a:rPr kumimoji="0" lang="ko-KR" altLang="en-US" b="0" dirty="0">
                    <a:latin typeface="+mn-ea"/>
                  </a:rPr>
                  <a:t>함정을 우상단에 몰리도록 배치 </a:t>
                </a:r>
                <a:r>
                  <a:rPr lang="en-US" altLang="ko-KR" b="0" dirty="0"/>
                  <a:t>(0, 4), (1, 3), (2, 2)</a:t>
                </a:r>
                <a:endParaRPr kumimoji="0" lang="en-US" altLang="ko-KR" b="0" dirty="0">
                  <a:latin typeface="+mn-ea"/>
                </a:endParaRPr>
              </a:p>
              <a:p>
                <a:r>
                  <a:rPr kumimoji="0" lang="en-US" altLang="ko-KR" b="0" dirty="0">
                    <a:latin typeface="+mn-ea"/>
                  </a:rPr>
                  <a:t>(2) </a:t>
                </a:r>
                <a:r>
                  <a:rPr kumimoji="0" lang="ko-KR" altLang="en-US" b="0" dirty="0">
                    <a:latin typeface="+mn-ea"/>
                  </a:rPr>
                  <a:t>학습 결과 </a:t>
                </a:r>
                <a:r>
                  <a:rPr kumimoji="0" lang="en-US" altLang="ko-KR" b="0" dirty="0">
                    <a:latin typeface="+mn-ea"/>
                  </a:rPr>
                  <a:t>: </a:t>
                </a:r>
                <a:r>
                  <a:rPr kumimoji="0" lang="ko-KR" altLang="en-US" b="0" dirty="0">
                    <a:latin typeface="+mn-ea"/>
                  </a:rPr>
                  <a:t>대부분</a:t>
                </a:r>
                <a:r>
                  <a:rPr kumimoji="0" lang="en-US" altLang="ko-KR" b="0" dirty="0">
                    <a:latin typeface="+mn-ea"/>
                  </a:rPr>
                  <a:t> 8</a:t>
                </a:r>
                <a:r>
                  <a:rPr kumimoji="0" lang="ko-KR" altLang="en-US" b="0" dirty="0" err="1">
                    <a:latin typeface="+mn-ea"/>
                  </a:rPr>
                  <a:t>번만에</a:t>
                </a:r>
                <a:r>
                  <a:rPr kumimoji="0" lang="ko-KR" altLang="en-US" b="0" dirty="0">
                    <a:latin typeface="+mn-ea"/>
                  </a:rPr>
                  <a:t> 도착지에 이동하도록 성공적으로 학습</a:t>
                </a:r>
                <a:endParaRPr kumimoji="0" lang="en-US" altLang="ko-KR" b="0" dirty="0">
                  <a:latin typeface="+mn-ea"/>
                </a:endParaRPr>
              </a:p>
              <a:p>
                <a:r>
                  <a:rPr kumimoji="0" lang="en-US" altLang="ko-KR" b="0" dirty="0"/>
                  <a:t>(3) </a:t>
                </a:r>
                <a:r>
                  <a:rPr kumimoji="0" lang="ko-KR" altLang="en-US" b="0" dirty="0"/>
                  <a:t>학습된 </a:t>
                </a:r>
                <a:r>
                  <a:rPr kumimoji="0" lang="en-US" altLang="ko-KR" b="0" dirty="0"/>
                  <a:t>Q table : 25 x 4 table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0" lang="en-US" altLang="ko-KR" b="0" i="0" smtClean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kumimoji="0" lang="en-US" altLang="ko-KR" b="0" i="0" smtClean="0">
                        <a:latin typeface="Cambria Math" panose="02040503050406030204" pitchFamily="18" charset="0"/>
                      </a:rPr>
                      <m:t>=25, 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ko-KR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ko-KR" b="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kumimoji="0" lang="en-US" altLang="ko-KR" b="0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kumimoji="0" lang="en-US" altLang="ko-KR" b="0" dirty="0"/>
                  <a:t>)</a:t>
                </a:r>
              </a:p>
              <a:p>
                <a:r>
                  <a:rPr kumimoji="0" lang="en-US" altLang="ko-KR" b="0" dirty="0"/>
                  <a:t>(4) </a:t>
                </a:r>
                <a:r>
                  <a:rPr kumimoji="0" lang="ko-KR" altLang="en-US" sz="1400" b="0" dirty="0"/>
                  <a:t>위치별 </a:t>
                </a:r>
                <a:r>
                  <a:rPr kumimoji="0" lang="en-US" altLang="ko-KR" sz="1400" b="0" dirty="0"/>
                  <a:t>Q</a:t>
                </a:r>
                <a:r>
                  <a:rPr kumimoji="0" lang="ko-KR" altLang="en-US" sz="1400" b="0" dirty="0"/>
                  <a:t>값 평균 계산</a:t>
                </a:r>
                <a:endParaRPr kumimoji="0" lang="en-US" altLang="ko-KR" sz="1400" b="0" dirty="0"/>
              </a:p>
            </p:txBody>
          </p:sp>
        </mc:Choice>
        <mc:Fallback xmlns="">
          <p:sp>
            <p:nvSpPr>
              <p:cNvPr id="14" name="텍스트 개체 틀 2">
                <a:extLst>
                  <a:ext uri="{FF2B5EF4-FFF2-40B4-BE49-F238E27FC236}">
                    <a16:creationId xmlns:a16="http://schemas.microsoft.com/office/drawing/2014/main" id="{7494C275-3F07-76D0-A955-12B767E23F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09" y="922626"/>
                <a:ext cx="9270641" cy="1032702"/>
              </a:xfrm>
              <a:prstGeom prst="rect">
                <a:avLst/>
              </a:prstGeom>
              <a:blipFill>
                <a:blip r:embed="rId4"/>
                <a:stretch>
                  <a:fillRect l="-394" t="-17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FB69454B-41D8-F7C5-B22C-B5F5922F485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구현 예시</a:t>
            </a:r>
            <a:r>
              <a:rPr lang="en-US" altLang="ko-KR" dirty="0"/>
              <a:t> - 1</a:t>
            </a:r>
            <a:endParaRPr lang="ko-KR" altLang="en-US" dirty="0"/>
          </a:p>
        </p:txBody>
      </p:sp>
      <p:pic>
        <p:nvPicPr>
          <p:cNvPr id="20" name="그림 19">
            <a:extLst>
              <a:ext uri="{FF2B5EF4-FFF2-40B4-BE49-F238E27FC236}">
                <a16:creationId xmlns:a16="http://schemas.microsoft.com/office/drawing/2014/main" id="{AD6EE661-D192-7170-AAD9-67837753650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5873" y="1955328"/>
            <a:ext cx="2935952" cy="1438191"/>
          </a:xfrm>
          <a:prstGeom prst="rect">
            <a:avLst/>
          </a:prstGeom>
        </p:spPr>
      </p:pic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F52EE400-9587-99F6-1BA9-F823C6BE085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89727" y="3416597"/>
            <a:ext cx="228240" cy="218966"/>
          </a:xfrm>
        </p:spPr>
        <p:txBody>
          <a:bodyPr lIns="0" tIns="0" rIns="0" bIns="0"/>
          <a:lstStyle/>
          <a:p>
            <a:r>
              <a:rPr lang="en-US" altLang="ko-KR" sz="1400" dirty="0"/>
              <a:t>(1)</a:t>
            </a:r>
          </a:p>
        </p:txBody>
      </p: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A4EB7095-5362-EE27-03D3-8ADF45960F03}"/>
              </a:ext>
            </a:extLst>
          </p:cNvPr>
          <p:cNvSpPr txBox="1">
            <a:spLocks/>
          </p:cNvSpPr>
          <p:nvPr/>
        </p:nvSpPr>
        <p:spPr>
          <a:xfrm>
            <a:off x="1445724" y="6136736"/>
            <a:ext cx="228240" cy="218966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ko-KR" b="0" dirty="0"/>
              <a:t>(2)</a:t>
            </a:r>
          </a:p>
        </p:txBody>
      </p:sp>
      <p:sp>
        <p:nvSpPr>
          <p:cNvPr id="27" name="텍스트 개체 틀 2">
            <a:extLst>
              <a:ext uri="{FF2B5EF4-FFF2-40B4-BE49-F238E27FC236}">
                <a16:creationId xmlns:a16="http://schemas.microsoft.com/office/drawing/2014/main" id="{C23A99C1-DBF9-A2E4-9644-DC753BA0773B}"/>
              </a:ext>
            </a:extLst>
          </p:cNvPr>
          <p:cNvSpPr txBox="1">
            <a:spLocks/>
          </p:cNvSpPr>
          <p:nvPr/>
        </p:nvSpPr>
        <p:spPr>
          <a:xfrm>
            <a:off x="4807209" y="6175659"/>
            <a:ext cx="228240" cy="218966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ko-KR" b="0" dirty="0"/>
              <a:t>(3)</a:t>
            </a:r>
          </a:p>
        </p:txBody>
      </p:sp>
      <p:sp>
        <p:nvSpPr>
          <p:cNvPr id="28" name="텍스트 개체 틀 2">
            <a:extLst>
              <a:ext uri="{FF2B5EF4-FFF2-40B4-BE49-F238E27FC236}">
                <a16:creationId xmlns:a16="http://schemas.microsoft.com/office/drawing/2014/main" id="{28D08620-8B1F-97D9-9E0F-D152A0DB07A5}"/>
              </a:ext>
            </a:extLst>
          </p:cNvPr>
          <p:cNvSpPr txBox="1">
            <a:spLocks/>
          </p:cNvSpPr>
          <p:nvPr/>
        </p:nvSpPr>
        <p:spPr>
          <a:xfrm>
            <a:off x="6411260" y="2988030"/>
            <a:ext cx="3438932" cy="2403120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altLang="ko-KR" b="0" dirty="0"/>
              <a:t>(4)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kumimoji="0" lang="ko-KR" altLang="en-US" sz="1200" b="0" dirty="0"/>
              <a:t>도착점과</a:t>
            </a:r>
            <a:r>
              <a:rPr kumimoji="0" lang="en-US" altLang="ko-KR" sz="1200" b="0" dirty="0"/>
              <a:t> </a:t>
            </a:r>
            <a:r>
              <a:rPr kumimoji="0" lang="ko-KR" altLang="en-US" sz="1200" b="0" dirty="0"/>
              <a:t>함정의 </a:t>
            </a:r>
            <a:r>
              <a:rPr kumimoji="0" lang="en-US" altLang="ko-KR" sz="1200" b="0" dirty="0"/>
              <a:t>Q</a:t>
            </a:r>
            <a:r>
              <a:rPr kumimoji="0" lang="ko-KR" altLang="en-US" sz="1200" b="0" dirty="0"/>
              <a:t>값들은 </a:t>
            </a:r>
            <a:r>
              <a:rPr kumimoji="0" lang="en-US" altLang="ko-KR" sz="1200" b="0" dirty="0"/>
              <a:t>0</a:t>
            </a:r>
            <a:r>
              <a:rPr kumimoji="0" lang="ko-KR" altLang="en-US" sz="1200" b="0" dirty="0"/>
              <a:t>의 값을 가짐</a:t>
            </a:r>
            <a:r>
              <a:rPr kumimoji="0" lang="en-US" altLang="ko-KR" sz="1200" b="0" dirty="0"/>
              <a:t>(terminal state)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kumimoji="0" lang="ko-KR" altLang="en-US" sz="1200" b="0" dirty="0"/>
              <a:t>우상단의 값들은 작은 데 비해 좌하단의 값들은 큰 경향 </a:t>
            </a:r>
            <a:r>
              <a:rPr kumimoji="0" lang="en-US" altLang="ko-KR" sz="1200" b="0" dirty="0"/>
              <a:t>(</a:t>
            </a:r>
            <a:r>
              <a:rPr kumimoji="0" lang="ko-KR" altLang="en-US" sz="1200" b="0" dirty="0"/>
              <a:t>좌하단의 경로를 추천함</a:t>
            </a:r>
            <a:r>
              <a:rPr kumimoji="0" lang="en-US" altLang="ko-KR" sz="1200" b="0" dirty="0"/>
              <a:t>)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kumimoji="0" lang="ko-KR" altLang="en-US" sz="1200" b="0" dirty="0"/>
              <a:t>도착점에 가까운 값들은 상대적으로 높음</a:t>
            </a:r>
            <a:r>
              <a:rPr kumimoji="0" lang="en-US" altLang="ko-KR" sz="1200" b="0" dirty="0"/>
              <a:t>(3.22, 2.58)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6632AED-3B75-F00D-71D2-422930A3A46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5873" y="3935638"/>
            <a:ext cx="2935952" cy="219984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A4CEFAFE-6E83-1537-A0CC-D9F9EF98DD2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75715" y="1955328"/>
            <a:ext cx="2544143" cy="4180159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5F03ADE5-3A11-9B48-51E9-F8941FD503D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11260" y="1955328"/>
            <a:ext cx="3374291" cy="1018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4057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3362A-2ED0-4BC2-582E-A23E6451D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E6FF911B-B1FD-6901-B6FC-E04F0E3E4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>
                <a:latin typeface="+mn-ea"/>
              </a:rPr>
              <a:t>Q-learning (grid world) </a:t>
            </a:r>
            <a:r>
              <a:rPr lang="ko-KR" altLang="en-US" dirty="0">
                <a:latin typeface="+mn-ea"/>
              </a:rPr>
              <a:t>구현 </a:t>
            </a:r>
            <a:r>
              <a:rPr lang="en-US" altLang="ko-KR" dirty="0">
                <a:latin typeface="+mn-ea"/>
              </a:rPr>
              <a:t>(4/4)</a:t>
            </a:r>
            <a:endParaRPr lang="ko-KR" altLang="en-US" dirty="0"/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F5162198-E5E4-9DAF-E215-D1C11ED1D8B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ko-KR" altLang="en-US" dirty="0"/>
              <a:t>강화학습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텍스트 개체 틀 2">
                <a:extLst>
                  <a:ext uri="{FF2B5EF4-FFF2-40B4-BE49-F238E27FC236}">
                    <a16:creationId xmlns:a16="http://schemas.microsoft.com/office/drawing/2014/main" id="{AF22A2F1-45B2-59ED-608C-6995BC49F07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362309" y="922626"/>
                <a:ext cx="9270641" cy="1032702"/>
              </a:xfrm>
              <a:prstGeom prst="rect">
                <a:avLst/>
              </a:prstGeom>
            </p:spPr>
            <p:txBody>
              <a:bodyPr lIns="72000" tIns="36000"/>
              <a:lstStyle>
                <a:lvl1pPr marL="0" indent="0" algn="l" rtl="0" eaLnBrk="0" fontAlgn="base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ct val="0"/>
                  </a:spcAft>
                  <a:buFont typeface="Arial" charset="0"/>
                  <a:buNone/>
                  <a:defRPr sz="1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742950" indent="-28575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–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rtl="0" eaLnBrk="0" fontAlgn="base" latinLnBrk="1" hangingPunct="0">
                  <a:spcBef>
                    <a:spcPct val="20000"/>
                  </a:spcBef>
                  <a:spcAft>
                    <a:spcPct val="0"/>
                  </a:spcAft>
                  <a:buFont typeface="Arial" charset="0"/>
                  <a:buChar char="»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1" hangingPunct="1">
                  <a:spcBef>
                    <a:spcPct val="20000"/>
                  </a:spcBef>
                  <a:buFont typeface="Arial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kumimoji="0" lang="en-US" altLang="ko-KR" b="0" dirty="0">
                    <a:latin typeface="+mn-ea"/>
                  </a:rPr>
                  <a:t>(1) </a:t>
                </a:r>
                <a:r>
                  <a:rPr kumimoji="0" lang="ko-KR" altLang="en-US" b="0" dirty="0">
                    <a:latin typeface="+mn-ea"/>
                  </a:rPr>
                  <a:t>환경 </a:t>
                </a:r>
                <a:r>
                  <a:rPr kumimoji="0" lang="en-US" altLang="ko-KR" b="0" dirty="0">
                    <a:latin typeface="+mn-ea"/>
                  </a:rPr>
                  <a:t>: </a:t>
                </a:r>
                <a:r>
                  <a:rPr kumimoji="0" lang="ko-KR" altLang="en-US" b="0" dirty="0">
                    <a:latin typeface="+mn-ea"/>
                  </a:rPr>
                  <a:t>함정을 중앙 및 좌상단에 배치 </a:t>
                </a:r>
                <a:r>
                  <a:rPr kumimoji="0" lang="en-US" altLang="ko-KR" b="0" dirty="0">
                    <a:latin typeface="+mn-ea"/>
                  </a:rPr>
                  <a:t>-</a:t>
                </a:r>
                <a:r>
                  <a:rPr kumimoji="0" lang="ko-KR" altLang="en-US" b="0" dirty="0">
                    <a:latin typeface="+mn-ea"/>
                  </a:rPr>
                  <a:t> </a:t>
                </a:r>
                <a:r>
                  <a:rPr lang="en-US" altLang="ko-KR" b="0" dirty="0"/>
                  <a:t>(0, 4), (3, 2), (2, 2)</a:t>
                </a:r>
                <a:endParaRPr kumimoji="0" lang="en-US" altLang="ko-KR" b="0" dirty="0">
                  <a:latin typeface="+mn-ea"/>
                </a:endParaRPr>
              </a:p>
              <a:p>
                <a:r>
                  <a:rPr kumimoji="0" lang="en-US" altLang="ko-KR" b="0" dirty="0">
                    <a:latin typeface="+mn-ea"/>
                  </a:rPr>
                  <a:t>(2) </a:t>
                </a:r>
                <a:r>
                  <a:rPr kumimoji="0" lang="ko-KR" altLang="en-US" b="0" dirty="0">
                    <a:latin typeface="+mn-ea"/>
                  </a:rPr>
                  <a:t>학습 결과 </a:t>
                </a:r>
                <a:r>
                  <a:rPr kumimoji="0" lang="en-US" altLang="ko-KR" b="0" dirty="0">
                    <a:latin typeface="+mn-ea"/>
                  </a:rPr>
                  <a:t>: </a:t>
                </a:r>
                <a:r>
                  <a:rPr kumimoji="0" lang="ko-KR" altLang="en-US" b="0" dirty="0">
                    <a:latin typeface="+mn-ea"/>
                  </a:rPr>
                  <a:t>대부분</a:t>
                </a:r>
                <a:r>
                  <a:rPr kumimoji="0" lang="en-US" altLang="ko-KR" b="0" dirty="0">
                    <a:latin typeface="+mn-ea"/>
                  </a:rPr>
                  <a:t> 8</a:t>
                </a:r>
                <a:r>
                  <a:rPr kumimoji="0" lang="ko-KR" altLang="en-US" b="0" dirty="0" err="1">
                    <a:latin typeface="+mn-ea"/>
                  </a:rPr>
                  <a:t>번만에</a:t>
                </a:r>
                <a:r>
                  <a:rPr kumimoji="0" lang="ko-KR" altLang="en-US" b="0" dirty="0">
                    <a:latin typeface="+mn-ea"/>
                  </a:rPr>
                  <a:t> 도착지에 이동하도록 성공적으로 학습</a:t>
                </a:r>
                <a:endParaRPr kumimoji="0" lang="en-US" altLang="ko-KR" b="0" dirty="0">
                  <a:latin typeface="+mn-ea"/>
                </a:endParaRPr>
              </a:p>
              <a:p>
                <a:r>
                  <a:rPr kumimoji="0" lang="en-US" altLang="ko-KR" b="0" dirty="0"/>
                  <a:t>(3) </a:t>
                </a:r>
                <a:r>
                  <a:rPr kumimoji="0" lang="ko-KR" altLang="en-US" b="0" dirty="0"/>
                  <a:t>학습된 </a:t>
                </a:r>
                <a:r>
                  <a:rPr kumimoji="0" lang="en-US" altLang="ko-KR" b="0" dirty="0"/>
                  <a:t>Q table : 25 x 4 table (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0" lang="en-US" altLang="ko-KR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kumimoji="0" lang="en-US" altLang="ko-KR" b="0">
                            <a:latin typeface="Cambria Math" panose="02040503050406030204" pitchFamily="18" charset="0"/>
                          </a:rPr>
                          <m:t>A</m:t>
                        </m:r>
                      </m:e>
                    </m:d>
                    <m:r>
                      <a:rPr kumimoji="0" lang="en-US" altLang="ko-KR" b="0">
                        <a:latin typeface="Cambria Math" panose="02040503050406030204" pitchFamily="18" charset="0"/>
                      </a:rPr>
                      <m:t>=25, </m:t>
                    </m:r>
                    <m:d>
                      <m:dPr>
                        <m:begChr m:val="|"/>
                        <m:endChr m:val="|"/>
                        <m:ctrlPr>
                          <a:rPr kumimoji="0" lang="en-US" altLang="ko-KR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0" lang="en-US" altLang="ko-KR" b="0" i="1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d>
                    <m:r>
                      <a:rPr kumimoji="0" lang="en-US" altLang="ko-KR" b="0" i="1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kumimoji="0" lang="en-US" altLang="ko-KR" b="0" dirty="0"/>
                  <a:t>)</a:t>
                </a:r>
              </a:p>
              <a:p>
                <a:r>
                  <a:rPr kumimoji="0" lang="en-US" altLang="ko-KR" b="0" dirty="0"/>
                  <a:t>(4) </a:t>
                </a:r>
                <a:r>
                  <a:rPr kumimoji="0" lang="ko-KR" altLang="en-US" sz="1400" b="0" dirty="0"/>
                  <a:t>위치별 </a:t>
                </a:r>
                <a:r>
                  <a:rPr kumimoji="0" lang="en-US" altLang="ko-KR" sz="1400" b="0" dirty="0"/>
                  <a:t>Q</a:t>
                </a:r>
                <a:r>
                  <a:rPr kumimoji="0" lang="ko-KR" altLang="en-US" sz="1400" b="0" dirty="0"/>
                  <a:t>값 평균 계산</a:t>
                </a:r>
                <a:endParaRPr kumimoji="0" lang="en-US" altLang="ko-KR" sz="1400" b="0" dirty="0"/>
              </a:p>
            </p:txBody>
          </p:sp>
        </mc:Choice>
        <mc:Fallback>
          <p:sp>
            <p:nvSpPr>
              <p:cNvPr id="14" name="텍스트 개체 틀 2">
                <a:extLst>
                  <a:ext uri="{FF2B5EF4-FFF2-40B4-BE49-F238E27FC236}">
                    <a16:creationId xmlns:a16="http://schemas.microsoft.com/office/drawing/2014/main" id="{AF22A2F1-45B2-59ED-608C-6995BC49F0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309" y="922626"/>
                <a:ext cx="9270641" cy="1032702"/>
              </a:xfrm>
              <a:prstGeom prst="rect">
                <a:avLst/>
              </a:prstGeom>
              <a:blipFill>
                <a:blip r:embed="rId2"/>
                <a:stretch>
                  <a:fillRect l="-394" t="-176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텍스트 개체 틀 17">
            <a:extLst>
              <a:ext uri="{FF2B5EF4-FFF2-40B4-BE49-F238E27FC236}">
                <a16:creationId xmlns:a16="http://schemas.microsoft.com/office/drawing/2014/main" id="{A07EC75A-6F83-3356-AEFB-FDB942BFCD8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ko-KR" altLang="en-US" dirty="0"/>
              <a:t>구현 예시</a:t>
            </a:r>
            <a:r>
              <a:rPr lang="en-US" altLang="ko-KR" dirty="0"/>
              <a:t> - 2</a:t>
            </a:r>
            <a:endParaRPr lang="ko-KR" altLang="en-US" dirty="0"/>
          </a:p>
        </p:txBody>
      </p:sp>
      <p:sp>
        <p:nvSpPr>
          <p:cNvPr id="25" name="텍스트 개체 틀 2">
            <a:extLst>
              <a:ext uri="{FF2B5EF4-FFF2-40B4-BE49-F238E27FC236}">
                <a16:creationId xmlns:a16="http://schemas.microsoft.com/office/drawing/2014/main" id="{55F8A94F-275D-0984-55E4-C43369225A1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589727" y="3416597"/>
            <a:ext cx="228240" cy="218966"/>
          </a:xfrm>
        </p:spPr>
        <p:txBody>
          <a:bodyPr lIns="0" tIns="0" rIns="0" bIns="0"/>
          <a:lstStyle/>
          <a:p>
            <a:r>
              <a:rPr lang="en-US" altLang="ko-KR" sz="1400" dirty="0"/>
              <a:t>(1)</a:t>
            </a:r>
          </a:p>
        </p:txBody>
      </p:sp>
      <p:sp>
        <p:nvSpPr>
          <p:cNvPr id="26" name="텍스트 개체 틀 2">
            <a:extLst>
              <a:ext uri="{FF2B5EF4-FFF2-40B4-BE49-F238E27FC236}">
                <a16:creationId xmlns:a16="http://schemas.microsoft.com/office/drawing/2014/main" id="{D6B0727B-12CA-C0B2-1D45-B56154137F6A}"/>
              </a:ext>
            </a:extLst>
          </p:cNvPr>
          <p:cNvSpPr txBox="1">
            <a:spLocks/>
          </p:cNvSpPr>
          <p:nvPr/>
        </p:nvSpPr>
        <p:spPr>
          <a:xfrm>
            <a:off x="1445724" y="6136736"/>
            <a:ext cx="228240" cy="218966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ko-KR" b="0" dirty="0"/>
              <a:t>(2)</a:t>
            </a:r>
          </a:p>
        </p:txBody>
      </p:sp>
      <p:sp>
        <p:nvSpPr>
          <p:cNvPr id="28" name="텍스트 개체 틀 2">
            <a:extLst>
              <a:ext uri="{FF2B5EF4-FFF2-40B4-BE49-F238E27FC236}">
                <a16:creationId xmlns:a16="http://schemas.microsoft.com/office/drawing/2014/main" id="{5983CA1C-EE8D-3832-5161-6BCC0A0EFC95}"/>
              </a:ext>
            </a:extLst>
          </p:cNvPr>
          <p:cNvSpPr txBox="1">
            <a:spLocks/>
          </p:cNvSpPr>
          <p:nvPr/>
        </p:nvSpPr>
        <p:spPr>
          <a:xfrm>
            <a:off x="6411260" y="2988030"/>
            <a:ext cx="3438932" cy="2403120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kumimoji="0" lang="en-US" altLang="ko-KR" b="0" dirty="0"/>
              <a:t>(4)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kumimoji="0" lang="ko-KR" altLang="en-US" sz="1200" b="0" dirty="0"/>
              <a:t>도착점과</a:t>
            </a:r>
            <a:r>
              <a:rPr kumimoji="0" lang="en-US" altLang="ko-KR" sz="1200" b="0" dirty="0"/>
              <a:t> </a:t>
            </a:r>
            <a:r>
              <a:rPr kumimoji="0" lang="ko-KR" altLang="en-US" sz="1200" b="0" dirty="0"/>
              <a:t>함정의 </a:t>
            </a:r>
            <a:r>
              <a:rPr kumimoji="0" lang="en-US" altLang="ko-KR" sz="1200" b="0" dirty="0"/>
              <a:t>Q</a:t>
            </a:r>
            <a:r>
              <a:rPr kumimoji="0" lang="ko-KR" altLang="en-US" sz="1200" b="0" dirty="0"/>
              <a:t>값들은 </a:t>
            </a:r>
            <a:r>
              <a:rPr kumimoji="0" lang="en-US" altLang="ko-KR" sz="1200" b="0" dirty="0"/>
              <a:t>0</a:t>
            </a:r>
            <a:r>
              <a:rPr kumimoji="0" lang="ko-KR" altLang="en-US" sz="1200" b="0" dirty="0"/>
              <a:t>의 값을 가짐</a:t>
            </a:r>
            <a:r>
              <a:rPr kumimoji="0" lang="en-US" altLang="ko-KR" sz="1200" b="0" dirty="0"/>
              <a:t>(terminal state)</a:t>
            </a:r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kumimoji="0" lang="ko-KR" altLang="en-US" sz="1200" b="0" dirty="0"/>
              <a:t>이전 예시에 비해 상대적으로 어려운 예시였음에도 불구하고 성공적으로 학습</a:t>
            </a:r>
            <a:endParaRPr kumimoji="0" lang="en-US" altLang="ko-KR" sz="1200" b="0" dirty="0"/>
          </a:p>
          <a:p>
            <a:pPr marL="180000" indent="-180000">
              <a:buFont typeface="Arial" panose="020B0604020202020204" pitchFamily="34" charset="0"/>
              <a:buChar char="•"/>
            </a:pPr>
            <a:r>
              <a:rPr kumimoji="0" lang="en-US" altLang="ko-KR" sz="1200" b="0" dirty="0"/>
              <a:t>(1,3)</a:t>
            </a:r>
            <a:r>
              <a:rPr kumimoji="0" lang="ko-KR" altLang="en-US" sz="1200" b="0" dirty="0"/>
              <a:t>을 경유하는 경로를 추천하고 있음 </a:t>
            </a:r>
            <a:r>
              <a:rPr kumimoji="0" lang="en-US" altLang="ko-KR" sz="1200" b="0" dirty="0"/>
              <a:t>(</a:t>
            </a:r>
            <a:r>
              <a:rPr kumimoji="0" lang="ko-KR" altLang="en-US" sz="1200" b="0" dirty="0"/>
              <a:t>위 그림에서 </a:t>
            </a:r>
            <a:r>
              <a:rPr kumimoji="0" lang="en-US" altLang="ko-KR" sz="1200" b="0" dirty="0"/>
              <a:t>1.61</a:t>
            </a:r>
            <a:r>
              <a:rPr kumimoji="0" lang="ko-KR" altLang="en-US" sz="1200" b="0" dirty="0"/>
              <a:t>값 부분</a:t>
            </a:r>
            <a:r>
              <a:rPr kumimoji="0" lang="en-US" altLang="ko-KR" sz="1200" b="0" dirty="0"/>
              <a:t>)</a:t>
            </a:r>
          </a:p>
        </p:txBody>
      </p:sp>
      <p:sp>
        <p:nvSpPr>
          <p:cNvPr id="12" name="텍스트 개체 틀 2">
            <a:extLst>
              <a:ext uri="{FF2B5EF4-FFF2-40B4-BE49-F238E27FC236}">
                <a16:creationId xmlns:a16="http://schemas.microsoft.com/office/drawing/2014/main" id="{768DB32A-B41B-2883-E67A-7C2EFCE05029}"/>
              </a:ext>
            </a:extLst>
          </p:cNvPr>
          <p:cNvSpPr txBox="1">
            <a:spLocks/>
          </p:cNvSpPr>
          <p:nvPr/>
        </p:nvSpPr>
        <p:spPr>
          <a:xfrm>
            <a:off x="4807209" y="6175659"/>
            <a:ext cx="228240" cy="218966"/>
          </a:xfrm>
          <a:prstGeom prst="rect">
            <a:avLst/>
          </a:prstGeom>
        </p:spPr>
        <p:txBody>
          <a:bodyPr lIns="0" tIns="0" rIns="0" bIns="0"/>
          <a:lstStyle>
            <a:lvl1pPr marL="0" indent="0" algn="l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Font typeface="Arial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latinLnBrk="1" hangingPunct="0">
              <a:spcBef>
                <a:spcPct val="20000"/>
              </a:spcBef>
              <a:spcAft>
                <a:spcPct val="0"/>
              </a:spcAft>
              <a:buFont typeface="Arial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kumimoji="0" lang="en-US" altLang="ko-KR" b="0" dirty="0"/>
              <a:t>(3)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6B8BBDA7-1170-4332-AC34-706192C43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708" y="3846622"/>
            <a:ext cx="2962116" cy="2290114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6698B18-7732-9995-C3A1-1FB6E1F07C3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8821" y="1955328"/>
            <a:ext cx="2536156" cy="4185005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6B62FA6D-2F7F-DF60-0E38-1C5CA4B212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81974" y="1973288"/>
            <a:ext cx="3414318" cy="1015701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E251E1F5-433D-4488-6D76-82F109D9210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0472" y="1955328"/>
            <a:ext cx="2962116" cy="1435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9219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55842A-1982-9B79-4C4B-4674FF1423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2389355"/>
      </p:ext>
    </p:extLst>
  </p:cSld>
  <p:clrMapOvr>
    <a:masterClrMapping/>
  </p:clrMapOvr>
</p:sld>
</file>

<file path=ppt/theme/theme1.xml><?xml version="1.0" encoding="utf-8"?>
<a:theme xmlns:a="http://schemas.openxmlformats.org/drawingml/2006/main" name="1_디자인 사용자 지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1AA0CA"/>
        </a:solidFill>
        <a:ln>
          <a:noFill/>
        </a:ln>
        <a:effectLst/>
      </a:spPr>
      <a:bodyPr rtlCol="0" anchor="ctr"/>
      <a:lstStyle>
        <a:defPPr algn="ctr" defTabSz="911896">
          <a:defRPr dirty="0">
            <a:solidFill>
              <a:prstClr val="white"/>
            </a:solidFill>
            <a:latin typeface="맑은 고딕" panose="020B0503020000020004" pitchFamily="50" charset="-127"/>
            <a:ea typeface="맑은 고딕" panose="020B0503020000020004" pitchFamily="50" charset="-127"/>
          </a:defRPr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b="0" smtClean="0">
            <a:latin typeface="+mn-ea"/>
            <a:ea typeface="+mn-ea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제조분야 사업 실적_수정안</Template>
  <TotalTime>95647</TotalTime>
  <Words>457</Words>
  <Application>Microsoft Office PowerPoint</Application>
  <PresentationFormat>A4 용지(210x297mm)</PresentationFormat>
  <Paragraphs>55</Paragraphs>
  <Slides>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3" baseType="lpstr">
      <vt:lpstr>굴림</vt:lpstr>
      <vt:lpstr>맑은 고딕</vt:lpstr>
      <vt:lpstr>Arial</vt:lpstr>
      <vt:lpstr>Cambria Math</vt:lpstr>
      <vt:lpstr>Times New Roman</vt:lpstr>
      <vt:lpstr>Wingdings</vt:lpstr>
      <vt:lpstr>1_디자인 사용자 지정</vt:lpstr>
      <vt:lpstr>PowerPoint 프레젠테이션</vt:lpstr>
      <vt:lpstr>Q-learning (grid world) 구현 (1/4)</vt:lpstr>
      <vt:lpstr>Q-learning (grid world) 구현 (2/4)</vt:lpstr>
      <vt:lpstr>Q-learning (grid world) 구현 (3/4)</vt:lpstr>
      <vt:lpstr>Q-learning (grid world) 구현 (4/4)</vt:lpstr>
      <vt:lpstr>PowerPoint 프레젠테이션</vt:lpstr>
    </vt:vector>
  </TitlesOfParts>
  <Company>ECMIner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0</dc:title>
  <dc:creator>ECMiner</dc:creator>
  <cp:lastModifiedBy>선중 김</cp:lastModifiedBy>
  <cp:revision>6554</cp:revision>
  <cp:lastPrinted>2025-07-14T07:44:34Z</cp:lastPrinted>
  <dcterms:created xsi:type="dcterms:W3CDTF">2011-12-28T05:39:44Z</dcterms:created>
  <dcterms:modified xsi:type="dcterms:W3CDTF">2025-09-21T11:49:31Z</dcterms:modified>
</cp:coreProperties>
</file>